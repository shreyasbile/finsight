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5.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F172A"/>
                </a:solidFill>
                <a:latin typeface="Roboto"/>
              </a:defRPr>
            </a:pPr>
            <a:r>
              <a:rPr sz="1150" b="0" i="0" u="none" strike="noStrike">
                <a:solidFill>
                  <a:srgbClr val="0F172A"/>
                </a:solidFill>
                <a:latin typeface="Roboto"/>
              </a:rPr>
              <a:t>Component weights (normalised over what's available)</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E11D48"/>
            </a:solidFill>
            <a:effectLst/>
          </c:spPr>
          <c:invertIfNegative val="0"/>
          <c:dLbls>
            <c:numFmt formatCode="0&quot;%&quot;"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Document tampering</c:v>
                  </c:pt>
                  <c:pt idx="1">
                    <c:v>Face match</c:v>
                  </c:pt>
                  <c:pt idx="2">
                    <c:v>Cross-document checks</c:v>
                  </c:pt>
                  <c:pt idx="3">
                    <c:v>Field validation</c:v>
                  </c:pt>
                  <c:pt idx="4">
                    <c:v>Duplicate identity</c:v>
                  </c:pt>
                  <c:pt idx="5">
                    <c:v>Statement patterns</c:v>
                  </c:pt>
                </c:lvl>
              </c:multiLvlStrCache>
            </c:multiLvlStrRef>
          </c:cat>
          <c:val>
            <c:numRef>
              <c:f>Sheet1!$B$2:$B$7</c:f>
              <c:numCache>
                <c:formatCode>General</c:formatCode>
                <c:ptCount val="6"/>
                <c:pt idx="0">
                  <c:v>35</c:v>
                </c:pt>
                <c:pt idx="1">
                  <c:v>20</c:v>
                </c:pt>
                <c:pt idx="2">
                  <c:v>20</c:v>
                </c:pt>
                <c:pt idx="3">
                  <c:v>15</c:v>
                </c:pt>
                <c:pt idx="4">
                  <c:v>10</c:v>
                </c:pt>
                <c:pt idx="5">
                  <c:v>10</c:v>
                </c:pt>
              </c:numCache>
            </c:numRef>
          </c:val>
        </c:ser>
        <c:dLbls>
          <c:numFmt formatCode="0&quot;%&quot;"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34155"/>
                </a:solidFill>
                <a:latin typeface="Robot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A5B4FC"/>
            </a:solidFill>
            <a:effectLst/>
          </c:spPr>
          <c:invertIfNegative val="0"/>
          <c:dLbls>
            <c:numFmt formatCode="0.0&quot;%&quot;" sourceLinked="0"/>
            <c:txPr>
              <a:bodyPr/>
              <a:lstStyle/>
              <a:p>
                <a:pPr>
                  <a:defRPr b="1" i="0" strike="noStrike" sz="1200" u="none">
                    <a:solidFill>
                      <a:srgbClr val="0F172A"/>
                    </a:solidFill>
                    <a:latin typeface="Arial"/>
                  </a:defRPr>
                </a:pPr>
              </a:p>
            </c:txPr>
            <c:showLegendKey val="0"/>
            <c:showVal val="1"/>
            <c:showCatName val="0"/>
            <c:showSerName val="0"/>
            <c:showPercent val="0"/>
            <c:showBubbleSize val="0"/>
            <c:showLeaderLines val="0"/>
          </c:dLbls>
          <c:cat>
            <c:multiLvlStrRef>
              <c:f>Sheet1!$A$2:$A$4</c:f>
              <c:multiLvlStrCache>
                <c:ptCount val="3"/>
                <c:lvl>
                  <c:pt idx="0">
                    <c:v>v1 · weighted sum + floors</c:v>
                  </c:pt>
                  <c:pt idx="1">
                    <c:v>weights calibrated</c:v>
                  </c:pt>
                  <c:pt idx="2">
                    <c:v>v2 · + dominant path (shipped)</c:v>
                  </c:pt>
                </c:lvl>
              </c:multiLvlStrCache>
            </c:multiLvlStrRef>
          </c:cat>
          <c:val>
            <c:numRef>
              <c:f>Sheet1!$B$2:$B$4</c:f>
              <c:numCache>
                <c:formatCode>General</c:formatCode>
                <c:ptCount val="3"/>
                <c:pt idx="0">
                  <c:v>60.3</c:v>
                </c:pt>
                <c:pt idx="1">
                  <c:v>78.8</c:v>
                </c:pt>
                <c:pt idx="2">
                  <c:v>93</c:v>
                </c:pt>
              </c:numCache>
            </c:numRef>
          </c:val>
        </c:ser>
        <c:dLbls>
          <c:numFmt formatCode="0.0&quot;%&quot;" sourceLinked="0"/>
          <c:txPr>
            <a:bodyPr/>
            <a:lstStyle/>
            <a:p>
              <a:pPr>
                <a:defRPr b="1" i="0" strike="noStrike" sz="1200" u="none">
                  <a:solidFill>
                    <a:srgbClr val="0F172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4155"/>
                </a:solidFill>
                <a:latin typeface="Roboto"/>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F172A"/>
                </a:solidFill>
                <a:latin typeface="Roboto"/>
              </a:defRPr>
            </a:pPr>
            <a:r>
              <a:rPr sz="1150" b="0" i="0" u="none" strike="noStrike">
                <a:solidFill>
                  <a:srgbClr val="0F172A"/>
                </a:solidFill>
                <a:latin typeface="Roboto"/>
              </a:rPr>
              <a:t>Dimension weights · Commercial Vehicle row</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D97706"/>
            </a:solidFill>
            <a:effectLst/>
          </c:spPr>
          <c:invertIfNegative val="0"/>
          <c:dLbls>
            <c:numFmt formatCode="0.0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cat>
            <c:multiLvlStrRef>
              <c:f>Sheet1!$A$2:$A$10</c:f>
              <c:multiLvlStrCache>
                <c:ptCount val="9"/>
                <c:lvl>
                  <c:pt idx="0">
                    <c:v>Collateral</c:v>
                  </c:pt>
                  <c:pt idx="1">
                    <c:v>Credit history</c:v>
                  </c:pt>
                  <c:pt idx="2">
                    <c:v>Financial capacity</c:v>
                  </c:pt>
                  <c:pt idx="3">
                    <c:v>Identity</c:v>
                  </c:pt>
                  <c:pt idx="4">
                    <c:v>Loan structure</c:v>
                  </c:pt>
                  <c:pt idx="5">
                    <c:v>Fraud</c:v>
                  </c:pt>
                  <c:pt idx="6">
                    <c:v>External / macro</c:v>
                  </c:pt>
                  <c:pt idx="7">
                    <c:v>Compliance</c:v>
                  </c:pt>
                  <c:pt idx="8">
                    <c:v>Product / segment</c:v>
                  </c:pt>
                </c:lvl>
              </c:multiLvlStrCache>
            </c:multiLvlStrRef>
          </c:cat>
          <c:val>
            <c:numRef>
              <c:f>Sheet1!$B$2:$B$10</c:f>
              <c:numCache>
                <c:formatCode>General</c:formatCode>
                <c:ptCount val="9"/>
                <c:pt idx="0">
                  <c:v>0.25</c:v>
                </c:pt>
                <c:pt idx="1">
                  <c:v>0.15</c:v>
                </c:pt>
                <c:pt idx="2">
                  <c:v>0.15</c:v>
                </c:pt>
                <c:pt idx="3">
                  <c:v>0.12</c:v>
                </c:pt>
                <c:pt idx="4">
                  <c:v>0.1</c:v>
                </c:pt>
                <c:pt idx="5">
                  <c:v>0.08</c:v>
                </c:pt>
                <c:pt idx="6">
                  <c:v>0.05</c:v>
                </c:pt>
                <c:pt idx="7">
                  <c:v>0.05</c:v>
                </c:pt>
                <c:pt idx="8">
                  <c:v>0.05</c:v>
                </c:pt>
              </c:numCache>
            </c:numRef>
          </c:val>
        </c:ser>
        <c:dLbls>
          <c:numFmt formatCode="0.0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34155"/>
                </a:solidFill>
                <a:latin typeface="Robot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Rating</c:v>
                </c:pt>
              </c:strCache>
            </c:strRef>
          </c:tx>
          <c:spPr>
            <a:solidFill>
              <a:schemeClr val="accent1"/>
            </a:solidFill>
            <a:ln w="9525" cap="flat">
              <a:solidFill>
                <a:srgbClr val="F9F9F9"/>
              </a:solidFill>
              <a:prstDash val="solid"/>
              <a:round/>
            </a:ln>
            <a:effectLst/>
          </c:spPr>
          <c:dPt>
            <c:idx val="0"/>
            <c:bubble3D val="0"/>
            <c:spPr>
              <a:solidFill>
                <a:srgbClr val="16A34A"/>
              </a:solidFill>
              <a:ln w="19050" cap="flat">
                <a:solidFill>
                  <a:srgbClr val="FFFFFF"/>
                </a:solidFill>
                <a:prstDash val="solid"/>
                <a:round/>
              </a:ln>
              <a:effectLst/>
            </c:spPr>
          </c:dPt>
          <c:dPt>
            <c:idx val="1"/>
            <c:bubble3D val="0"/>
            <c:spPr>
              <a:solidFill>
                <a:srgbClr val="D97706"/>
              </a:solidFill>
              <a:ln w="19050" cap="flat">
                <a:solidFill>
                  <a:srgbClr val="FFFFFF"/>
                </a:solidFill>
                <a:prstDash val="solid"/>
                <a:round/>
              </a:ln>
              <a:effectLst/>
            </c:spPr>
          </c:dPt>
          <c:dPt>
            <c:idx val="2"/>
            <c:bubble3D val="0"/>
            <c:spPr>
              <a:solidFill>
                <a:srgbClr val="DC2626"/>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Strong</c:v>
                </c:pt>
                <c:pt idx="1">
                  <c:v>Acceptable</c:v>
                </c:pt>
                <c:pt idx="2">
                  <c:v>Weak</c:v>
                </c:pt>
              </c:strCache>
            </c:strRef>
          </c:cat>
          <c:val>
            <c:numRef>
              <c:f>Sheet1!$B$2:$B$4</c:f>
              <c:numCache>
                <c:ptCount val="3"/>
                <c:pt idx="0">
                  <c:v>26</c:v>
                </c:pt>
                <c:pt idx="1">
                  <c:v>1</c:v>
                </c:pt>
                <c:pt idx="2">
                  <c:v>2</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F172A"/>
                </a:solidFill>
                <a:latin typeface="Roboto"/>
              </a:defRPr>
            </a:pPr>
            <a:r>
              <a:rPr sz="1150" b="0" i="0" u="none" strike="noStrike">
                <a:solidFill>
                  <a:srgbClr val="0F172A"/>
                </a:solidFill>
                <a:latin typeface="Roboto"/>
              </a:rPr>
              <a:t>Median seconds, real local model</a:t>
            </a:r>
          </a:p>
        </c:rich>
      </c:tx>
      <c:layout/>
      <c:overlay val="0"/>
    </c:title>
    <c:autoTitleDeleted val="0"/>
    <c:plotArea>
      <c:layout/>
      <c:barChart>
        <c:barDir val="col"/>
        <c:grouping val="clustered"/>
        <c:varyColors val="0"/>
        <c:ser>
          <c:idx val="0"/>
          <c:order val="0"/>
          <c:tx>
            <c:strRef>
              <c:f>Sheet1!$B$1</c:f>
              <c:strCache>
                <c:ptCount val="1"/>
                <c:pt idx="0">
                  <c:v>Before (pre-agent)</c:v>
                </c:pt>
              </c:strCache>
            </c:strRef>
          </c:tx>
          <c:spPr>
            <a:solidFill>
              <a:srgbClr val="CBD5E1"/>
            </a:solidFill>
            <a:effectLst/>
          </c:spPr>
          <c:invertIfNegative val="0"/>
          <c:dLbls>
            <c:numFmt formatCode="0.0&quot; s&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Sheet1!$A$2:$A$3</c:f>
              <c:multiLvlStrCache>
                <c:ptCount val="2"/>
                <c:lvl>
                  <c:pt idx="0">
                    <c:v>PAN photo → /extract</c:v>
                  </c:pt>
                  <c:pt idx="1">
                    <c:v>Statement PDF → /extract</c:v>
                  </c:pt>
                </c:lvl>
              </c:multiLvlStrCache>
            </c:multiLvlStrRef>
          </c:cat>
          <c:val>
            <c:numRef>
              <c:f>Sheet1!$B$2:$B$3</c:f>
              <c:numCache>
                <c:formatCode>General</c:formatCode>
                <c:ptCount val="2"/>
                <c:pt idx="0">
                  <c:v>16</c:v>
                </c:pt>
                <c:pt idx="1">
                  <c:v>5.36</c:v>
                </c:pt>
              </c:numCache>
            </c:numRef>
          </c:val>
        </c:ser>
        <c:ser>
          <c:idx val="1"/>
          <c:order val="1"/>
          <c:tx>
            <c:strRef>
              <c:f>Sheet1!$C$1</c:f>
              <c:strCache>
                <c:ptCount val="1"/>
                <c:pt idx="0">
                  <c:v>After (agents)</c:v>
                </c:pt>
              </c:strCache>
            </c:strRef>
          </c:tx>
          <c:spPr>
            <a:solidFill>
              <a:srgbClr val="4F46E5"/>
            </a:solidFill>
            <a:effectLst/>
          </c:spPr>
          <c:invertIfNegative val="0"/>
          <c:dLbls>
            <c:numFmt formatCode="0.0&quot; s&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Sheet1!$A$2:$A$3</c:f>
              <c:multiLvlStrCache>
                <c:ptCount val="2"/>
                <c:lvl>
                  <c:pt idx="0">
                    <c:v>PAN photo → /extract</c:v>
                  </c:pt>
                  <c:pt idx="1">
                    <c:v>Statement PDF → /extract</c:v>
                  </c:pt>
                </c:lvl>
              </c:multiLvlStrCache>
            </c:multiLvlStrRef>
          </c:cat>
          <c:val>
            <c:numRef>
              <c:f>Sheet1!$C$2:$C$3</c:f>
              <c:numCache>
                <c:formatCode>General</c:formatCode>
                <c:ptCount val="2"/>
                <c:pt idx="0">
                  <c:v>14.6</c:v>
                </c:pt>
                <c:pt idx="1">
                  <c:v>4.79</c:v>
                </c:pt>
              </c:numCache>
            </c:numRef>
          </c:val>
        </c:ser>
        <c:dLbls>
          <c:numFmt formatCode="0.0&quot; s&quot;"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Roboto"/>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latin typeface="Roboto"/>
              <a:cs typeface="Robot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FinSight AI turns an NBFC's loan desk into a set of 29 specialised AI agents. This deck walks through the product, the architecture, every agent, the workflows, the controls that keep the AI honest, and how each agent was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talk. Each numbered part has its own divider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pain today. Right: what the agents take over. The key design choice is at the bottom — the agents produce evidence and drafts, people make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role picker is the entry point. The borrower applies; the underwriting officer works the queue; the head manager approves large loans and controls the AI settings and RBI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views of the same platform. The borrower sees a simple portal; the officer sees a work queue with risk and fraud columns; the head sees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Users work in a React single-page app. The FastAPI server keeps every pre-agent endpoint contract unchanged; behind each endpoint the work now runs as CrewAI flows over 29 registered agents. Agents call deterministic engines, and reach a language model only through one gateway. Everything lands in SQL Server and file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the pinned ones from package.json and api/requirements-agents.txt.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deterministic tool is the source of truth for every number. If an agent needs words (an explanation, a memo), it makes ONE structured call. The grounding gate then checks every number of 10 or more in that text exists in the evidence; if not, the deterministic text is shown instead. Every step is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marks the crew throughout the deck. 'Hybrid' agents decide with a tool and use the model only to explain or judge; 'LLM' agents use the model for their core task inside a single fenced call. Liveness (29) was added last and sits with identity and fraud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repairs the photo (orientation, crop, lighting) but reverts if it made the page less readable. Extraction is the only model call on the upload path. In parallel the page's own words are read, which Document Identity uses to catch a payslip uploaded as a PAN. Validation checks formats and checksums, e.g. Aadhaar's Verhoeff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Masking finds the rotation where the ID number reads upright before splitting it — the fix for a real sideways PAN that leaked in testing. Face verification uses YuNet to find faces and SFace to compare them (cosine threshold 0.363). A low-quality face can only say 'uncertain', never 'mismatch'. Liveness is the weakest agent: it was only tested on public photos and simulated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runs fast checks. If they all score under 0.25 and business rules pass, the document is fast-tracked as LOW — except ID cards, which always get stage 2. Fusion takes the larger of the weighted average and the strongest single signal times its confidence, so one near-proof finding is not averaged away. The explainer rewrites findings in plain words (grounded); the locator draws a box around the figure a finding cites. The screenshot shows the synthetic PAN flagged HIGH — a known over-flag on camera-like images that a person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case-assessment flow runs three checks in parallel on the whole case, fuses them with the per-document tampering and face results into one fraud tier, then checks RBI policy. The result is only ever a recommendation: proceed, or refer for a closer human review. The screenshot is a real run on a synthetic applicant who was submitted twice — Dedupe found the same files, so two floors pushed the tier to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was the weighted sum plus floors that was originally chosen; it scored 60% on 400 held-out labelled scenarios. Calibrating the weights reached 79%. v2 adds the same dominant-and-corroborated path the tampering fusion uses and scored 93%. Scores never fall when evidence gets worse. Weights are versioned and snapshotted on every assessment; v1 is a one-line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extraction prompt only returns a statement summary, so a separate parser recovers every row — from the PDF text layer, or from OCR on a photo with tilt correction — and decides debit vs credit from the balance movement. Rows that don't reconcile never raise a flag. Triage links applications through hashed identity keys and faces, and PROPOSES cases; a person decides what to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KB Ingestion chunks and indexes the regulations (6 documents seeded). Rule Authoring drafts machine-checkable rule candidates from a new regulation; they go to a human review queue before becoming active. Policy Check evaluates the 16 active rules against real evidence only: a field nobody verified shows as 'need info', never as a false pass. Regulatory Q&amp;A answers only from retrieved passages and cites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Analysis triangulates the monthly income across payslip, ITR/Form 16, bank credits and GST. Risk Scoring grades nine dimensions and adds an XGBoost default probability. The Underwriting Crew then runs two agents: the Supervisor recommends a next step but may only tighten the rule baseline, and the Credit Memo agent writes the memo citing only real figures. Offer Generation prices the loan and computes the EMI with the standard formula. The Workflow Router recommends the next lifecycle step and its owner; the Notifier drafts in-app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engine scores nine risk dimensions from 0 to 100 and weights them by product — the chart shows the commercial-vehicle row. The ML overlay is XGBoost trained on a 50,000-loan Indian NBFC book. Testing found the app was building its features differently from training: AUC 0.669. With the training feature builder reused, AUC is 0.771 on the 1,500 held-out loans. Across 750 checks, the score never fell when an input got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Notifier fills templates into in-app notification rows — during its evaluation every outbound connection was blocked and counted, and there were zero attempts. Audit/Storage writes the application, its files and a masked officer view to SQL Server. The Process-Mining Analyst reads the event log through SQL views: every figure is a query; the optional briefing may only restate those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row one left to right, then row two right to left. Agents annotate the steps they support. Any state before a decision can end in rejected or cancelled — always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Agents (red lane) do the reading, checking and drafting between the human steps. The officer triggers underwriting; the head only steps in above ₹5 lakh.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product decides the document checklist. 2: each upload is read by the intake crew and shown back for confirmation — here every field of the synthetic PAN and Aadhaar was read exactly. 3: on Review &amp; Submit the tampering cascade explains why a document needs a closer look. 4: the case assessment fuses everything into an advisory tier and a policy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call goes through app/agents/llm/gateway.py. It resolves which model to use (agent override, then vision/text lane, then default) and snapshots the setting on every run. A hosted provider needs the Head's explicit acknowledgement, is refused outright when FINSIGHT_FORBID_HOSTED is set, and only receives pseudonymised text. One slot per provider with a priority queue protects the 8 GB GPU; a call that waits more than 180 s fails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rules that keep the agents advisory and the data private. Each is enforced in code and checked by an automated test or measured during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tracer records each agent run and step (inputs summary, timing, model, LLM calls, outcome). In memory it feeds the live p50/p95 on the Agent Activity page; as JSON it is kept under storage/agent_traces; with the SQL sink on it writes agent.run / step / tool_call and logs a business event through pm.usp_log_event into pm.event_log. If SQL Server is down, events are spooled to disk and replayed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holds the business records; fraud, comp and risk hold each engine's results; agent holds traces and the audit of model-setting changes; pm is a full process-mining model (event log, variants, conformance); ops, audit and ref hold users, notifications, audit trails and reference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fixed in api/eval/targets.yaml before each run. Every run records the same things. Only synthetic identities may ever reach a hosted model; the 16 real documents stayed on the local model and are reported only as aggregates.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means the agent meets the target set before its run; Acceptable is within 10%; Weak is below that. The two weak agents are the Tamper Locator (boxes only one kind of edit) and Liveness (no real selfies to calibrate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the most serious: a whole-server crash from two threads inside PDFium at once, and a PII leak of a real PAN photographed sideways. Both are fixed and pinned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against the pre-agent commit in its own worktree, same script, same files, alternating builds. The speed-up came from three fixes found while benchmarking: the IPv6 localhost delay, a second OCR pass on ID cards, and parsing statement photos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open risk is tampering over-flagging genuine phone photos, which can push an honest applicant to a MEDIUM fraud tier — always reviewed by a person, but it costs time. Three items need input from you: confirm Fraud Fusion v2, add an Anthropic key for the Local-vs-Claude comparison, and supply real selfies for liveness.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scripts create the FinSight database on SQL Server LocalDB. The API has its own virtual environment with CrewAI. Tests and the evaluation can be run from the api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idea: specialised agents take over the reading, checking and drafting; the person keeps every decision, with evidence they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7-1.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image" Target="../media/image-29-15.png"/><Relationship Id="rId16" Type="http://schemas.openxmlformats.org/officeDocument/2006/relationships/image" Target="../media/image-29-16.png"/><Relationship Id="rId17" Type="http://schemas.openxmlformats.org/officeDocument/2006/relationships/image" Target="../media/image-29-17.png"/><Relationship Id="rId18" Type="http://schemas.openxmlformats.org/officeDocument/2006/relationships/image" Target="../media/image-29-18.png"/><Relationship Id="rId19" Type="http://schemas.openxmlformats.org/officeDocument/2006/relationships/image" Target="../media/image-29-19.png"/><Relationship Id="rId20" Type="http://schemas.openxmlformats.org/officeDocument/2006/relationships/image" Target="../media/image-29-20.png"/><Relationship Id="rId21" Type="http://schemas.openxmlformats.org/officeDocument/2006/relationships/image" Target="../media/image-29-21.png"/><Relationship Id="rId22" Type="http://schemas.openxmlformats.org/officeDocument/2006/relationships/slideLayout" Target="../slideLayouts/slideLayout1.xml"/><Relationship Id="rId2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C:\Users\shrey\AppData\Local\Temp\claude\D--novacinternship-finsight\87f4101b-bf26-4b28-976a-e637573d77e1\scratchpad\deck\img\logo_mark_light.png">    </p:cNvPr>
          <p:cNvPicPr>
            <a:picLocks noChangeAspect="1"/>
          </p:cNvPicPr>
          <p:nvPr/>
        </p:nvPicPr>
        <p:blipFill>
          <a:blip r:embed="rId1"/>
          <a:stretch>
            <a:fillRect/>
          </a:stretch>
        </p:blipFill>
        <p:spPr>
          <a:xfrm>
            <a:off x="548640" y="502920"/>
            <a:ext cx="638115" cy="822960"/>
          </a:xfrm>
          <a:prstGeom prst="rect">
            <a:avLst/>
          </a:prstGeom>
        </p:spPr>
      </p:pic>
      <p:sp>
        <p:nvSpPr>
          <p:cNvPr id="3" name="Text 0"/>
          <p:cNvSpPr txBox="1"/>
          <p:nvPr/>
        </p:nvSpPr>
        <p:spPr>
          <a:xfrm>
            <a:off x="1461075" y="749808"/>
            <a:ext cx="5486400" cy="329184"/>
          </a:xfrm>
          <a:prstGeom prst="rect">
            <a:avLst/>
          </a:prstGeom>
          <a:noFill/>
          <a:ln/>
        </p:spPr>
        <p:txBody>
          <a:bodyPr wrap="square" lIns="0" tIns="0" rIns="0" bIns="0" rtlCol="0" anchor="ctr"/>
          <a:lstStyle/>
          <a:p>
            <a:pPr indent="0" marL="0">
              <a:buNone/>
            </a:pPr>
            <a:r>
              <a:rPr lang="en-US" sz="1100" b="1" spc="200" kern="0" dirty="0">
                <a:solidFill>
                  <a:srgbClr val="A5B4FC"/>
                </a:solidFill>
                <a:latin typeface="Roboto" pitchFamily="34" charset="0"/>
                <a:ea typeface="Roboto" pitchFamily="34" charset="-122"/>
                <a:cs typeface="Roboto" pitchFamily="34" charset="-120"/>
              </a:rPr>
              <a:t>NBFC PLATFORM  ·  PROJECT WALKTHROUGH</a:t>
            </a:r>
            <a:endParaRPr lang="en-US" sz="1100" dirty="0"/>
          </a:p>
        </p:txBody>
      </p:sp>
      <p:sp>
        <p:nvSpPr>
          <p:cNvPr id="4" name="Text 1"/>
          <p:cNvSpPr txBox="1"/>
          <p:nvPr/>
        </p:nvSpPr>
        <p:spPr>
          <a:xfrm>
            <a:off x="548640" y="1600200"/>
            <a:ext cx="6217920" cy="1005840"/>
          </a:xfrm>
          <a:prstGeom prst="rect">
            <a:avLst/>
          </a:prstGeom>
          <a:noFill/>
          <a:ln/>
        </p:spPr>
        <p:txBody>
          <a:bodyPr wrap="square" lIns="0" tIns="0" rIns="0" bIns="0" rtlCol="0" anchor="ctr"/>
          <a:lstStyle/>
          <a:p>
            <a:pPr indent="0" marL="0">
              <a:buNone/>
            </a:pPr>
            <a:r>
              <a:rPr lang="en-US" sz="6000" b="1" dirty="0">
                <a:solidFill>
                  <a:srgbClr val="FFFFFF"/>
                </a:solidFill>
                <a:latin typeface="Roboto" pitchFamily="34" charset="0"/>
                <a:ea typeface="Roboto" pitchFamily="34" charset="-122"/>
                <a:cs typeface="Roboto" pitchFamily="34" charset="-120"/>
              </a:rPr>
              <a:t>FinSight AI</a:t>
            </a:r>
            <a:endParaRPr lang="en-US" sz="6000" dirty="0"/>
          </a:p>
        </p:txBody>
      </p:sp>
      <p:sp>
        <p:nvSpPr>
          <p:cNvPr id="5" name="Text 2"/>
          <p:cNvSpPr txBox="1"/>
          <p:nvPr/>
        </p:nvSpPr>
        <p:spPr>
          <a:xfrm>
            <a:off x="548640" y="2606040"/>
            <a:ext cx="6035040" cy="457200"/>
          </a:xfrm>
          <a:prstGeom prst="rect">
            <a:avLst/>
          </a:prstGeom>
          <a:noFill/>
          <a:ln/>
        </p:spPr>
        <p:txBody>
          <a:bodyPr wrap="square" lIns="0" tIns="0" rIns="0" bIns="0" rtlCol="0" anchor="ctr"/>
          <a:lstStyle/>
          <a:p>
            <a:pPr indent="0" marL="0">
              <a:buNone/>
            </a:pPr>
            <a:r>
              <a:rPr lang="en-US" sz="2100" dirty="0">
                <a:solidFill>
                  <a:srgbClr val="C7D2FE"/>
                </a:solidFill>
                <a:latin typeface="Roboto" pitchFamily="34" charset="0"/>
                <a:ea typeface="Roboto" pitchFamily="34" charset="-122"/>
                <a:cs typeface="Roboto" pitchFamily="34" charset="-120"/>
              </a:rPr>
              <a:t>Agentic loan underwriting for Indian NBFCs</a:t>
            </a:r>
            <a:endParaRPr lang="en-US" sz="2100" dirty="0"/>
          </a:p>
        </p:txBody>
      </p:sp>
      <p:sp>
        <p:nvSpPr>
          <p:cNvPr id="6" name="Text 3"/>
          <p:cNvSpPr txBox="1"/>
          <p:nvPr/>
        </p:nvSpPr>
        <p:spPr>
          <a:xfrm>
            <a:off x="548640" y="3200400"/>
            <a:ext cx="5760720" cy="1005840"/>
          </a:xfrm>
          <a:prstGeom prst="rect">
            <a:avLst/>
          </a:prstGeom>
          <a:noFill/>
          <a:ln/>
        </p:spPr>
        <p:txBody>
          <a:bodyPr wrap="square" lIns="0" tIns="0" rIns="0" bIns="0" rtlCol="0" anchor="t"/>
          <a:lstStyle/>
          <a:p>
            <a:pPr indent="0" marL="0">
              <a:buNone/>
            </a:pPr>
            <a:r>
              <a:rPr lang="en-US" sz="1400" dirty="0">
                <a:solidFill>
                  <a:srgbClr val="94A3B8"/>
                </a:solidFill>
                <a:latin typeface="Roboto" pitchFamily="34" charset="0"/>
                <a:ea typeface="Roboto" pitchFamily="34" charset="-122"/>
                <a:cs typeface="Roboto" pitchFamily="34" charset="-120"/>
              </a:rPr>
              <a:t>29 CrewAI agents read the documents, check them for fraud and RBI policy, score the risk and draft the credit memo — on a local model, with a person making every decision.</a:t>
            </a:r>
            <a:endParaRPr lang="en-US" sz="1400" dirty="0"/>
          </a:p>
        </p:txBody>
      </p:sp>
      <p:sp>
        <p:nvSpPr>
          <p:cNvPr id="7" name="Shape 4"/>
          <p:cNvSpPr/>
          <p:nvPr/>
        </p:nvSpPr>
        <p:spPr>
          <a:xfrm>
            <a:off x="548640" y="4526280"/>
            <a:ext cx="1353312" cy="960120"/>
          </a:xfrm>
          <a:prstGeom prst="roundRect">
            <a:avLst>
              <a:gd name="adj" fmla="val 9524"/>
            </a:avLst>
          </a:prstGeom>
          <a:solidFill>
            <a:srgbClr val="1E293B"/>
          </a:solidFill>
          <a:ln w="12700">
            <a:solidFill>
              <a:srgbClr val="334155"/>
            </a:solidFill>
            <a:prstDash val="solid"/>
          </a:ln>
        </p:spPr>
      </p:sp>
      <p:sp>
        <p:nvSpPr>
          <p:cNvPr id="8" name="Text 5"/>
          <p:cNvSpPr txBox="1"/>
          <p:nvPr/>
        </p:nvSpPr>
        <p:spPr>
          <a:xfrm>
            <a:off x="548640" y="4590288"/>
            <a:ext cx="1353312" cy="502920"/>
          </a:xfrm>
          <a:prstGeom prst="rect">
            <a:avLst/>
          </a:prstGeom>
          <a:noFill/>
          <a:ln/>
        </p:spPr>
        <p:txBody>
          <a:bodyPr wrap="square" lIns="0" tIns="0" rIns="0" bIns="0" rtlCol="0" anchor="ctr"/>
          <a:lstStyle/>
          <a:p>
            <a:pPr algn="ctr" indent="0" marL="0">
              <a:buNone/>
            </a:pPr>
            <a:r>
              <a:rPr lang="en-US" sz="2600" b="1" dirty="0">
                <a:solidFill>
                  <a:srgbClr val="A5B4FC"/>
                </a:solidFill>
                <a:latin typeface="Roboto" pitchFamily="34" charset="0"/>
                <a:ea typeface="Roboto" pitchFamily="34" charset="-122"/>
                <a:cs typeface="Roboto" pitchFamily="34" charset="-120"/>
              </a:rPr>
              <a:t>29</a:t>
            </a:r>
            <a:endParaRPr lang="en-US" sz="2600" dirty="0"/>
          </a:p>
        </p:txBody>
      </p:sp>
      <p:sp>
        <p:nvSpPr>
          <p:cNvPr id="9" name="Text 6"/>
          <p:cNvSpPr txBox="1"/>
          <p:nvPr/>
        </p:nvSpPr>
        <p:spPr>
          <a:xfrm>
            <a:off x="548640" y="5074920"/>
            <a:ext cx="1353312" cy="320040"/>
          </a:xfrm>
          <a:prstGeom prst="rect">
            <a:avLst/>
          </a:prstGeom>
          <a:noFill/>
          <a:ln/>
        </p:spPr>
        <p:txBody>
          <a:bodyPr wrap="square" lIns="0" tIns="0" rIns="0" bIns="0" rtlCol="0" anchor="ctr"/>
          <a:lstStyle/>
          <a:p>
            <a:pPr algn="ctr" indent="0" marL="0">
              <a:buNone/>
            </a:pPr>
            <a:r>
              <a:rPr lang="en-US" sz="1050" dirty="0">
                <a:solidFill>
                  <a:srgbClr val="CBD5E1"/>
                </a:solidFill>
                <a:latin typeface="Roboto" pitchFamily="34" charset="0"/>
                <a:ea typeface="Roboto" pitchFamily="34" charset="-122"/>
                <a:cs typeface="Roboto" pitchFamily="34" charset="-120"/>
              </a:rPr>
              <a:t>agents</a:t>
            </a:r>
            <a:endParaRPr lang="en-US" sz="1050" dirty="0"/>
          </a:p>
        </p:txBody>
      </p:sp>
      <p:sp>
        <p:nvSpPr>
          <p:cNvPr id="10" name="Shape 7"/>
          <p:cNvSpPr/>
          <p:nvPr/>
        </p:nvSpPr>
        <p:spPr>
          <a:xfrm>
            <a:off x="2029968" y="4526280"/>
            <a:ext cx="1353312" cy="960120"/>
          </a:xfrm>
          <a:prstGeom prst="roundRect">
            <a:avLst>
              <a:gd name="adj" fmla="val 9524"/>
            </a:avLst>
          </a:prstGeom>
          <a:solidFill>
            <a:srgbClr val="1E293B"/>
          </a:solidFill>
          <a:ln w="12700">
            <a:solidFill>
              <a:srgbClr val="334155"/>
            </a:solidFill>
            <a:prstDash val="solid"/>
          </a:ln>
        </p:spPr>
      </p:sp>
      <p:sp>
        <p:nvSpPr>
          <p:cNvPr id="11" name="Text 8"/>
          <p:cNvSpPr txBox="1"/>
          <p:nvPr/>
        </p:nvSpPr>
        <p:spPr>
          <a:xfrm>
            <a:off x="2029968" y="4590288"/>
            <a:ext cx="1353312" cy="502920"/>
          </a:xfrm>
          <a:prstGeom prst="rect">
            <a:avLst/>
          </a:prstGeom>
          <a:noFill/>
          <a:ln/>
        </p:spPr>
        <p:txBody>
          <a:bodyPr wrap="square" lIns="0" tIns="0" rIns="0" bIns="0" rtlCol="0" anchor="ctr"/>
          <a:lstStyle/>
          <a:p>
            <a:pPr algn="ctr" indent="0" marL="0">
              <a:buNone/>
            </a:pPr>
            <a:r>
              <a:rPr lang="en-US" sz="2600" b="1" dirty="0">
                <a:solidFill>
                  <a:srgbClr val="A5B4FC"/>
                </a:solidFill>
                <a:latin typeface="Roboto" pitchFamily="34" charset="0"/>
                <a:ea typeface="Roboto" pitchFamily="34" charset="-122"/>
                <a:cs typeface="Roboto" pitchFamily="34" charset="-120"/>
              </a:rPr>
              <a:t>6</a:t>
            </a:r>
            <a:endParaRPr lang="en-US" sz="2600" dirty="0"/>
          </a:p>
        </p:txBody>
      </p:sp>
      <p:sp>
        <p:nvSpPr>
          <p:cNvPr id="12" name="Text 9"/>
          <p:cNvSpPr txBox="1"/>
          <p:nvPr/>
        </p:nvSpPr>
        <p:spPr>
          <a:xfrm>
            <a:off x="2029968" y="5074920"/>
            <a:ext cx="1353312" cy="320040"/>
          </a:xfrm>
          <a:prstGeom prst="rect">
            <a:avLst/>
          </a:prstGeom>
          <a:noFill/>
          <a:ln/>
        </p:spPr>
        <p:txBody>
          <a:bodyPr wrap="square" lIns="0" tIns="0" rIns="0" bIns="0" rtlCol="0" anchor="ctr"/>
          <a:lstStyle/>
          <a:p>
            <a:pPr algn="ctr" indent="0" marL="0">
              <a:buNone/>
            </a:pPr>
            <a:r>
              <a:rPr lang="en-US" sz="1050" dirty="0">
                <a:solidFill>
                  <a:srgbClr val="CBD5E1"/>
                </a:solidFill>
                <a:latin typeface="Roboto" pitchFamily="34" charset="0"/>
                <a:ea typeface="Roboto" pitchFamily="34" charset="-122"/>
                <a:cs typeface="Roboto" pitchFamily="34" charset="-120"/>
              </a:rPr>
              <a:t>crews</a:t>
            </a:r>
            <a:endParaRPr lang="en-US" sz="1050" dirty="0"/>
          </a:p>
        </p:txBody>
      </p:sp>
      <p:sp>
        <p:nvSpPr>
          <p:cNvPr id="13" name="Shape 10"/>
          <p:cNvSpPr/>
          <p:nvPr/>
        </p:nvSpPr>
        <p:spPr>
          <a:xfrm>
            <a:off x="3511296" y="4526280"/>
            <a:ext cx="1353312" cy="960120"/>
          </a:xfrm>
          <a:prstGeom prst="roundRect">
            <a:avLst>
              <a:gd name="adj" fmla="val 9524"/>
            </a:avLst>
          </a:prstGeom>
          <a:solidFill>
            <a:srgbClr val="1E293B"/>
          </a:solidFill>
          <a:ln w="12700">
            <a:solidFill>
              <a:srgbClr val="334155"/>
            </a:solidFill>
            <a:prstDash val="solid"/>
          </a:ln>
        </p:spPr>
      </p:sp>
      <p:sp>
        <p:nvSpPr>
          <p:cNvPr id="14" name="Text 11"/>
          <p:cNvSpPr txBox="1"/>
          <p:nvPr/>
        </p:nvSpPr>
        <p:spPr>
          <a:xfrm>
            <a:off x="3511296" y="4590288"/>
            <a:ext cx="1353312" cy="502920"/>
          </a:xfrm>
          <a:prstGeom prst="rect">
            <a:avLst/>
          </a:prstGeom>
          <a:noFill/>
          <a:ln/>
        </p:spPr>
        <p:txBody>
          <a:bodyPr wrap="square" lIns="0" tIns="0" rIns="0" bIns="0" rtlCol="0" anchor="ctr"/>
          <a:lstStyle/>
          <a:p>
            <a:pPr algn="ctr" indent="0" marL="0">
              <a:buNone/>
            </a:pPr>
            <a:r>
              <a:rPr lang="en-US" sz="2600" b="1" dirty="0">
                <a:solidFill>
                  <a:srgbClr val="A5B4FC"/>
                </a:solidFill>
                <a:latin typeface="Roboto" pitchFamily="34" charset="0"/>
                <a:ea typeface="Roboto" pitchFamily="34" charset="-122"/>
                <a:cs typeface="Roboto" pitchFamily="34" charset="-120"/>
              </a:rPr>
              <a:t>12</a:t>
            </a:r>
            <a:endParaRPr lang="en-US" sz="2600" dirty="0"/>
          </a:p>
        </p:txBody>
      </p:sp>
      <p:sp>
        <p:nvSpPr>
          <p:cNvPr id="15" name="Text 12"/>
          <p:cNvSpPr txBox="1"/>
          <p:nvPr/>
        </p:nvSpPr>
        <p:spPr>
          <a:xfrm>
            <a:off x="3511296" y="5074920"/>
            <a:ext cx="1353312" cy="320040"/>
          </a:xfrm>
          <a:prstGeom prst="rect">
            <a:avLst/>
          </a:prstGeom>
          <a:noFill/>
          <a:ln/>
        </p:spPr>
        <p:txBody>
          <a:bodyPr wrap="square" lIns="0" tIns="0" rIns="0" bIns="0" rtlCol="0" anchor="ctr"/>
          <a:lstStyle/>
          <a:p>
            <a:pPr algn="ctr" indent="0" marL="0">
              <a:buNone/>
            </a:pPr>
            <a:r>
              <a:rPr lang="en-US" sz="1050" dirty="0">
                <a:solidFill>
                  <a:srgbClr val="CBD5E1"/>
                </a:solidFill>
                <a:latin typeface="Roboto" pitchFamily="34" charset="0"/>
                <a:ea typeface="Roboto" pitchFamily="34" charset="-122"/>
                <a:cs typeface="Roboto" pitchFamily="34" charset="-120"/>
              </a:rPr>
              <a:t>loan products</a:t>
            </a:r>
            <a:endParaRPr lang="en-US" sz="1050" dirty="0"/>
          </a:p>
        </p:txBody>
      </p:sp>
      <p:sp>
        <p:nvSpPr>
          <p:cNvPr id="16" name="Shape 13"/>
          <p:cNvSpPr/>
          <p:nvPr/>
        </p:nvSpPr>
        <p:spPr>
          <a:xfrm>
            <a:off x="4992624" y="4526280"/>
            <a:ext cx="1353312" cy="960120"/>
          </a:xfrm>
          <a:prstGeom prst="roundRect">
            <a:avLst>
              <a:gd name="adj" fmla="val 9524"/>
            </a:avLst>
          </a:prstGeom>
          <a:solidFill>
            <a:srgbClr val="1E293B"/>
          </a:solidFill>
          <a:ln w="12700">
            <a:solidFill>
              <a:srgbClr val="334155"/>
            </a:solidFill>
            <a:prstDash val="solid"/>
          </a:ln>
        </p:spPr>
      </p:sp>
      <p:sp>
        <p:nvSpPr>
          <p:cNvPr id="17" name="Text 14"/>
          <p:cNvSpPr txBox="1"/>
          <p:nvPr/>
        </p:nvSpPr>
        <p:spPr>
          <a:xfrm>
            <a:off x="4992624" y="4590288"/>
            <a:ext cx="1353312" cy="502920"/>
          </a:xfrm>
          <a:prstGeom prst="rect">
            <a:avLst/>
          </a:prstGeom>
          <a:noFill/>
          <a:ln/>
        </p:spPr>
        <p:txBody>
          <a:bodyPr wrap="square" lIns="0" tIns="0" rIns="0" bIns="0" rtlCol="0" anchor="ctr"/>
          <a:lstStyle/>
          <a:p>
            <a:pPr algn="ctr" indent="0" marL="0">
              <a:buNone/>
            </a:pPr>
            <a:r>
              <a:rPr lang="en-US" sz="2600" b="1" dirty="0">
                <a:solidFill>
                  <a:srgbClr val="A5B4FC"/>
                </a:solidFill>
                <a:latin typeface="Roboto" pitchFamily="34" charset="0"/>
                <a:ea typeface="Roboto" pitchFamily="34" charset="-122"/>
                <a:cs typeface="Roboto" pitchFamily="34" charset="-120"/>
              </a:rPr>
              <a:t>61</a:t>
            </a:r>
            <a:endParaRPr lang="en-US" sz="2600" dirty="0"/>
          </a:p>
        </p:txBody>
      </p:sp>
      <p:sp>
        <p:nvSpPr>
          <p:cNvPr id="18" name="Text 15"/>
          <p:cNvSpPr txBox="1"/>
          <p:nvPr/>
        </p:nvSpPr>
        <p:spPr>
          <a:xfrm>
            <a:off x="4992624" y="5074920"/>
            <a:ext cx="1353312" cy="320040"/>
          </a:xfrm>
          <a:prstGeom prst="rect">
            <a:avLst/>
          </a:prstGeom>
          <a:noFill/>
          <a:ln/>
        </p:spPr>
        <p:txBody>
          <a:bodyPr wrap="square" lIns="0" tIns="0" rIns="0" bIns="0" rtlCol="0" anchor="ctr"/>
          <a:lstStyle/>
          <a:p>
            <a:pPr algn="ctr" indent="0" marL="0">
              <a:buNone/>
            </a:pPr>
            <a:r>
              <a:rPr lang="en-US" sz="1050" dirty="0">
                <a:solidFill>
                  <a:srgbClr val="CBD5E1"/>
                </a:solidFill>
                <a:latin typeface="Roboto" pitchFamily="34" charset="0"/>
                <a:ea typeface="Roboto" pitchFamily="34" charset="-122"/>
                <a:cs typeface="Roboto" pitchFamily="34" charset="-120"/>
              </a:rPr>
              <a:t>automated tests</a:t>
            </a:r>
            <a:endParaRPr lang="en-US" sz="1050" dirty="0"/>
          </a:p>
        </p:txBody>
      </p:sp>
      <p:sp>
        <p:nvSpPr>
          <p:cNvPr id="19" name="Text 16"/>
          <p:cNvSpPr txBox="1"/>
          <p:nvPr/>
        </p:nvSpPr>
        <p:spPr>
          <a:xfrm>
            <a:off x="548640" y="6035040"/>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Roboto" pitchFamily="34" charset="0"/>
                <a:ea typeface="Roboto" pitchFamily="34" charset="-122"/>
                <a:cs typeface="Roboto" pitchFamily="34" charset="-120"/>
              </a:rPr>
              <a:t>Shreyas Bile  ·  26 September 2026</a:t>
            </a:r>
            <a:endParaRPr lang="en-US" sz="1100" dirty="0"/>
          </a:p>
        </p:txBody>
      </p:sp>
      <p:sp>
        <p:nvSpPr>
          <p:cNvPr id="20" name="Shape 17"/>
          <p:cNvSpPr/>
          <p:nvPr/>
        </p:nvSpPr>
        <p:spPr>
          <a:xfrm>
            <a:off x="6629400" y="914400"/>
            <a:ext cx="5029200" cy="3643884"/>
          </a:xfrm>
          <a:prstGeom prst="roundRect">
            <a:avLst>
              <a:gd name="adj" fmla="val 1757"/>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1" name="Shape 18"/>
          <p:cNvSpPr/>
          <p:nvPr/>
        </p:nvSpPr>
        <p:spPr>
          <a:xfrm>
            <a:off x="6748272" y="992124"/>
            <a:ext cx="82296" cy="82296"/>
          </a:xfrm>
          <a:prstGeom prst="ellipse">
            <a:avLst/>
          </a:prstGeom>
          <a:solidFill>
            <a:srgbClr val="F87171"/>
          </a:solidFill>
          <a:ln w="12700">
            <a:solidFill>
              <a:srgbClr val="F87171"/>
            </a:solidFill>
            <a:prstDash val="solid"/>
          </a:ln>
        </p:spPr>
      </p:sp>
      <p:sp>
        <p:nvSpPr>
          <p:cNvPr id="22" name="Shape 19"/>
          <p:cNvSpPr/>
          <p:nvPr/>
        </p:nvSpPr>
        <p:spPr>
          <a:xfrm>
            <a:off x="6885432" y="992124"/>
            <a:ext cx="82296" cy="82296"/>
          </a:xfrm>
          <a:prstGeom prst="ellipse">
            <a:avLst/>
          </a:prstGeom>
          <a:solidFill>
            <a:srgbClr val="FBBF24"/>
          </a:solidFill>
          <a:ln w="12700">
            <a:solidFill>
              <a:srgbClr val="FBBF24"/>
            </a:solidFill>
            <a:prstDash val="solid"/>
          </a:ln>
        </p:spPr>
      </p:sp>
      <p:sp>
        <p:nvSpPr>
          <p:cNvPr id="23" name="Shape 20"/>
          <p:cNvSpPr/>
          <p:nvPr/>
        </p:nvSpPr>
        <p:spPr>
          <a:xfrm>
            <a:off x="7022592" y="992124"/>
            <a:ext cx="82296" cy="82296"/>
          </a:xfrm>
          <a:prstGeom prst="ellipse">
            <a:avLst/>
          </a:prstGeom>
          <a:solidFill>
            <a:srgbClr val="34D399"/>
          </a:solidFill>
          <a:ln w="12700">
            <a:solidFill>
              <a:srgbClr val="34D399"/>
            </a:solidFill>
            <a:prstDash val="solid"/>
          </a:ln>
        </p:spPr>
      </p:sp>
      <p:pic>
        <p:nvPicPr>
          <p:cNvPr id="24" name="Image 1" descr="C:\Users\shrey\AppData\Local\Temp\claude\D--novacinternship-finsight\87f4101b-bf26-4b28-976a-e637573d77e1\scratchpad\deck\img\assessment_full.png">    </p:cNvPr>
          <p:cNvPicPr>
            <a:picLocks noChangeAspect="1"/>
          </p:cNvPicPr>
          <p:nvPr/>
        </p:nvPicPr>
        <p:blipFill>
          <a:blip r:embed="rId2"/>
          <a:stretch>
            <a:fillRect/>
          </a:stretch>
        </p:blipFill>
        <p:spPr>
          <a:xfrm>
            <a:off x="6675120" y="1152144"/>
            <a:ext cx="4937760" cy="33604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CONTENTS</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What this deck covers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Six parts, from what the product does to how well each agent works.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a:t>
            </a:r>
            <a:endParaRPr lang="en-US" sz="900" dirty="0"/>
          </a:p>
        </p:txBody>
      </p:sp>
      <p:sp>
        <p:nvSpPr>
          <p:cNvPr id="8" name="Shape 4"/>
          <p:cNvSpPr/>
          <p:nvPr/>
        </p:nvSpPr>
        <p:spPr>
          <a:xfrm>
            <a:off x="548640" y="1783080"/>
            <a:ext cx="3566160" cy="2011680"/>
          </a:xfrm>
          <a:prstGeom prst="roundRect">
            <a:avLst>
              <a:gd name="adj" fmla="val 5455"/>
            </a:avLst>
          </a:prstGeom>
          <a:solidFill>
            <a:srgbClr val="F8FAFC"/>
          </a:solidFill>
          <a:ln w="12700">
            <a:solidFill>
              <a:srgbClr val="E2E8F0"/>
            </a:solidFill>
            <a:prstDash val="solid"/>
          </a:ln>
        </p:spPr>
      </p:sp>
      <p:sp>
        <p:nvSpPr>
          <p:cNvPr id="9" name="Shape 5"/>
          <p:cNvSpPr/>
          <p:nvPr/>
        </p:nvSpPr>
        <p:spPr>
          <a:xfrm>
            <a:off x="822960" y="2057400"/>
            <a:ext cx="566928" cy="566928"/>
          </a:xfrm>
          <a:prstGeom prst="ellipse">
            <a:avLst/>
          </a:prstGeom>
          <a:solidFill>
            <a:srgbClr val="EEF2FF"/>
          </a:solidFill>
          <a:ln w="12700">
            <a:solidFill>
              <a:srgbClr val="EEF2FF"/>
            </a:solidFill>
            <a:prstDash val="solid"/>
          </a:ln>
        </p:spPr>
      </p:sp>
      <p:pic>
        <p:nvPicPr>
          <p:cNvPr id="10" name="Image 1" descr="preencoded.png">    </p:cNvPr>
          <p:cNvPicPr>
            <a:picLocks noChangeAspect="1"/>
          </p:cNvPicPr>
          <p:nvPr/>
        </p:nvPicPr>
        <p:blipFill>
          <a:blip r:embed="rId2"/>
          <a:stretch>
            <a:fillRect/>
          </a:stretch>
        </p:blipFill>
        <p:spPr>
          <a:xfrm>
            <a:off x="947684" y="2182124"/>
            <a:ext cx="317480" cy="317480"/>
          </a:xfrm>
          <a:prstGeom prst="rect">
            <a:avLst/>
          </a:prstGeom>
        </p:spPr>
      </p:pic>
      <p:sp>
        <p:nvSpPr>
          <p:cNvPr id="11" name="Text 6"/>
          <p:cNvSpPr txBox="1"/>
          <p:nvPr/>
        </p:nvSpPr>
        <p:spPr>
          <a:xfrm>
            <a:off x="3017520" y="203911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00</a:t>
            </a:r>
            <a:endParaRPr lang="en-US" sz="3000" dirty="0"/>
          </a:p>
        </p:txBody>
      </p:sp>
      <p:sp>
        <p:nvSpPr>
          <p:cNvPr id="12" name="Text 7"/>
          <p:cNvSpPr txBox="1"/>
          <p:nvPr/>
        </p:nvSpPr>
        <p:spPr>
          <a:xfrm>
            <a:off x="822960" y="277063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The product</a:t>
            </a:r>
            <a:endParaRPr lang="en-US" sz="1800" dirty="0"/>
          </a:p>
        </p:txBody>
      </p:sp>
      <p:sp>
        <p:nvSpPr>
          <p:cNvPr id="13" name="Text 8"/>
          <p:cNvSpPr txBox="1"/>
          <p:nvPr/>
        </p:nvSpPr>
        <p:spPr>
          <a:xfrm>
            <a:off x="822960" y="315468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The problem, the three users, a tour of the app</a:t>
            </a:r>
            <a:endParaRPr lang="en-US" sz="1200" dirty="0"/>
          </a:p>
        </p:txBody>
      </p:sp>
      <p:sp>
        <p:nvSpPr>
          <p:cNvPr id="14" name="Shape 9"/>
          <p:cNvSpPr/>
          <p:nvPr/>
        </p:nvSpPr>
        <p:spPr>
          <a:xfrm>
            <a:off x="4297680" y="1783080"/>
            <a:ext cx="3566160" cy="2011680"/>
          </a:xfrm>
          <a:prstGeom prst="roundRect">
            <a:avLst>
              <a:gd name="adj" fmla="val 5455"/>
            </a:avLst>
          </a:prstGeom>
          <a:solidFill>
            <a:srgbClr val="F8FAFC"/>
          </a:solidFill>
          <a:ln w="12700">
            <a:solidFill>
              <a:srgbClr val="E2E8F0"/>
            </a:solidFill>
            <a:prstDash val="solid"/>
          </a:ln>
        </p:spPr>
      </p:sp>
      <p:sp>
        <p:nvSpPr>
          <p:cNvPr id="15" name="Shape 10"/>
          <p:cNvSpPr/>
          <p:nvPr/>
        </p:nvSpPr>
        <p:spPr>
          <a:xfrm>
            <a:off x="4572000" y="2057400"/>
            <a:ext cx="566928" cy="566928"/>
          </a:xfrm>
          <a:prstGeom prst="ellipse">
            <a:avLst/>
          </a:prstGeom>
          <a:solidFill>
            <a:srgbClr val="EEF2FF"/>
          </a:solidFill>
          <a:ln w="12700">
            <a:solidFill>
              <a:srgbClr val="EEF2FF"/>
            </a:solidFill>
            <a:prstDash val="solid"/>
          </a:ln>
        </p:spPr>
      </p:sp>
      <p:pic>
        <p:nvPicPr>
          <p:cNvPr id="16" name="Image 2" descr="preencoded.png">    </p:cNvPr>
          <p:cNvPicPr>
            <a:picLocks noChangeAspect="1"/>
          </p:cNvPicPr>
          <p:nvPr/>
        </p:nvPicPr>
        <p:blipFill>
          <a:blip r:embed="rId3"/>
          <a:stretch>
            <a:fillRect/>
          </a:stretch>
        </p:blipFill>
        <p:spPr>
          <a:xfrm>
            <a:off x="4696724" y="2182124"/>
            <a:ext cx="317480" cy="317480"/>
          </a:xfrm>
          <a:prstGeom prst="rect">
            <a:avLst/>
          </a:prstGeom>
        </p:spPr>
      </p:pic>
      <p:sp>
        <p:nvSpPr>
          <p:cNvPr id="17" name="Text 11"/>
          <p:cNvSpPr txBox="1"/>
          <p:nvPr/>
        </p:nvSpPr>
        <p:spPr>
          <a:xfrm>
            <a:off x="6766560" y="203911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01</a:t>
            </a:r>
            <a:endParaRPr lang="en-US" sz="3000" dirty="0"/>
          </a:p>
        </p:txBody>
      </p:sp>
      <p:sp>
        <p:nvSpPr>
          <p:cNvPr id="18" name="Text 12"/>
          <p:cNvSpPr txBox="1"/>
          <p:nvPr/>
        </p:nvSpPr>
        <p:spPr>
          <a:xfrm>
            <a:off x="4572000" y="277063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Architecture</a:t>
            </a:r>
            <a:endParaRPr lang="en-US" sz="1800" dirty="0"/>
          </a:p>
        </p:txBody>
      </p:sp>
      <p:sp>
        <p:nvSpPr>
          <p:cNvPr id="19" name="Text 13"/>
          <p:cNvSpPr txBox="1"/>
          <p:nvPr/>
        </p:nvSpPr>
        <p:spPr>
          <a:xfrm>
            <a:off x="4572000" y="315468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Layers, tech stack, how one agent runs</a:t>
            </a:r>
            <a:endParaRPr lang="en-US" sz="1200" dirty="0"/>
          </a:p>
        </p:txBody>
      </p:sp>
      <p:sp>
        <p:nvSpPr>
          <p:cNvPr id="20" name="Shape 14"/>
          <p:cNvSpPr/>
          <p:nvPr/>
        </p:nvSpPr>
        <p:spPr>
          <a:xfrm>
            <a:off x="8046720" y="1783080"/>
            <a:ext cx="3566160" cy="2011680"/>
          </a:xfrm>
          <a:prstGeom prst="roundRect">
            <a:avLst>
              <a:gd name="adj" fmla="val 5455"/>
            </a:avLst>
          </a:prstGeom>
          <a:solidFill>
            <a:srgbClr val="F8FAFC"/>
          </a:solidFill>
          <a:ln w="12700">
            <a:solidFill>
              <a:srgbClr val="E2E8F0"/>
            </a:solidFill>
            <a:prstDash val="solid"/>
          </a:ln>
        </p:spPr>
      </p:sp>
      <p:sp>
        <p:nvSpPr>
          <p:cNvPr id="21" name="Shape 15"/>
          <p:cNvSpPr/>
          <p:nvPr/>
        </p:nvSpPr>
        <p:spPr>
          <a:xfrm>
            <a:off x="8321040" y="2057400"/>
            <a:ext cx="566928" cy="566928"/>
          </a:xfrm>
          <a:prstGeom prst="ellipse">
            <a:avLst/>
          </a:prstGeom>
          <a:solidFill>
            <a:srgbClr val="EEF2FF"/>
          </a:solidFill>
          <a:ln w="12700">
            <a:solidFill>
              <a:srgbClr val="EEF2FF"/>
            </a:solidFill>
            <a:prstDash val="solid"/>
          </a:ln>
        </p:spPr>
      </p:sp>
      <p:pic>
        <p:nvPicPr>
          <p:cNvPr id="22" name="Image 3" descr="preencoded.png">    </p:cNvPr>
          <p:cNvPicPr>
            <a:picLocks noChangeAspect="1"/>
          </p:cNvPicPr>
          <p:nvPr/>
        </p:nvPicPr>
        <p:blipFill>
          <a:blip r:embed="rId4"/>
          <a:stretch>
            <a:fillRect/>
          </a:stretch>
        </p:blipFill>
        <p:spPr>
          <a:xfrm>
            <a:off x="8445764" y="2182124"/>
            <a:ext cx="317480" cy="317480"/>
          </a:xfrm>
          <a:prstGeom prst="rect">
            <a:avLst/>
          </a:prstGeom>
        </p:spPr>
      </p:pic>
      <p:sp>
        <p:nvSpPr>
          <p:cNvPr id="23" name="Text 16"/>
          <p:cNvSpPr txBox="1"/>
          <p:nvPr/>
        </p:nvSpPr>
        <p:spPr>
          <a:xfrm>
            <a:off x="10515600" y="203911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02</a:t>
            </a:r>
            <a:endParaRPr lang="en-US" sz="3000" dirty="0"/>
          </a:p>
        </p:txBody>
      </p:sp>
      <p:sp>
        <p:nvSpPr>
          <p:cNvPr id="24" name="Text 17"/>
          <p:cNvSpPr txBox="1"/>
          <p:nvPr/>
        </p:nvSpPr>
        <p:spPr>
          <a:xfrm>
            <a:off x="8321040" y="277063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The 29 agents</a:t>
            </a:r>
            <a:endParaRPr lang="en-US" sz="1800" dirty="0"/>
          </a:p>
        </p:txBody>
      </p:sp>
      <p:sp>
        <p:nvSpPr>
          <p:cNvPr id="25" name="Text 18"/>
          <p:cNvSpPr txBox="1"/>
          <p:nvPr/>
        </p:nvSpPr>
        <p:spPr>
          <a:xfrm>
            <a:off x="8321040" y="315468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Six crews, what each agent does and how it scored</a:t>
            </a:r>
            <a:endParaRPr lang="en-US" sz="1200" dirty="0"/>
          </a:p>
        </p:txBody>
      </p:sp>
      <p:sp>
        <p:nvSpPr>
          <p:cNvPr id="26" name="Shape 19"/>
          <p:cNvSpPr/>
          <p:nvPr/>
        </p:nvSpPr>
        <p:spPr>
          <a:xfrm>
            <a:off x="548640" y="4023360"/>
            <a:ext cx="3566160" cy="2011680"/>
          </a:xfrm>
          <a:prstGeom prst="roundRect">
            <a:avLst>
              <a:gd name="adj" fmla="val 5455"/>
            </a:avLst>
          </a:prstGeom>
          <a:solidFill>
            <a:srgbClr val="F8FAFC"/>
          </a:solidFill>
          <a:ln w="12700">
            <a:solidFill>
              <a:srgbClr val="E2E8F0"/>
            </a:solidFill>
            <a:prstDash val="solid"/>
          </a:ln>
        </p:spPr>
      </p:sp>
      <p:sp>
        <p:nvSpPr>
          <p:cNvPr id="27" name="Shape 20"/>
          <p:cNvSpPr/>
          <p:nvPr/>
        </p:nvSpPr>
        <p:spPr>
          <a:xfrm>
            <a:off x="822960" y="4297680"/>
            <a:ext cx="566928" cy="566928"/>
          </a:xfrm>
          <a:prstGeom prst="ellipse">
            <a:avLst/>
          </a:prstGeom>
          <a:solidFill>
            <a:srgbClr val="EEF2FF"/>
          </a:solidFill>
          <a:ln w="12700">
            <a:solidFill>
              <a:srgbClr val="EEF2FF"/>
            </a:solidFill>
            <a:prstDash val="solid"/>
          </a:ln>
        </p:spPr>
      </p:sp>
      <p:pic>
        <p:nvPicPr>
          <p:cNvPr id="28" name="Image 4" descr="preencoded.png">    </p:cNvPr>
          <p:cNvPicPr>
            <a:picLocks noChangeAspect="1"/>
          </p:cNvPicPr>
          <p:nvPr/>
        </p:nvPicPr>
        <p:blipFill>
          <a:blip r:embed="rId5"/>
          <a:stretch>
            <a:fillRect/>
          </a:stretch>
        </p:blipFill>
        <p:spPr>
          <a:xfrm>
            <a:off x="947684" y="4422404"/>
            <a:ext cx="317480" cy="317480"/>
          </a:xfrm>
          <a:prstGeom prst="rect">
            <a:avLst/>
          </a:prstGeom>
        </p:spPr>
      </p:pic>
      <p:sp>
        <p:nvSpPr>
          <p:cNvPr id="29" name="Text 21"/>
          <p:cNvSpPr txBox="1"/>
          <p:nvPr/>
        </p:nvSpPr>
        <p:spPr>
          <a:xfrm>
            <a:off x="3017520" y="427939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03</a:t>
            </a:r>
            <a:endParaRPr lang="en-US" sz="3000" dirty="0"/>
          </a:p>
        </p:txBody>
      </p:sp>
      <p:sp>
        <p:nvSpPr>
          <p:cNvPr id="30" name="Text 22"/>
          <p:cNvSpPr txBox="1"/>
          <p:nvPr/>
        </p:nvSpPr>
        <p:spPr>
          <a:xfrm>
            <a:off x="822960" y="501091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Workflows</a:t>
            </a:r>
            <a:endParaRPr lang="en-US" sz="1800" dirty="0"/>
          </a:p>
        </p:txBody>
      </p:sp>
      <p:sp>
        <p:nvSpPr>
          <p:cNvPr id="31" name="Text 23"/>
          <p:cNvSpPr txBox="1"/>
          <p:nvPr/>
        </p:nvSpPr>
        <p:spPr>
          <a:xfrm>
            <a:off x="822960" y="539496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Loan lifecycle, the end-to-end journey, a real run</a:t>
            </a:r>
            <a:endParaRPr lang="en-US" sz="1200" dirty="0"/>
          </a:p>
        </p:txBody>
      </p:sp>
      <p:sp>
        <p:nvSpPr>
          <p:cNvPr id="32" name="Shape 24"/>
          <p:cNvSpPr/>
          <p:nvPr/>
        </p:nvSpPr>
        <p:spPr>
          <a:xfrm>
            <a:off x="4297680" y="4023360"/>
            <a:ext cx="3566160" cy="2011680"/>
          </a:xfrm>
          <a:prstGeom prst="roundRect">
            <a:avLst>
              <a:gd name="adj" fmla="val 5455"/>
            </a:avLst>
          </a:prstGeom>
          <a:solidFill>
            <a:srgbClr val="F8FAFC"/>
          </a:solidFill>
          <a:ln w="12700">
            <a:solidFill>
              <a:srgbClr val="E2E8F0"/>
            </a:solidFill>
            <a:prstDash val="solid"/>
          </a:ln>
        </p:spPr>
      </p:sp>
      <p:sp>
        <p:nvSpPr>
          <p:cNvPr id="33" name="Shape 25"/>
          <p:cNvSpPr/>
          <p:nvPr/>
        </p:nvSpPr>
        <p:spPr>
          <a:xfrm>
            <a:off x="4572000" y="4297680"/>
            <a:ext cx="566928" cy="566928"/>
          </a:xfrm>
          <a:prstGeom prst="ellipse">
            <a:avLst/>
          </a:prstGeom>
          <a:solidFill>
            <a:srgbClr val="EEF2FF"/>
          </a:solidFill>
          <a:ln w="12700">
            <a:solidFill>
              <a:srgbClr val="EEF2FF"/>
            </a:solidFill>
            <a:prstDash val="solid"/>
          </a:ln>
        </p:spPr>
      </p:sp>
      <p:pic>
        <p:nvPicPr>
          <p:cNvPr id="34" name="Image 5" descr="preencoded.png">    </p:cNvPr>
          <p:cNvPicPr>
            <a:picLocks noChangeAspect="1"/>
          </p:cNvPicPr>
          <p:nvPr/>
        </p:nvPicPr>
        <p:blipFill>
          <a:blip r:embed="rId6"/>
          <a:stretch>
            <a:fillRect/>
          </a:stretch>
        </p:blipFill>
        <p:spPr>
          <a:xfrm>
            <a:off x="4696724" y="4422404"/>
            <a:ext cx="317480" cy="317480"/>
          </a:xfrm>
          <a:prstGeom prst="rect">
            <a:avLst/>
          </a:prstGeom>
        </p:spPr>
      </p:pic>
      <p:sp>
        <p:nvSpPr>
          <p:cNvPr id="35" name="Text 26"/>
          <p:cNvSpPr txBox="1"/>
          <p:nvPr/>
        </p:nvSpPr>
        <p:spPr>
          <a:xfrm>
            <a:off x="6766560" y="427939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04</a:t>
            </a:r>
            <a:endParaRPr lang="en-US" sz="3000" dirty="0"/>
          </a:p>
        </p:txBody>
      </p:sp>
      <p:sp>
        <p:nvSpPr>
          <p:cNvPr id="36" name="Text 27"/>
          <p:cNvSpPr txBox="1"/>
          <p:nvPr/>
        </p:nvSpPr>
        <p:spPr>
          <a:xfrm>
            <a:off x="4572000" y="501091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Trust &amp; control</a:t>
            </a:r>
            <a:endParaRPr lang="en-US" sz="1800" dirty="0"/>
          </a:p>
        </p:txBody>
      </p:sp>
      <p:sp>
        <p:nvSpPr>
          <p:cNvPr id="37" name="Text 28"/>
          <p:cNvSpPr txBox="1"/>
          <p:nvPr/>
        </p:nvSpPr>
        <p:spPr>
          <a:xfrm>
            <a:off x="4572000" y="539496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Model gateway, guardrails, tracing, the database</a:t>
            </a:r>
            <a:endParaRPr lang="en-US" sz="1200" dirty="0"/>
          </a:p>
        </p:txBody>
      </p:sp>
      <p:sp>
        <p:nvSpPr>
          <p:cNvPr id="38" name="Shape 29"/>
          <p:cNvSpPr/>
          <p:nvPr/>
        </p:nvSpPr>
        <p:spPr>
          <a:xfrm>
            <a:off x="8046720" y="4023360"/>
            <a:ext cx="3566160" cy="2011680"/>
          </a:xfrm>
          <a:prstGeom prst="roundRect">
            <a:avLst>
              <a:gd name="adj" fmla="val 5455"/>
            </a:avLst>
          </a:prstGeom>
          <a:solidFill>
            <a:srgbClr val="F8FAFC"/>
          </a:solidFill>
          <a:ln w="12700">
            <a:solidFill>
              <a:srgbClr val="E2E8F0"/>
            </a:solidFill>
            <a:prstDash val="solid"/>
          </a:ln>
        </p:spPr>
      </p:sp>
      <p:sp>
        <p:nvSpPr>
          <p:cNvPr id="39" name="Shape 30"/>
          <p:cNvSpPr/>
          <p:nvPr/>
        </p:nvSpPr>
        <p:spPr>
          <a:xfrm>
            <a:off x="8321040" y="4297680"/>
            <a:ext cx="566928" cy="566928"/>
          </a:xfrm>
          <a:prstGeom prst="ellipse">
            <a:avLst/>
          </a:prstGeom>
          <a:solidFill>
            <a:srgbClr val="EEF2FF"/>
          </a:solidFill>
          <a:ln w="12700">
            <a:solidFill>
              <a:srgbClr val="EEF2FF"/>
            </a:solidFill>
            <a:prstDash val="solid"/>
          </a:ln>
        </p:spPr>
      </p:sp>
      <p:pic>
        <p:nvPicPr>
          <p:cNvPr id="40" name="Image 6" descr="preencoded.png">    </p:cNvPr>
          <p:cNvPicPr>
            <a:picLocks noChangeAspect="1"/>
          </p:cNvPicPr>
          <p:nvPr/>
        </p:nvPicPr>
        <p:blipFill>
          <a:blip r:embed="rId7"/>
          <a:stretch>
            <a:fillRect/>
          </a:stretch>
        </p:blipFill>
        <p:spPr>
          <a:xfrm>
            <a:off x="8445764" y="4422404"/>
            <a:ext cx="317480" cy="317480"/>
          </a:xfrm>
          <a:prstGeom prst="rect">
            <a:avLst/>
          </a:prstGeom>
        </p:spPr>
      </p:pic>
      <p:sp>
        <p:nvSpPr>
          <p:cNvPr id="41" name="Text 31"/>
          <p:cNvSpPr txBox="1"/>
          <p:nvPr/>
        </p:nvSpPr>
        <p:spPr>
          <a:xfrm>
            <a:off x="10515600" y="4279392"/>
            <a:ext cx="868680" cy="548640"/>
          </a:xfrm>
          <a:prstGeom prst="rect">
            <a:avLst/>
          </a:prstGeom>
          <a:noFill/>
          <a:ln/>
        </p:spPr>
        <p:txBody>
          <a:bodyPr wrap="square" lIns="0" tIns="0" rIns="0" bIns="0" rtlCol="0" anchor="ctr"/>
          <a:lstStyle/>
          <a:p>
            <a:pPr algn="r" indent="0" marL="0">
              <a:buNone/>
            </a:pPr>
            <a:r>
              <a:rPr lang="en-US" sz="3000" b="1" dirty="0">
                <a:solidFill>
                  <a:srgbClr val="C7D2FE"/>
                </a:solidFill>
                <a:latin typeface="Roboto" pitchFamily="34" charset="0"/>
                <a:ea typeface="Roboto" pitchFamily="34" charset="-122"/>
                <a:cs typeface="Roboto" pitchFamily="34" charset="-120"/>
              </a:rPr>
              <a:t>05</a:t>
            </a:r>
            <a:endParaRPr lang="en-US" sz="3000" dirty="0"/>
          </a:p>
        </p:txBody>
      </p:sp>
      <p:sp>
        <p:nvSpPr>
          <p:cNvPr id="42" name="Text 32"/>
          <p:cNvSpPr txBox="1"/>
          <p:nvPr/>
        </p:nvSpPr>
        <p:spPr>
          <a:xfrm>
            <a:off x="8321040" y="5010912"/>
            <a:ext cx="3108960" cy="384048"/>
          </a:xfrm>
          <a:prstGeom prst="rect">
            <a:avLst/>
          </a:prstGeom>
          <a:noFill/>
          <a:ln/>
        </p:spPr>
        <p:txBody>
          <a:bodyPr wrap="square" lIns="0" tIns="0" rIns="0" bIns="0" rtlCol="0" anchor="ctr"/>
          <a:lstStyle/>
          <a:p>
            <a:pPr indent="0" marL="0">
              <a:buNone/>
            </a:pPr>
            <a:r>
              <a:rPr lang="en-US" sz="1800" b="1" dirty="0">
                <a:solidFill>
                  <a:srgbClr val="0F172A"/>
                </a:solidFill>
                <a:latin typeface="Roboto" pitchFamily="34" charset="0"/>
                <a:ea typeface="Roboto" pitchFamily="34" charset="-122"/>
                <a:cs typeface="Roboto" pitchFamily="34" charset="-120"/>
              </a:rPr>
              <a:t>Evaluation</a:t>
            </a:r>
            <a:endParaRPr lang="en-US" sz="1800" dirty="0"/>
          </a:p>
        </p:txBody>
      </p:sp>
      <p:sp>
        <p:nvSpPr>
          <p:cNvPr id="43" name="Text 33"/>
          <p:cNvSpPr txBox="1"/>
          <p:nvPr/>
        </p:nvSpPr>
        <p:spPr>
          <a:xfrm>
            <a:off x="8321040" y="5394960"/>
            <a:ext cx="3108960" cy="502920"/>
          </a:xfrm>
          <a:prstGeom prst="rect">
            <a:avLst/>
          </a:prstGeom>
          <a:noFill/>
          <a:ln/>
        </p:spPr>
        <p:txBody>
          <a:bodyPr wrap="square" lIns="0" tIns="0" rIns="0" bIns="0" rtlCol="0" anchor="t"/>
          <a:lstStyle/>
          <a:p>
            <a:pPr indent="0" marL="0">
              <a:buNone/>
            </a:pPr>
            <a:r>
              <a:rPr lang="en-US" sz="1200" dirty="0">
                <a:solidFill>
                  <a:srgbClr val="64748B"/>
                </a:solidFill>
                <a:latin typeface="Roboto" pitchFamily="34" charset="0"/>
                <a:ea typeface="Roboto" pitchFamily="34" charset="-122"/>
                <a:cs typeface="Roboto" pitchFamily="34" charset="-120"/>
              </a:rPr>
              <a:t>Method, scorecard, defects fixed, latency, limits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00</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The product</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What FinSight does, who uses it, and what it looks like.</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1060704"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1060704"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The problem</a:t>
            </a:r>
            <a:endParaRPr lang="en-US" sz="1200" dirty="0"/>
          </a:p>
        </p:txBody>
      </p:sp>
      <p:sp>
        <p:nvSpPr>
          <p:cNvPr id="8" name="Shape 6"/>
          <p:cNvSpPr/>
          <p:nvPr/>
        </p:nvSpPr>
        <p:spPr>
          <a:xfrm>
            <a:off x="1737360" y="5102352"/>
            <a:ext cx="1060704"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737360" y="5102352"/>
            <a:ext cx="1060704"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Three roles</a:t>
            </a:r>
            <a:endParaRPr lang="en-US" sz="1200" dirty="0"/>
          </a:p>
        </p:txBody>
      </p:sp>
      <p:sp>
        <p:nvSpPr>
          <p:cNvPr id="10" name="Shape 8"/>
          <p:cNvSpPr/>
          <p:nvPr/>
        </p:nvSpPr>
        <p:spPr>
          <a:xfrm>
            <a:off x="2926080" y="5102352"/>
            <a:ext cx="1719072"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2926080" y="5102352"/>
            <a:ext cx="171907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Twelve loan products</a:t>
            </a:r>
            <a:endParaRPr lang="en-US" sz="1200" dirty="0"/>
          </a:p>
        </p:txBody>
      </p:sp>
      <p:sp>
        <p:nvSpPr>
          <p:cNvPr id="12" name="Shape 10"/>
          <p:cNvSpPr/>
          <p:nvPr/>
        </p:nvSpPr>
        <p:spPr>
          <a:xfrm>
            <a:off x="4773168" y="5102352"/>
            <a:ext cx="841248" cy="384048"/>
          </a:xfrm>
          <a:prstGeom prst="roundRect">
            <a:avLst>
              <a:gd name="adj" fmla="val 50000"/>
            </a:avLst>
          </a:prstGeom>
          <a:solidFill>
            <a:srgbClr val="1E293B"/>
          </a:solidFill>
          <a:ln w="12700">
            <a:solidFill>
              <a:srgbClr val="334155"/>
            </a:solidFill>
            <a:prstDash val="solid"/>
          </a:ln>
        </p:spPr>
      </p:sp>
      <p:sp>
        <p:nvSpPr>
          <p:cNvPr id="13" name="Text 11"/>
          <p:cNvSpPr txBox="1"/>
          <p:nvPr/>
        </p:nvSpPr>
        <p:spPr>
          <a:xfrm>
            <a:off x="4773168" y="5102352"/>
            <a:ext cx="84124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App tour</a:t>
            </a:r>
            <a:endParaRPr lang="en-US" sz="1200" dirty="0"/>
          </a:p>
        </p:txBody>
      </p:sp>
      <p:sp>
        <p:nvSpPr>
          <p:cNvPr id="14" name="Shape 12"/>
          <p:cNvSpPr/>
          <p:nvPr/>
        </p:nvSpPr>
        <p:spPr>
          <a:xfrm>
            <a:off x="8549640" y="1600200"/>
            <a:ext cx="3108960" cy="3108960"/>
          </a:xfrm>
          <a:prstGeom prst="ellipse">
            <a:avLst/>
          </a:prstGeom>
          <a:solidFill>
            <a:srgbClr val="1E293B"/>
          </a:solidFill>
          <a:ln w="12700">
            <a:solidFill>
              <a:srgbClr val="334155"/>
            </a:solidFill>
            <a:prstDash val="solid"/>
          </a:ln>
        </p:spPr>
      </p:sp>
      <p:pic>
        <p:nvPicPr>
          <p:cNvPr id="15"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16"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17"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18" name="Text 1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PRODUCT</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From a manual loan desk to agents that do the checking</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Every NBFC loan file is a stack of Indian documents that someone has to read, verify and judge.</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4</a:t>
            </a:r>
            <a:endParaRPr lang="en-US" sz="900" dirty="0"/>
          </a:p>
        </p:txBody>
      </p:sp>
      <p:sp>
        <p:nvSpPr>
          <p:cNvPr id="8" name="Text 4"/>
          <p:cNvSpPr txBox="1"/>
          <p:nvPr/>
        </p:nvSpPr>
        <p:spPr>
          <a:xfrm>
            <a:off x="548640" y="1755648"/>
            <a:ext cx="2743200" cy="274320"/>
          </a:xfrm>
          <a:prstGeom prst="rect">
            <a:avLst/>
          </a:prstGeom>
          <a:noFill/>
          <a:ln/>
        </p:spPr>
        <p:txBody>
          <a:bodyPr wrap="square" lIns="0" tIns="0" rIns="0" bIns="0" rtlCol="0" anchor="ctr"/>
          <a:lstStyle/>
          <a:p>
            <a:pPr indent="0" marL="0">
              <a:buNone/>
            </a:pPr>
            <a:r>
              <a:rPr lang="en-US" sz="1100" b="1" spc="200" kern="0" dirty="0">
                <a:solidFill>
                  <a:srgbClr val="DC2626"/>
                </a:solidFill>
                <a:latin typeface="Roboto" pitchFamily="34" charset="0"/>
                <a:ea typeface="Roboto" pitchFamily="34" charset="-122"/>
                <a:cs typeface="Roboto" pitchFamily="34" charset="-120"/>
              </a:rPr>
              <a:t>TODAY</a:t>
            </a:r>
            <a:endParaRPr lang="en-US" sz="1100" dirty="0"/>
          </a:p>
        </p:txBody>
      </p:sp>
      <p:sp>
        <p:nvSpPr>
          <p:cNvPr id="9" name="Shape 5"/>
          <p:cNvSpPr/>
          <p:nvPr/>
        </p:nvSpPr>
        <p:spPr>
          <a:xfrm>
            <a:off x="548640" y="2148840"/>
            <a:ext cx="548640" cy="548640"/>
          </a:xfrm>
          <a:prstGeom prst="ellipse">
            <a:avLst/>
          </a:prstGeom>
          <a:solidFill>
            <a:srgbClr val="FEE2E2"/>
          </a:solidFill>
          <a:ln w="12700">
            <a:solidFill>
              <a:srgbClr val="FEE2E2"/>
            </a:solidFill>
            <a:prstDash val="solid"/>
          </a:ln>
        </p:spPr>
      </p:sp>
      <p:pic>
        <p:nvPicPr>
          <p:cNvPr id="10" name="Image 1" descr="preencoded.png">    </p:cNvPr>
          <p:cNvPicPr>
            <a:picLocks noChangeAspect="1"/>
          </p:cNvPicPr>
          <p:nvPr/>
        </p:nvPicPr>
        <p:blipFill>
          <a:blip r:embed="rId2"/>
          <a:stretch>
            <a:fillRect/>
          </a:stretch>
        </p:blipFill>
        <p:spPr>
          <a:xfrm>
            <a:off x="669341" y="2269541"/>
            <a:ext cx="307238" cy="307238"/>
          </a:xfrm>
          <a:prstGeom prst="rect">
            <a:avLst/>
          </a:prstGeom>
        </p:spPr>
      </p:pic>
      <p:sp>
        <p:nvSpPr>
          <p:cNvPr id="11" name="Text 6"/>
          <p:cNvSpPr txBox="1"/>
          <p:nvPr/>
        </p:nvSpPr>
        <p:spPr>
          <a:xfrm>
            <a:off x="1280160" y="2103120"/>
            <a:ext cx="4343400" cy="868680"/>
          </a:xfrm>
          <a:prstGeom prst="rect">
            <a:avLst/>
          </a:prstGeom>
          <a:noFill/>
          <a:ln/>
        </p:spPr>
        <p:txBody>
          <a:bodyPr wrap="square" lIns="0" tIns="0" rIns="0" bIns="0" rtlCol="0" anchor="t"/>
          <a:lstStyle/>
          <a:p>
            <a:pPr indent="0" marL="0">
              <a:spcAft>
                <a:spcPts val="300"/>
              </a:spcAft>
              <a:buNone/>
            </a:pPr>
            <a:r>
              <a:rPr lang="en-US" sz="1400" b="1" dirty="0">
                <a:solidFill>
                  <a:srgbClr val="0F172A"/>
                </a:solidFill>
                <a:latin typeface="Roboto" pitchFamily="34" charset="0"/>
                <a:ea typeface="Roboto" pitchFamily="34" charset="-122"/>
                <a:cs typeface="Roboto" pitchFamily="34" charset="-120"/>
              </a:rPr>
              <a:t>Manual document reading</a:t>
            </a:r>
            <a:endParaRPr lang="en-US" sz="1400" dirty="0"/>
          </a:p>
          <a:p>
            <a:pPr indent="0" marL="0">
              <a:spcAft>
                <a:spcPts val="300"/>
              </a:spcAft>
              <a:buNone/>
            </a:pPr>
            <a:r>
              <a:rPr lang="en-US" sz="1150" dirty="0">
                <a:solidFill>
                  <a:srgbClr val="64748B"/>
                </a:solidFill>
                <a:latin typeface="Roboto" pitchFamily="34" charset="0"/>
                <a:ea typeface="Roboto" pitchFamily="34" charset="-122"/>
                <a:cs typeface="Roboto" pitchFamily="34" charset="-120"/>
              </a:rPr>
              <a:t>Officers retype PAN, Aadhaar, payslip and statement fields by hand.</a:t>
            </a:r>
            <a:endParaRPr lang="en-US" sz="1400" dirty="0"/>
          </a:p>
        </p:txBody>
      </p:sp>
      <p:sp>
        <p:nvSpPr>
          <p:cNvPr id="12" name="Shape 7"/>
          <p:cNvSpPr/>
          <p:nvPr/>
        </p:nvSpPr>
        <p:spPr>
          <a:xfrm>
            <a:off x="548640" y="3172968"/>
            <a:ext cx="548640" cy="548640"/>
          </a:xfrm>
          <a:prstGeom prst="ellipse">
            <a:avLst/>
          </a:prstGeom>
          <a:solidFill>
            <a:srgbClr val="FEE2E2"/>
          </a:solidFill>
          <a:ln w="12700">
            <a:solidFill>
              <a:srgbClr val="FEE2E2"/>
            </a:solidFill>
            <a:prstDash val="solid"/>
          </a:ln>
        </p:spPr>
      </p:sp>
      <p:pic>
        <p:nvPicPr>
          <p:cNvPr id="13" name="Image 2" descr="preencoded.png">    </p:cNvPr>
          <p:cNvPicPr>
            <a:picLocks noChangeAspect="1"/>
          </p:cNvPicPr>
          <p:nvPr/>
        </p:nvPicPr>
        <p:blipFill>
          <a:blip r:embed="rId3"/>
          <a:stretch>
            <a:fillRect/>
          </a:stretch>
        </p:blipFill>
        <p:spPr>
          <a:xfrm>
            <a:off x="669341" y="3293669"/>
            <a:ext cx="307238" cy="307238"/>
          </a:xfrm>
          <a:prstGeom prst="rect">
            <a:avLst/>
          </a:prstGeom>
        </p:spPr>
      </p:pic>
      <p:sp>
        <p:nvSpPr>
          <p:cNvPr id="14" name="Text 8"/>
          <p:cNvSpPr txBox="1"/>
          <p:nvPr/>
        </p:nvSpPr>
        <p:spPr>
          <a:xfrm>
            <a:off x="1280160" y="3127248"/>
            <a:ext cx="4343400" cy="868680"/>
          </a:xfrm>
          <a:prstGeom prst="rect">
            <a:avLst/>
          </a:prstGeom>
          <a:noFill/>
          <a:ln/>
        </p:spPr>
        <p:txBody>
          <a:bodyPr wrap="square" lIns="0" tIns="0" rIns="0" bIns="0" rtlCol="0" anchor="t"/>
          <a:lstStyle/>
          <a:p>
            <a:pPr indent="0" marL="0">
              <a:spcAft>
                <a:spcPts val="300"/>
              </a:spcAft>
              <a:buNone/>
            </a:pPr>
            <a:r>
              <a:rPr lang="en-US" sz="1400" b="1" dirty="0">
                <a:solidFill>
                  <a:srgbClr val="0F172A"/>
                </a:solidFill>
                <a:latin typeface="Roboto" pitchFamily="34" charset="0"/>
                <a:ea typeface="Roboto" pitchFamily="34" charset="-122"/>
                <a:cs typeface="Roboto" pitchFamily="34" charset="-120"/>
              </a:rPr>
              <a:t>Forgeries are hard to see</a:t>
            </a:r>
            <a:endParaRPr lang="en-US" sz="1400" dirty="0"/>
          </a:p>
          <a:p>
            <a:pPr indent="0" marL="0">
              <a:spcAft>
                <a:spcPts val="300"/>
              </a:spcAft>
              <a:buNone/>
            </a:pPr>
            <a:r>
              <a:rPr lang="en-US" sz="1150" dirty="0">
                <a:solidFill>
                  <a:srgbClr val="64748B"/>
                </a:solidFill>
                <a:latin typeface="Roboto" pitchFamily="34" charset="0"/>
                <a:ea typeface="Roboto" pitchFamily="34" charset="-122"/>
                <a:cs typeface="Roboto" pitchFamily="34" charset="-120"/>
              </a:rPr>
              <a:t>An edited payslip or a pasted ID photo looks genuine to the eye.</a:t>
            </a:r>
            <a:endParaRPr lang="en-US" sz="1400" dirty="0"/>
          </a:p>
        </p:txBody>
      </p:sp>
      <p:sp>
        <p:nvSpPr>
          <p:cNvPr id="15" name="Shape 9"/>
          <p:cNvSpPr/>
          <p:nvPr/>
        </p:nvSpPr>
        <p:spPr>
          <a:xfrm>
            <a:off x="548640" y="4197096"/>
            <a:ext cx="548640" cy="548640"/>
          </a:xfrm>
          <a:prstGeom prst="ellipse">
            <a:avLst/>
          </a:prstGeom>
          <a:solidFill>
            <a:srgbClr val="FEE2E2"/>
          </a:solidFill>
          <a:ln w="12700">
            <a:solidFill>
              <a:srgbClr val="FEE2E2"/>
            </a:solidFill>
            <a:prstDash val="solid"/>
          </a:ln>
        </p:spPr>
      </p:sp>
      <p:pic>
        <p:nvPicPr>
          <p:cNvPr id="16" name="Image 3" descr="preencoded.png">    </p:cNvPr>
          <p:cNvPicPr>
            <a:picLocks noChangeAspect="1"/>
          </p:cNvPicPr>
          <p:nvPr/>
        </p:nvPicPr>
        <p:blipFill>
          <a:blip r:embed="rId4"/>
          <a:stretch>
            <a:fillRect/>
          </a:stretch>
        </p:blipFill>
        <p:spPr>
          <a:xfrm>
            <a:off x="669341" y="4317797"/>
            <a:ext cx="307238" cy="307238"/>
          </a:xfrm>
          <a:prstGeom prst="rect">
            <a:avLst/>
          </a:prstGeom>
        </p:spPr>
      </p:pic>
      <p:sp>
        <p:nvSpPr>
          <p:cNvPr id="17" name="Text 10"/>
          <p:cNvSpPr txBox="1"/>
          <p:nvPr/>
        </p:nvSpPr>
        <p:spPr>
          <a:xfrm>
            <a:off x="1280160" y="4151376"/>
            <a:ext cx="4343400" cy="868680"/>
          </a:xfrm>
          <a:prstGeom prst="rect">
            <a:avLst/>
          </a:prstGeom>
          <a:noFill/>
          <a:ln/>
        </p:spPr>
        <p:txBody>
          <a:bodyPr wrap="square" lIns="0" tIns="0" rIns="0" bIns="0" rtlCol="0" anchor="t"/>
          <a:lstStyle/>
          <a:p>
            <a:pPr indent="0" marL="0">
              <a:spcAft>
                <a:spcPts val="300"/>
              </a:spcAft>
              <a:buNone/>
            </a:pPr>
            <a:r>
              <a:rPr lang="en-US" sz="1400" b="1" dirty="0">
                <a:solidFill>
                  <a:srgbClr val="0F172A"/>
                </a:solidFill>
                <a:latin typeface="Roboto" pitchFamily="34" charset="0"/>
                <a:ea typeface="Roboto" pitchFamily="34" charset="-122"/>
                <a:cs typeface="Roboto" pitchFamily="34" charset="-120"/>
              </a:rPr>
              <a:t>Slow, uneven turnaround</a:t>
            </a:r>
            <a:endParaRPr lang="en-US" sz="1400" dirty="0"/>
          </a:p>
          <a:p>
            <a:pPr indent="0" marL="0">
              <a:spcAft>
                <a:spcPts val="300"/>
              </a:spcAft>
              <a:buNone/>
            </a:pPr>
            <a:r>
              <a:rPr lang="en-US" sz="1150" dirty="0">
                <a:solidFill>
                  <a:srgbClr val="64748B"/>
                </a:solidFill>
                <a:latin typeface="Roboto" pitchFamily="34" charset="0"/>
                <a:ea typeface="Roboto" pitchFamily="34" charset="-122"/>
                <a:cs typeface="Roboto" pitchFamily="34" charset="-120"/>
              </a:rPr>
              <a:t>In the seeded process data a file waits 77 h on average before its documents are read.</a:t>
            </a:r>
            <a:endParaRPr lang="en-US" sz="1400" dirty="0"/>
          </a:p>
        </p:txBody>
      </p:sp>
      <p:sp>
        <p:nvSpPr>
          <p:cNvPr id="18" name="Shape 11"/>
          <p:cNvSpPr/>
          <p:nvPr/>
        </p:nvSpPr>
        <p:spPr>
          <a:xfrm>
            <a:off x="548640" y="5221224"/>
            <a:ext cx="548640" cy="548640"/>
          </a:xfrm>
          <a:prstGeom prst="ellipse">
            <a:avLst/>
          </a:prstGeom>
          <a:solidFill>
            <a:srgbClr val="FEE2E2"/>
          </a:solidFill>
          <a:ln w="12700">
            <a:solidFill>
              <a:srgbClr val="FEE2E2"/>
            </a:solidFill>
            <a:prstDash val="solid"/>
          </a:ln>
        </p:spPr>
      </p:sp>
      <p:pic>
        <p:nvPicPr>
          <p:cNvPr id="19" name="Image 4" descr="preencoded.png">    </p:cNvPr>
          <p:cNvPicPr>
            <a:picLocks noChangeAspect="1"/>
          </p:cNvPicPr>
          <p:nvPr/>
        </p:nvPicPr>
        <p:blipFill>
          <a:blip r:embed="rId5"/>
          <a:stretch>
            <a:fillRect/>
          </a:stretch>
        </p:blipFill>
        <p:spPr>
          <a:xfrm>
            <a:off x="669341" y="5341925"/>
            <a:ext cx="307238" cy="307238"/>
          </a:xfrm>
          <a:prstGeom prst="rect">
            <a:avLst/>
          </a:prstGeom>
        </p:spPr>
      </p:pic>
      <p:sp>
        <p:nvSpPr>
          <p:cNvPr id="20" name="Text 12"/>
          <p:cNvSpPr txBox="1"/>
          <p:nvPr/>
        </p:nvSpPr>
        <p:spPr>
          <a:xfrm>
            <a:off x="1280160" y="5175504"/>
            <a:ext cx="4343400" cy="868680"/>
          </a:xfrm>
          <a:prstGeom prst="rect">
            <a:avLst/>
          </a:prstGeom>
          <a:noFill/>
          <a:ln/>
        </p:spPr>
        <p:txBody>
          <a:bodyPr wrap="square" lIns="0" tIns="0" rIns="0" bIns="0" rtlCol="0" anchor="t"/>
          <a:lstStyle/>
          <a:p>
            <a:pPr indent="0" marL="0">
              <a:spcAft>
                <a:spcPts val="300"/>
              </a:spcAft>
              <a:buNone/>
            </a:pPr>
            <a:r>
              <a:rPr lang="en-US" sz="1400" b="1" dirty="0">
                <a:solidFill>
                  <a:srgbClr val="0F172A"/>
                </a:solidFill>
                <a:latin typeface="Roboto" pitchFamily="34" charset="0"/>
                <a:ea typeface="Roboto" pitchFamily="34" charset="-122"/>
                <a:cs typeface="Roboto" pitchFamily="34" charset="-120"/>
              </a:rPr>
              <a:t>Rules keep changing</a:t>
            </a:r>
            <a:endParaRPr lang="en-US" sz="1400" dirty="0"/>
          </a:p>
          <a:p>
            <a:pPr indent="0" marL="0">
              <a:spcAft>
                <a:spcPts val="300"/>
              </a:spcAft>
              <a:buNone/>
            </a:pPr>
            <a:r>
              <a:rPr lang="en-US" sz="1150" dirty="0">
                <a:solidFill>
                  <a:srgbClr val="64748B"/>
                </a:solidFill>
                <a:latin typeface="Roboto" pitchFamily="34" charset="0"/>
                <a:ea typeface="Roboto" pitchFamily="34" charset="-122"/>
                <a:cs typeface="Roboto" pitchFamily="34" charset="-120"/>
              </a:rPr>
              <a:t>RBI Digital Lending Directions 2025, KFS and penal-charge rules apply to every loan.</a:t>
            </a:r>
            <a:endParaRPr lang="en-US" sz="1400" dirty="0"/>
          </a:p>
        </p:txBody>
      </p:sp>
      <p:sp>
        <p:nvSpPr>
          <p:cNvPr id="21" name="Shape 13"/>
          <p:cNvSpPr/>
          <p:nvPr/>
        </p:nvSpPr>
        <p:spPr>
          <a:xfrm>
            <a:off x="5806440" y="3429000"/>
            <a:ext cx="457200" cy="822960"/>
          </a:xfrm>
          <a:prstGeom prst="chevron">
            <a:avLst/>
          </a:prstGeom>
          <a:solidFill>
            <a:srgbClr val="C7D2FE"/>
          </a:solidFill>
          <a:ln w="12700">
            <a:solidFill>
              <a:srgbClr val="C7D2FE"/>
            </a:solidFill>
            <a:prstDash val="solid"/>
          </a:ln>
        </p:spPr>
      </p:sp>
      <p:sp>
        <p:nvSpPr>
          <p:cNvPr id="22" name="Shape 14"/>
          <p:cNvSpPr/>
          <p:nvPr/>
        </p:nvSpPr>
        <p:spPr>
          <a:xfrm>
            <a:off x="6492240" y="1755648"/>
            <a:ext cx="5148072" cy="4526280"/>
          </a:xfrm>
          <a:prstGeom prst="roundRect">
            <a:avLst>
              <a:gd name="adj" fmla="val 2424"/>
            </a:avLst>
          </a:prstGeom>
          <a:solidFill>
            <a:srgbClr val="EEF2FF"/>
          </a:solidFill>
          <a:ln w="12700">
            <a:solidFill>
              <a:srgbClr val="C7D2FE"/>
            </a:solidFill>
            <a:prstDash val="solid"/>
          </a:ln>
        </p:spPr>
      </p:sp>
      <p:sp>
        <p:nvSpPr>
          <p:cNvPr id="23" name="Text 15"/>
          <p:cNvSpPr txBox="1"/>
          <p:nvPr/>
        </p:nvSpPr>
        <p:spPr>
          <a:xfrm>
            <a:off x="6766560" y="1920240"/>
            <a:ext cx="3657600" cy="274320"/>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WITH FINSIGHT</a:t>
            </a:r>
            <a:endParaRPr lang="en-US" sz="1100" dirty="0"/>
          </a:p>
        </p:txBody>
      </p:sp>
      <p:pic>
        <p:nvPicPr>
          <p:cNvPr id="24" name="Image 5" descr="preencoded.png">    </p:cNvPr>
          <p:cNvPicPr>
            <a:picLocks noChangeAspect="1"/>
          </p:cNvPicPr>
          <p:nvPr/>
        </p:nvPicPr>
        <p:blipFill>
          <a:blip r:embed="rId6"/>
          <a:stretch>
            <a:fillRect/>
          </a:stretch>
        </p:blipFill>
        <p:spPr>
          <a:xfrm>
            <a:off x="6766560" y="2350008"/>
            <a:ext cx="274320" cy="274320"/>
          </a:xfrm>
          <a:prstGeom prst="rect">
            <a:avLst/>
          </a:prstGeom>
        </p:spPr>
      </p:pic>
      <p:sp>
        <p:nvSpPr>
          <p:cNvPr id="25" name="Text 16"/>
          <p:cNvSpPr txBox="1"/>
          <p:nvPr/>
        </p:nvSpPr>
        <p:spPr>
          <a:xfrm>
            <a:off x="7178040" y="2304288"/>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Reads each document into fields and validates them</a:t>
            </a:r>
            <a:endParaRPr lang="en-US" sz="1300" dirty="0"/>
          </a:p>
        </p:txBody>
      </p:sp>
      <p:pic>
        <p:nvPicPr>
          <p:cNvPr id="26" name="Image 6" descr="preencoded.png">    </p:cNvPr>
          <p:cNvPicPr>
            <a:picLocks noChangeAspect="1"/>
          </p:cNvPicPr>
          <p:nvPr/>
        </p:nvPicPr>
        <p:blipFill>
          <a:blip r:embed="rId7"/>
          <a:stretch>
            <a:fillRect/>
          </a:stretch>
        </p:blipFill>
        <p:spPr>
          <a:xfrm>
            <a:off x="6766560" y="2825496"/>
            <a:ext cx="274320" cy="274320"/>
          </a:xfrm>
          <a:prstGeom prst="rect">
            <a:avLst/>
          </a:prstGeom>
        </p:spPr>
      </p:pic>
      <p:sp>
        <p:nvSpPr>
          <p:cNvPr id="27" name="Text 17"/>
          <p:cNvSpPr txBox="1"/>
          <p:nvPr/>
        </p:nvSpPr>
        <p:spPr>
          <a:xfrm>
            <a:off x="7178040" y="2779776"/>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Checks every document for tampering and fabrication</a:t>
            </a:r>
            <a:endParaRPr lang="en-US" sz="1300" dirty="0"/>
          </a:p>
        </p:txBody>
      </p:sp>
      <p:pic>
        <p:nvPicPr>
          <p:cNvPr id="28" name="Image 7" descr="preencoded.png">    </p:cNvPr>
          <p:cNvPicPr>
            <a:picLocks noChangeAspect="1"/>
          </p:cNvPicPr>
          <p:nvPr/>
        </p:nvPicPr>
        <p:blipFill>
          <a:blip r:embed="rId8"/>
          <a:stretch>
            <a:fillRect/>
          </a:stretch>
        </p:blipFill>
        <p:spPr>
          <a:xfrm>
            <a:off x="6766560" y="3300984"/>
            <a:ext cx="274320" cy="274320"/>
          </a:xfrm>
          <a:prstGeom prst="rect">
            <a:avLst/>
          </a:prstGeom>
        </p:spPr>
      </p:pic>
      <p:sp>
        <p:nvSpPr>
          <p:cNvPr id="29" name="Text 18"/>
          <p:cNvSpPr txBox="1"/>
          <p:nvPr/>
        </p:nvSpPr>
        <p:spPr>
          <a:xfrm>
            <a:off x="7178040" y="3255264"/>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Matches faces across documents, confirms a live selfie</a:t>
            </a:r>
            <a:endParaRPr lang="en-US" sz="1300" dirty="0"/>
          </a:p>
        </p:txBody>
      </p:sp>
      <p:pic>
        <p:nvPicPr>
          <p:cNvPr id="30" name="Image 8" descr="preencoded.png">    </p:cNvPr>
          <p:cNvPicPr>
            <a:picLocks noChangeAspect="1"/>
          </p:cNvPicPr>
          <p:nvPr/>
        </p:nvPicPr>
        <p:blipFill>
          <a:blip r:embed="rId9"/>
          <a:stretch>
            <a:fillRect/>
          </a:stretch>
        </p:blipFill>
        <p:spPr>
          <a:xfrm>
            <a:off x="6766560" y="3776472"/>
            <a:ext cx="274320" cy="274320"/>
          </a:xfrm>
          <a:prstGeom prst="rect">
            <a:avLst/>
          </a:prstGeom>
        </p:spPr>
      </p:pic>
      <p:sp>
        <p:nvSpPr>
          <p:cNvPr id="31" name="Text 19"/>
          <p:cNvSpPr txBox="1"/>
          <p:nvPr/>
        </p:nvSpPr>
        <p:spPr>
          <a:xfrm>
            <a:off x="7178040" y="3730752"/>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Fuses all fraud evidence into one advisory score</a:t>
            </a:r>
            <a:endParaRPr lang="en-US" sz="1300" dirty="0"/>
          </a:p>
        </p:txBody>
      </p:sp>
      <p:pic>
        <p:nvPicPr>
          <p:cNvPr id="32" name="Image 9" descr="preencoded.png">    </p:cNvPr>
          <p:cNvPicPr>
            <a:picLocks noChangeAspect="1"/>
          </p:cNvPicPr>
          <p:nvPr/>
        </p:nvPicPr>
        <p:blipFill>
          <a:blip r:embed="rId10"/>
          <a:stretch>
            <a:fillRect/>
          </a:stretch>
        </p:blipFill>
        <p:spPr>
          <a:xfrm>
            <a:off x="6766560" y="4251960"/>
            <a:ext cx="274320" cy="274320"/>
          </a:xfrm>
          <a:prstGeom prst="rect">
            <a:avLst/>
          </a:prstGeom>
        </p:spPr>
      </p:pic>
      <p:sp>
        <p:nvSpPr>
          <p:cNvPr id="33" name="Text 20"/>
          <p:cNvSpPr txBox="1"/>
          <p:nvPr/>
        </p:nvSpPr>
        <p:spPr>
          <a:xfrm>
            <a:off x="7178040" y="4206240"/>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Tests the case against RBI and internal rules</a:t>
            </a:r>
            <a:endParaRPr lang="en-US" sz="1300" dirty="0"/>
          </a:p>
        </p:txBody>
      </p:sp>
      <p:pic>
        <p:nvPicPr>
          <p:cNvPr id="34" name="Image 10" descr="preencoded.png">    </p:cNvPr>
          <p:cNvPicPr>
            <a:picLocks noChangeAspect="1"/>
          </p:cNvPicPr>
          <p:nvPr/>
        </p:nvPicPr>
        <p:blipFill>
          <a:blip r:embed="rId11"/>
          <a:stretch>
            <a:fillRect/>
          </a:stretch>
        </p:blipFill>
        <p:spPr>
          <a:xfrm>
            <a:off x="6766560" y="4727448"/>
            <a:ext cx="274320" cy="274320"/>
          </a:xfrm>
          <a:prstGeom prst="rect">
            <a:avLst/>
          </a:prstGeom>
        </p:spPr>
      </p:pic>
      <p:sp>
        <p:nvSpPr>
          <p:cNvPr id="35" name="Text 21"/>
          <p:cNvSpPr txBox="1"/>
          <p:nvPr/>
        </p:nvSpPr>
        <p:spPr>
          <a:xfrm>
            <a:off x="7178040" y="4681728"/>
            <a:ext cx="4297680" cy="365760"/>
          </a:xfrm>
          <a:prstGeom prst="rect">
            <a:avLst/>
          </a:prstGeom>
          <a:noFill/>
          <a:ln/>
        </p:spPr>
        <p:txBody>
          <a:bodyPr wrap="square" lIns="0" tIns="0" rIns="0" bIns="0" rtlCol="0" anchor="ctr"/>
          <a:lstStyle/>
          <a:p>
            <a:pPr indent="0" marL="0">
              <a:buNone/>
            </a:pPr>
            <a:r>
              <a:rPr lang="en-US" sz="1300" dirty="0">
                <a:solidFill>
                  <a:srgbClr val="0F172A"/>
                </a:solidFill>
                <a:latin typeface="Roboto" pitchFamily="34" charset="0"/>
                <a:ea typeface="Roboto" pitchFamily="34" charset="-122"/>
                <a:cs typeface="Roboto" pitchFamily="34" charset="-120"/>
              </a:rPr>
              <a:t>Scores risk, drafts the credit memo, offer and next step</a:t>
            </a:r>
            <a:endParaRPr lang="en-US" sz="1300" dirty="0"/>
          </a:p>
        </p:txBody>
      </p:sp>
      <p:sp>
        <p:nvSpPr>
          <p:cNvPr id="36" name="Shape 22"/>
          <p:cNvSpPr/>
          <p:nvPr/>
        </p:nvSpPr>
        <p:spPr>
          <a:xfrm>
            <a:off x="6766560" y="5230368"/>
            <a:ext cx="4599432" cy="841248"/>
          </a:xfrm>
          <a:prstGeom prst="roundRect">
            <a:avLst>
              <a:gd name="adj" fmla="val 8696"/>
            </a:avLst>
          </a:prstGeom>
          <a:solidFill>
            <a:srgbClr val="FFFFFF"/>
          </a:solidFill>
          <a:ln w="12700">
            <a:solidFill>
              <a:srgbClr val="C7D2FE"/>
            </a:solidFill>
            <a:prstDash val="solid"/>
          </a:ln>
        </p:spPr>
      </p:sp>
      <p:sp>
        <p:nvSpPr>
          <p:cNvPr id="37" name="Text 23"/>
          <p:cNvSpPr txBox="1"/>
          <p:nvPr/>
        </p:nvSpPr>
        <p:spPr>
          <a:xfrm>
            <a:off x="6949440" y="5230368"/>
            <a:ext cx="4297680" cy="841248"/>
          </a:xfrm>
          <a:prstGeom prst="rect">
            <a:avLst/>
          </a:prstGeom>
          <a:noFill/>
          <a:ln/>
        </p:spPr>
        <p:txBody>
          <a:bodyPr wrap="square" lIns="0" tIns="0" rIns="0" bIns="0" rtlCol="0" anchor="ctr"/>
          <a:lstStyle/>
          <a:p>
            <a:pPr indent="0" marL="0">
              <a:buNone/>
            </a:pPr>
            <a:r>
              <a:rPr lang="en-US" sz="1250" b="1" dirty="0">
                <a:solidFill>
                  <a:srgbClr val="3730A3"/>
                </a:solidFill>
                <a:latin typeface="Roboto" pitchFamily="34" charset="0"/>
                <a:ea typeface="Roboto" pitchFamily="34" charset="-122"/>
                <a:cs typeface="Roboto" pitchFamily="34" charset="-120"/>
              </a:rPr>
              <a:t>People decide. </a:t>
            </a:r>
            <a:pPr indent="0" marL="0">
              <a:buNone/>
            </a:pPr>
            <a:r>
              <a:rPr lang="en-US" sz="1250" dirty="0">
                <a:solidFill>
                  <a:srgbClr val="334155"/>
                </a:solidFill>
                <a:latin typeface="Roboto" pitchFamily="34" charset="0"/>
                <a:ea typeface="Roboto" pitchFamily="34" charset="-122"/>
                <a:cs typeface="Roboto" pitchFamily="34" charset="-120"/>
              </a:rPr>
              <a:t>Nothing is auto-rejected, and any loan above ₹5 lakh needs the Head Manager's approval.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PRODUCT</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Three roles, twelve loan products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One app, three views. Each product has its own document checklist and its own lifecycle branch.</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5</a:t>
            </a:r>
            <a:endParaRPr lang="en-US" sz="900" dirty="0"/>
          </a:p>
        </p:txBody>
      </p:sp>
      <p:sp>
        <p:nvSpPr>
          <p:cNvPr id="8" name="Shape 4"/>
          <p:cNvSpPr/>
          <p:nvPr/>
        </p:nvSpPr>
        <p:spPr>
          <a:xfrm>
            <a:off x="548640" y="1737360"/>
            <a:ext cx="5029200" cy="3771247"/>
          </a:xfrm>
          <a:prstGeom prst="roundRect">
            <a:avLst>
              <a:gd name="adj" fmla="val 1697"/>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9" name="Shape 5"/>
          <p:cNvSpPr/>
          <p:nvPr/>
        </p:nvSpPr>
        <p:spPr>
          <a:xfrm>
            <a:off x="667512" y="1815084"/>
            <a:ext cx="82296" cy="82296"/>
          </a:xfrm>
          <a:prstGeom prst="ellipse">
            <a:avLst/>
          </a:prstGeom>
          <a:solidFill>
            <a:srgbClr val="F87171"/>
          </a:solidFill>
          <a:ln w="12700">
            <a:solidFill>
              <a:srgbClr val="F87171"/>
            </a:solidFill>
            <a:prstDash val="solid"/>
          </a:ln>
        </p:spPr>
      </p:sp>
      <p:sp>
        <p:nvSpPr>
          <p:cNvPr id="10" name="Shape 6"/>
          <p:cNvSpPr/>
          <p:nvPr/>
        </p:nvSpPr>
        <p:spPr>
          <a:xfrm>
            <a:off x="804672" y="1815084"/>
            <a:ext cx="82296" cy="82296"/>
          </a:xfrm>
          <a:prstGeom prst="ellipse">
            <a:avLst/>
          </a:prstGeom>
          <a:solidFill>
            <a:srgbClr val="FBBF24"/>
          </a:solidFill>
          <a:ln w="12700">
            <a:solidFill>
              <a:srgbClr val="FBBF24"/>
            </a:solidFill>
            <a:prstDash val="solid"/>
          </a:ln>
        </p:spPr>
      </p:sp>
      <p:sp>
        <p:nvSpPr>
          <p:cNvPr id="11" name="Shape 7"/>
          <p:cNvSpPr/>
          <p:nvPr/>
        </p:nvSpPr>
        <p:spPr>
          <a:xfrm>
            <a:off x="941832" y="1815084"/>
            <a:ext cx="82296" cy="82296"/>
          </a:xfrm>
          <a:prstGeom prst="ellipse">
            <a:avLst/>
          </a:prstGeom>
          <a:solidFill>
            <a:srgbClr val="34D399"/>
          </a:solidFill>
          <a:ln w="12700">
            <a:solidFill>
              <a:srgbClr val="34D399"/>
            </a:solidFill>
            <a:prstDash val="solid"/>
          </a:ln>
        </p:spPr>
      </p:sp>
      <p:pic>
        <p:nvPicPr>
          <p:cNvPr id="12" name="Image 1" descr="C:\Users\shrey\AppData\Local\Temp\claude\D--novacinternship-finsight\87f4101b-bf26-4b28-976a-e637573d77e1\scratchpad\deck\img\rolepicker.png">    </p:cNvPr>
          <p:cNvPicPr>
            <a:picLocks noChangeAspect="1"/>
          </p:cNvPicPr>
          <p:nvPr/>
        </p:nvPicPr>
        <p:blipFill>
          <a:blip r:embed="rId2"/>
          <a:stretch>
            <a:fillRect/>
          </a:stretch>
        </p:blipFill>
        <p:spPr>
          <a:xfrm>
            <a:off x="594360" y="1975104"/>
            <a:ext cx="4937760" cy="3487783"/>
          </a:xfrm>
          <a:prstGeom prst="rect">
            <a:avLst/>
          </a:prstGeom>
        </p:spPr>
      </p:pic>
      <p:sp>
        <p:nvSpPr>
          <p:cNvPr id="13" name="Shape 8"/>
          <p:cNvSpPr/>
          <p:nvPr/>
        </p:nvSpPr>
        <p:spPr>
          <a:xfrm>
            <a:off x="5897880" y="1783080"/>
            <a:ext cx="5742432" cy="932688"/>
          </a:xfrm>
          <a:prstGeom prst="roundRect">
            <a:avLst>
              <a:gd name="adj" fmla="val 9804"/>
            </a:avLst>
          </a:prstGeom>
          <a:solidFill>
            <a:srgbClr val="F8FAFC"/>
          </a:solidFill>
          <a:ln w="12700">
            <a:solidFill>
              <a:srgbClr val="E2E8F0"/>
            </a:solidFill>
            <a:prstDash val="solid"/>
          </a:ln>
        </p:spPr>
      </p:sp>
      <p:sp>
        <p:nvSpPr>
          <p:cNvPr id="14" name="Shape 9"/>
          <p:cNvSpPr/>
          <p:nvPr/>
        </p:nvSpPr>
        <p:spPr>
          <a:xfrm>
            <a:off x="6080760" y="1965960"/>
            <a:ext cx="566928" cy="566928"/>
          </a:xfrm>
          <a:prstGeom prst="ellipse">
            <a:avLst/>
          </a:prstGeom>
          <a:solidFill>
            <a:srgbClr val="EEF2FF"/>
          </a:solidFill>
          <a:ln w="12700">
            <a:solidFill>
              <a:srgbClr val="EEF2FF"/>
            </a:solidFill>
            <a:prstDash val="solid"/>
          </a:ln>
        </p:spPr>
      </p:sp>
      <p:pic>
        <p:nvPicPr>
          <p:cNvPr id="15" name="Image 2" descr="preencoded.png">    </p:cNvPr>
          <p:cNvPicPr>
            <a:picLocks noChangeAspect="1"/>
          </p:cNvPicPr>
          <p:nvPr/>
        </p:nvPicPr>
        <p:blipFill>
          <a:blip r:embed="rId3"/>
          <a:stretch>
            <a:fillRect/>
          </a:stretch>
        </p:blipFill>
        <p:spPr>
          <a:xfrm>
            <a:off x="6205484" y="2090684"/>
            <a:ext cx="317480" cy="317480"/>
          </a:xfrm>
          <a:prstGeom prst="rect">
            <a:avLst/>
          </a:prstGeom>
        </p:spPr>
      </p:pic>
      <p:sp>
        <p:nvSpPr>
          <p:cNvPr id="16" name="Text 10"/>
          <p:cNvSpPr txBox="1"/>
          <p:nvPr/>
        </p:nvSpPr>
        <p:spPr>
          <a:xfrm>
            <a:off x="6812280" y="1856232"/>
            <a:ext cx="4709160" cy="786384"/>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Borrower</a:t>
            </a:r>
            <a:endParaRPr lang="en-US" sz="1400" dirty="0"/>
          </a:p>
          <a:p>
            <a:pPr indent="0" marL="0">
              <a:spcAft>
                <a:spcPts val="200"/>
              </a:spcAft>
              <a:buNone/>
            </a:pPr>
            <a:r>
              <a:rPr lang="en-US" sz="1100" dirty="0">
                <a:solidFill>
                  <a:srgbClr val="64748B"/>
                </a:solidFill>
                <a:latin typeface="Roboto" pitchFamily="34" charset="0"/>
                <a:ea typeface="Roboto" pitchFamily="34" charset="-122"/>
                <a:cs typeface="Roboto" pitchFamily="34" charset="-120"/>
              </a:rPr>
              <a:t>Applies, uploads documents, confirms what the agents read, takes a selfie and submits.</a:t>
            </a:r>
            <a:endParaRPr lang="en-US" sz="1400" dirty="0"/>
          </a:p>
        </p:txBody>
      </p:sp>
      <p:sp>
        <p:nvSpPr>
          <p:cNvPr id="17" name="Shape 11"/>
          <p:cNvSpPr/>
          <p:nvPr/>
        </p:nvSpPr>
        <p:spPr>
          <a:xfrm>
            <a:off x="5897880" y="2862072"/>
            <a:ext cx="5742432" cy="932688"/>
          </a:xfrm>
          <a:prstGeom prst="roundRect">
            <a:avLst>
              <a:gd name="adj" fmla="val 9804"/>
            </a:avLst>
          </a:prstGeom>
          <a:solidFill>
            <a:srgbClr val="F8FAFC"/>
          </a:solidFill>
          <a:ln w="12700">
            <a:solidFill>
              <a:srgbClr val="E2E8F0"/>
            </a:solidFill>
            <a:prstDash val="solid"/>
          </a:ln>
        </p:spPr>
      </p:sp>
      <p:sp>
        <p:nvSpPr>
          <p:cNvPr id="18" name="Shape 12"/>
          <p:cNvSpPr/>
          <p:nvPr/>
        </p:nvSpPr>
        <p:spPr>
          <a:xfrm>
            <a:off x="6080760" y="3044952"/>
            <a:ext cx="566928" cy="566928"/>
          </a:xfrm>
          <a:prstGeom prst="ellipse">
            <a:avLst/>
          </a:prstGeom>
          <a:solidFill>
            <a:srgbClr val="EEF2FF"/>
          </a:solidFill>
          <a:ln w="12700">
            <a:solidFill>
              <a:srgbClr val="EEF2FF"/>
            </a:solidFill>
            <a:prstDash val="solid"/>
          </a:ln>
        </p:spPr>
      </p:sp>
      <p:pic>
        <p:nvPicPr>
          <p:cNvPr id="19" name="Image 3" descr="preencoded.png">    </p:cNvPr>
          <p:cNvPicPr>
            <a:picLocks noChangeAspect="1"/>
          </p:cNvPicPr>
          <p:nvPr/>
        </p:nvPicPr>
        <p:blipFill>
          <a:blip r:embed="rId4"/>
          <a:stretch>
            <a:fillRect/>
          </a:stretch>
        </p:blipFill>
        <p:spPr>
          <a:xfrm>
            <a:off x="6205484" y="3169676"/>
            <a:ext cx="317480" cy="317480"/>
          </a:xfrm>
          <a:prstGeom prst="rect">
            <a:avLst/>
          </a:prstGeom>
        </p:spPr>
      </p:pic>
      <p:sp>
        <p:nvSpPr>
          <p:cNvPr id="20" name="Text 13"/>
          <p:cNvSpPr txBox="1"/>
          <p:nvPr/>
        </p:nvSpPr>
        <p:spPr>
          <a:xfrm>
            <a:off x="6812280" y="2935224"/>
            <a:ext cx="4709160" cy="786384"/>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Underwriting Officer</a:t>
            </a:r>
            <a:endParaRPr lang="en-US" sz="1400" dirty="0"/>
          </a:p>
          <a:p>
            <a:pPr indent="0" marL="0">
              <a:spcAft>
                <a:spcPts val="200"/>
              </a:spcAft>
              <a:buNone/>
            </a:pPr>
            <a:r>
              <a:rPr lang="en-US" sz="1100" dirty="0">
                <a:solidFill>
                  <a:srgbClr val="64748B"/>
                </a:solidFill>
                <a:latin typeface="Roboto" pitchFamily="34" charset="0"/>
                <a:ea typeface="Roboto" pitchFamily="34" charset="-122"/>
                <a:cs typeface="Roboto" pitchFamily="34" charset="-120"/>
              </a:rPr>
              <a:t>Works the queue: evidence, fraud report, policy check, credit memo — then recommends.</a:t>
            </a:r>
            <a:endParaRPr lang="en-US" sz="1400" dirty="0"/>
          </a:p>
        </p:txBody>
      </p:sp>
      <p:sp>
        <p:nvSpPr>
          <p:cNvPr id="21" name="Shape 14"/>
          <p:cNvSpPr/>
          <p:nvPr/>
        </p:nvSpPr>
        <p:spPr>
          <a:xfrm>
            <a:off x="5897880" y="3941064"/>
            <a:ext cx="5742432" cy="932688"/>
          </a:xfrm>
          <a:prstGeom prst="roundRect">
            <a:avLst>
              <a:gd name="adj" fmla="val 9804"/>
            </a:avLst>
          </a:prstGeom>
          <a:solidFill>
            <a:srgbClr val="F8FAFC"/>
          </a:solidFill>
          <a:ln w="12700">
            <a:solidFill>
              <a:srgbClr val="E2E8F0"/>
            </a:solidFill>
            <a:prstDash val="solid"/>
          </a:ln>
        </p:spPr>
      </p:sp>
      <p:sp>
        <p:nvSpPr>
          <p:cNvPr id="22" name="Shape 15"/>
          <p:cNvSpPr/>
          <p:nvPr/>
        </p:nvSpPr>
        <p:spPr>
          <a:xfrm>
            <a:off x="6080760" y="4123944"/>
            <a:ext cx="566928" cy="566928"/>
          </a:xfrm>
          <a:prstGeom prst="ellipse">
            <a:avLst/>
          </a:prstGeom>
          <a:solidFill>
            <a:srgbClr val="EEF2FF"/>
          </a:solidFill>
          <a:ln w="12700">
            <a:solidFill>
              <a:srgbClr val="EEF2FF"/>
            </a:solidFill>
            <a:prstDash val="solid"/>
          </a:ln>
        </p:spPr>
      </p:sp>
      <p:pic>
        <p:nvPicPr>
          <p:cNvPr id="23" name="Image 4" descr="preencoded.png">    </p:cNvPr>
          <p:cNvPicPr>
            <a:picLocks noChangeAspect="1"/>
          </p:cNvPicPr>
          <p:nvPr/>
        </p:nvPicPr>
        <p:blipFill>
          <a:blip r:embed="rId5"/>
          <a:stretch>
            <a:fillRect/>
          </a:stretch>
        </p:blipFill>
        <p:spPr>
          <a:xfrm>
            <a:off x="6205484" y="4248668"/>
            <a:ext cx="317480" cy="317480"/>
          </a:xfrm>
          <a:prstGeom prst="rect">
            <a:avLst/>
          </a:prstGeom>
        </p:spPr>
      </p:pic>
      <p:sp>
        <p:nvSpPr>
          <p:cNvPr id="24" name="Text 16"/>
          <p:cNvSpPr txBox="1"/>
          <p:nvPr/>
        </p:nvSpPr>
        <p:spPr>
          <a:xfrm>
            <a:off x="6812280" y="4014216"/>
            <a:ext cx="4709160" cy="786384"/>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Head Manager</a:t>
            </a:r>
            <a:endParaRPr lang="en-US" sz="1400" dirty="0"/>
          </a:p>
          <a:p>
            <a:pPr indent="0" marL="0">
              <a:spcAft>
                <a:spcPts val="200"/>
              </a:spcAft>
              <a:buNone/>
            </a:pPr>
            <a:r>
              <a:rPr lang="en-US" sz="1100" dirty="0">
                <a:solidFill>
                  <a:srgbClr val="64748B"/>
                </a:solidFill>
                <a:latin typeface="Roboto" pitchFamily="34" charset="0"/>
                <a:ea typeface="Roboto" pitchFamily="34" charset="-122"/>
                <a:cs typeface="Roboto" pitchFamily="34" charset="-120"/>
              </a:rPr>
              <a:t>Approves loans above ₹5 lakh, runs fraud triage, manages AI models and RBI rules.</a:t>
            </a:r>
            <a:endParaRPr lang="en-US" sz="1400" dirty="0"/>
          </a:p>
        </p:txBody>
      </p:sp>
      <p:sp>
        <p:nvSpPr>
          <p:cNvPr id="25" name="Text 17"/>
          <p:cNvSpPr txBox="1"/>
          <p:nvPr/>
        </p:nvSpPr>
        <p:spPr>
          <a:xfrm>
            <a:off x="5897880" y="5102352"/>
            <a:ext cx="3657600" cy="256032"/>
          </a:xfrm>
          <a:prstGeom prst="rect">
            <a:avLst/>
          </a:prstGeom>
          <a:noFill/>
          <a:ln/>
        </p:spPr>
        <p:txBody>
          <a:bodyPr wrap="square" lIns="0" tIns="0" rIns="0" bIns="0" rtlCol="0" anchor="ctr"/>
          <a:lstStyle/>
          <a:p>
            <a:pPr indent="0" marL="0">
              <a:buNone/>
            </a:pPr>
            <a:r>
              <a:rPr lang="en-US" sz="1050" b="1" spc="200" kern="0" dirty="0">
                <a:solidFill>
                  <a:srgbClr val="64748B"/>
                </a:solidFill>
                <a:latin typeface="Roboto" pitchFamily="34" charset="0"/>
                <a:ea typeface="Roboto" pitchFamily="34" charset="-122"/>
                <a:cs typeface="Roboto" pitchFamily="34" charset="-120"/>
              </a:rPr>
              <a:t>12 LOAN PRODUCTS</a:t>
            </a:r>
            <a:endParaRPr lang="en-US" sz="1050" dirty="0"/>
          </a:p>
        </p:txBody>
      </p:sp>
      <p:sp>
        <p:nvSpPr>
          <p:cNvPr id="26" name="Shape 18"/>
          <p:cNvSpPr/>
          <p:nvPr/>
        </p:nvSpPr>
        <p:spPr>
          <a:xfrm>
            <a:off x="5897880" y="5413248"/>
            <a:ext cx="893064" cy="274320"/>
          </a:xfrm>
          <a:prstGeom prst="roundRect">
            <a:avLst>
              <a:gd name="adj" fmla="val 50000"/>
            </a:avLst>
          </a:prstGeom>
          <a:solidFill>
            <a:srgbClr val="EEF2FF"/>
          </a:solidFill>
          <a:ln w="12700">
            <a:solidFill>
              <a:srgbClr val="EEF2FF"/>
            </a:solidFill>
            <a:prstDash val="solid"/>
          </a:ln>
        </p:spPr>
      </p:sp>
      <p:sp>
        <p:nvSpPr>
          <p:cNvPr id="27" name="Text 19"/>
          <p:cNvSpPr txBox="1"/>
          <p:nvPr/>
        </p:nvSpPr>
        <p:spPr>
          <a:xfrm>
            <a:off x="5897880" y="5413248"/>
            <a:ext cx="893064"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Two Wheeler</a:t>
            </a:r>
            <a:endParaRPr lang="en-US" sz="950" dirty="0"/>
          </a:p>
        </p:txBody>
      </p:sp>
      <p:sp>
        <p:nvSpPr>
          <p:cNvPr id="28" name="Shape 20"/>
          <p:cNvSpPr/>
          <p:nvPr/>
        </p:nvSpPr>
        <p:spPr>
          <a:xfrm>
            <a:off x="6864096" y="5413248"/>
            <a:ext cx="661416" cy="274320"/>
          </a:xfrm>
          <a:prstGeom prst="roundRect">
            <a:avLst>
              <a:gd name="adj" fmla="val 50000"/>
            </a:avLst>
          </a:prstGeom>
          <a:solidFill>
            <a:srgbClr val="EEF2FF"/>
          </a:solidFill>
          <a:ln w="12700">
            <a:solidFill>
              <a:srgbClr val="EEF2FF"/>
            </a:solidFill>
            <a:prstDash val="solid"/>
          </a:ln>
        </p:spPr>
      </p:sp>
      <p:sp>
        <p:nvSpPr>
          <p:cNvPr id="29" name="Text 21"/>
          <p:cNvSpPr txBox="1"/>
          <p:nvPr/>
        </p:nvSpPr>
        <p:spPr>
          <a:xfrm>
            <a:off x="6864096" y="5413248"/>
            <a:ext cx="661416"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Tractor</a:t>
            </a:r>
            <a:endParaRPr lang="en-US" sz="950" dirty="0"/>
          </a:p>
        </p:txBody>
      </p:sp>
      <p:sp>
        <p:nvSpPr>
          <p:cNvPr id="30" name="Shape 22"/>
          <p:cNvSpPr/>
          <p:nvPr/>
        </p:nvSpPr>
        <p:spPr>
          <a:xfrm>
            <a:off x="7598664" y="5413248"/>
            <a:ext cx="548640" cy="274320"/>
          </a:xfrm>
          <a:prstGeom prst="roundRect">
            <a:avLst>
              <a:gd name="adj" fmla="val 50000"/>
            </a:avLst>
          </a:prstGeom>
          <a:solidFill>
            <a:srgbClr val="EEF2FF"/>
          </a:solidFill>
          <a:ln w="12700">
            <a:solidFill>
              <a:srgbClr val="EEF2FF"/>
            </a:solidFill>
            <a:prstDash val="solid"/>
          </a:ln>
        </p:spPr>
      </p:sp>
      <p:sp>
        <p:nvSpPr>
          <p:cNvPr id="31" name="Text 23"/>
          <p:cNvSpPr txBox="1"/>
          <p:nvPr/>
        </p:nvSpPr>
        <p:spPr>
          <a:xfrm>
            <a:off x="7598664" y="5413248"/>
            <a:ext cx="548640"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Gold</a:t>
            </a:r>
            <a:endParaRPr lang="en-US" sz="950" dirty="0"/>
          </a:p>
        </p:txBody>
      </p:sp>
      <p:sp>
        <p:nvSpPr>
          <p:cNvPr id="32" name="Shape 24"/>
          <p:cNvSpPr/>
          <p:nvPr/>
        </p:nvSpPr>
        <p:spPr>
          <a:xfrm>
            <a:off x="8220456" y="5413248"/>
            <a:ext cx="719328" cy="274320"/>
          </a:xfrm>
          <a:prstGeom prst="roundRect">
            <a:avLst>
              <a:gd name="adj" fmla="val 50000"/>
            </a:avLst>
          </a:prstGeom>
          <a:solidFill>
            <a:srgbClr val="EEF2FF"/>
          </a:solidFill>
          <a:ln w="12700">
            <a:solidFill>
              <a:srgbClr val="EEF2FF"/>
            </a:solidFill>
            <a:prstDash val="solid"/>
          </a:ln>
        </p:spPr>
      </p:sp>
      <p:sp>
        <p:nvSpPr>
          <p:cNvPr id="33" name="Text 25"/>
          <p:cNvSpPr txBox="1"/>
          <p:nvPr/>
        </p:nvSpPr>
        <p:spPr>
          <a:xfrm>
            <a:off x="8220456" y="5413248"/>
            <a:ext cx="719328"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Personal</a:t>
            </a:r>
            <a:endParaRPr lang="en-US" sz="950" dirty="0"/>
          </a:p>
        </p:txBody>
      </p:sp>
      <p:sp>
        <p:nvSpPr>
          <p:cNvPr id="34" name="Shape 26"/>
          <p:cNvSpPr/>
          <p:nvPr/>
        </p:nvSpPr>
        <p:spPr>
          <a:xfrm>
            <a:off x="9012936" y="5413248"/>
            <a:ext cx="548640" cy="274320"/>
          </a:xfrm>
          <a:prstGeom prst="roundRect">
            <a:avLst>
              <a:gd name="adj" fmla="val 50000"/>
            </a:avLst>
          </a:prstGeom>
          <a:solidFill>
            <a:srgbClr val="EEF2FF"/>
          </a:solidFill>
          <a:ln w="12700">
            <a:solidFill>
              <a:srgbClr val="EEF2FF"/>
            </a:solidFill>
            <a:prstDash val="solid"/>
          </a:ln>
        </p:spPr>
      </p:sp>
      <p:sp>
        <p:nvSpPr>
          <p:cNvPr id="35" name="Text 27"/>
          <p:cNvSpPr txBox="1"/>
          <p:nvPr/>
        </p:nvSpPr>
        <p:spPr>
          <a:xfrm>
            <a:off x="9012936" y="5413248"/>
            <a:ext cx="548640"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Home</a:t>
            </a:r>
            <a:endParaRPr lang="en-US" sz="950" dirty="0"/>
          </a:p>
        </p:txBody>
      </p:sp>
      <p:sp>
        <p:nvSpPr>
          <p:cNvPr id="36" name="Shape 28"/>
          <p:cNvSpPr/>
          <p:nvPr/>
        </p:nvSpPr>
        <p:spPr>
          <a:xfrm>
            <a:off x="9634728" y="5413248"/>
            <a:ext cx="1124712" cy="274320"/>
          </a:xfrm>
          <a:prstGeom prst="roundRect">
            <a:avLst>
              <a:gd name="adj" fmla="val 50000"/>
            </a:avLst>
          </a:prstGeom>
          <a:solidFill>
            <a:srgbClr val="EEF2FF"/>
          </a:solidFill>
          <a:ln w="12700">
            <a:solidFill>
              <a:srgbClr val="EEF2FF"/>
            </a:solidFill>
            <a:prstDash val="solid"/>
          </a:ln>
        </p:spPr>
      </p:sp>
      <p:sp>
        <p:nvSpPr>
          <p:cNvPr id="37" name="Text 29"/>
          <p:cNvSpPr txBox="1"/>
          <p:nvPr/>
        </p:nvSpPr>
        <p:spPr>
          <a:xfrm>
            <a:off x="9634728" y="5413248"/>
            <a:ext cx="1124712"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MSME / Business</a:t>
            </a:r>
            <a:endParaRPr lang="en-US" sz="950" dirty="0"/>
          </a:p>
        </p:txBody>
      </p:sp>
      <p:sp>
        <p:nvSpPr>
          <p:cNvPr id="38" name="Shape 30"/>
          <p:cNvSpPr/>
          <p:nvPr/>
        </p:nvSpPr>
        <p:spPr>
          <a:xfrm>
            <a:off x="10832592" y="5413248"/>
            <a:ext cx="548640" cy="274320"/>
          </a:xfrm>
          <a:prstGeom prst="roundRect">
            <a:avLst>
              <a:gd name="adj" fmla="val 50000"/>
            </a:avLst>
          </a:prstGeom>
          <a:solidFill>
            <a:srgbClr val="EEF2FF"/>
          </a:solidFill>
          <a:ln w="12700">
            <a:solidFill>
              <a:srgbClr val="EEF2FF"/>
            </a:solidFill>
            <a:prstDash val="solid"/>
          </a:ln>
        </p:spPr>
      </p:sp>
      <p:sp>
        <p:nvSpPr>
          <p:cNvPr id="39" name="Text 31"/>
          <p:cNvSpPr txBox="1"/>
          <p:nvPr/>
        </p:nvSpPr>
        <p:spPr>
          <a:xfrm>
            <a:off x="10832592" y="5413248"/>
            <a:ext cx="548640"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Car</a:t>
            </a:r>
            <a:endParaRPr lang="en-US" sz="950" dirty="0"/>
          </a:p>
        </p:txBody>
      </p:sp>
      <p:sp>
        <p:nvSpPr>
          <p:cNvPr id="40" name="Shape 32"/>
          <p:cNvSpPr/>
          <p:nvPr/>
        </p:nvSpPr>
        <p:spPr>
          <a:xfrm>
            <a:off x="5897880" y="5760720"/>
            <a:ext cx="1298448" cy="274320"/>
          </a:xfrm>
          <a:prstGeom prst="roundRect">
            <a:avLst>
              <a:gd name="adj" fmla="val 50000"/>
            </a:avLst>
          </a:prstGeom>
          <a:solidFill>
            <a:srgbClr val="EEF2FF"/>
          </a:solidFill>
          <a:ln w="12700">
            <a:solidFill>
              <a:srgbClr val="EEF2FF"/>
            </a:solidFill>
            <a:prstDash val="solid"/>
          </a:ln>
        </p:spPr>
      </p:sp>
      <p:sp>
        <p:nvSpPr>
          <p:cNvPr id="41" name="Text 33"/>
          <p:cNvSpPr txBox="1"/>
          <p:nvPr/>
        </p:nvSpPr>
        <p:spPr>
          <a:xfrm>
            <a:off x="5897880" y="5760720"/>
            <a:ext cx="1298448"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Commercial Vehicle</a:t>
            </a:r>
            <a:endParaRPr lang="en-US" sz="950" dirty="0"/>
          </a:p>
        </p:txBody>
      </p:sp>
      <p:sp>
        <p:nvSpPr>
          <p:cNvPr id="42" name="Shape 34"/>
          <p:cNvSpPr/>
          <p:nvPr/>
        </p:nvSpPr>
        <p:spPr>
          <a:xfrm>
            <a:off x="7269480" y="5760720"/>
            <a:ext cx="1472184" cy="274320"/>
          </a:xfrm>
          <a:prstGeom prst="roundRect">
            <a:avLst>
              <a:gd name="adj" fmla="val 50000"/>
            </a:avLst>
          </a:prstGeom>
          <a:solidFill>
            <a:srgbClr val="EEF2FF"/>
          </a:solidFill>
          <a:ln w="12700">
            <a:solidFill>
              <a:srgbClr val="EEF2FF"/>
            </a:solidFill>
            <a:prstDash val="solid"/>
          </a:ln>
        </p:spPr>
      </p:sp>
      <p:sp>
        <p:nvSpPr>
          <p:cNvPr id="43" name="Text 35"/>
          <p:cNvSpPr txBox="1"/>
          <p:nvPr/>
        </p:nvSpPr>
        <p:spPr>
          <a:xfrm>
            <a:off x="7269480" y="5760720"/>
            <a:ext cx="1472184"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Loan Against Property</a:t>
            </a:r>
            <a:endParaRPr lang="en-US" sz="950" dirty="0"/>
          </a:p>
        </p:txBody>
      </p:sp>
      <p:sp>
        <p:nvSpPr>
          <p:cNvPr id="44" name="Shape 36"/>
          <p:cNvSpPr/>
          <p:nvPr/>
        </p:nvSpPr>
        <p:spPr>
          <a:xfrm>
            <a:off x="8814816" y="5760720"/>
            <a:ext cx="1414272" cy="274320"/>
          </a:xfrm>
          <a:prstGeom prst="roundRect">
            <a:avLst>
              <a:gd name="adj" fmla="val 50000"/>
            </a:avLst>
          </a:prstGeom>
          <a:solidFill>
            <a:srgbClr val="EEF2FF"/>
          </a:solidFill>
          <a:ln w="12700">
            <a:solidFill>
              <a:srgbClr val="EEF2FF"/>
            </a:solidFill>
            <a:prstDash val="solid"/>
          </a:ln>
        </p:spPr>
      </p:sp>
      <p:sp>
        <p:nvSpPr>
          <p:cNvPr id="45" name="Text 37"/>
          <p:cNvSpPr txBox="1"/>
          <p:nvPr/>
        </p:nvSpPr>
        <p:spPr>
          <a:xfrm>
            <a:off x="8814816" y="5760720"/>
            <a:ext cx="1414272"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Microfinance / Rural</a:t>
            </a:r>
            <a:endParaRPr lang="en-US" sz="950" dirty="0"/>
          </a:p>
        </p:txBody>
      </p:sp>
      <p:sp>
        <p:nvSpPr>
          <p:cNvPr id="46" name="Shape 38"/>
          <p:cNvSpPr/>
          <p:nvPr/>
        </p:nvSpPr>
        <p:spPr>
          <a:xfrm>
            <a:off x="10302240" y="5760720"/>
            <a:ext cx="1124712" cy="274320"/>
          </a:xfrm>
          <a:prstGeom prst="roundRect">
            <a:avLst>
              <a:gd name="adj" fmla="val 50000"/>
            </a:avLst>
          </a:prstGeom>
          <a:solidFill>
            <a:srgbClr val="EEF2FF"/>
          </a:solidFill>
          <a:ln w="12700">
            <a:solidFill>
              <a:srgbClr val="EEF2FF"/>
            </a:solidFill>
            <a:prstDash val="solid"/>
          </a:ln>
        </p:spPr>
      </p:sp>
      <p:sp>
        <p:nvSpPr>
          <p:cNvPr id="47" name="Text 39"/>
          <p:cNvSpPr txBox="1"/>
          <p:nvPr/>
        </p:nvSpPr>
        <p:spPr>
          <a:xfrm>
            <a:off x="10302240" y="5760720"/>
            <a:ext cx="1124712"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Working Capital</a:t>
            </a:r>
            <a:endParaRPr lang="en-US" sz="950" dirty="0"/>
          </a:p>
        </p:txBody>
      </p:sp>
      <p:sp>
        <p:nvSpPr>
          <p:cNvPr id="48" name="Shape 40"/>
          <p:cNvSpPr/>
          <p:nvPr/>
        </p:nvSpPr>
        <p:spPr>
          <a:xfrm>
            <a:off x="5897880" y="6108192"/>
            <a:ext cx="950976" cy="274320"/>
          </a:xfrm>
          <a:prstGeom prst="roundRect">
            <a:avLst>
              <a:gd name="adj" fmla="val 50000"/>
            </a:avLst>
          </a:prstGeom>
          <a:solidFill>
            <a:srgbClr val="EEF2FF"/>
          </a:solidFill>
          <a:ln w="12700">
            <a:solidFill>
              <a:srgbClr val="EEF2FF"/>
            </a:solidFill>
            <a:prstDash val="solid"/>
          </a:ln>
        </p:spPr>
      </p:sp>
      <p:sp>
        <p:nvSpPr>
          <p:cNvPr id="49" name="Text 41"/>
          <p:cNvSpPr txBox="1"/>
          <p:nvPr/>
        </p:nvSpPr>
        <p:spPr>
          <a:xfrm>
            <a:off x="5897880" y="6108192"/>
            <a:ext cx="950976" cy="274320"/>
          </a:xfrm>
          <a:prstGeom prst="rect">
            <a:avLst/>
          </a:prstGeom>
          <a:noFill/>
          <a:ln/>
        </p:spPr>
        <p:txBody>
          <a:bodyPr wrap="square" lIns="0" tIns="0" rIns="0" bIns="0" rtlCol="0" anchor="ctr"/>
          <a:lstStyle/>
          <a:p>
            <a:pPr algn="ctr" indent="0" marL="0">
              <a:buNone/>
            </a:pPr>
            <a:r>
              <a:rPr lang="en-US" sz="950" b="1" dirty="0">
                <a:solidFill>
                  <a:srgbClr val="3730A3"/>
                </a:solidFill>
                <a:latin typeface="Roboto" pitchFamily="34" charset="0"/>
                <a:ea typeface="Roboto" pitchFamily="34" charset="-122"/>
                <a:cs typeface="Roboto" pitchFamily="34" charset="-120"/>
              </a:rPr>
              <a:t>Used Vehicle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PRODUCT</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A quick tour of the app</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Screens captured from the running app (the application data shown is seeded demo data).</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6</a:t>
            </a:r>
            <a:endParaRPr lang="en-US" sz="900" dirty="0"/>
          </a:p>
        </p:txBody>
      </p:sp>
      <p:sp>
        <p:nvSpPr>
          <p:cNvPr id="8" name="Shape 4"/>
          <p:cNvSpPr/>
          <p:nvPr/>
        </p:nvSpPr>
        <p:spPr>
          <a:xfrm>
            <a:off x="548640" y="1783080"/>
            <a:ext cx="3566160" cy="2455164"/>
          </a:xfrm>
          <a:prstGeom prst="roundRect">
            <a:avLst>
              <a:gd name="adj" fmla="val 2607"/>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9" name="Shape 5"/>
          <p:cNvSpPr/>
          <p:nvPr/>
        </p:nvSpPr>
        <p:spPr>
          <a:xfrm>
            <a:off x="667512" y="1860804"/>
            <a:ext cx="82296" cy="82296"/>
          </a:xfrm>
          <a:prstGeom prst="ellipse">
            <a:avLst/>
          </a:prstGeom>
          <a:solidFill>
            <a:srgbClr val="F87171"/>
          </a:solidFill>
          <a:ln w="12700">
            <a:solidFill>
              <a:srgbClr val="F87171"/>
            </a:solidFill>
            <a:prstDash val="solid"/>
          </a:ln>
        </p:spPr>
      </p:sp>
      <p:sp>
        <p:nvSpPr>
          <p:cNvPr id="10" name="Shape 6"/>
          <p:cNvSpPr/>
          <p:nvPr/>
        </p:nvSpPr>
        <p:spPr>
          <a:xfrm>
            <a:off x="804672" y="1860804"/>
            <a:ext cx="82296" cy="82296"/>
          </a:xfrm>
          <a:prstGeom prst="ellipse">
            <a:avLst/>
          </a:prstGeom>
          <a:solidFill>
            <a:srgbClr val="FBBF24"/>
          </a:solidFill>
          <a:ln w="12700">
            <a:solidFill>
              <a:srgbClr val="FBBF24"/>
            </a:solidFill>
            <a:prstDash val="solid"/>
          </a:ln>
        </p:spPr>
      </p:sp>
      <p:sp>
        <p:nvSpPr>
          <p:cNvPr id="11" name="Shape 7"/>
          <p:cNvSpPr/>
          <p:nvPr/>
        </p:nvSpPr>
        <p:spPr>
          <a:xfrm>
            <a:off x="941832" y="1860804"/>
            <a:ext cx="82296" cy="82296"/>
          </a:xfrm>
          <a:prstGeom prst="ellipse">
            <a:avLst/>
          </a:prstGeom>
          <a:solidFill>
            <a:srgbClr val="34D399"/>
          </a:solidFill>
          <a:ln w="12700">
            <a:solidFill>
              <a:srgbClr val="34D399"/>
            </a:solidFill>
            <a:prstDash val="solid"/>
          </a:ln>
        </p:spPr>
      </p:sp>
      <p:pic>
        <p:nvPicPr>
          <p:cNvPr id="12" name="Image 1" descr="C:\Users\shrey\AppData\Local\Temp\claude\D--novacinternship-finsight\87f4101b-bf26-4b28-976a-e637573d77e1\scratchpad\deck\img\borrower_home.png">    </p:cNvPr>
          <p:cNvPicPr>
            <a:picLocks noChangeAspect="1"/>
          </p:cNvPicPr>
          <p:nvPr/>
        </p:nvPicPr>
        <p:blipFill>
          <a:blip r:embed="rId2"/>
          <a:stretch>
            <a:fillRect/>
          </a:stretch>
        </p:blipFill>
        <p:spPr>
          <a:xfrm>
            <a:off x="594360" y="2020824"/>
            <a:ext cx="3474720" cy="2171700"/>
          </a:xfrm>
          <a:prstGeom prst="rect">
            <a:avLst/>
          </a:prstGeom>
        </p:spPr>
      </p:pic>
      <p:sp>
        <p:nvSpPr>
          <p:cNvPr id="13" name="Shape 8"/>
          <p:cNvSpPr/>
          <p:nvPr/>
        </p:nvSpPr>
        <p:spPr>
          <a:xfrm>
            <a:off x="548640" y="4421124"/>
            <a:ext cx="402336" cy="402336"/>
          </a:xfrm>
          <a:prstGeom prst="ellipse">
            <a:avLst/>
          </a:prstGeom>
          <a:solidFill>
            <a:srgbClr val="EEF2FF"/>
          </a:solidFill>
          <a:ln w="12700">
            <a:solidFill>
              <a:srgbClr val="EEF2FF"/>
            </a:solidFill>
            <a:prstDash val="solid"/>
          </a:ln>
        </p:spPr>
      </p:sp>
      <p:pic>
        <p:nvPicPr>
          <p:cNvPr id="14" name="Image 2" descr="preencoded.png">    </p:cNvPr>
          <p:cNvPicPr>
            <a:picLocks noChangeAspect="1"/>
          </p:cNvPicPr>
          <p:nvPr/>
        </p:nvPicPr>
        <p:blipFill>
          <a:blip r:embed="rId3"/>
          <a:stretch>
            <a:fillRect/>
          </a:stretch>
        </p:blipFill>
        <p:spPr>
          <a:xfrm>
            <a:off x="637154" y="4509638"/>
            <a:ext cx="225308" cy="225308"/>
          </a:xfrm>
          <a:prstGeom prst="rect">
            <a:avLst/>
          </a:prstGeom>
        </p:spPr>
      </p:pic>
      <p:sp>
        <p:nvSpPr>
          <p:cNvPr id="15" name="Text 9"/>
          <p:cNvSpPr txBox="1"/>
          <p:nvPr/>
        </p:nvSpPr>
        <p:spPr>
          <a:xfrm>
            <a:off x="1078992" y="4421124"/>
            <a:ext cx="3017520" cy="402336"/>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Borrower portal</a:t>
            </a:r>
            <a:endParaRPr lang="en-US" sz="1500" dirty="0"/>
          </a:p>
        </p:txBody>
      </p:sp>
      <p:sp>
        <p:nvSpPr>
          <p:cNvPr id="16" name="Text 10"/>
          <p:cNvSpPr txBox="1"/>
          <p:nvPr/>
        </p:nvSpPr>
        <p:spPr>
          <a:xfrm>
            <a:off x="548640" y="4878324"/>
            <a:ext cx="3566160" cy="420624"/>
          </a:xfrm>
          <a:prstGeom prst="rect">
            <a:avLst/>
          </a:prstGeom>
          <a:noFill/>
          <a:ln/>
        </p:spPr>
        <p:txBody>
          <a:bodyPr wrap="square" lIns="0" tIns="0" rIns="0" bIns="0" rtlCol="0" anchor="t"/>
          <a:lstStyle/>
          <a:p>
            <a:pPr indent="0" marL="0">
              <a:buNone/>
            </a:pPr>
            <a:r>
              <a:rPr lang="en-US" sz="1100" dirty="0">
                <a:solidFill>
                  <a:srgbClr val="64748B"/>
                </a:solidFill>
                <a:latin typeface="Roboto" pitchFamily="34" charset="0"/>
                <a:ea typeface="Roboto" pitchFamily="34" charset="-122"/>
                <a:cs typeface="Roboto" pitchFamily="34" charset="-120"/>
              </a:rPr>
              <a:t>Status of every application and the 12 products to apply for.</a:t>
            </a:r>
            <a:endParaRPr lang="en-US" sz="1100" dirty="0"/>
          </a:p>
        </p:txBody>
      </p:sp>
      <p:sp>
        <p:nvSpPr>
          <p:cNvPr id="17" name="Shape 11"/>
          <p:cNvSpPr/>
          <p:nvPr/>
        </p:nvSpPr>
        <p:spPr>
          <a:xfrm>
            <a:off x="548640" y="5372100"/>
            <a:ext cx="3566160" cy="914400"/>
          </a:xfrm>
          <a:prstGeom prst="roundRect">
            <a:avLst>
              <a:gd name="adj" fmla="val 10000"/>
            </a:avLst>
          </a:prstGeom>
          <a:solidFill>
            <a:srgbClr val="F8FAFC"/>
          </a:solidFill>
          <a:ln w="12700">
            <a:solidFill>
              <a:srgbClr val="E2E8F0"/>
            </a:solidFill>
            <a:prstDash val="solid"/>
          </a:ln>
        </p:spPr>
      </p:sp>
      <p:sp>
        <p:nvSpPr>
          <p:cNvPr id="18" name="Text 12"/>
          <p:cNvSpPr txBox="1"/>
          <p:nvPr/>
        </p:nvSpPr>
        <p:spPr>
          <a:xfrm>
            <a:off x="685800" y="5408676"/>
            <a:ext cx="3337560" cy="841248"/>
          </a:xfrm>
          <a:prstGeom prst="rect">
            <a:avLst/>
          </a:prstGeom>
          <a:noFill/>
          <a:ln/>
        </p:spPr>
        <p:txBody>
          <a:bodyPr wrap="square" lIns="0" tIns="0" rIns="0" bIns="0" rtlCol="0" anchor="ctr"/>
          <a:lstStyle/>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Apply for any of the 12 products</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Upload, confirm fields, take a selfie</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Track status and offers</a:t>
            </a:r>
            <a:endParaRPr lang="en-US" sz="1100" dirty="0"/>
          </a:p>
        </p:txBody>
      </p:sp>
      <p:sp>
        <p:nvSpPr>
          <p:cNvPr id="19" name="Shape 13"/>
          <p:cNvSpPr/>
          <p:nvPr/>
        </p:nvSpPr>
        <p:spPr>
          <a:xfrm>
            <a:off x="4297680" y="1783080"/>
            <a:ext cx="3566160" cy="2455164"/>
          </a:xfrm>
          <a:prstGeom prst="roundRect">
            <a:avLst>
              <a:gd name="adj" fmla="val 2607"/>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0" name="Shape 14"/>
          <p:cNvSpPr/>
          <p:nvPr/>
        </p:nvSpPr>
        <p:spPr>
          <a:xfrm>
            <a:off x="4416552" y="1860804"/>
            <a:ext cx="82296" cy="82296"/>
          </a:xfrm>
          <a:prstGeom prst="ellipse">
            <a:avLst/>
          </a:prstGeom>
          <a:solidFill>
            <a:srgbClr val="F87171"/>
          </a:solidFill>
          <a:ln w="12700">
            <a:solidFill>
              <a:srgbClr val="F87171"/>
            </a:solidFill>
            <a:prstDash val="solid"/>
          </a:ln>
        </p:spPr>
      </p:sp>
      <p:sp>
        <p:nvSpPr>
          <p:cNvPr id="21" name="Shape 15"/>
          <p:cNvSpPr/>
          <p:nvPr/>
        </p:nvSpPr>
        <p:spPr>
          <a:xfrm>
            <a:off x="4553712" y="1860804"/>
            <a:ext cx="82296" cy="82296"/>
          </a:xfrm>
          <a:prstGeom prst="ellipse">
            <a:avLst/>
          </a:prstGeom>
          <a:solidFill>
            <a:srgbClr val="FBBF24"/>
          </a:solidFill>
          <a:ln w="12700">
            <a:solidFill>
              <a:srgbClr val="FBBF24"/>
            </a:solidFill>
            <a:prstDash val="solid"/>
          </a:ln>
        </p:spPr>
      </p:sp>
      <p:sp>
        <p:nvSpPr>
          <p:cNvPr id="22" name="Shape 16"/>
          <p:cNvSpPr/>
          <p:nvPr/>
        </p:nvSpPr>
        <p:spPr>
          <a:xfrm>
            <a:off x="4690872" y="1860804"/>
            <a:ext cx="82296" cy="82296"/>
          </a:xfrm>
          <a:prstGeom prst="ellipse">
            <a:avLst/>
          </a:prstGeom>
          <a:solidFill>
            <a:srgbClr val="34D399"/>
          </a:solidFill>
          <a:ln w="12700">
            <a:solidFill>
              <a:srgbClr val="34D399"/>
            </a:solidFill>
            <a:prstDash val="solid"/>
          </a:ln>
        </p:spPr>
      </p:sp>
      <p:pic>
        <p:nvPicPr>
          <p:cNvPr id="23" name="Image 3" descr="C:\Users\shrey\AppData\Local\Temp\claude\D--novacinternship-finsight\87f4101b-bf26-4b28-976a-e637573d77e1\scratchpad\deck\img\officer_queue.png">    </p:cNvPr>
          <p:cNvPicPr>
            <a:picLocks noChangeAspect="1"/>
          </p:cNvPicPr>
          <p:nvPr/>
        </p:nvPicPr>
        <p:blipFill>
          <a:blip r:embed="rId4"/>
          <a:stretch>
            <a:fillRect/>
          </a:stretch>
        </p:blipFill>
        <p:spPr>
          <a:xfrm>
            <a:off x="4343400" y="2020824"/>
            <a:ext cx="3474720" cy="2171700"/>
          </a:xfrm>
          <a:prstGeom prst="rect">
            <a:avLst/>
          </a:prstGeom>
        </p:spPr>
      </p:pic>
      <p:sp>
        <p:nvSpPr>
          <p:cNvPr id="24" name="Shape 17"/>
          <p:cNvSpPr/>
          <p:nvPr/>
        </p:nvSpPr>
        <p:spPr>
          <a:xfrm>
            <a:off x="4297680" y="4421124"/>
            <a:ext cx="402336" cy="402336"/>
          </a:xfrm>
          <a:prstGeom prst="ellipse">
            <a:avLst/>
          </a:prstGeom>
          <a:solidFill>
            <a:srgbClr val="EEF2FF"/>
          </a:solidFill>
          <a:ln w="12700">
            <a:solidFill>
              <a:srgbClr val="EEF2FF"/>
            </a:solidFill>
            <a:prstDash val="solid"/>
          </a:ln>
        </p:spPr>
      </p:sp>
      <p:pic>
        <p:nvPicPr>
          <p:cNvPr id="25" name="Image 4" descr="preencoded.png">    </p:cNvPr>
          <p:cNvPicPr>
            <a:picLocks noChangeAspect="1"/>
          </p:cNvPicPr>
          <p:nvPr/>
        </p:nvPicPr>
        <p:blipFill>
          <a:blip r:embed="rId5"/>
          <a:stretch>
            <a:fillRect/>
          </a:stretch>
        </p:blipFill>
        <p:spPr>
          <a:xfrm>
            <a:off x="4386194" y="4509638"/>
            <a:ext cx="225308" cy="225308"/>
          </a:xfrm>
          <a:prstGeom prst="rect">
            <a:avLst/>
          </a:prstGeom>
        </p:spPr>
      </p:pic>
      <p:sp>
        <p:nvSpPr>
          <p:cNvPr id="26" name="Text 18"/>
          <p:cNvSpPr txBox="1"/>
          <p:nvPr/>
        </p:nvSpPr>
        <p:spPr>
          <a:xfrm>
            <a:off x="4828032" y="4421124"/>
            <a:ext cx="3017520" cy="402336"/>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Officer queue</a:t>
            </a:r>
            <a:endParaRPr lang="en-US" sz="1500" dirty="0"/>
          </a:p>
        </p:txBody>
      </p:sp>
      <p:sp>
        <p:nvSpPr>
          <p:cNvPr id="27" name="Text 19"/>
          <p:cNvSpPr txBox="1"/>
          <p:nvPr/>
        </p:nvSpPr>
        <p:spPr>
          <a:xfrm>
            <a:off x="4297680" y="4878324"/>
            <a:ext cx="3566160" cy="420624"/>
          </a:xfrm>
          <a:prstGeom prst="rect">
            <a:avLst/>
          </a:prstGeom>
          <a:noFill/>
          <a:ln/>
        </p:spPr>
        <p:txBody>
          <a:bodyPr wrap="square" lIns="0" tIns="0" rIns="0" bIns="0" rtlCol="0" anchor="t"/>
          <a:lstStyle/>
          <a:p>
            <a:pPr indent="0" marL="0">
              <a:buNone/>
            </a:pPr>
            <a:r>
              <a:rPr lang="en-US" sz="1100" dirty="0">
                <a:solidFill>
                  <a:srgbClr val="64748B"/>
                </a:solidFill>
                <a:latin typeface="Roboto" pitchFamily="34" charset="0"/>
                <a:ea typeface="Roboto" pitchFamily="34" charset="-122"/>
                <a:cs typeface="Roboto" pitchFamily="34" charset="-120"/>
              </a:rPr>
              <a:t>Assigned cases with risk, fraud, SLA timer and next action.</a:t>
            </a:r>
            <a:endParaRPr lang="en-US" sz="1100" dirty="0"/>
          </a:p>
        </p:txBody>
      </p:sp>
      <p:sp>
        <p:nvSpPr>
          <p:cNvPr id="28" name="Shape 20"/>
          <p:cNvSpPr/>
          <p:nvPr/>
        </p:nvSpPr>
        <p:spPr>
          <a:xfrm>
            <a:off x="4297680" y="5372100"/>
            <a:ext cx="3566160" cy="914400"/>
          </a:xfrm>
          <a:prstGeom prst="roundRect">
            <a:avLst>
              <a:gd name="adj" fmla="val 10000"/>
            </a:avLst>
          </a:prstGeom>
          <a:solidFill>
            <a:srgbClr val="F8FAFC"/>
          </a:solidFill>
          <a:ln w="12700">
            <a:solidFill>
              <a:srgbClr val="E2E8F0"/>
            </a:solidFill>
            <a:prstDash val="solid"/>
          </a:ln>
        </p:spPr>
      </p:sp>
      <p:sp>
        <p:nvSpPr>
          <p:cNvPr id="29" name="Text 21"/>
          <p:cNvSpPr txBox="1"/>
          <p:nvPr/>
        </p:nvSpPr>
        <p:spPr>
          <a:xfrm>
            <a:off x="4434840" y="5408676"/>
            <a:ext cx="3337560" cy="841248"/>
          </a:xfrm>
          <a:prstGeom prst="rect">
            <a:avLst/>
          </a:prstGeom>
          <a:noFill/>
          <a:ln/>
        </p:spPr>
        <p:txBody>
          <a:bodyPr wrap="square" lIns="0" tIns="0" rIns="0" bIns="0" rtlCol="0" anchor="ctr"/>
          <a:lstStyle/>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Risk and fraud column for every case</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SLA timer and the next action</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Open a case: 8 tabs of evidence</a:t>
            </a:r>
            <a:endParaRPr lang="en-US" sz="1100" dirty="0"/>
          </a:p>
        </p:txBody>
      </p:sp>
      <p:sp>
        <p:nvSpPr>
          <p:cNvPr id="30" name="Shape 22"/>
          <p:cNvSpPr/>
          <p:nvPr/>
        </p:nvSpPr>
        <p:spPr>
          <a:xfrm>
            <a:off x="8046720" y="1783080"/>
            <a:ext cx="3566160" cy="2455164"/>
          </a:xfrm>
          <a:prstGeom prst="roundRect">
            <a:avLst>
              <a:gd name="adj" fmla="val 2607"/>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1" name="Shape 23"/>
          <p:cNvSpPr/>
          <p:nvPr/>
        </p:nvSpPr>
        <p:spPr>
          <a:xfrm>
            <a:off x="8165592" y="1860804"/>
            <a:ext cx="82296" cy="82296"/>
          </a:xfrm>
          <a:prstGeom prst="ellipse">
            <a:avLst/>
          </a:prstGeom>
          <a:solidFill>
            <a:srgbClr val="F87171"/>
          </a:solidFill>
          <a:ln w="12700">
            <a:solidFill>
              <a:srgbClr val="F87171"/>
            </a:solidFill>
            <a:prstDash val="solid"/>
          </a:ln>
        </p:spPr>
      </p:sp>
      <p:sp>
        <p:nvSpPr>
          <p:cNvPr id="32" name="Shape 24"/>
          <p:cNvSpPr/>
          <p:nvPr/>
        </p:nvSpPr>
        <p:spPr>
          <a:xfrm>
            <a:off x="8302752" y="1860804"/>
            <a:ext cx="82296" cy="82296"/>
          </a:xfrm>
          <a:prstGeom prst="ellipse">
            <a:avLst/>
          </a:prstGeom>
          <a:solidFill>
            <a:srgbClr val="FBBF24"/>
          </a:solidFill>
          <a:ln w="12700">
            <a:solidFill>
              <a:srgbClr val="FBBF24"/>
            </a:solidFill>
            <a:prstDash val="solid"/>
          </a:ln>
        </p:spPr>
      </p:sp>
      <p:sp>
        <p:nvSpPr>
          <p:cNvPr id="33" name="Shape 25"/>
          <p:cNvSpPr/>
          <p:nvPr/>
        </p:nvSpPr>
        <p:spPr>
          <a:xfrm>
            <a:off x="8439912" y="1860804"/>
            <a:ext cx="82296" cy="82296"/>
          </a:xfrm>
          <a:prstGeom prst="ellipse">
            <a:avLst/>
          </a:prstGeom>
          <a:solidFill>
            <a:srgbClr val="34D399"/>
          </a:solidFill>
          <a:ln w="12700">
            <a:solidFill>
              <a:srgbClr val="34D399"/>
            </a:solidFill>
            <a:prstDash val="solid"/>
          </a:ln>
        </p:spPr>
      </p:sp>
      <p:pic>
        <p:nvPicPr>
          <p:cNvPr id="34" name="Image 5" descr="C:\Users\shrey\AppData\Local\Temp\claude\D--novacinternship-finsight\87f4101b-bf26-4b28-976a-e637573d77e1\scratchpad\deck\img\head_dashboard.png">    </p:cNvPr>
          <p:cNvPicPr>
            <a:picLocks noChangeAspect="1"/>
          </p:cNvPicPr>
          <p:nvPr/>
        </p:nvPicPr>
        <p:blipFill>
          <a:blip r:embed="rId6"/>
          <a:stretch>
            <a:fillRect/>
          </a:stretch>
        </p:blipFill>
        <p:spPr>
          <a:xfrm>
            <a:off x="8092440" y="2020824"/>
            <a:ext cx="3474720" cy="2171700"/>
          </a:xfrm>
          <a:prstGeom prst="rect">
            <a:avLst/>
          </a:prstGeom>
        </p:spPr>
      </p:pic>
      <p:sp>
        <p:nvSpPr>
          <p:cNvPr id="35" name="Shape 26"/>
          <p:cNvSpPr/>
          <p:nvPr/>
        </p:nvSpPr>
        <p:spPr>
          <a:xfrm>
            <a:off x="8046720" y="4421124"/>
            <a:ext cx="402336" cy="402336"/>
          </a:xfrm>
          <a:prstGeom prst="ellipse">
            <a:avLst/>
          </a:prstGeom>
          <a:solidFill>
            <a:srgbClr val="EEF2FF"/>
          </a:solidFill>
          <a:ln w="12700">
            <a:solidFill>
              <a:srgbClr val="EEF2FF"/>
            </a:solidFill>
            <a:prstDash val="solid"/>
          </a:ln>
        </p:spPr>
      </p:sp>
      <p:pic>
        <p:nvPicPr>
          <p:cNvPr id="36" name="Image 6" descr="preencoded.png">    </p:cNvPr>
          <p:cNvPicPr>
            <a:picLocks noChangeAspect="1"/>
          </p:cNvPicPr>
          <p:nvPr/>
        </p:nvPicPr>
        <p:blipFill>
          <a:blip r:embed="rId7"/>
          <a:stretch>
            <a:fillRect/>
          </a:stretch>
        </p:blipFill>
        <p:spPr>
          <a:xfrm>
            <a:off x="8135234" y="4509638"/>
            <a:ext cx="225308" cy="225308"/>
          </a:xfrm>
          <a:prstGeom prst="rect">
            <a:avLst/>
          </a:prstGeom>
        </p:spPr>
      </p:pic>
      <p:sp>
        <p:nvSpPr>
          <p:cNvPr id="37" name="Text 27"/>
          <p:cNvSpPr txBox="1"/>
          <p:nvPr/>
        </p:nvSpPr>
        <p:spPr>
          <a:xfrm>
            <a:off x="8577072" y="4421124"/>
            <a:ext cx="3017520" cy="402336"/>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Head dashboard</a:t>
            </a:r>
            <a:endParaRPr lang="en-US" sz="1500" dirty="0"/>
          </a:p>
        </p:txBody>
      </p:sp>
      <p:sp>
        <p:nvSpPr>
          <p:cNvPr id="38" name="Text 28"/>
          <p:cNvSpPr txBox="1"/>
          <p:nvPr/>
        </p:nvSpPr>
        <p:spPr>
          <a:xfrm>
            <a:off x="8046720" y="4878324"/>
            <a:ext cx="3566160" cy="420624"/>
          </a:xfrm>
          <a:prstGeom prst="rect">
            <a:avLst/>
          </a:prstGeom>
          <a:noFill/>
          <a:ln/>
        </p:spPr>
        <p:txBody>
          <a:bodyPr wrap="square" lIns="0" tIns="0" rIns="0" bIns="0" rtlCol="0" anchor="t"/>
          <a:lstStyle/>
          <a:p>
            <a:pPr indent="0" marL="0">
              <a:buNone/>
            </a:pPr>
            <a:r>
              <a:rPr lang="en-US" sz="1100" dirty="0">
                <a:solidFill>
                  <a:srgbClr val="64748B"/>
                </a:solidFill>
                <a:latin typeface="Roboto" pitchFamily="34" charset="0"/>
                <a:ea typeface="Roboto" pitchFamily="34" charset="-122"/>
                <a:cs typeface="Roboto" pitchFamily="34" charset="-120"/>
              </a:rPr>
              <a:t>Portfolio view: approvals waiting, fraud alerts, model health.</a:t>
            </a:r>
            <a:endParaRPr lang="en-US" sz="1100" dirty="0"/>
          </a:p>
        </p:txBody>
      </p:sp>
      <p:sp>
        <p:nvSpPr>
          <p:cNvPr id="39" name="Shape 29"/>
          <p:cNvSpPr/>
          <p:nvPr/>
        </p:nvSpPr>
        <p:spPr>
          <a:xfrm>
            <a:off x="8046720" y="5372100"/>
            <a:ext cx="3566160" cy="914400"/>
          </a:xfrm>
          <a:prstGeom prst="roundRect">
            <a:avLst>
              <a:gd name="adj" fmla="val 10000"/>
            </a:avLst>
          </a:prstGeom>
          <a:solidFill>
            <a:srgbClr val="F8FAFC"/>
          </a:solidFill>
          <a:ln w="12700">
            <a:solidFill>
              <a:srgbClr val="E2E8F0"/>
            </a:solidFill>
            <a:prstDash val="solid"/>
          </a:ln>
        </p:spPr>
      </p:sp>
      <p:sp>
        <p:nvSpPr>
          <p:cNvPr id="40" name="Text 30"/>
          <p:cNvSpPr txBox="1"/>
          <p:nvPr/>
        </p:nvSpPr>
        <p:spPr>
          <a:xfrm>
            <a:off x="8183880" y="5408676"/>
            <a:ext cx="3337560" cy="841248"/>
          </a:xfrm>
          <a:prstGeom prst="rect">
            <a:avLst/>
          </a:prstGeom>
          <a:noFill/>
          <a:ln/>
        </p:spPr>
        <p:txBody>
          <a:bodyPr wrap="square" lIns="0" tIns="0" rIns="0" bIns="0" rtlCol="0" anchor="ctr"/>
          <a:lstStyle/>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Approvals waiting above ₹5 lakh</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Fraud alerts and ring triage</a:t>
            </a:r>
            <a:endParaRPr lang="en-US" sz="1100" dirty="0"/>
          </a:p>
          <a:p>
            <a:pPr marL="177800" indent="-177800">
              <a:spcAft>
                <a:spcPts val="300"/>
              </a:spcAft>
              <a:buSzPct val="100000"/>
              <a:buChar char="•"/>
            </a:pPr>
            <a:r>
              <a:rPr lang="en-US" sz="1100" dirty="0">
                <a:solidFill>
                  <a:srgbClr val="334155"/>
                </a:solidFill>
                <a:latin typeface="Roboto" pitchFamily="34" charset="0"/>
                <a:ea typeface="Roboto" pitchFamily="34" charset="-122"/>
                <a:cs typeface="Roboto" pitchFamily="34" charset="-120"/>
              </a:rPr>
              <a:t>AI model and RBI rule control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01</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Architecture</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Six layers, one gateway to the language model, and one rule for every agent: tools decide, the model only explains.</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1207008"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120700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System layers</a:t>
            </a:r>
            <a:endParaRPr lang="en-US" sz="1200" dirty="0"/>
          </a:p>
        </p:txBody>
      </p:sp>
      <p:sp>
        <p:nvSpPr>
          <p:cNvPr id="8" name="Shape 6"/>
          <p:cNvSpPr/>
          <p:nvPr/>
        </p:nvSpPr>
        <p:spPr>
          <a:xfrm>
            <a:off x="1883664" y="5102352"/>
            <a:ext cx="987552"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883664" y="5102352"/>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Tech stack</a:t>
            </a:r>
            <a:endParaRPr lang="en-US" sz="1200" dirty="0"/>
          </a:p>
        </p:txBody>
      </p:sp>
      <p:sp>
        <p:nvSpPr>
          <p:cNvPr id="10" name="Shape 8"/>
          <p:cNvSpPr/>
          <p:nvPr/>
        </p:nvSpPr>
        <p:spPr>
          <a:xfrm>
            <a:off x="2999232" y="5102352"/>
            <a:ext cx="1572768"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2999232" y="5102352"/>
            <a:ext cx="157276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How one agent runs</a:t>
            </a:r>
            <a:endParaRPr lang="en-US" sz="1200" dirty="0"/>
          </a:p>
        </p:txBody>
      </p:sp>
      <p:sp>
        <p:nvSpPr>
          <p:cNvPr id="12" name="Shape 10"/>
          <p:cNvSpPr/>
          <p:nvPr/>
        </p:nvSpPr>
        <p:spPr>
          <a:xfrm>
            <a:off x="8549640" y="1600200"/>
            <a:ext cx="3108960" cy="3108960"/>
          </a:xfrm>
          <a:prstGeom prst="ellipse">
            <a:avLst/>
          </a:prstGeom>
          <a:solidFill>
            <a:srgbClr val="1E293B"/>
          </a:solidFill>
          <a:ln w="12700">
            <a:solidFill>
              <a:srgbClr val="334155"/>
            </a:solidFill>
            <a:prstDash val="solid"/>
          </a:ln>
        </p:spPr>
      </p:sp>
      <p:pic>
        <p:nvPicPr>
          <p:cNvPr id="13"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14"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15"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16" name="Text 11"/>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ARCHITECTURE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System architecture</a:t>
            </a:r>
            <a:endParaRPr lang="en-US" sz="2800" dirty="0"/>
          </a:p>
        </p:txBody>
      </p:sp>
      <p:pic>
        <p:nvPicPr>
          <p:cNvPr id="4"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5" name="Text 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8</a:t>
            </a:r>
            <a:endParaRPr lang="en-US" sz="900" dirty="0"/>
          </a:p>
        </p:txBody>
      </p:sp>
      <p:sp>
        <p:nvSpPr>
          <p:cNvPr id="7" name="Shape 3"/>
          <p:cNvSpPr/>
          <p:nvPr/>
        </p:nvSpPr>
        <p:spPr>
          <a:xfrm>
            <a:off x="548640" y="1371600"/>
            <a:ext cx="1965960" cy="603504"/>
          </a:xfrm>
          <a:prstGeom prst="roundRect">
            <a:avLst>
              <a:gd name="adj" fmla="val 12121"/>
            </a:avLst>
          </a:prstGeom>
          <a:solidFill>
            <a:srgbClr val="4F46E5"/>
          </a:solidFill>
          <a:ln w="12700">
            <a:solidFill>
              <a:srgbClr val="4F46E5"/>
            </a:solidFill>
            <a:prstDash val="solid"/>
          </a:ln>
        </p:spPr>
      </p:sp>
      <p:sp>
        <p:nvSpPr>
          <p:cNvPr id="8" name="Text 4"/>
          <p:cNvSpPr txBox="1"/>
          <p:nvPr/>
        </p:nvSpPr>
        <p:spPr>
          <a:xfrm>
            <a:off x="685800" y="1371600"/>
            <a:ext cx="1783080" cy="603504"/>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Users</a:t>
            </a:r>
            <a:endParaRPr lang="en-US" sz="1300" dirty="0"/>
          </a:p>
          <a:p>
            <a:pPr indent="0" marL="0">
              <a:buNone/>
            </a:pPr>
            <a:r>
              <a:rPr lang="en-US" sz="950" dirty="0">
                <a:solidFill>
                  <a:srgbClr val="E2E8F0"/>
                </a:solidFill>
                <a:latin typeface="Roboto" pitchFamily="34" charset="0"/>
                <a:ea typeface="Roboto" pitchFamily="34" charset="-122"/>
                <a:cs typeface="Roboto" pitchFamily="34" charset="-120"/>
              </a:rPr>
              <a:t>3 roles</a:t>
            </a:r>
            <a:endParaRPr lang="en-US" sz="1300" dirty="0"/>
          </a:p>
        </p:txBody>
      </p:sp>
      <p:sp>
        <p:nvSpPr>
          <p:cNvPr id="9" name="Shape 5"/>
          <p:cNvSpPr/>
          <p:nvPr/>
        </p:nvSpPr>
        <p:spPr>
          <a:xfrm>
            <a:off x="2697480" y="1371600"/>
            <a:ext cx="8945575" cy="603504"/>
          </a:xfrm>
          <a:prstGeom prst="roundRect">
            <a:avLst>
              <a:gd name="adj" fmla="val 12121"/>
            </a:avLst>
          </a:prstGeom>
          <a:solidFill>
            <a:srgbClr val="F8FAFC"/>
          </a:solidFill>
          <a:ln w="12700">
            <a:solidFill>
              <a:srgbClr val="E2E8F0"/>
            </a:solidFill>
            <a:prstDash val="solid"/>
          </a:ln>
        </p:spPr>
      </p:sp>
      <p:sp>
        <p:nvSpPr>
          <p:cNvPr id="10" name="Shape 6"/>
          <p:cNvSpPr/>
          <p:nvPr/>
        </p:nvSpPr>
        <p:spPr>
          <a:xfrm>
            <a:off x="2834640" y="1499616"/>
            <a:ext cx="768096" cy="347472"/>
          </a:xfrm>
          <a:prstGeom prst="roundRect">
            <a:avLst>
              <a:gd name="adj" fmla="val 50000"/>
            </a:avLst>
          </a:prstGeom>
          <a:solidFill>
            <a:srgbClr val="FFFFFF"/>
          </a:solidFill>
          <a:ln w="12700">
            <a:solidFill>
              <a:srgbClr val="E2E8F0"/>
            </a:solidFill>
            <a:prstDash val="solid"/>
          </a:ln>
        </p:spPr>
      </p:sp>
      <p:sp>
        <p:nvSpPr>
          <p:cNvPr id="11" name="Text 7"/>
          <p:cNvSpPr txBox="1"/>
          <p:nvPr/>
        </p:nvSpPr>
        <p:spPr>
          <a:xfrm>
            <a:off x="2834640" y="1499616"/>
            <a:ext cx="768096"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Borrower</a:t>
            </a:r>
            <a:endParaRPr lang="en-US" sz="1050" dirty="0"/>
          </a:p>
        </p:txBody>
      </p:sp>
      <p:sp>
        <p:nvSpPr>
          <p:cNvPr id="12" name="Shape 8"/>
          <p:cNvSpPr/>
          <p:nvPr/>
        </p:nvSpPr>
        <p:spPr>
          <a:xfrm>
            <a:off x="3694176" y="1499616"/>
            <a:ext cx="1536192" cy="347472"/>
          </a:xfrm>
          <a:prstGeom prst="roundRect">
            <a:avLst>
              <a:gd name="adj" fmla="val 50000"/>
            </a:avLst>
          </a:prstGeom>
          <a:solidFill>
            <a:srgbClr val="FFFFFF"/>
          </a:solidFill>
          <a:ln w="12700">
            <a:solidFill>
              <a:srgbClr val="E2E8F0"/>
            </a:solidFill>
            <a:prstDash val="solid"/>
          </a:ln>
        </p:spPr>
      </p:sp>
      <p:sp>
        <p:nvSpPr>
          <p:cNvPr id="13" name="Text 9"/>
          <p:cNvSpPr txBox="1"/>
          <p:nvPr/>
        </p:nvSpPr>
        <p:spPr>
          <a:xfrm>
            <a:off x="3694176" y="1499616"/>
            <a:ext cx="1536192"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Underwriting Officer</a:t>
            </a:r>
            <a:endParaRPr lang="en-US" sz="1050" dirty="0"/>
          </a:p>
        </p:txBody>
      </p:sp>
      <p:sp>
        <p:nvSpPr>
          <p:cNvPr id="14" name="Shape 10"/>
          <p:cNvSpPr/>
          <p:nvPr/>
        </p:nvSpPr>
        <p:spPr>
          <a:xfrm>
            <a:off x="5321808" y="1499616"/>
            <a:ext cx="1024128" cy="347472"/>
          </a:xfrm>
          <a:prstGeom prst="roundRect">
            <a:avLst>
              <a:gd name="adj" fmla="val 50000"/>
            </a:avLst>
          </a:prstGeom>
          <a:solidFill>
            <a:srgbClr val="FFFFFF"/>
          </a:solidFill>
          <a:ln w="12700">
            <a:solidFill>
              <a:srgbClr val="E2E8F0"/>
            </a:solidFill>
            <a:prstDash val="solid"/>
          </a:ln>
        </p:spPr>
      </p:sp>
      <p:sp>
        <p:nvSpPr>
          <p:cNvPr id="15" name="Text 11"/>
          <p:cNvSpPr txBox="1"/>
          <p:nvPr/>
        </p:nvSpPr>
        <p:spPr>
          <a:xfrm>
            <a:off x="5321808" y="1499616"/>
            <a:ext cx="1024128"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Head Manager</a:t>
            </a:r>
            <a:endParaRPr lang="en-US" sz="1050" dirty="0"/>
          </a:p>
        </p:txBody>
      </p:sp>
      <p:sp>
        <p:nvSpPr>
          <p:cNvPr id="16" name="Shape 12"/>
          <p:cNvSpPr/>
          <p:nvPr/>
        </p:nvSpPr>
        <p:spPr>
          <a:xfrm>
            <a:off x="7170268" y="1993392"/>
            <a:ext cx="0" cy="128016"/>
          </a:xfrm>
          <a:prstGeom prst="line">
            <a:avLst/>
          </a:prstGeom>
          <a:noFill/>
          <a:ln w="19050">
            <a:solidFill>
              <a:srgbClr val="94A3B8"/>
            </a:solidFill>
            <a:prstDash val="solid"/>
            <a:tailEnd type="triangle"/>
          </a:ln>
        </p:spPr>
      </p:sp>
      <p:sp>
        <p:nvSpPr>
          <p:cNvPr id="17" name="Shape 13"/>
          <p:cNvSpPr/>
          <p:nvPr/>
        </p:nvSpPr>
        <p:spPr>
          <a:xfrm>
            <a:off x="548640" y="2139696"/>
            <a:ext cx="1965960" cy="603504"/>
          </a:xfrm>
          <a:prstGeom prst="roundRect">
            <a:avLst>
              <a:gd name="adj" fmla="val 12121"/>
            </a:avLst>
          </a:prstGeom>
          <a:solidFill>
            <a:srgbClr val="0891B2"/>
          </a:solidFill>
          <a:ln w="12700">
            <a:solidFill>
              <a:srgbClr val="0891B2"/>
            </a:solidFill>
            <a:prstDash val="solid"/>
          </a:ln>
        </p:spPr>
      </p:sp>
      <p:sp>
        <p:nvSpPr>
          <p:cNvPr id="18" name="Text 14"/>
          <p:cNvSpPr txBox="1"/>
          <p:nvPr/>
        </p:nvSpPr>
        <p:spPr>
          <a:xfrm>
            <a:off x="685800" y="2139696"/>
            <a:ext cx="1783080" cy="603504"/>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Frontend</a:t>
            </a:r>
            <a:endParaRPr lang="en-US" sz="1300" dirty="0"/>
          </a:p>
          <a:p>
            <a:pPr indent="0" marL="0">
              <a:buNone/>
            </a:pPr>
            <a:r>
              <a:rPr lang="en-US" sz="950" dirty="0">
                <a:solidFill>
                  <a:srgbClr val="E2E8F0"/>
                </a:solidFill>
                <a:latin typeface="Roboto" pitchFamily="34" charset="0"/>
                <a:ea typeface="Roboto" pitchFamily="34" charset="-122"/>
                <a:cs typeface="Roboto" pitchFamily="34" charset="-120"/>
              </a:rPr>
              <a:t>React 18 · Vite 5</a:t>
            </a:r>
            <a:endParaRPr lang="en-US" sz="1300" dirty="0"/>
          </a:p>
        </p:txBody>
      </p:sp>
      <p:sp>
        <p:nvSpPr>
          <p:cNvPr id="19" name="Shape 15"/>
          <p:cNvSpPr/>
          <p:nvPr/>
        </p:nvSpPr>
        <p:spPr>
          <a:xfrm>
            <a:off x="2697480" y="2139696"/>
            <a:ext cx="8945575" cy="603504"/>
          </a:xfrm>
          <a:prstGeom prst="roundRect">
            <a:avLst>
              <a:gd name="adj" fmla="val 12121"/>
            </a:avLst>
          </a:prstGeom>
          <a:solidFill>
            <a:srgbClr val="F8FAFC"/>
          </a:solidFill>
          <a:ln w="12700">
            <a:solidFill>
              <a:srgbClr val="E2E8F0"/>
            </a:solidFill>
            <a:prstDash val="solid"/>
          </a:ln>
        </p:spPr>
      </p:sp>
      <p:sp>
        <p:nvSpPr>
          <p:cNvPr id="20" name="Shape 16"/>
          <p:cNvSpPr/>
          <p:nvPr/>
        </p:nvSpPr>
        <p:spPr>
          <a:xfrm>
            <a:off x="2834640" y="2267712"/>
            <a:ext cx="960120" cy="347472"/>
          </a:xfrm>
          <a:prstGeom prst="roundRect">
            <a:avLst>
              <a:gd name="adj" fmla="val 50000"/>
            </a:avLst>
          </a:prstGeom>
          <a:solidFill>
            <a:srgbClr val="FFFFFF"/>
          </a:solidFill>
          <a:ln w="12700">
            <a:solidFill>
              <a:srgbClr val="E2E8F0"/>
            </a:solidFill>
            <a:prstDash val="solid"/>
          </a:ln>
        </p:spPr>
      </p:sp>
      <p:sp>
        <p:nvSpPr>
          <p:cNvPr id="21" name="Text 17"/>
          <p:cNvSpPr txBox="1"/>
          <p:nvPr/>
        </p:nvSpPr>
        <p:spPr>
          <a:xfrm>
            <a:off x="2834640" y="2267712"/>
            <a:ext cx="960120"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Loan wizard</a:t>
            </a:r>
            <a:endParaRPr lang="en-US" sz="1050" dirty="0"/>
          </a:p>
        </p:txBody>
      </p:sp>
      <p:sp>
        <p:nvSpPr>
          <p:cNvPr id="22" name="Shape 18"/>
          <p:cNvSpPr/>
          <p:nvPr/>
        </p:nvSpPr>
        <p:spPr>
          <a:xfrm>
            <a:off x="3886200" y="2267712"/>
            <a:ext cx="1984248" cy="347472"/>
          </a:xfrm>
          <a:prstGeom prst="roundRect">
            <a:avLst>
              <a:gd name="adj" fmla="val 50000"/>
            </a:avLst>
          </a:prstGeom>
          <a:solidFill>
            <a:srgbClr val="FFFFFF"/>
          </a:solidFill>
          <a:ln w="12700">
            <a:solidFill>
              <a:srgbClr val="E2E8F0"/>
            </a:solidFill>
            <a:prstDash val="solid"/>
          </a:ln>
        </p:spPr>
      </p:sp>
      <p:sp>
        <p:nvSpPr>
          <p:cNvPr id="23" name="Text 19"/>
          <p:cNvSpPr txBox="1"/>
          <p:nvPr/>
        </p:nvSpPr>
        <p:spPr>
          <a:xfrm>
            <a:off x="3886200" y="2267712"/>
            <a:ext cx="1984248"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Application detail (8 tabs)</a:t>
            </a:r>
            <a:endParaRPr lang="en-US" sz="1050" dirty="0"/>
          </a:p>
        </p:txBody>
      </p:sp>
      <p:sp>
        <p:nvSpPr>
          <p:cNvPr id="24" name="Shape 20"/>
          <p:cNvSpPr/>
          <p:nvPr/>
        </p:nvSpPr>
        <p:spPr>
          <a:xfrm>
            <a:off x="5961888" y="2267712"/>
            <a:ext cx="1152144" cy="347472"/>
          </a:xfrm>
          <a:prstGeom prst="roundRect">
            <a:avLst>
              <a:gd name="adj" fmla="val 50000"/>
            </a:avLst>
          </a:prstGeom>
          <a:solidFill>
            <a:srgbClr val="FFFFFF"/>
          </a:solidFill>
          <a:ln w="12700">
            <a:solidFill>
              <a:srgbClr val="E2E8F0"/>
            </a:solidFill>
            <a:prstDash val="solid"/>
          </a:ln>
        </p:spPr>
      </p:sp>
      <p:sp>
        <p:nvSpPr>
          <p:cNvPr id="25" name="Text 21"/>
          <p:cNvSpPr txBox="1"/>
          <p:nvPr/>
        </p:nvSpPr>
        <p:spPr>
          <a:xfrm>
            <a:off x="5961888" y="2267712"/>
            <a:ext cx="1152144"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Agent Activity</a:t>
            </a:r>
            <a:endParaRPr lang="en-US" sz="1050" dirty="0"/>
          </a:p>
        </p:txBody>
      </p:sp>
      <p:sp>
        <p:nvSpPr>
          <p:cNvPr id="26" name="Shape 22"/>
          <p:cNvSpPr/>
          <p:nvPr/>
        </p:nvSpPr>
        <p:spPr>
          <a:xfrm>
            <a:off x="7205472" y="2267712"/>
            <a:ext cx="1344168" cy="347472"/>
          </a:xfrm>
          <a:prstGeom prst="roundRect">
            <a:avLst>
              <a:gd name="adj" fmla="val 50000"/>
            </a:avLst>
          </a:prstGeom>
          <a:solidFill>
            <a:srgbClr val="FFFFFF"/>
          </a:solidFill>
          <a:ln w="12700">
            <a:solidFill>
              <a:srgbClr val="E2E8F0"/>
            </a:solidFill>
            <a:prstDash val="solid"/>
          </a:ln>
        </p:spPr>
      </p:sp>
      <p:sp>
        <p:nvSpPr>
          <p:cNvPr id="27" name="Text 23"/>
          <p:cNvSpPr txBox="1"/>
          <p:nvPr/>
        </p:nvSpPr>
        <p:spPr>
          <a:xfrm>
            <a:off x="7205472" y="2267712"/>
            <a:ext cx="1344168"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AI model settings</a:t>
            </a:r>
            <a:endParaRPr lang="en-US" sz="1050" dirty="0"/>
          </a:p>
        </p:txBody>
      </p:sp>
      <p:sp>
        <p:nvSpPr>
          <p:cNvPr id="28" name="Shape 24"/>
          <p:cNvSpPr/>
          <p:nvPr/>
        </p:nvSpPr>
        <p:spPr>
          <a:xfrm>
            <a:off x="8641080" y="2267712"/>
            <a:ext cx="1728216" cy="347472"/>
          </a:xfrm>
          <a:prstGeom prst="roundRect">
            <a:avLst>
              <a:gd name="adj" fmla="val 50000"/>
            </a:avLst>
          </a:prstGeom>
          <a:solidFill>
            <a:srgbClr val="FFFFFF"/>
          </a:solidFill>
          <a:ln w="12700">
            <a:solidFill>
              <a:srgbClr val="E2E8F0"/>
            </a:solidFill>
            <a:prstDash val="solid"/>
          </a:ln>
        </p:spPr>
      </p:sp>
      <p:sp>
        <p:nvSpPr>
          <p:cNvPr id="29" name="Text 25"/>
          <p:cNvSpPr txBox="1"/>
          <p:nvPr/>
        </p:nvSpPr>
        <p:spPr>
          <a:xfrm>
            <a:off x="8641080" y="2267712"/>
            <a:ext cx="1728216"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RBI compliance &amp; policy</a:t>
            </a:r>
            <a:endParaRPr lang="en-US" sz="1050" dirty="0"/>
          </a:p>
        </p:txBody>
      </p:sp>
      <p:sp>
        <p:nvSpPr>
          <p:cNvPr id="30" name="Shape 26"/>
          <p:cNvSpPr/>
          <p:nvPr/>
        </p:nvSpPr>
        <p:spPr>
          <a:xfrm>
            <a:off x="7170268" y="2761488"/>
            <a:ext cx="0" cy="128016"/>
          </a:xfrm>
          <a:prstGeom prst="line">
            <a:avLst/>
          </a:prstGeom>
          <a:noFill/>
          <a:ln w="19050">
            <a:solidFill>
              <a:srgbClr val="94A3B8"/>
            </a:solidFill>
            <a:prstDash val="solid"/>
            <a:tailEnd type="triangle"/>
          </a:ln>
        </p:spPr>
      </p:sp>
      <p:sp>
        <p:nvSpPr>
          <p:cNvPr id="31" name="Shape 27"/>
          <p:cNvSpPr/>
          <p:nvPr/>
        </p:nvSpPr>
        <p:spPr>
          <a:xfrm>
            <a:off x="548640" y="2907792"/>
            <a:ext cx="1965960" cy="603504"/>
          </a:xfrm>
          <a:prstGeom prst="roundRect">
            <a:avLst>
              <a:gd name="adj" fmla="val 12121"/>
            </a:avLst>
          </a:prstGeom>
          <a:solidFill>
            <a:srgbClr val="0F766E"/>
          </a:solidFill>
          <a:ln w="12700">
            <a:solidFill>
              <a:srgbClr val="0F766E"/>
            </a:solidFill>
            <a:prstDash val="solid"/>
          </a:ln>
        </p:spPr>
      </p:sp>
      <p:sp>
        <p:nvSpPr>
          <p:cNvPr id="32" name="Text 28"/>
          <p:cNvSpPr txBox="1"/>
          <p:nvPr/>
        </p:nvSpPr>
        <p:spPr>
          <a:xfrm>
            <a:off x="685800" y="2907792"/>
            <a:ext cx="1783080" cy="603504"/>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API</a:t>
            </a:r>
            <a:endParaRPr lang="en-US" sz="1300" dirty="0"/>
          </a:p>
          <a:p>
            <a:pPr indent="0" marL="0">
              <a:buNone/>
            </a:pPr>
            <a:r>
              <a:rPr lang="en-US" sz="950" dirty="0">
                <a:solidFill>
                  <a:srgbClr val="E2E8F0"/>
                </a:solidFill>
                <a:latin typeface="Roboto" pitchFamily="34" charset="0"/>
                <a:ea typeface="Roboto" pitchFamily="34" charset="-122"/>
                <a:cs typeface="Roboto" pitchFamily="34" charset="-120"/>
              </a:rPr>
              <a:t>FastAPI · Uvicorn :8000</a:t>
            </a:r>
            <a:endParaRPr lang="en-US" sz="1300" dirty="0"/>
          </a:p>
        </p:txBody>
      </p:sp>
      <p:sp>
        <p:nvSpPr>
          <p:cNvPr id="33" name="Shape 29"/>
          <p:cNvSpPr/>
          <p:nvPr/>
        </p:nvSpPr>
        <p:spPr>
          <a:xfrm>
            <a:off x="2697480" y="2907792"/>
            <a:ext cx="8945575" cy="603504"/>
          </a:xfrm>
          <a:prstGeom prst="roundRect">
            <a:avLst>
              <a:gd name="adj" fmla="val 12121"/>
            </a:avLst>
          </a:prstGeom>
          <a:solidFill>
            <a:srgbClr val="F8FAFC"/>
          </a:solidFill>
          <a:ln w="12700">
            <a:solidFill>
              <a:srgbClr val="E2E8F0"/>
            </a:solidFill>
            <a:prstDash val="solid"/>
          </a:ln>
        </p:spPr>
      </p:sp>
      <p:sp>
        <p:nvSpPr>
          <p:cNvPr id="34" name="Shape 30"/>
          <p:cNvSpPr/>
          <p:nvPr/>
        </p:nvSpPr>
        <p:spPr>
          <a:xfrm>
            <a:off x="2834640" y="3035808"/>
            <a:ext cx="804672" cy="347472"/>
          </a:xfrm>
          <a:prstGeom prst="roundRect">
            <a:avLst>
              <a:gd name="adj" fmla="val 50000"/>
            </a:avLst>
          </a:prstGeom>
          <a:solidFill>
            <a:srgbClr val="FFFFFF"/>
          </a:solidFill>
          <a:ln w="12700">
            <a:solidFill>
              <a:srgbClr val="E2E8F0"/>
            </a:solidFill>
            <a:prstDash val="solid"/>
          </a:ln>
        </p:spPr>
      </p:sp>
      <p:sp>
        <p:nvSpPr>
          <p:cNvPr id="35" name="Text 31"/>
          <p:cNvSpPr txBox="1"/>
          <p:nvPr/>
        </p:nvSpPr>
        <p:spPr>
          <a:xfrm>
            <a:off x="2834640" y="3035808"/>
            <a:ext cx="80467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/extract</a:t>
            </a:r>
            <a:endParaRPr lang="en-US" sz="1000" dirty="0"/>
          </a:p>
        </p:txBody>
      </p:sp>
      <p:sp>
        <p:nvSpPr>
          <p:cNvPr id="36" name="Shape 32"/>
          <p:cNvSpPr/>
          <p:nvPr/>
        </p:nvSpPr>
        <p:spPr>
          <a:xfrm>
            <a:off x="3730752" y="3035808"/>
            <a:ext cx="1559052" cy="347472"/>
          </a:xfrm>
          <a:prstGeom prst="roundRect">
            <a:avLst>
              <a:gd name="adj" fmla="val 50000"/>
            </a:avLst>
          </a:prstGeom>
          <a:solidFill>
            <a:srgbClr val="FFFFFF"/>
          </a:solidFill>
          <a:ln w="12700">
            <a:solidFill>
              <a:srgbClr val="E2E8F0"/>
            </a:solidFill>
            <a:prstDash val="solid"/>
          </a:ln>
        </p:spPr>
      </p:sp>
      <p:sp>
        <p:nvSpPr>
          <p:cNvPr id="37" name="Text 33"/>
          <p:cNvSpPr txBox="1"/>
          <p:nvPr/>
        </p:nvSpPr>
        <p:spPr>
          <a:xfrm>
            <a:off x="3730752" y="3035808"/>
            <a:ext cx="155905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/document/integrity</a:t>
            </a:r>
            <a:endParaRPr lang="en-US" sz="1000" dirty="0"/>
          </a:p>
        </p:txBody>
      </p:sp>
      <p:sp>
        <p:nvSpPr>
          <p:cNvPr id="38" name="Shape 34"/>
          <p:cNvSpPr/>
          <p:nvPr/>
        </p:nvSpPr>
        <p:spPr>
          <a:xfrm>
            <a:off x="5381244" y="3035808"/>
            <a:ext cx="1216152" cy="347472"/>
          </a:xfrm>
          <a:prstGeom prst="roundRect">
            <a:avLst>
              <a:gd name="adj" fmla="val 50000"/>
            </a:avLst>
          </a:prstGeom>
          <a:solidFill>
            <a:srgbClr val="FFFFFF"/>
          </a:solidFill>
          <a:ln w="12700">
            <a:solidFill>
              <a:srgbClr val="E2E8F0"/>
            </a:solidFill>
            <a:prstDash val="solid"/>
          </a:ln>
        </p:spPr>
      </p:sp>
      <p:sp>
        <p:nvSpPr>
          <p:cNvPr id="39" name="Text 35"/>
          <p:cNvSpPr txBox="1"/>
          <p:nvPr/>
        </p:nvSpPr>
        <p:spPr>
          <a:xfrm>
            <a:off x="5381244" y="3035808"/>
            <a:ext cx="121615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/document/mask</a:t>
            </a:r>
            <a:endParaRPr lang="en-US" sz="1000" dirty="0"/>
          </a:p>
        </p:txBody>
      </p:sp>
      <p:sp>
        <p:nvSpPr>
          <p:cNvPr id="40" name="Shape 36"/>
          <p:cNvSpPr/>
          <p:nvPr/>
        </p:nvSpPr>
        <p:spPr>
          <a:xfrm>
            <a:off x="6688836" y="3035808"/>
            <a:ext cx="1078992" cy="347472"/>
          </a:xfrm>
          <a:prstGeom prst="roundRect">
            <a:avLst>
              <a:gd name="adj" fmla="val 50000"/>
            </a:avLst>
          </a:prstGeom>
          <a:solidFill>
            <a:srgbClr val="FFFFFF"/>
          </a:solidFill>
          <a:ln w="12700">
            <a:solidFill>
              <a:srgbClr val="E2E8F0"/>
            </a:solidFill>
            <a:prstDash val="solid"/>
          </a:ln>
        </p:spPr>
      </p:sp>
      <p:sp>
        <p:nvSpPr>
          <p:cNvPr id="41" name="Text 37"/>
          <p:cNvSpPr txBox="1"/>
          <p:nvPr/>
        </p:nvSpPr>
        <p:spPr>
          <a:xfrm>
            <a:off x="6688836" y="3035808"/>
            <a:ext cx="107899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/face/verify</a:t>
            </a:r>
            <a:endParaRPr lang="en-US" sz="1000" dirty="0"/>
          </a:p>
        </p:txBody>
      </p:sp>
      <p:sp>
        <p:nvSpPr>
          <p:cNvPr id="42" name="Shape 38"/>
          <p:cNvSpPr/>
          <p:nvPr/>
        </p:nvSpPr>
        <p:spPr>
          <a:xfrm>
            <a:off x="7859268" y="3035808"/>
            <a:ext cx="1284732" cy="347472"/>
          </a:xfrm>
          <a:prstGeom prst="roundRect">
            <a:avLst>
              <a:gd name="adj" fmla="val 50000"/>
            </a:avLst>
          </a:prstGeom>
          <a:solidFill>
            <a:srgbClr val="FFFFFF"/>
          </a:solidFill>
          <a:ln w="12700">
            <a:solidFill>
              <a:srgbClr val="E2E8F0"/>
            </a:solidFill>
            <a:prstDash val="solid"/>
          </a:ln>
        </p:spPr>
      </p:sp>
      <p:sp>
        <p:nvSpPr>
          <p:cNvPr id="43" name="Text 39"/>
          <p:cNvSpPr txBox="1"/>
          <p:nvPr/>
        </p:nvSpPr>
        <p:spPr>
          <a:xfrm>
            <a:off x="7859268" y="3035808"/>
            <a:ext cx="128473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/liveness/check</a:t>
            </a:r>
            <a:endParaRPr lang="en-US" sz="1000" dirty="0"/>
          </a:p>
        </p:txBody>
      </p:sp>
      <p:sp>
        <p:nvSpPr>
          <p:cNvPr id="44" name="Shape 40"/>
          <p:cNvSpPr/>
          <p:nvPr/>
        </p:nvSpPr>
        <p:spPr>
          <a:xfrm>
            <a:off x="9235440" y="3035808"/>
            <a:ext cx="873252" cy="347472"/>
          </a:xfrm>
          <a:prstGeom prst="roundRect">
            <a:avLst>
              <a:gd name="adj" fmla="val 50000"/>
            </a:avLst>
          </a:prstGeom>
          <a:solidFill>
            <a:srgbClr val="FFFFFF"/>
          </a:solidFill>
          <a:ln w="12700">
            <a:solidFill>
              <a:srgbClr val="E2E8F0"/>
            </a:solidFill>
            <a:prstDash val="solid"/>
          </a:ln>
        </p:spPr>
      </p:sp>
      <p:sp>
        <p:nvSpPr>
          <p:cNvPr id="45" name="Text 41"/>
          <p:cNvSpPr txBox="1"/>
          <p:nvPr/>
        </p:nvSpPr>
        <p:spPr>
          <a:xfrm>
            <a:off x="9235440" y="3035808"/>
            <a:ext cx="87325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/agents/*</a:t>
            </a:r>
            <a:endParaRPr lang="en-US" sz="1000" dirty="0"/>
          </a:p>
        </p:txBody>
      </p:sp>
      <p:sp>
        <p:nvSpPr>
          <p:cNvPr id="46" name="Shape 42"/>
          <p:cNvSpPr/>
          <p:nvPr/>
        </p:nvSpPr>
        <p:spPr>
          <a:xfrm>
            <a:off x="10200132" y="3035808"/>
            <a:ext cx="1147572" cy="347472"/>
          </a:xfrm>
          <a:prstGeom prst="roundRect">
            <a:avLst>
              <a:gd name="adj" fmla="val 50000"/>
            </a:avLst>
          </a:prstGeom>
          <a:solidFill>
            <a:srgbClr val="FFFFFF"/>
          </a:solidFill>
          <a:ln w="12700">
            <a:solidFill>
              <a:srgbClr val="E2E8F0"/>
            </a:solidFill>
            <a:prstDash val="solid"/>
          </a:ln>
        </p:spPr>
      </p:sp>
      <p:sp>
        <p:nvSpPr>
          <p:cNvPr id="47" name="Text 43"/>
          <p:cNvSpPr txBox="1"/>
          <p:nvPr/>
        </p:nvSpPr>
        <p:spPr>
          <a:xfrm>
            <a:off x="10200132" y="3035808"/>
            <a:ext cx="114757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Consolas" pitchFamily="34" charset="0"/>
                <a:ea typeface="Consolas" pitchFamily="34" charset="-122"/>
                <a:cs typeface="Consolas" pitchFamily="34" charset="-120"/>
              </a:rPr>
              <a:t>/settings/llm</a:t>
            </a:r>
            <a:endParaRPr lang="en-US" sz="1000" dirty="0"/>
          </a:p>
        </p:txBody>
      </p:sp>
      <p:sp>
        <p:nvSpPr>
          <p:cNvPr id="48" name="Shape 44"/>
          <p:cNvSpPr/>
          <p:nvPr/>
        </p:nvSpPr>
        <p:spPr>
          <a:xfrm>
            <a:off x="7170268" y="3529584"/>
            <a:ext cx="0" cy="128016"/>
          </a:xfrm>
          <a:prstGeom prst="line">
            <a:avLst/>
          </a:prstGeom>
          <a:noFill/>
          <a:ln w="19050">
            <a:solidFill>
              <a:srgbClr val="94A3B8"/>
            </a:solidFill>
            <a:prstDash val="solid"/>
            <a:tailEnd type="triangle"/>
          </a:ln>
        </p:spPr>
      </p:sp>
      <p:sp>
        <p:nvSpPr>
          <p:cNvPr id="49" name="Shape 45"/>
          <p:cNvSpPr/>
          <p:nvPr/>
        </p:nvSpPr>
        <p:spPr>
          <a:xfrm>
            <a:off x="548640" y="3675888"/>
            <a:ext cx="1965960" cy="603504"/>
          </a:xfrm>
          <a:prstGeom prst="roundRect">
            <a:avLst>
              <a:gd name="adj" fmla="val 12121"/>
            </a:avLst>
          </a:prstGeom>
          <a:solidFill>
            <a:srgbClr val="E11D48"/>
          </a:solidFill>
          <a:ln w="12700">
            <a:solidFill>
              <a:srgbClr val="E11D48"/>
            </a:solidFill>
            <a:prstDash val="solid"/>
          </a:ln>
        </p:spPr>
      </p:sp>
      <p:sp>
        <p:nvSpPr>
          <p:cNvPr id="50" name="Text 46"/>
          <p:cNvSpPr txBox="1"/>
          <p:nvPr/>
        </p:nvSpPr>
        <p:spPr>
          <a:xfrm>
            <a:off x="685800" y="3675888"/>
            <a:ext cx="1783080" cy="603504"/>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Agent layer</a:t>
            </a:r>
            <a:endParaRPr lang="en-US" sz="1300" dirty="0"/>
          </a:p>
          <a:p>
            <a:pPr indent="0" marL="0">
              <a:buNone/>
            </a:pPr>
            <a:r>
              <a:rPr lang="en-US" sz="950" dirty="0">
                <a:solidFill>
                  <a:srgbClr val="E2E8F0"/>
                </a:solidFill>
                <a:latin typeface="Roboto" pitchFamily="34" charset="0"/>
                <a:ea typeface="Roboto" pitchFamily="34" charset="-122"/>
                <a:cs typeface="Roboto" pitchFamily="34" charset="-120"/>
              </a:rPr>
              <a:t>CrewAI 1.15 flows</a:t>
            </a:r>
            <a:endParaRPr lang="en-US" sz="1300" dirty="0"/>
          </a:p>
        </p:txBody>
      </p:sp>
      <p:sp>
        <p:nvSpPr>
          <p:cNvPr id="51" name="Shape 47"/>
          <p:cNvSpPr/>
          <p:nvPr/>
        </p:nvSpPr>
        <p:spPr>
          <a:xfrm>
            <a:off x="2697480" y="3675888"/>
            <a:ext cx="8945575" cy="603504"/>
          </a:xfrm>
          <a:prstGeom prst="roundRect">
            <a:avLst>
              <a:gd name="adj" fmla="val 12121"/>
            </a:avLst>
          </a:prstGeom>
          <a:solidFill>
            <a:srgbClr val="F8FAFC"/>
          </a:solidFill>
          <a:ln w="12700">
            <a:solidFill>
              <a:srgbClr val="E2E8F0"/>
            </a:solidFill>
            <a:prstDash val="solid"/>
          </a:ln>
        </p:spPr>
      </p:sp>
      <p:sp>
        <p:nvSpPr>
          <p:cNvPr id="52" name="Shape 48"/>
          <p:cNvSpPr/>
          <p:nvPr/>
        </p:nvSpPr>
        <p:spPr>
          <a:xfrm>
            <a:off x="2834640" y="3803904"/>
            <a:ext cx="865632" cy="347472"/>
          </a:xfrm>
          <a:prstGeom prst="roundRect">
            <a:avLst>
              <a:gd name="adj" fmla="val 50000"/>
            </a:avLst>
          </a:prstGeom>
          <a:solidFill>
            <a:srgbClr val="FFFFFF"/>
          </a:solidFill>
          <a:ln w="12700">
            <a:solidFill>
              <a:srgbClr val="E2E8F0"/>
            </a:solidFill>
            <a:prstDash val="solid"/>
          </a:ln>
        </p:spPr>
      </p:sp>
      <p:sp>
        <p:nvSpPr>
          <p:cNvPr id="53" name="Text 49"/>
          <p:cNvSpPr txBox="1"/>
          <p:nvPr/>
        </p:nvSpPr>
        <p:spPr>
          <a:xfrm>
            <a:off x="2834640" y="3803904"/>
            <a:ext cx="86563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IntakeFlow</a:t>
            </a:r>
            <a:endParaRPr lang="en-US" sz="1000" dirty="0"/>
          </a:p>
        </p:txBody>
      </p:sp>
      <p:sp>
        <p:nvSpPr>
          <p:cNvPr id="54" name="Shape 50"/>
          <p:cNvSpPr/>
          <p:nvPr/>
        </p:nvSpPr>
        <p:spPr>
          <a:xfrm>
            <a:off x="3764280" y="3803904"/>
            <a:ext cx="1353312" cy="347472"/>
          </a:xfrm>
          <a:prstGeom prst="roundRect">
            <a:avLst>
              <a:gd name="adj" fmla="val 50000"/>
            </a:avLst>
          </a:prstGeom>
          <a:solidFill>
            <a:srgbClr val="FFFFFF"/>
          </a:solidFill>
          <a:ln w="12700">
            <a:solidFill>
              <a:srgbClr val="E2E8F0"/>
            </a:solidFill>
            <a:prstDash val="solid"/>
          </a:ln>
        </p:spPr>
      </p:sp>
      <p:sp>
        <p:nvSpPr>
          <p:cNvPr id="55" name="Text 51"/>
          <p:cNvSpPr txBox="1"/>
          <p:nvPr/>
        </p:nvSpPr>
        <p:spPr>
          <a:xfrm>
            <a:off x="3764280" y="3803904"/>
            <a:ext cx="135331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CaseAssessmentFlow</a:t>
            </a:r>
            <a:endParaRPr lang="en-US" sz="1000" dirty="0"/>
          </a:p>
        </p:txBody>
      </p:sp>
      <p:sp>
        <p:nvSpPr>
          <p:cNvPr id="56" name="Shape 52"/>
          <p:cNvSpPr/>
          <p:nvPr/>
        </p:nvSpPr>
        <p:spPr>
          <a:xfrm>
            <a:off x="5181600" y="3803904"/>
            <a:ext cx="1658112" cy="347472"/>
          </a:xfrm>
          <a:prstGeom prst="roundRect">
            <a:avLst>
              <a:gd name="adj" fmla="val 50000"/>
            </a:avLst>
          </a:prstGeom>
          <a:solidFill>
            <a:srgbClr val="FFFFFF"/>
          </a:solidFill>
          <a:ln w="12700">
            <a:solidFill>
              <a:srgbClr val="E2E8F0"/>
            </a:solidFill>
            <a:prstDash val="solid"/>
          </a:ln>
        </p:spPr>
      </p:sp>
      <p:sp>
        <p:nvSpPr>
          <p:cNvPr id="57" name="Text 53"/>
          <p:cNvSpPr txBox="1"/>
          <p:nvPr/>
        </p:nvSpPr>
        <p:spPr>
          <a:xfrm>
            <a:off x="5181600" y="3803904"/>
            <a:ext cx="165811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UnderwritingFlow + crew</a:t>
            </a:r>
            <a:endParaRPr lang="en-US" sz="1000" dirty="0"/>
          </a:p>
        </p:txBody>
      </p:sp>
      <p:sp>
        <p:nvSpPr>
          <p:cNvPr id="58" name="Shape 54"/>
          <p:cNvSpPr/>
          <p:nvPr/>
        </p:nvSpPr>
        <p:spPr>
          <a:xfrm>
            <a:off x="6903720" y="3803904"/>
            <a:ext cx="1231392" cy="347472"/>
          </a:xfrm>
          <a:prstGeom prst="roundRect">
            <a:avLst>
              <a:gd name="adj" fmla="val 50000"/>
            </a:avLst>
          </a:prstGeom>
          <a:solidFill>
            <a:srgbClr val="FFFFFF"/>
          </a:solidFill>
          <a:ln w="12700">
            <a:solidFill>
              <a:srgbClr val="E2E8F0"/>
            </a:solidFill>
            <a:prstDash val="solid"/>
          </a:ln>
        </p:spPr>
      </p:sp>
      <p:sp>
        <p:nvSpPr>
          <p:cNvPr id="59" name="Text 55"/>
          <p:cNvSpPr txBox="1"/>
          <p:nvPr/>
        </p:nvSpPr>
        <p:spPr>
          <a:xfrm>
            <a:off x="6903720" y="3803904"/>
            <a:ext cx="123139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Triage · process</a:t>
            </a:r>
            <a:endParaRPr lang="en-US" sz="1000" dirty="0"/>
          </a:p>
        </p:txBody>
      </p:sp>
      <p:sp>
        <p:nvSpPr>
          <p:cNvPr id="60" name="Shape 56"/>
          <p:cNvSpPr/>
          <p:nvPr/>
        </p:nvSpPr>
        <p:spPr>
          <a:xfrm>
            <a:off x="8199120" y="3803904"/>
            <a:ext cx="1292352" cy="347472"/>
          </a:xfrm>
          <a:prstGeom prst="roundRect">
            <a:avLst>
              <a:gd name="adj" fmla="val 50000"/>
            </a:avLst>
          </a:prstGeom>
          <a:solidFill>
            <a:srgbClr val="FFFFFF"/>
          </a:solidFill>
          <a:ln w="12700">
            <a:solidFill>
              <a:srgbClr val="E2E8F0"/>
            </a:solidFill>
            <a:prstDash val="solid"/>
          </a:ln>
        </p:spPr>
      </p:sp>
      <p:sp>
        <p:nvSpPr>
          <p:cNvPr id="61" name="Text 57"/>
          <p:cNvSpPr txBox="1"/>
          <p:nvPr/>
        </p:nvSpPr>
        <p:spPr>
          <a:xfrm>
            <a:off x="8199120" y="3803904"/>
            <a:ext cx="129235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29-agent registry</a:t>
            </a:r>
            <a:endParaRPr lang="en-US" sz="1000" dirty="0"/>
          </a:p>
        </p:txBody>
      </p:sp>
      <p:sp>
        <p:nvSpPr>
          <p:cNvPr id="62" name="Shape 58"/>
          <p:cNvSpPr/>
          <p:nvPr/>
        </p:nvSpPr>
        <p:spPr>
          <a:xfrm>
            <a:off x="9555480" y="3803904"/>
            <a:ext cx="1109472" cy="347472"/>
          </a:xfrm>
          <a:prstGeom prst="roundRect">
            <a:avLst>
              <a:gd name="adj" fmla="val 50000"/>
            </a:avLst>
          </a:prstGeom>
          <a:solidFill>
            <a:srgbClr val="FFFFFF"/>
          </a:solidFill>
          <a:ln w="12700">
            <a:solidFill>
              <a:srgbClr val="E2E8F0"/>
            </a:solidFill>
            <a:prstDash val="solid"/>
          </a:ln>
        </p:spPr>
      </p:sp>
      <p:sp>
        <p:nvSpPr>
          <p:cNvPr id="63" name="Text 59"/>
          <p:cNvSpPr txBox="1"/>
          <p:nvPr/>
        </p:nvSpPr>
        <p:spPr>
          <a:xfrm>
            <a:off x="9555480" y="3803904"/>
            <a:ext cx="110947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Grounding gate</a:t>
            </a:r>
            <a:endParaRPr lang="en-US" sz="1000" dirty="0"/>
          </a:p>
        </p:txBody>
      </p:sp>
      <p:sp>
        <p:nvSpPr>
          <p:cNvPr id="64" name="Shape 60"/>
          <p:cNvSpPr/>
          <p:nvPr/>
        </p:nvSpPr>
        <p:spPr>
          <a:xfrm>
            <a:off x="10728960" y="3803904"/>
            <a:ext cx="621792" cy="347472"/>
          </a:xfrm>
          <a:prstGeom prst="roundRect">
            <a:avLst>
              <a:gd name="adj" fmla="val 50000"/>
            </a:avLst>
          </a:prstGeom>
          <a:solidFill>
            <a:srgbClr val="FFFFFF"/>
          </a:solidFill>
          <a:ln w="12700">
            <a:solidFill>
              <a:srgbClr val="E2E8F0"/>
            </a:solidFill>
            <a:prstDash val="solid"/>
          </a:ln>
        </p:spPr>
      </p:sp>
      <p:sp>
        <p:nvSpPr>
          <p:cNvPr id="65" name="Text 61"/>
          <p:cNvSpPr txBox="1"/>
          <p:nvPr/>
        </p:nvSpPr>
        <p:spPr>
          <a:xfrm>
            <a:off x="10728960" y="3803904"/>
            <a:ext cx="621792" cy="347472"/>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Tracer</a:t>
            </a:r>
            <a:endParaRPr lang="en-US" sz="1000" dirty="0"/>
          </a:p>
        </p:txBody>
      </p:sp>
      <p:sp>
        <p:nvSpPr>
          <p:cNvPr id="66" name="Shape 62"/>
          <p:cNvSpPr/>
          <p:nvPr/>
        </p:nvSpPr>
        <p:spPr>
          <a:xfrm>
            <a:off x="7170268" y="4297680"/>
            <a:ext cx="0" cy="128016"/>
          </a:xfrm>
          <a:prstGeom prst="line">
            <a:avLst/>
          </a:prstGeom>
          <a:noFill/>
          <a:ln w="19050">
            <a:solidFill>
              <a:srgbClr val="94A3B8"/>
            </a:solidFill>
            <a:prstDash val="solid"/>
            <a:tailEnd type="triangle"/>
          </a:ln>
        </p:spPr>
      </p:sp>
      <p:sp>
        <p:nvSpPr>
          <p:cNvPr id="67" name="Shape 63"/>
          <p:cNvSpPr/>
          <p:nvPr/>
        </p:nvSpPr>
        <p:spPr>
          <a:xfrm>
            <a:off x="548640" y="4443984"/>
            <a:ext cx="1965960" cy="932688"/>
          </a:xfrm>
          <a:prstGeom prst="roundRect">
            <a:avLst>
              <a:gd name="adj" fmla="val 7843"/>
            </a:avLst>
          </a:prstGeom>
          <a:solidFill>
            <a:srgbClr val="D97706"/>
          </a:solidFill>
          <a:ln w="12700">
            <a:solidFill>
              <a:srgbClr val="D97706"/>
            </a:solidFill>
            <a:prstDash val="solid"/>
          </a:ln>
        </p:spPr>
      </p:sp>
      <p:sp>
        <p:nvSpPr>
          <p:cNvPr id="68" name="Text 64"/>
          <p:cNvSpPr txBox="1"/>
          <p:nvPr/>
        </p:nvSpPr>
        <p:spPr>
          <a:xfrm>
            <a:off x="685800" y="4443984"/>
            <a:ext cx="1783080" cy="932688"/>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Engines &amp; model</a:t>
            </a:r>
            <a:endParaRPr lang="en-US" sz="1300" dirty="0"/>
          </a:p>
          <a:p>
            <a:pPr indent="0" marL="0">
              <a:buNone/>
            </a:pPr>
            <a:r>
              <a:rPr lang="en-US" sz="950" dirty="0">
                <a:solidFill>
                  <a:srgbClr val="FEF3C7"/>
                </a:solidFill>
                <a:latin typeface="Roboto" pitchFamily="34" charset="0"/>
                <a:ea typeface="Roboto" pitchFamily="34" charset="-122"/>
                <a:cs typeface="Roboto" pitchFamily="34" charset="-120"/>
              </a:rPr>
              <a:t>deterministic tools · one LLM gateway</a:t>
            </a:r>
            <a:endParaRPr lang="en-US" sz="1300" dirty="0"/>
          </a:p>
        </p:txBody>
      </p:sp>
      <p:sp>
        <p:nvSpPr>
          <p:cNvPr id="69" name="Shape 65"/>
          <p:cNvSpPr/>
          <p:nvPr/>
        </p:nvSpPr>
        <p:spPr>
          <a:xfrm>
            <a:off x="2697480" y="4443984"/>
            <a:ext cx="5806440" cy="932688"/>
          </a:xfrm>
          <a:prstGeom prst="roundRect">
            <a:avLst>
              <a:gd name="adj" fmla="val 7843"/>
            </a:avLst>
          </a:prstGeom>
          <a:solidFill>
            <a:srgbClr val="F8FAFC"/>
          </a:solidFill>
          <a:ln w="12700">
            <a:solidFill>
              <a:srgbClr val="E2E8F0"/>
            </a:solidFill>
            <a:prstDash val="solid"/>
          </a:ln>
        </p:spPr>
      </p:sp>
      <p:sp>
        <p:nvSpPr>
          <p:cNvPr id="70" name="Shape 66"/>
          <p:cNvSpPr/>
          <p:nvPr/>
        </p:nvSpPr>
        <p:spPr>
          <a:xfrm>
            <a:off x="2807208" y="4535424"/>
            <a:ext cx="1292352" cy="338328"/>
          </a:xfrm>
          <a:prstGeom prst="roundRect">
            <a:avLst>
              <a:gd name="adj" fmla="val 50000"/>
            </a:avLst>
          </a:prstGeom>
          <a:solidFill>
            <a:srgbClr val="FFFFFF"/>
          </a:solidFill>
          <a:ln w="12700">
            <a:solidFill>
              <a:srgbClr val="E2E8F0"/>
            </a:solidFill>
            <a:prstDash val="solid"/>
          </a:ln>
        </p:spPr>
      </p:sp>
      <p:sp>
        <p:nvSpPr>
          <p:cNvPr id="71" name="Text 67"/>
          <p:cNvSpPr txBox="1"/>
          <p:nvPr/>
        </p:nvSpPr>
        <p:spPr>
          <a:xfrm>
            <a:off x="2807208" y="4535424"/>
            <a:ext cx="129235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OpenCV + RapidOCR</a:t>
            </a:r>
            <a:endParaRPr lang="en-US" sz="1000" dirty="0"/>
          </a:p>
        </p:txBody>
      </p:sp>
      <p:sp>
        <p:nvSpPr>
          <p:cNvPr id="72" name="Shape 68"/>
          <p:cNvSpPr/>
          <p:nvPr/>
        </p:nvSpPr>
        <p:spPr>
          <a:xfrm>
            <a:off x="4172712" y="4535424"/>
            <a:ext cx="2023872" cy="338328"/>
          </a:xfrm>
          <a:prstGeom prst="roundRect">
            <a:avLst>
              <a:gd name="adj" fmla="val 50000"/>
            </a:avLst>
          </a:prstGeom>
          <a:solidFill>
            <a:srgbClr val="FFFFFF"/>
          </a:solidFill>
          <a:ln w="12700">
            <a:solidFill>
              <a:srgbClr val="E2E8F0"/>
            </a:solidFill>
            <a:prstDash val="solid"/>
          </a:ln>
        </p:spPr>
      </p:sp>
      <p:sp>
        <p:nvSpPr>
          <p:cNvPr id="73" name="Text 69"/>
          <p:cNvSpPr txBox="1"/>
          <p:nvPr/>
        </p:nvSpPr>
        <p:spPr>
          <a:xfrm>
            <a:off x="4172712" y="4535424"/>
            <a:ext cx="202387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Tampering cascade (9 signals)</a:t>
            </a:r>
            <a:endParaRPr lang="en-US" sz="1000" dirty="0"/>
          </a:p>
        </p:txBody>
      </p:sp>
      <p:sp>
        <p:nvSpPr>
          <p:cNvPr id="74" name="Shape 70"/>
          <p:cNvSpPr/>
          <p:nvPr/>
        </p:nvSpPr>
        <p:spPr>
          <a:xfrm>
            <a:off x="6269736" y="4535424"/>
            <a:ext cx="1414272" cy="338328"/>
          </a:xfrm>
          <a:prstGeom prst="roundRect">
            <a:avLst>
              <a:gd name="adj" fmla="val 50000"/>
            </a:avLst>
          </a:prstGeom>
          <a:solidFill>
            <a:srgbClr val="FFFFFF"/>
          </a:solidFill>
          <a:ln w="12700">
            <a:solidFill>
              <a:srgbClr val="E2E8F0"/>
            </a:solidFill>
            <a:prstDash val="solid"/>
          </a:ln>
        </p:spPr>
      </p:sp>
      <p:sp>
        <p:nvSpPr>
          <p:cNvPr id="75" name="Text 71"/>
          <p:cNvSpPr txBox="1"/>
          <p:nvPr/>
        </p:nvSpPr>
        <p:spPr>
          <a:xfrm>
            <a:off x="6269736" y="4535424"/>
            <a:ext cx="141427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YuNet + SFace faces</a:t>
            </a:r>
            <a:endParaRPr lang="en-US" sz="1000" dirty="0"/>
          </a:p>
        </p:txBody>
      </p:sp>
      <p:sp>
        <p:nvSpPr>
          <p:cNvPr id="76" name="Shape 72"/>
          <p:cNvSpPr/>
          <p:nvPr/>
        </p:nvSpPr>
        <p:spPr>
          <a:xfrm>
            <a:off x="2807208" y="4946904"/>
            <a:ext cx="1414272" cy="338328"/>
          </a:xfrm>
          <a:prstGeom prst="roundRect">
            <a:avLst>
              <a:gd name="adj" fmla="val 50000"/>
            </a:avLst>
          </a:prstGeom>
          <a:solidFill>
            <a:srgbClr val="FFFFFF"/>
          </a:solidFill>
          <a:ln w="12700">
            <a:solidFill>
              <a:srgbClr val="E2E8F0"/>
            </a:solidFill>
            <a:prstDash val="solid"/>
          </a:ln>
        </p:spPr>
      </p:sp>
      <p:sp>
        <p:nvSpPr>
          <p:cNvPr id="77" name="Text 73"/>
          <p:cNvSpPr txBox="1"/>
          <p:nvPr/>
        </p:nvSpPr>
        <p:spPr>
          <a:xfrm>
            <a:off x="2807208" y="4946904"/>
            <a:ext cx="141427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MiniFASNet liveness</a:t>
            </a:r>
            <a:endParaRPr lang="en-US" sz="1000" dirty="0"/>
          </a:p>
        </p:txBody>
      </p:sp>
      <p:sp>
        <p:nvSpPr>
          <p:cNvPr id="78" name="Shape 74"/>
          <p:cNvSpPr/>
          <p:nvPr/>
        </p:nvSpPr>
        <p:spPr>
          <a:xfrm>
            <a:off x="4294632" y="4946904"/>
            <a:ext cx="1536192" cy="338328"/>
          </a:xfrm>
          <a:prstGeom prst="roundRect">
            <a:avLst>
              <a:gd name="adj" fmla="val 50000"/>
            </a:avLst>
          </a:prstGeom>
          <a:solidFill>
            <a:srgbClr val="FFFFFF"/>
          </a:solidFill>
          <a:ln w="12700">
            <a:solidFill>
              <a:srgbClr val="E2E8F0"/>
            </a:solidFill>
            <a:prstDash val="solid"/>
          </a:ln>
        </p:spPr>
      </p:sp>
      <p:sp>
        <p:nvSpPr>
          <p:cNvPr id="79" name="Text 75"/>
          <p:cNvSpPr txBox="1"/>
          <p:nvPr/>
        </p:nvSpPr>
        <p:spPr>
          <a:xfrm>
            <a:off x="4294632" y="4946904"/>
            <a:ext cx="153619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Risk engine + XGBoost</a:t>
            </a:r>
            <a:endParaRPr lang="en-US" sz="1000" dirty="0"/>
          </a:p>
        </p:txBody>
      </p:sp>
      <p:sp>
        <p:nvSpPr>
          <p:cNvPr id="80" name="Shape 76"/>
          <p:cNvSpPr/>
          <p:nvPr/>
        </p:nvSpPr>
        <p:spPr>
          <a:xfrm>
            <a:off x="5903976" y="4946904"/>
            <a:ext cx="1109472" cy="338328"/>
          </a:xfrm>
          <a:prstGeom prst="roundRect">
            <a:avLst>
              <a:gd name="adj" fmla="val 50000"/>
            </a:avLst>
          </a:prstGeom>
          <a:solidFill>
            <a:srgbClr val="FFFFFF"/>
          </a:solidFill>
          <a:ln w="12700">
            <a:solidFill>
              <a:srgbClr val="E2E8F0"/>
            </a:solidFill>
            <a:prstDash val="solid"/>
          </a:ln>
        </p:spPr>
      </p:sp>
      <p:sp>
        <p:nvSpPr>
          <p:cNvPr id="81" name="Text 77"/>
          <p:cNvSpPr txBox="1"/>
          <p:nvPr/>
        </p:nvSpPr>
        <p:spPr>
          <a:xfrm>
            <a:off x="5903976" y="4946904"/>
            <a:ext cx="110947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Compliance RAG</a:t>
            </a:r>
            <a:endParaRPr lang="en-US" sz="1000" dirty="0"/>
          </a:p>
        </p:txBody>
      </p:sp>
      <p:sp>
        <p:nvSpPr>
          <p:cNvPr id="82" name="Shape 78"/>
          <p:cNvSpPr/>
          <p:nvPr/>
        </p:nvSpPr>
        <p:spPr>
          <a:xfrm>
            <a:off x="7086600" y="4946904"/>
            <a:ext cx="1231392" cy="338328"/>
          </a:xfrm>
          <a:prstGeom prst="roundRect">
            <a:avLst>
              <a:gd name="adj" fmla="val 50000"/>
            </a:avLst>
          </a:prstGeom>
          <a:solidFill>
            <a:srgbClr val="FFFFFF"/>
          </a:solidFill>
          <a:ln w="12700">
            <a:solidFill>
              <a:srgbClr val="E2E8F0"/>
            </a:solidFill>
            <a:prstDash val="solid"/>
          </a:ln>
        </p:spPr>
      </p:sp>
      <p:sp>
        <p:nvSpPr>
          <p:cNvPr id="83" name="Text 79"/>
          <p:cNvSpPr txBox="1"/>
          <p:nvPr/>
        </p:nvSpPr>
        <p:spPr>
          <a:xfrm>
            <a:off x="7086600" y="4946904"/>
            <a:ext cx="1231392" cy="338328"/>
          </a:xfrm>
          <a:prstGeom prst="rect">
            <a:avLst/>
          </a:prstGeom>
          <a:noFill/>
          <a:ln/>
        </p:spPr>
        <p:txBody>
          <a:bodyPr wrap="square" lIns="0" tIns="0" rIns="0" bIns="0" rtlCol="0" anchor="ctr"/>
          <a:lstStyle/>
          <a:p>
            <a:pPr algn="ctr" indent="0" marL="0">
              <a:buNone/>
            </a:pPr>
            <a:r>
              <a:rPr lang="en-US" sz="1000" dirty="0">
                <a:solidFill>
                  <a:srgbClr val="0F172A"/>
                </a:solidFill>
                <a:latin typeface="Roboto" pitchFamily="34" charset="0"/>
                <a:ea typeface="Roboto" pitchFamily="34" charset="-122"/>
                <a:cs typeface="Roboto" pitchFamily="34" charset="-120"/>
              </a:rPr>
              <a:t>Statement parser</a:t>
            </a:r>
            <a:endParaRPr lang="en-US" sz="1000" dirty="0"/>
          </a:p>
        </p:txBody>
      </p:sp>
      <p:sp>
        <p:nvSpPr>
          <p:cNvPr id="84" name="Shape 80"/>
          <p:cNvSpPr/>
          <p:nvPr/>
        </p:nvSpPr>
        <p:spPr>
          <a:xfrm>
            <a:off x="8641080" y="4443984"/>
            <a:ext cx="3001975" cy="932688"/>
          </a:xfrm>
          <a:prstGeom prst="roundRect">
            <a:avLst>
              <a:gd name="adj" fmla="val 7843"/>
            </a:avLst>
          </a:prstGeom>
          <a:solidFill>
            <a:srgbClr val="FEF3C7"/>
          </a:solidFill>
          <a:ln w="12700">
            <a:solidFill>
              <a:srgbClr val="FCD34D"/>
            </a:solidFill>
            <a:prstDash val="solid"/>
          </a:ln>
        </p:spPr>
      </p:sp>
      <p:sp>
        <p:nvSpPr>
          <p:cNvPr id="85" name="Text 81"/>
          <p:cNvSpPr txBox="1"/>
          <p:nvPr/>
        </p:nvSpPr>
        <p:spPr>
          <a:xfrm>
            <a:off x="8778240" y="4498848"/>
            <a:ext cx="2743200" cy="274320"/>
          </a:xfrm>
          <a:prstGeom prst="rect">
            <a:avLst/>
          </a:prstGeom>
          <a:noFill/>
          <a:ln/>
        </p:spPr>
        <p:txBody>
          <a:bodyPr wrap="square" lIns="0" tIns="0" rIns="0" bIns="0" rtlCol="0" anchor="ctr"/>
          <a:lstStyle/>
          <a:p>
            <a:pPr indent="0" marL="0">
              <a:buNone/>
            </a:pPr>
            <a:r>
              <a:rPr lang="en-US" sz="1200" b="1" dirty="0">
                <a:solidFill>
                  <a:srgbClr val="92400E"/>
                </a:solidFill>
                <a:latin typeface="Roboto" pitchFamily="34" charset="0"/>
                <a:ea typeface="Roboto" pitchFamily="34" charset="-122"/>
                <a:cs typeface="Roboto" pitchFamily="34" charset="-120"/>
              </a:rPr>
              <a:t>LLM gateway</a:t>
            </a:r>
            <a:endParaRPr lang="en-US" sz="1200" dirty="0"/>
          </a:p>
        </p:txBody>
      </p:sp>
      <p:sp>
        <p:nvSpPr>
          <p:cNvPr id="86" name="Shape 82"/>
          <p:cNvSpPr/>
          <p:nvPr/>
        </p:nvSpPr>
        <p:spPr>
          <a:xfrm>
            <a:off x="8778240" y="4846320"/>
            <a:ext cx="1554480" cy="402336"/>
          </a:xfrm>
          <a:prstGeom prst="roundRect">
            <a:avLst>
              <a:gd name="adj" fmla="val 18182"/>
            </a:avLst>
          </a:prstGeom>
          <a:solidFill>
            <a:srgbClr val="FFFFFF"/>
          </a:solidFill>
          <a:ln w="12700">
            <a:solidFill>
              <a:srgbClr val="FCD34D"/>
            </a:solidFill>
            <a:prstDash val="solid"/>
          </a:ln>
        </p:spPr>
      </p:sp>
      <p:sp>
        <p:nvSpPr>
          <p:cNvPr id="87" name="Text 83"/>
          <p:cNvSpPr txBox="1"/>
          <p:nvPr/>
        </p:nvSpPr>
        <p:spPr>
          <a:xfrm>
            <a:off x="8778240" y="4846320"/>
            <a:ext cx="1554480" cy="402336"/>
          </a:xfrm>
          <a:prstGeom prst="rect">
            <a:avLst/>
          </a:prstGeom>
          <a:noFill/>
          <a:ln/>
        </p:spPr>
        <p:txBody>
          <a:bodyPr wrap="square" lIns="0" tIns="0" rIns="0" bIns="0" rtlCol="0" anchor="ctr"/>
          <a:lstStyle/>
          <a:p>
            <a:pPr algn="ctr" indent="0" marL="0">
              <a:buNone/>
            </a:pPr>
            <a:r>
              <a:rPr lang="en-US" sz="950" b="1" dirty="0">
                <a:solidFill>
                  <a:srgbClr val="0F172A"/>
                </a:solidFill>
                <a:latin typeface="Roboto" pitchFamily="34" charset="0"/>
                <a:ea typeface="Roboto" pitchFamily="34" charset="-122"/>
                <a:cs typeface="Roboto" pitchFamily="34" charset="-120"/>
              </a:rPr>
              <a:t>Ollama · qwen2.5vl:7b</a:t>
            </a:r>
            <a:endParaRPr lang="en-US" sz="950" dirty="0"/>
          </a:p>
        </p:txBody>
      </p:sp>
      <p:sp>
        <p:nvSpPr>
          <p:cNvPr id="88" name="Shape 84"/>
          <p:cNvSpPr/>
          <p:nvPr/>
        </p:nvSpPr>
        <p:spPr>
          <a:xfrm>
            <a:off x="10424160" y="4846320"/>
            <a:ext cx="1081735" cy="402336"/>
          </a:xfrm>
          <a:prstGeom prst="roundRect">
            <a:avLst>
              <a:gd name="adj" fmla="val 18182"/>
            </a:avLst>
          </a:prstGeom>
          <a:solidFill>
            <a:srgbClr val="FFFFFF"/>
          </a:solidFill>
          <a:ln w="12700">
            <a:solidFill>
              <a:srgbClr val="FCD34D"/>
            </a:solidFill>
            <a:prstDash val="solid"/>
          </a:ln>
        </p:spPr>
      </p:sp>
      <p:sp>
        <p:nvSpPr>
          <p:cNvPr id="89" name="Text 85"/>
          <p:cNvSpPr txBox="1"/>
          <p:nvPr/>
        </p:nvSpPr>
        <p:spPr>
          <a:xfrm>
            <a:off x="10424160" y="4846320"/>
            <a:ext cx="1081735" cy="402336"/>
          </a:xfrm>
          <a:prstGeom prst="rect">
            <a:avLst/>
          </a:prstGeom>
          <a:noFill/>
          <a:ln/>
        </p:spPr>
        <p:txBody>
          <a:bodyPr wrap="square" lIns="0" tIns="0" rIns="0" bIns="0" rtlCol="0" anchor="ctr"/>
          <a:lstStyle/>
          <a:p>
            <a:pPr algn="ctr" indent="0" marL="0">
              <a:buNone/>
            </a:pPr>
            <a:r>
              <a:rPr lang="en-US" sz="950" dirty="0">
                <a:solidFill>
                  <a:srgbClr val="64748B"/>
                </a:solidFill>
                <a:latin typeface="Roboto" pitchFamily="34" charset="0"/>
                <a:ea typeface="Roboto" pitchFamily="34" charset="-122"/>
                <a:cs typeface="Roboto" pitchFamily="34" charset="-120"/>
              </a:rPr>
              <a:t>Claude (optional)</a:t>
            </a:r>
            <a:endParaRPr lang="en-US" sz="950" dirty="0"/>
          </a:p>
        </p:txBody>
      </p:sp>
      <p:sp>
        <p:nvSpPr>
          <p:cNvPr id="90" name="Shape 86"/>
          <p:cNvSpPr/>
          <p:nvPr/>
        </p:nvSpPr>
        <p:spPr>
          <a:xfrm>
            <a:off x="7170268" y="5394960"/>
            <a:ext cx="0" cy="128016"/>
          </a:xfrm>
          <a:prstGeom prst="line">
            <a:avLst/>
          </a:prstGeom>
          <a:noFill/>
          <a:ln w="19050">
            <a:solidFill>
              <a:srgbClr val="94A3B8"/>
            </a:solidFill>
            <a:prstDash val="solid"/>
            <a:tailEnd type="triangle"/>
          </a:ln>
        </p:spPr>
      </p:sp>
      <p:sp>
        <p:nvSpPr>
          <p:cNvPr id="91" name="Shape 87"/>
          <p:cNvSpPr/>
          <p:nvPr/>
        </p:nvSpPr>
        <p:spPr>
          <a:xfrm>
            <a:off x="548640" y="5541264"/>
            <a:ext cx="1965960" cy="603504"/>
          </a:xfrm>
          <a:prstGeom prst="roundRect">
            <a:avLst>
              <a:gd name="adj" fmla="val 12121"/>
            </a:avLst>
          </a:prstGeom>
          <a:solidFill>
            <a:srgbClr val="1E293B"/>
          </a:solidFill>
          <a:ln w="12700">
            <a:solidFill>
              <a:srgbClr val="1E293B"/>
            </a:solidFill>
            <a:prstDash val="solid"/>
          </a:ln>
        </p:spPr>
      </p:sp>
      <p:sp>
        <p:nvSpPr>
          <p:cNvPr id="92" name="Text 88"/>
          <p:cNvSpPr txBox="1"/>
          <p:nvPr/>
        </p:nvSpPr>
        <p:spPr>
          <a:xfrm>
            <a:off x="685800" y="5541264"/>
            <a:ext cx="1783080" cy="603504"/>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Data</a:t>
            </a:r>
            <a:endParaRPr lang="en-US" sz="1300" dirty="0"/>
          </a:p>
          <a:p>
            <a:pPr indent="0" marL="0">
              <a:buNone/>
            </a:pPr>
            <a:r>
              <a:rPr lang="en-US" sz="950" dirty="0">
                <a:solidFill>
                  <a:srgbClr val="CBD5E1"/>
                </a:solidFill>
                <a:latin typeface="Roboto" pitchFamily="34" charset="0"/>
                <a:ea typeface="Roboto" pitchFamily="34" charset="-122"/>
                <a:cs typeface="Roboto" pitchFamily="34" charset="-120"/>
              </a:rPr>
              <a:t>SQL Server · files</a:t>
            </a:r>
            <a:endParaRPr lang="en-US" sz="1300" dirty="0"/>
          </a:p>
        </p:txBody>
      </p:sp>
      <p:sp>
        <p:nvSpPr>
          <p:cNvPr id="93" name="Shape 89"/>
          <p:cNvSpPr/>
          <p:nvPr/>
        </p:nvSpPr>
        <p:spPr>
          <a:xfrm>
            <a:off x="2697480" y="5541264"/>
            <a:ext cx="8945575" cy="603504"/>
          </a:xfrm>
          <a:prstGeom prst="roundRect">
            <a:avLst>
              <a:gd name="adj" fmla="val 12121"/>
            </a:avLst>
          </a:prstGeom>
          <a:solidFill>
            <a:srgbClr val="F8FAFC"/>
          </a:solidFill>
          <a:ln w="12700">
            <a:solidFill>
              <a:srgbClr val="E2E8F0"/>
            </a:solidFill>
            <a:prstDash val="solid"/>
          </a:ln>
        </p:spPr>
      </p:sp>
      <p:sp>
        <p:nvSpPr>
          <p:cNvPr id="94" name="Shape 90"/>
          <p:cNvSpPr/>
          <p:nvPr/>
        </p:nvSpPr>
        <p:spPr>
          <a:xfrm>
            <a:off x="2834640" y="5669280"/>
            <a:ext cx="4352544" cy="347472"/>
          </a:xfrm>
          <a:prstGeom prst="roundRect">
            <a:avLst>
              <a:gd name="adj" fmla="val 50000"/>
            </a:avLst>
          </a:prstGeom>
          <a:solidFill>
            <a:srgbClr val="FFFFFF"/>
          </a:solidFill>
          <a:ln w="12700">
            <a:solidFill>
              <a:srgbClr val="E2E8F0"/>
            </a:solidFill>
            <a:prstDash val="solid"/>
          </a:ln>
        </p:spPr>
      </p:sp>
      <p:sp>
        <p:nvSpPr>
          <p:cNvPr id="95" name="Text 91"/>
          <p:cNvSpPr txBox="1"/>
          <p:nvPr/>
        </p:nvSpPr>
        <p:spPr>
          <a:xfrm>
            <a:off x="2834640" y="5669280"/>
            <a:ext cx="4352544"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SQL Server LocalDB 'FinSight' — 9 schemas · 82 tables · 17 views</a:t>
            </a:r>
            <a:endParaRPr lang="en-US" sz="1050" dirty="0"/>
          </a:p>
        </p:txBody>
      </p:sp>
      <p:sp>
        <p:nvSpPr>
          <p:cNvPr id="96" name="Shape 92"/>
          <p:cNvSpPr/>
          <p:nvPr/>
        </p:nvSpPr>
        <p:spPr>
          <a:xfrm>
            <a:off x="7278624" y="5669280"/>
            <a:ext cx="1728216" cy="347472"/>
          </a:xfrm>
          <a:prstGeom prst="roundRect">
            <a:avLst>
              <a:gd name="adj" fmla="val 50000"/>
            </a:avLst>
          </a:prstGeom>
          <a:solidFill>
            <a:srgbClr val="FFFFFF"/>
          </a:solidFill>
          <a:ln w="12700">
            <a:solidFill>
              <a:srgbClr val="E2E8F0"/>
            </a:solidFill>
            <a:prstDash val="solid"/>
          </a:ln>
        </p:spPr>
      </p:sp>
      <p:sp>
        <p:nvSpPr>
          <p:cNvPr id="97" name="Text 93"/>
          <p:cNvSpPr txBox="1"/>
          <p:nvPr/>
        </p:nvSpPr>
        <p:spPr>
          <a:xfrm>
            <a:off x="7278624" y="5669280"/>
            <a:ext cx="1728216"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Uploads &amp; masked copies</a:t>
            </a:r>
            <a:endParaRPr lang="en-US" sz="1050" dirty="0"/>
          </a:p>
        </p:txBody>
      </p:sp>
      <p:sp>
        <p:nvSpPr>
          <p:cNvPr id="98" name="Shape 94"/>
          <p:cNvSpPr/>
          <p:nvPr/>
        </p:nvSpPr>
        <p:spPr>
          <a:xfrm>
            <a:off x="9098280" y="5669280"/>
            <a:ext cx="1472184" cy="347472"/>
          </a:xfrm>
          <a:prstGeom prst="roundRect">
            <a:avLst>
              <a:gd name="adj" fmla="val 50000"/>
            </a:avLst>
          </a:prstGeom>
          <a:solidFill>
            <a:srgbClr val="FFFFFF"/>
          </a:solidFill>
          <a:ln w="12700">
            <a:solidFill>
              <a:srgbClr val="E2E8F0"/>
            </a:solidFill>
            <a:prstDash val="solid"/>
          </a:ln>
        </p:spPr>
      </p:sp>
      <p:sp>
        <p:nvSpPr>
          <p:cNvPr id="99" name="Text 95"/>
          <p:cNvSpPr txBox="1"/>
          <p:nvPr/>
        </p:nvSpPr>
        <p:spPr>
          <a:xfrm>
            <a:off x="9098280" y="5669280"/>
            <a:ext cx="1472184" cy="347472"/>
          </a:xfrm>
          <a:prstGeom prst="rect">
            <a:avLst/>
          </a:prstGeom>
          <a:noFill/>
          <a:ln/>
        </p:spPr>
        <p:txBody>
          <a:bodyPr wrap="square" lIns="0" tIns="0" rIns="0" bIns="0" rtlCol="0" anchor="ctr"/>
          <a:lstStyle/>
          <a:p>
            <a:pPr algn="ctr" indent="0" marL="0">
              <a:buNone/>
            </a:pPr>
            <a:r>
              <a:rPr lang="en-US" sz="1050" dirty="0">
                <a:solidFill>
                  <a:srgbClr val="0F172A"/>
                </a:solidFill>
                <a:latin typeface="Roboto" pitchFamily="34" charset="0"/>
                <a:ea typeface="Roboto" pitchFamily="34" charset="-122"/>
                <a:cs typeface="Roboto" pitchFamily="34" charset="-120"/>
              </a:rPr>
              <a:t>Agent traces (JSON)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ARCHITECTURE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Tech stack</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Everything runs on one laptop — the local model uses an RTX 4060 (8 GB).</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9</a:t>
            </a:r>
            <a:endParaRPr lang="en-US" sz="900" dirty="0"/>
          </a:p>
        </p:txBody>
      </p:sp>
      <p:sp>
        <p:nvSpPr>
          <p:cNvPr id="8" name="Shape 4"/>
          <p:cNvSpPr/>
          <p:nvPr/>
        </p:nvSpPr>
        <p:spPr>
          <a:xfrm>
            <a:off x="548640" y="1783080"/>
            <a:ext cx="3566160" cy="1353312"/>
          </a:xfrm>
          <a:prstGeom prst="roundRect">
            <a:avLst>
              <a:gd name="adj" fmla="val 6757"/>
            </a:avLst>
          </a:prstGeom>
          <a:solidFill>
            <a:srgbClr val="F8FAFC"/>
          </a:solidFill>
          <a:ln w="12700">
            <a:solidFill>
              <a:srgbClr val="E2E8F0"/>
            </a:solidFill>
            <a:prstDash val="solid"/>
          </a:ln>
        </p:spPr>
      </p:sp>
      <p:sp>
        <p:nvSpPr>
          <p:cNvPr id="9" name="Shape 5"/>
          <p:cNvSpPr/>
          <p:nvPr/>
        </p:nvSpPr>
        <p:spPr>
          <a:xfrm>
            <a:off x="777240" y="2039112"/>
            <a:ext cx="603504" cy="603504"/>
          </a:xfrm>
          <a:prstGeom prst="ellipse">
            <a:avLst/>
          </a:prstGeom>
          <a:solidFill>
            <a:srgbClr val="EEF2FF"/>
          </a:solidFill>
          <a:ln w="12700">
            <a:solidFill>
              <a:srgbClr val="EEF2FF"/>
            </a:solidFill>
            <a:prstDash val="solid"/>
          </a:ln>
        </p:spPr>
      </p:sp>
      <p:pic>
        <p:nvPicPr>
          <p:cNvPr id="10" name="Image 1" descr="preencoded.png">    </p:cNvPr>
          <p:cNvPicPr>
            <a:picLocks noChangeAspect="1"/>
          </p:cNvPicPr>
          <p:nvPr/>
        </p:nvPicPr>
        <p:blipFill>
          <a:blip r:embed="rId2"/>
          <a:stretch>
            <a:fillRect/>
          </a:stretch>
        </p:blipFill>
        <p:spPr>
          <a:xfrm>
            <a:off x="910011" y="2171883"/>
            <a:ext cx="337962" cy="337962"/>
          </a:xfrm>
          <a:prstGeom prst="rect">
            <a:avLst/>
          </a:prstGeom>
        </p:spPr>
      </p:pic>
      <p:sp>
        <p:nvSpPr>
          <p:cNvPr id="11" name="Text 6"/>
          <p:cNvSpPr txBox="1"/>
          <p:nvPr/>
        </p:nvSpPr>
        <p:spPr>
          <a:xfrm>
            <a:off x="1554480" y="1892808"/>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Frontend</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React 18 · Vite 5 · lucide icons</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Role-based single-page app</a:t>
            </a:r>
            <a:endParaRPr lang="en-US" sz="1400" dirty="0"/>
          </a:p>
        </p:txBody>
      </p:sp>
      <p:sp>
        <p:nvSpPr>
          <p:cNvPr id="12" name="Shape 7"/>
          <p:cNvSpPr/>
          <p:nvPr/>
        </p:nvSpPr>
        <p:spPr>
          <a:xfrm>
            <a:off x="4297680" y="1783080"/>
            <a:ext cx="3566160" cy="1353312"/>
          </a:xfrm>
          <a:prstGeom prst="roundRect">
            <a:avLst>
              <a:gd name="adj" fmla="val 6757"/>
            </a:avLst>
          </a:prstGeom>
          <a:solidFill>
            <a:srgbClr val="F8FAFC"/>
          </a:solidFill>
          <a:ln w="12700">
            <a:solidFill>
              <a:srgbClr val="E2E8F0"/>
            </a:solidFill>
            <a:prstDash val="solid"/>
          </a:ln>
        </p:spPr>
      </p:sp>
      <p:sp>
        <p:nvSpPr>
          <p:cNvPr id="13" name="Shape 8"/>
          <p:cNvSpPr/>
          <p:nvPr/>
        </p:nvSpPr>
        <p:spPr>
          <a:xfrm>
            <a:off x="4526280" y="2039112"/>
            <a:ext cx="603504" cy="603504"/>
          </a:xfrm>
          <a:prstGeom prst="ellipse">
            <a:avLst/>
          </a:prstGeom>
          <a:solidFill>
            <a:srgbClr val="EEF2FF"/>
          </a:solidFill>
          <a:ln w="12700">
            <a:solidFill>
              <a:srgbClr val="EEF2FF"/>
            </a:solidFill>
            <a:prstDash val="solid"/>
          </a:ln>
        </p:spPr>
      </p:sp>
      <p:pic>
        <p:nvPicPr>
          <p:cNvPr id="14" name="Image 2" descr="preencoded.png">    </p:cNvPr>
          <p:cNvPicPr>
            <a:picLocks noChangeAspect="1"/>
          </p:cNvPicPr>
          <p:nvPr/>
        </p:nvPicPr>
        <p:blipFill>
          <a:blip r:embed="rId3"/>
          <a:stretch>
            <a:fillRect/>
          </a:stretch>
        </p:blipFill>
        <p:spPr>
          <a:xfrm>
            <a:off x="4659051" y="2171883"/>
            <a:ext cx="337962" cy="337962"/>
          </a:xfrm>
          <a:prstGeom prst="rect">
            <a:avLst/>
          </a:prstGeom>
        </p:spPr>
      </p:pic>
      <p:sp>
        <p:nvSpPr>
          <p:cNvPr id="15" name="Text 9"/>
          <p:cNvSpPr txBox="1"/>
          <p:nvPr/>
        </p:nvSpPr>
        <p:spPr>
          <a:xfrm>
            <a:off x="5303520" y="1892808"/>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API</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FastAPI 0.115 · Uvicorn · Pydantic 2</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Python 3.13</a:t>
            </a:r>
            <a:endParaRPr lang="en-US" sz="1400" dirty="0"/>
          </a:p>
        </p:txBody>
      </p:sp>
      <p:sp>
        <p:nvSpPr>
          <p:cNvPr id="16" name="Shape 10"/>
          <p:cNvSpPr/>
          <p:nvPr/>
        </p:nvSpPr>
        <p:spPr>
          <a:xfrm>
            <a:off x="8046720" y="1783080"/>
            <a:ext cx="3566160" cy="1353312"/>
          </a:xfrm>
          <a:prstGeom prst="roundRect">
            <a:avLst>
              <a:gd name="adj" fmla="val 6757"/>
            </a:avLst>
          </a:prstGeom>
          <a:solidFill>
            <a:srgbClr val="F8FAFC"/>
          </a:solidFill>
          <a:ln w="12700">
            <a:solidFill>
              <a:srgbClr val="E2E8F0"/>
            </a:solidFill>
            <a:prstDash val="solid"/>
          </a:ln>
        </p:spPr>
      </p:sp>
      <p:sp>
        <p:nvSpPr>
          <p:cNvPr id="17" name="Shape 11"/>
          <p:cNvSpPr/>
          <p:nvPr/>
        </p:nvSpPr>
        <p:spPr>
          <a:xfrm>
            <a:off x="8275320" y="2039112"/>
            <a:ext cx="603504" cy="603504"/>
          </a:xfrm>
          <a:prstGeom prst="ellipse">
            <a:avLst/>
          </a:prstGeom>
          <a:solidFill>
            <a:srgbClr val="EEF2FF"/>
          </a:solidFill>
          <a:ln w="12700">
            <a:solidFill>
              <a:srgbClr val="EEF2FF"/>
            </a:solidFill>
            <a:prstDash val="solid"/>
          </a:ln>
        </p:spPr>
      </p:sp>
      <p:pic>
        <p:nvPicPr>
          <p:cNvPr id="18" name="Image 3" descr="preencoded.png">    </p:cNvPr>
          <p:cNvPicPr>
            <a:picLocks noChangeAspect="1"/>
          </p:cNvPicPr>
          <p:nvPr/>
        </p:nvPicPr>
        <p:blipFill>
          <a:blip r:embed="rId4"/>
          <a:stretch>
            <a:fillRect/>
          </a:stretch>
        </p:blipFill>
        <p:spPr>
          <a:xfrm>
            <a:off x="8408091" y="2171883"/>
            <a:ext cx="337962" cy="337962"/>
          </a:xfrm>
          <a:prstGeom prst="rect">
            <a:avLst/>
          </a:prstGeom>
        </p:spPr>
      </p:pic>
      <p:sp>
        <p:nvSpPr>
          <p:cNvPr id="19" name="Text 12"/>
          <p:cNvSpPr txBox="1"/>
          <p:nvPr/>
        </p:nvSpPr>
        <p:spPr>
          <a:xfrm>
            <a:off x="9052560" y="1892808"/>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Agents</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CrewAI 1.15.22</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Flows, crews and 29 registered agents</a:t>
            </a:r>
            <a:endParaRPr lang="en-US" sz="1400" dirty="0"/>
          </a:p>
        </p:txBody>
      </p:sp>
      <p:sp>
        <p:nvSpPr>
          <p:cNvPr id="20" name="Shape 13"/>
          <p:cNvSpPr/>
          <p:nvPr/>
        </p:nvSpPr>
        <p:spPr>
          <a:xfrm>
            <a:off x="548640" y="3319272"/>
            <a:ext cx="3566160" cy="1353312"/>
          </a:xfrm>
          <a:prstGeom prst="roundRect">
            <a:avLst>
              <a:gd name="adj" fmla="val 6757"/>
            </a:avLst>
          </a:prstGeom>
          <a:solidFill>
            <a:srgbClr val="F8FAFC"/>
          </a:solidFill>
          <a:ln w="12700">
            <a:solidFill>
              <a:srgbClr val="E2E8F0"/>
            </a:solidFill>
            <a:prstDash val="solid"/>
          </a:ln>
        </p:spPr>
      </p:sp>
      <p:sp>
        <p:nvSpPr>
          <p:cNvPr id="21" name="Shape 14"/>
          <p:cNvSpPr/>
          <p:nvPr/>
        </p:nvSpPr>
        <p:spPr>
          <a:xfrm>
            <a:off x="777240" y="3575304"/>
            <a:ext cx="603504" cy="603504"/>
          </a:xfrm>
          <a:prstGeom prst="ellipse">
            <a:avLst/>
          </a:prstGeom>
          <a:solidFill>
            <a:srgbClr val="EEF2FF"/>
          </a:solidFill>
          <a:ln w="12700">
            <a:solidFill>
              <a:srgbClr val="EEF2FF"/>
            </a:solidFill>
            <a:prstDash val="solid"/>
          </a:ln>
        </p:spPr>
      </p:sp>
      <p:pic>
        <p:nvPicPr>
          <p:cNvPr id="22" name="Image 4" descr="preencoded.png">    </p:cNvPr>
          <p:cNvPicPr>
            <a:picLocks noChangeAspect="1"/>
          </p:cNvPicPr>
          <p:nvPr/>
        </p:nvPicPr>
        <p:blipFill>
          <a:blip r:embed="rId5"/>
          <a:stretch>
            <a:fillRect/>
          </a:stretch>
        </p:blipFill>
        <p:spPr>
          <a:xfrm>
            <a:off x="910011" y="3708075"/>
            <a:ext cx="337962" cy="337962"/>
          </a:xfrm>
          <a:prstGeom prst="rect">
            <a:avLst/>
          </a:prstGeom>
        </p:spPr>
      </p:pic>
      <p:sp>
        <p:nvSpPr>
          <p:cNvPr id="23" name="Text 15"/>
          <p:cNvSpPr txBox="1"/>
          <p:nvPr/>
        </p:nvSpPr>
        <p:spPr>
          <a:xfrm>
            <a:off x="1554480" y="3429000"/>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Language models</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Ollama · qwen2.5vl:7b (default)</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qwen3-vl:4b option · Claude optional</a:t>
            </a:r>
            <a:endParaRPr lang="en-US" sz="1400" dirty="0"/>
          </a:p>
        </p:txBody>
      </p:sp>
      <p:sp>
        <p:nvSpPr>
          <p:cNvPr id="24" name="Shape 16"/>
          <p:cNvSpPr/>
          <p:nvPr/>
        </p:nvSpPr>
        <p:spPr>
          <a:xfrm>
            <a:off x="4297680" y="3319272"/>
            <a:ext cx="3566160" cy="1353312"/>
          </a:xfrm>
          <a:prstGeom prst="roundRect">
            <a:avLst>
              <a:gd name="adj" fmla="val 6757"/>
            </a:avLst>
          </a:prstGeom>
          <a:solidFill>
            <a:srgbClr val="F8FAFC"/>
          </a:solidFill>
          <a:ln w="12700">
            <a:solidFill>
              <a:srgbClr val="E2E8F0"/>
            </a:solidFill>
            <a:prstDash val="solid"/>
          </a:ln>
        </p:spPr>
      </p:sp>
      <p:sp>
        <p:nvSpPr>
          <p:cNvPr id="25" name="Shape 17"/>
          <p:cNvSpPr/>
          <p:nvPr/>
        </p:nvSpPr>
        <p:spPr>
          <a:xfrm>
            <a:off x="4526280" y="3575304"/>
            <a:ext cx="603504" cy="603504"/>
          </a:xfrm>
          <a:prstGeom prst="ellipse">
            <a:avLst/>
          </a:prstGeom>
          <a:solidFill>
            <a:srgbClr val="EEF2FF"/>
          </a:solidFill>
          <a:ln w="12700">
            <a:solidFill>
              <a:srgbClr val="EEF2FF"/>
            </a:solidFill>
            <a:prstDash val="solid"/>
          </a:ln>
        </p:spPr>
      </p:sp>
      <p:pic>
        <p:nvPicPr>
          <p:cNvPr id="26" name="Image 5" descr="preencoded.png">    </p:cNvPr>
          <p:cNvPicPr>
            <a:picLocks noChangeAspect="1"/>
          </p:cNvPicPr>
          <p:nvPr/>
        </p:nvPicPr>
        <p:blipFill>
          <a:blip r:embed="rId6"/>
          <a:stretch>
            <a:fillRect/>
          </a:stretch>
        </p:blipFill>
        <p:spPr>
          <a:xfrm>
            <a:off x="4659051" y="3708075"/>
            <a:ext cx="337962" cy="337962"/>
          </a:xfrm>
          <a:prstGeom prst="rect">
            <a:avLst/>
          </a:prstGeom>
        </p:spPr>
      </p:pic>
      <p:sp>
        <p:nvSpPr>
          <p:cNvPr id="27" name="Text 18"/>
          <p:cNvSpPr txBox="1"/>
          <p:nvPr/>
        </p:nvSpPr>
        <p:spPr>
          <a:xfrm>
            <a:off x="5303520" y="3429000"/>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Vision &amp; OCR</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OpenCV 4.10 · RapidOCR (ONNX)</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PDFium (pypdfium2) for PDFs</a:t>
            </a:r>
            <a:endParaRPr lang="en-US" sz="1400" dirty="0"/>
          </a:p>
        </p:txBody>
      </p:sp>
      <p:sp>
        <p:nvSpPr>
          <p:cNvPr id="28" name="Shape 19"/>
          <p:cNvSpPr/>
          <p:nvPr/>
        </p:nvSpPr>
        <p:spPr>
          <a:xfrm>
            <a:off x="8046720" y="3319272"/>
            <a:ext cx="3566160" cy="1353312"/>
          </a:xfrm>
          <a:prstGeom prst="roundRect">
            <a:avLst>
              <a:gd name="adj" fmla="val 6757"/>
            </a:avLst>
          </a:prstGeom>
          <a:solidFill>
            <a:srgbClr val="F8FAFC"/>
          </a:solidFill>
          <a:ln w="12700">
            <a:solidFill>
              <a:srgbClr val="E2E8F0"/>
            </a:solidFill>
            <a:prstDash val="solid"/>
          </a:ln>
        </p:spPr>
      </p:sp>
      <p:sp>
        <p:nvSpPr>
          <p:cNvPr id="29" name="Shape 20"/>
          <p:cNvSpPr/>
          <p:nvPr/>
        </p:nvSpPr>
        <p:spPr>
          <a:xfrm>
            <a:off x="8275320" y="3575304"/>
            <a:ext cx="603504" cy="603504"/>
          </a:xfrm>
          <a:prstGeom prst="ellipse">
            <a:avLst/>
          </a:prstGeom>
          <a:solidFill>
            <a:srgbClr val="EEF2FF"/>
          </a:solidFill>
          <a:ln w="12700">
            <a:solidFill>
              <a:srgbClr val="EEF2FF"/>
            </a:solidFill>
            <a:prstDash val="solid"/>
          </a:ln>
        </p:spPr>
      </p:sp>
      <p:pic>
        <p:nvPicPr>
          <p:cNvPr id="30" name="Image 6" descr="preencoded.png">    </p:cNvPr>
          <p:cNvPicPr>
            <a:picLocks noChangeAspect="1"/>
          </p:cNvPicPr>
          <p:nvPr/>
        </p:nvPicPr>
        <p:blipFill>
          <a:blip r:embed="rId7"/>
          <a:stretch>
            <a:fillRect/>
          </a:stretch>
        </p:blipFill>
        <p:spPr>
          <a:xfrm>
            <a:off x="8408091" y="3708075"/>
            <a:ext cx="337962" cy="337962"/>
          </a:xfrm>
          <a:prstGeom prst="rect">
            <a:avLst/>
          </a:prstGeom>
        </p:spPr>
      </p:pic>
      <p:sp>
        <p:nvSpPr>
          <p:cNvPr id="31" name="Text 21"/>
          <p:cNvSpPr txBox="1"/>
          <p:nvPr/>
        </p:nvSpPr>
        <p:spPr>
          <a:xfrm>
            <a:off x="9052560" y="3429000"/>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Face &amp; liveness</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YuNet · SFace · MiniFASNet</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ONNX Runtime 1.27, all local</a:t>
            </a:r>
            <a:endParaRPr lang="en-US" sz="1400" dirty="0"/>
          </a:p>
        </p:txBody>
      </p:sp>
      <p:sp>
        <p:nvSpPr>
          <p:cNvPr id="32" name="Shape 22"/>
          <p:cNvSpPr/>
          <p:nvPr/>
        </p:nvSpPr>
        <p:spPr>
          <a:xfrm>
            <a:off x="548640" y="4855464"/>
            <a:ext cx="3566160" cy="1353312"/>
          </a:xfrm>
          <a:prstGeom prst="roundRect">
            <a:avLst>
              <a:gd name="adj" fmla="val 6757"/>
            </a:avLst>
          </a:prstGeom>
          <a:solidFill>
            <a:srgbClr val="F8FAFC"/>
          </a:solidFill>
          <a:ln w="12700">
            <a:solidFill>
              <a:srgbClr val="E2E8F0"/>
            </a:solidFill>
            <a:prstDash val="solid"/>
          </a:ln>
        </p:spPr>
      </p:sp>
      <p:sp>
        <p:nvSpPr>
          <p:cNvPr id="33" name="Shape 23"/>
          <p:cNvSpPr/>
          <p:nvPr/>
        </p:nvSpPr>
        <p:spPr>
          <a:xfrm>
            <a:off x="777240" y="5111496"/>
            <a:ext cx="603504" cy="603504"/>
          </a:xfrm>
          <a:prstGeom prst="ellipse">
            <a:avLst/>
          </a:prstGeom>
          <a:solidFill>
            <a:srgbClr val="EEF2FF"/>
          </a:solidFill>
          <a:ln w="12700">
            <a:solidFill>
              <a:srgbClr val="EEF2FF"/>
            </a:solidFill>
            <a:prstDash val="solid"/>
          </a:ln>
        </p:spPr>
      </p:sp>
      <p:pic>
        <p:nvPicPr>
          <p:cNvPr id="34" name="Image 7" descr="preencoded.png">    </p:cNvPr>
          <p:cNvPicPr>
            <a:picLocks noChangeAspect="1"/>
          </p:cNvPicPr>
          <p:nvPr/>
        </p:nvPicPr>
        <p:blipFill>
          <a:blip r:embed="rId8"/>
          <a:stretch>
            <a:fillRect/>
          </a:stretch>
        </p:blipFill>
        <p:spPr>
          <a:xfrm>
            <a:off x="910011" y="5244267"/>
            <a:ext cx="337962" cy="337962"/>
          </a:xfrm>
          <a:prstGeom prst="rect">
            <a:avLst/>
          </a:prstGeom>
        </p:spPr>
      </p:pic>
      <p:sp>
        <p:nvSpPr>
          <p:cNvPr id="35" name="Text 24"/>
          <p:cNvSpPr txBox="1"/>
          <p:nvPr/>
        </p:nvSpPr>
        <p:spPr>
          <a:xfrm>
            <a:off x="1554480" y="4965192"/>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ML &amp; scoring</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XGBoost 3.3 · scikit-learn</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Risk overlay trained on 50,000 NBFC loans</a:t>
            </a:r>
            <a:endParaRPr lang="en-US" sz="1400" dirty="0"/>
          </a:p>
        </p:txBody>
      </p:sp>
      <p:sp>
        <p:nvSpPr>
          <p:cNvPr id="36" name="Shape 25"/>
          <p:cNvSpPr/>
          <p:nvPr/>
        </p:nvSpPr>
        <p:spPr>
          <a:xfrm>
            <a:off x="4297680" y="4855464"/>
            <a:ext cx="3566160" cy="1353312"/>
          </a:xfrm>
          <a:prstGeom prst="roundRect">
            <a:avLst>
              <a:gd name="adj" fmla="val 6757"/>
            </a:avLst>
          </a:prstGeom>
          <a:solidFill>
            <a:srgbClr val="F8FAFC"/>
          </a:solidFill>
          <a:ln w="12700">
            <a:solidFill>
              <a:srgbClr val="E2E8F0"/>
            </a:solidFill>
            <a:prstDash val="solid"/>
          </a:ln>
        </p:spPr>
      </p:sp>
      <p:sp>
        <p:nvSpPr>
          <p:cNvPr id="37" name="Shape 26"/>
          <p:cNvSpPr/>
          <p:nvPr/>
        </p:nvSpPr>
        <p:spPr>
          <a:xfrm>
            <a:off x="4526280" y="5111496"/>
            <a:ext cx="603504" cy="603504"/>
          </a:xfrm>
          <a:prstGeom prst="ellipse">
            <a:avLst/>
          </a:prstGeom>
          <a:solidFill>
            <a:srgbClr val="EEF2FF"/>
          </a:solidFill>
          <a:ln w="12700">
            <a:solidFill>
              <a:srgbClr val="EEF2FF"/>
            </a:solidFill>
            <a:prstDash val="solid"/>
          </a:ln>
        </p:spPr>
      </p:sp>
      <p:pic>
        <p:nvPicPr>
          <p:cNvPr id="38" name="Image 8" descr="preencoded.png">    </p:cNvPr>
          <p:cNvPicPr>
            <a:picLocks noChangeAspect="1"/>
          </p:cNvPicPr>
          <p:nvPr/>
        </p:nvPicPr>
        <p:blipFill>
          <a:blip r:embed="rId9"/>
          <a:stretch>
            <a:fillRect/>
          </a:stretch>
        </p:blipFill>
        <p:spPr>
          <a:xfrm>
            <a:off x="4659051" y="5244267"/>
            <a:ext cx="337962" cy="337962"/>
          </a:xfrm>
          <a:prstGeom prst="rect">
            <a:avLst/>
          </a:prstGeom>
        </p:spPr>
      </p:pic>
      <p:sp>
        <p:nvSpPr>
          <p:cNvPr id="39" name="Text 27"/>
          <p:cNvSpPr txBox="1"/>
          <p:nvPr/>
        </p:nvSpPr>
        <p:spPr>
          <a:xfrm>
            <a:off x="5303520" y="4965192"/>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Data</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SQL Server LocalDB · pyodbc</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9 schemas · 82 tables · 17 views</a:t>
            </a:r>
            <a:endParaRPr lang="en-US" sz="1400" dirty="0"/>
          </a:p>
        </p:txBody>
      </p:sp>
      <p:sp>
        <p:nvSpPr>
          <p:cNvPr id="40" name="Shape 28"/>
          <p:cNvSpPr/>
          <p:nvPr/>
        </p:nvSpPr>
        <p:spPr>
          <a:xfrm>
            <a:off x="8046720" y="4855464"/>
            <a:ext cx="3566160" cy="1353312"/>
          </a:xfrm>
          <a:prstGeom prst="roundRect">
            <a:avLst>
              <a:gd name="adj" fmla="val 6757"/>
            </a:avLst>
          </a:prstGeom>
          <a:solidFill>
            <a:srgbClr val="F8FAFC"/>
          </a:solidFill>
          <a:ln w="12700">
            <a:solidFill>
              <a:srgbClr val="E2E8F0"/>
            </a:solidFill>
            <a:prstDash val="solid"/>
          </a:ln>
        </p:spPr>
      </p:sp>
      <p:sp>
        <p:nvSpPr>
          <p:cNvPr id="41" name="Shape 29"/>
          <p:cNvSpPr/>
          <p:nvPr/>
        </p:nvSpPr>
        <p:spPr>
          <a:xfrm>
            <a:off x="8275320" y="5111496"/>
            <a:ext cx="603504" cy="603504"/>
          </a:xfrm>
          <a:prstGeom prst="ellipse">
            <a:avLst/>
          </a:prstGeom>
          <a:solidFill>
            <a:srgbClr val="EEF2FF"/>
          </a:solidFill>
          <a:ln w="12700">
            <a:solidFill>
              <a:srgbClr val="EEF2FF"/>
            </a:solidFill>
            <a:prstDash val="solid"/>
          </a:ln>
        </p:spPr>
      </p:sp>
      <p:pic>
        <p:nvPicPr>
          <p:cNvPr id="42" name="Image 9" descr="preencoded.png">    </p:cNvPr>
          <p:cNvPicPr>
            <a:picLocks noChangeAspect="1"/>
          </p:cNvPicPr>
          <p:nvPr/>
        </p:nvPicPr>
        <p:blipFill>
          <a:blip r:embed="rId10"/>
          <a:stretch>
            <a:fillRect/>
          </a:stretch>
        </p:blipFill>
        <p:spPr>
          <a:xfrm>
            <a:off x="8408091" y="5244267"/>
            <a:ext cx="337962" cy="337962"/>
          </a:xfrm>
          <a:prstGeom prst="rect">
            <a:avLst/>
          </a:prstGeom>
        </p:spPr>
      </p:pic>
      <p:sp>
        <p:nvSpPr>
          <p:cNvPr id="43" name="Text 30"/>
          <p:cNvSpPr txBox="1"/>
          <p:nvPr/>
        </p:nvSpPr>
        <p:spPr>
          <a:xfrm>
            <a:off x="9052560" y="4965192"/>
            <a:ext cx="2468880" cy="1143000"/>
          </a:xfrm>
          <a:prstGeom prst="rect">
            <a:avLst/>
          </a:prstGeom>
          <a:noFill/>
          <a:ln/>
        </p:spPr>
        <p:txBody>
          <a:bodyPr wrap="square" lIns="0" tIns="0" rIns="0" bIns="0" rtlCol="0" anchor="ctr"/>
          <a:lstStyle/>
          <a:p>
            <a:pPr indent="0" marL="0">
              <a:spcAft>
                <a:spcPts val="200"/>
              </a:spcAft>
              <a:buNone/>
            </a:pPr>
            <a:r>
              <a:rPr lang="en-US" sz="1400" b="1" dirty="0">
                <a:solidFill>
                  <a:srgbClr val="0F172A"/>
                </a:solidFill>
                <a:latin typeface="Roboto" pitchFamily="34" charset="0"/>
                <a:ea typeface="Roboto" pitchFamily="34" charset="-122"/>
                <a:cs typeface="Roboto" pitchFamily="34" charset="-120"/>
              </a:rPr>
              <a:t>Quality</a:t>
            </a:r>
            <a:endParaRPr lang="en-US" sz="1400" dirty="0"/>
          </a:p>
          <a:p>
            <a:pPr indent="0" marL="0">
              <a:spcAft>
                <a:spcPts val="200"/>
              </a:spcAft>
              <a:buNone/>
            </a:pPr>
            <a:r>
              <a:rPr lang="en-US" sz="1150" dirty="0">
                <a:solidFill>
                  <a:srgbClr val="334155"/>
                </a:solidFill>
                <a:latin typeface="Roboto" pitchFamily="34" charset="0"/>
                <a:ea typeface="Roboto" pitchFamily="34" charset="-122"/>
                <a:cs typeface="Roboto" pitchFamily="34" charset="-120"/>
              </a:rPr>
              <a:t>pytest · evaluation harness</a:t>
            </a:r>
            <a:endParaRPr lang="en-US" sz="1400" dirty="0"/>
          </a:p>
          <a:p>
            <a:pPr indent="0" marL="0">
              <a:spcAft>
                <a:spcPts val="200"/>
              </a:spcAft>
              <a:buNone/>
            </a:pPr>
            <a:r>
              <a:rPr lang="en-US" sz="1050" dirty="0">
                <a:solidFill>
                  <a:srgbClr val="64748B"/>
                </a:solidFill>
                <a:latin typeface="Roboto" pitchFamily="34" charset="0"/>
                <a:ea typeface="Roboto" pitchFamily="34" charset="-122"/>
                <a:cs typeface="Roboto" pitchFamily="34" charset="-120"/>
              </a:rPr>
              <a:t>61 tests · 29 agent evaluations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ARCHITECTURE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How one agent runs: tools decide, the model only explains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Every agent follows the same four steps. A score is fixed before any language model is involved.</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10</a:t>
            </a:r>
            <a:endParaRPr lang="en-US" sz="900" dirty="0"/>
          </a:p>
        </p:txBody>
      </p:sp>
      <p:sp>
        <p:nvSpPr>
          <p:cNvPr id="8" name="Shape 4"/>
          <p:cNvSpPr/>
          <p:nvPr/>
        </p:nvSpPr>
        <p:spPr>
          <a:xfrm>
            <a:off x="548640" y="1783080"/>
            <a:ext cx="1554480" cy="1234440"/>
          </a:xfrm>
          <a:prstGeom prst="roundRect">
            <a:avLst>
              <a:gd name="adj" fmla="val 5926"/>
            </a:avLst>
          </a:prstGeom>
          <a:solidFill>
            <a:srgbClr val="F8FAFC"/>
          </a:solidFill>
          <a:ln w="12700">
            <a:solidFill>
              <a:srgbClr val="E2E8F0"/>
            </a:solidFill>
            <a:prstDash val="solid"/>
          </a:ln>
        </p:spPr>
      </p:sp>
      <p:sp>
        <p:nvSpPr>
          <p:cNvPr id="9" name="Text 5"/>
          <p:cNvSpPr txBox="1"/>
          <p:nvPr/>
        </p:nvSpPr>
        <p:spPr>
          <a:xfrm>
            <a:off x="621792" y="1801368"/>
            <a:ext cx="1408176" cy="1197864"/>
          </a:xfrm>
          <a:prstGeom prst="rect">
            <a:avLst/>
          </a:prstGeom>
          <a:noFill/>
          <a:ln/>
        </p:spPr>
        <p:txBody>
          <a:bodyPr wrap="square" lIns="0" tIns="0" rIns="0" bIns="0" rtlCol="0" anchor="ctr"/>
          <a:lstStyle/>
          <a:p>
            <a:pPr algn="ctr" indent="0" marL="0">
              <a:spcAft>
                <a:spcPts val="200"/>
              </a:spcAft>
              <a:buNone/>
            </a:pPr>
            <a:r>
              <a:rPr lang="en-US" sz="1350" b="1" dirty="0">
                <a:solidFill>
                  <a:srgbClr val="0F172A"/>
                </a:solidFill>
                <a:latin typeface="Roboto" pitchFamily="34" charset="0"/>
                <a:ea typeface="Roboto" pitchFamily="34" charset="-122"/>
                <a:cs typeface="Roboto" pitchFamily="34" charset="-120"/>
              </a:rPr>
              <a:t>Inputs</a:t>
            </a:r>
            <a:endParaRPr lang="en-US" sz="1350" dirty="0"/>
          </a:p>
          <a:p>
            <a:pPr algn="ctr" indent="0" marL="0">
              <a:spcAft>
                <a:spcPts val="200"/>
              </a:spcAft>
              <a:buNone/>
            </a:pPr>
            <a:r>
              <a:rPr lang="en-US" sz="1100" dirty="0">
                <a:solidFill>
                  <a:srgbClr val="64748B"/>
                </a:solidFill>
                <a:latin typeface="Roboto" pitchFamily="34" charset="0"/>
                <a:ea typeface="Roboto" pitchFamily="34" charset="-122"/>
                <a:cs typeface="Roboto" pitchFamily="34" charset="-120"/>
              </a:rPr>
              <a:t>a document, or the case's evidence</a:t>
            </a:r>
            <a:endParaRPr lang="en-US" sz="1350" dirty="0"/>
          </a:p>
        </p:txBody>
      </p:sp>
      <p:sp>
        <p:nvSpPr>
          <p:cNvPr id="10" name="Shape 6"/>
          <p:cNvSpPr/>
          <p:nvPr/>
        </p:nvSpPr>
        <p:spPr>
          <a:xfrm>
            <a:off x="2121408" y="2400300"/>
            <a:ext cx="256032" cy="0"/>
          </a:xfrm>
          <a:prstGeom prst="line">
            <a:avLst/>
          </a:prstGeom>
          <a:noFill/>
          <a:ln w="19050">
            <a:solidFill>
              <a:srgbClr val="94A3B8"/>
            </a:solidFill>
            <a:prstDash val="solid"/>
            <a:tailEnd type="triangle"/>
          </a:ln>
        </p:spPr>
      </p:sp>
      <p:sp>
        <p:nvSpPr>
          <p:cNvPr id="11" name="Shape 7"/>
          <p:cNvSpPr/>
          <p:nvPr/>
        </p:nvSpPr>
        <p:spPr>
          <a:xfrm>
            <a:off x="2395728" y="1783080"/>
            <a:ext cx="2148840" cy="1234440"/>
          </a:xfrm>
          <a:prstGeom prst="roundRect">
            <a:avLst>
              <a:gd name="adj" fmla="val 5926"/>
            </a:avLst>
          </a:prstGeom>
          <a:solidFill>
            <a:srgbClr val="EEF2FF"/>
          </a:solidFill>
          <a:ln w="12700">
            <a:solidFill>
              <a:srgbClr val="C7D2FE"/>
            </a:solidFill>
            <a:prstDash val="solid"/>
          </a:ln>
        </p:spPr>
      </p:sp>
      <p:sp>
        <p:nvSpPr>
          <p:cNvPr id="12" name="Text 8"/>
          <p:cNvSpPr txBox="1"/>
          <p:nvPr/>
        </p:nvSpPr>
        <p:spPr>
          <a:xfrm>
            <a:off x="2468880" y="1801368"/>
            <a:ext cx="2002536" cy="1197864"/>
          </a:xfrm>
          <a:prstGeom prst="rect">
            <a:avLst/>
          </a:prstGeom>
          <a:noFill/>
          <a:ln/>
        </p:spPr>
        <p:txBody>
          <a:bodyPr wrap="square" lIns="0" tIns="0" rIns="0" bIns="0" rtlCol="0" anchor="ctr"/>
          <a:lstStyle/>
          <a:p>
            <a:pPr algn="ctr" indent="0" marL="0">
              <a:spcAft>
                <a:spcPts val="200"/>
              </a:spcAft>
              <a:buNone/>
            </a:pPr>
            <a:r>
              <a:rPr lang="en-US" sz="1350" b="1" dirty="0">
                <a:solidFill>
                  <a:srgbClr val="3730A3"/>
                </a:solidFill>
                <a:latin typeface="Roboto" pitchFamily="34" charset="0"/>
                <a:ea typeface="Roboto" pitchFamily="34" charset="-122"/>
                <a:cs typeface="Roboto" pitchFamily="34" charset="-120"/>
              </a:rPr>
              <a:t>1 · Deterministic tool</a:t>
            </a:r>
            <a:endParaRPr lang="en-US" sz="1350" dirty="0"/>
          </a:p>
          <a:p>
            <a:pPr algn="ctr" indent="0" marL="0">
              <a:spcAft>
                <a:spcPts val="200"/>
              </a:spcAft>
              <a:buNone/>
            </a:pPr>
            <a:r>
              <a:rPr lang="en-US" sz="1100" dirty="0">
                <a:solidFill>
                  <a:srgbClr val="64748B"/>
                </a:solidFill>
                <a:latin typeface="Roboto" pitchFamily="34" charset="0"/>
                <a:ea typeface="Roboto" pitchFamily="34" charset="-122"/>
                <a:cs typeface="Roboto" pitchFamily="34" charset="-120"/>
              </a:rPr>
              <a:t>execute() sets the score, tier or verdict — locked</a:t>
            </a:r>
            <a:endParaRPr lang="en-US" sz="1350" dirty="0"/>
          </a:p>
        </p:txBody>
      </p:sp>
      <p:sp>
        <p:nvSpPr>
          <p:cNvPr id="13" name="Shape 9"/>
          <p:cNvSpPr/>
          <p:nvPr/>
        </p:nvSpPr>
        <p:spPr>
          <a:xfrm>
            <a:off x="4562856" y="2400300"/>
            <a:ext cx="256032" cy="0"/>
          </a:xfrm>
          <a:prstGeom prst="line">
            <a:avLst/>
          </a:prstGeom>
          <a:noFill/>
          <a:ln w="19050">
            <a:solidFill>
              <a:srgbClr val="94A3B8"/>
            </a:solidFill>
            <a:prstDash val="solid"/>
            <a:tailEnd type="triangle"/>
          </a:ln>
        </p:spPr>
      </p:sp>
      <p:sp>
        <p:nvSpPr>
          <p:cNvPr id="14" name="Shape 10"/>
          <p:cNvSpPr/>
          <p:nvPr/>
        </p:nvSpPr>
        <p:spPr>
          <a:xfrm>
            <a:off x="4846320" y="1783080"/>
            <a:ext cx="2148840" cy="1234440"/>
          </a:xfrm>
          <a:prstGeom prst="roundRect">
            <a:avLst>
              <a:gd name="adj" fmla="val 5926"/>
            </a:avLst>
          </a:prstGeom>
          <a:solidFill>
            <a:srgbClr val="FEF3C7"/>
          </a:solidFill>
          <a:ln w="12700">
            <a:solidFill>
              <a:srgbClr val="FCD34D"/>
            </a:solidFill>
            <a:prstDash val="solid"/>
          </a:ln>
        </p:spPr>
      </p:sp>
      <p:sp>
        <p:nvSpPr>
          <p:cNvPr id="15" name="Text 11"/>
          <p:cNvSpPr txBox="1"/>
          <p:nvPr/>
        </p:nvSpPr>
        <p:spPr>
          <a:xfrm>
            <a:off x="4919472" y="1801368"/>
            <a:ext cx="2002536" cy="1197864"/>
          </a:xfrm>
          <a:prstGeom prst="rect">
            <a:avLst/>
          </a:prstGeom>
          <a:noFill/>
          <a:ln/>
        </p:spPr>
        <p:txBody>
          <a:bodyPr wrap="square" lIns="0" tIns="0" rIns="0" bIns="0" rtlCol="0" anchor="ctr"/>
          <a:lstStyle/>
          <a:p>
            <a:pPr algn="ctr" indent="0" marL="0">
              <a:spcAft>
                <a:spcPts val="200"/>
              </a:spcAft>
              <a:buNone/>
            </a:pPr>
            <a:r>
              <a:rPr lang="en-US" sz="1350" b="1" dirty="0">
                <a:solidFill>
                  <a:srgbClr val="92400E"/>
                </a:solidFill>
                <a:latin typeface="Roboto" pitchFamily="34" charset="0"/>
                <a:ea typeface="Roboto" pitchFamily="34" charset="-122"/>
                <a:cs typeface="Roboto" pitchFamily="34" charset="-120"/>
              </a:rPr>
              <a:t>2 · One LLM call</a:t>
            </a:r>
            <a:endParaRPr lang="en-US" sz="1350" dirty="0"/>
          </a:p>
          <a:p>
            <a:pPr algn="ctr" indent="0" marL="0">
              <a:spcAft>
                <a:spcPts val="200"/>
              </a:spcAft>
              <a:buNone/>
            </a:pPr>
            <a:r>
              <a:rPr lang="en-US" sz="1100" dirty="0">
                <a:solidFill>
                  <a:srgbClr val="64748B"/>
                </a:solidFill>
                <a:latin typeface="Roboto" pitchFamily="34" charset="0"/>
                <a:ea typeface="Roboto" pitchFamily="34" charset="-122"/>
                <a:cs typeface="Roboto" pitchFamily="34" charset="-120"/>
              </a:rPr>
              <a:t>optional · narrate or judge · JSON schema enforced</a:t>
            </a:r>
            <a:endParaRPr lang="en-US" sz="1350" dirty="0"/>
          </a:p>
        </p:txBody>
      </p:sp>
      <p:sp>
        <p:nvSpPr>
          <p:cNvPr id="16" name="Shape 12"/>
          <p:cNvSpPr/>
          <p:nvPr/>
        </p:nvSpPr>
        <p:spPr>
          <a:xfrm>
            <a:off x="7013448" y="2400300"/>
            <a:ext cx="256032" cy="0"/>
          </a:xfrm>
          <a:prstGeom prst="line">
            <a:avLst/>
          </a:prstGeom>
          <a:noFill/>
          <a:ln w="19050">
            <a:solidFill>
              <a:srgbClr val="94A3B8"/>
            </a:solidFill>
            <a:prstDash val="solid"/>
            <a:tailEnd type="triangle"/>
          </a:ln>
        </p:spPr>
      </p:sp>
      <p:sp>
        <p:nvSpPr>
          <p:cNvPr id="17" name="Shape 13"/>
          <p:cNvSpPr/>
          <p:nvPr/>
        </p:nvSpPr>
        <p:spPr>
          <a:xfrm>
            <a:off x="7296912" y="1673352"/>
            <a:ext cx="2011680" cy="1453896"/>
          </a:xfrm>
          <a:prstGeom prst="diamond">
            <a:avLst/>
          </a:prstGeom>
          <a:solidFill>
            <a:srgbClr val="FFFFFF"/>
          </a:solidFill>
          <a:ln w="19050">
            <a:solidFill>
              <a:srgbClr val="4F46E5"/>
            </a:solidFill>
            <a:prstDash val="solid"/>
          </a:ln>
        </p:spPr>
      </p:sp>
      <p:sp>
        <p:nvSpPr>
          <p:cNvPr id="18" name="Text 14"/>
          <p:cNvSpPr txBox="1"/>
          <p:nvPr/>
        </p:nvSpPr>
        <p:spPr>
          <a:xfrm>
            <a:off x="7616952" y="1783080"/>
            <a:ext cx="1371600" cy="1234440"/>
          </a:xfrm>
          <a:prstGeom prst="rect">
            <a:avLst/>
          </a:prstGeom>
          <a:noFill/>
          <a:ln/>
        </p:spPr>
        <p:txBody>
          <a:bodyPr wrap="square" lIns="0" tIns="0" rIns="0" bIns="0" rtlCol="0" anchor="ctr"/>
          <a:lstStyle/>
          <a:p>
            <a:pPr algn="ctr" indent="0" marL="0">
              <a:buNone/>
            </a:pPr>
            <a:r>
              <a:rPr lang="en-US" sz="1150" b="1" dirty="0">
                <a:solidFill>
                  <a:srgbClr val="0F172A"/>
                </a:solidFill>
                <a:latin typeface="Roboto" pitchFamily="34" charset="0"/>
                <a:ea typeface="Roboto" pitchFamily="34" charset="-122"/>
                <a:cs typeface="Roboto" pitchFamily="34" charset="-120"/>
              </a:rPr>
              <a:t>3 · Grounding gate</a:t>
            </a:r>
            <a:endParaRPr lang="en-US" sz="1150" dirty="0"/>
          </a:p>
          <a:p>
            <a:pPr algn="ctr" indent="0" marL="0">
              <a:buNone/>
            </a:pPr>
            <a:r>
              <a:rPr lang="en-US" sz="950" dirty="0">
                <a:solidFill>
                  <a:srgbClr val="64748B"/>
                </a:solidFill>
                <a:latin typeface="Roboto" pitchFamily="34" charset="0"/>
                <a:ea typeface="Roboto" pitchFamily="34" charset="-122"/>
                <a:cs typeface="Roboto" pitchFamily="34" charset="-120"/>
              </a:rPr>
              <a:t>is every number ≥ 10 in the evidence?</a:t>
            </a:r>
            <a:endParaRPr lang="en-US" sz="1150" dirty="0"/>
          </a:p>
        </p:txBody>
      </p:sp>
      <p:sp>
        <p:nvSpPr>
          <p:cNvPr id="19" name="Shape 15"/>
          <p:cNvSpPr/>
          <p:nvPr/>
        </p:nvSpPr>
        <p:spPr>
          <a:xfrm>
            <a:off x="9326880" y="2400300"/>
            <a:ext cx="246888" cy="0"/>
          </a:xfrm>
          <a:prstGeom prst="line">
            <a:avLst/>
          </a:prstGeom>
          <a:noFill/>
          <a:ln w="19050">
            <a:solidFill>
              <a:srgbClr val="16A34A"/>
            </a:solidFill>
            <a:prstDash val="solid"/>
            <a:tailEnd type="triangle"/>
          </a:ln>
        </p:spPr>
      </p:sp>
      <p:sp>
        <p:nvSpPr>
          <p:cNvPr id="20" name="Text 16"/>
          <p:cNvSpPr txBox="1"/>
          <p:nvPr/>
        </p:nvSpPr>
        <p:spPr>
          <a:xfrm>
            <a:off x="9308592" y="2107692"/>
            <a:ext cx="365760" cy="228600"/>
          </a:xfrm>
          <a:prstGeom prst="rect">
            <a:avLst/>
          </a:prstGeom>
          <a:noFill/>
          <a:ln/>
        </p:spPr>
        <p:txBody>
          <a:bodyPr wrap="square" lIns="0" tIns="0" rIns="0" bIns="0" rtlCol="0" anchor="ctr"/>
          <a:lstStyle/>
          <a:p>
            <a:pPr indent="0" marL="0">
              <a:buNone/>
            </a:pPr>
            <a:r>
              <a:rPr lang="en-US" sz="1000" b="1" dirty="0">
                <a:solidFill>
                  <a:srgbClr val="16A34A"/>
                </a:solidFill>
                <a:latin typeface="Roboto" pitchFamily="34" charset="0"/>
                <a:ea typeface="Roboto" pitchFamily="34" charset="-122"/>
                <a:cs typeface="Roboto" pitchFamily="34" charset="-120"/>
              </a:rPr>
              <a:t>yes</a:t>
            </a:r>
            <a:endParaRPr lang="en-US" sz="1000" dirty="0"/>
          </a:p>
        </p:txBody>
      </p:sp>
      <p:sp>
        <p:nvSpPr>
          <p:cNvPr id="21" name="Shape 17"/>
          <p:cNvSpPr/>
          <p:nvPr/>
        </p:nvSpPr>
        <p:spPr>
          <a:xfrm>
            <a:off x="9601200" y="1783080"/>
            <a:ext cx="2039112" cy="1234440"/>
          </a:xfrm>
          <a:prstGeom prst="roundRect">
            <a:avLst>
              <a:gd name="adj" fmla="val 5926"/>
            </a:avLst>
          </a:prstGeom>
          <a:solidFill>
            <a:srgbClr val="DCFCE7"/>
          </a:solidFill>
          <a:ln w="12700">
            <a:solidFill>
              <a:srgbClr val="86EFAC"/>
            </a:solidFill>
            <a:prstDash val="solid"/>
          </a:ln>
        </p:spPr>
      </p:sp>
      <p:sp>
        <p:nvSpPr>
          <p:cNvPr id="22" name="Text 18"/>
          <p:cNvSpPr txBox="1"/>
          <p:nvPr/>
        </p:nvSpPr>
        <p:spPr>
          <a:xfrm>
            <a:off x="9674352" y="1801368"/>
            <a:ext cx="1892808" cy="1197864"/>
          </a:xfrm>
          <a:prstGeom prst="rect">
            <a:avLst/>
          </a:prstGeom>
          <a:noFill/>
          <a:ln/>
        </p:spPr>
        <p:txBody>
          <a:bodyPr wrap="square" lIns="0" tIns="0" rIns="0" bIns="0" rtlCol="0" anchor="ctr"/>
          <a:lstStyle/>
          <a:p>
            <a:pPr algn="ctr" indent="0" marL="0">
              <a:spcAft>
                <a:spcPts val="200"/>
              </a:spcAft>
              <a:buNone/>
            </a:pPr>
            <a:r>
              <a:rPr lang="en-US" sz="1350" b="1" dirty="0">
                <a:solidFill>
                  <a:srgbClr val="166534"/>
                </a:solidFill>
                <a:latin typeface="Roboto" pitchFamily="34" charset="0"/>
                <a:ea typeface="Roboto" pitchFamily="34" charset="-122"/>
                <a:cs typeface="Roboto" pitchFamily="34" charset="-120"/>
              </a:rPr>
              <a:t>4 · Result + trace</a:t>
            </a:r>
            <a:endParaRPr lang="en-US" sz="1350" dirty="0"/>
          </a:p>
          <a:p>
            <a:pPr algn="ctr" indent="0" marL="0">
              <a:spcAft>
                <a:spcPts val="200"/>
              </a:spcAft>
              <a:buNone/>
            </a:pPr>
            <a:r>
              <a:rPr lang="en-US" sz="1100" dirty="0">
                <a:solidFill>
                  <a:srgbClr val="64748B"/>
                </a:solidFill>
                <a:latin typeface="Roboto" pitchFamily="34" charset="0"/>
                <a:ea typeface="Roboto" pitchFamily="34" charset="-122"/>
                <a:cs typeface="Roboto" pitchFamily="34" charset="-120"/>
              </a:rPr>
              <a:t>model text shown · run, step and tool call recorded</a:t>
            </a:r>
            <a:endParaRPr lang="en-US" sz="1350" dirty="0"/>
          </a:p>
        </p:txBody>
      </p:sp>
      <p:sp>
        <p:nvSpPr>
          <p:cNvPr id="23" name="Shape 19"/>
          <p:cNvSpPr/>
          <p:nvPr/>
        </p:nvSpPr>
        <p:spPr>
          <a:xfrm>
            <a:off x="8302752" y="3136392"/>
            <a:ext cx="0" cy="265176"/>
          </a:xfrm>
          <a:prstGeom prst="line">
            <a:avLst/>
          </a:prstGeom>
          <a:noFill/>
          <a:ln w="19050">
            <a:solidFill>
              <a:srgbClr val="DC2626"/>
            </a:solidFill>
            <a:prstDash val="solid"/>
            <a:tailEnd type="triangle"/>
          </a:ln>
        </p:spPr>
      </p:sp>
      <p:sp>
        <p:nvSpPr>
          <p:cNvPr id="24" name="Text 20"/>
          <p:cNvSpPr txBox="1"/>
          <p:nvPr/>
        </p:nvSpPr>
        <p:spPr>
          <a:xfrm>
            <a:off x="8394192" y="3154680"/>
            <a:ext cx="365760" cy="228600"/>
          </a:xfrm>
          <a:prstGeom prst="rect">
            <a:avLst/>
          </a:prstGeom>
          <a:noFill/>
          <a:ln/>
        </p:spPr>
        <p:txBody>
          <a:bodyPr wrap="square" lIns="0" tIns="0" rIns="0" bIns="0" rtlCol="0" anchor="ctr"/>
          <a:lstStyle/>
          <a:p>
            <a:pPr indent="0" marL="0">
              <a:buNone/>
            </a:pPr>
            <a:r>
              <a:rPr lang="en-US" sz="1000" b="1" dirty="0">
                <a:solidFill>
                  <a:srgbClr val="DC2626"/>
                </a:solidFill>
                <a:latin typeface="Roboto" pitchFamily="34" charset="0"/>
                <a:ea typeface="Roboto" pitchFamily="34" charset="-122"/>
                <a:cs typeface="Roboto" pitchFamily="34" charset="-120"/>
              </a:rPr>
              <a:t>no</a:t>
            </a:r>
            <a:endParaRPr lang="en-US" sz="1000" dirty="0"/>
          </a:p>
        </p:txBody>
      </p:sp>
      <p:sp>
        <p:nvSpPr>
          <p:cNvPr id="25" name="Shape 21"/>
          <p:cNvSpPr/>
          <p:nvPr/>
        </p:nvSpPr>
        <p:spPr>
          <a:xfrm>
            <a:off x="7296912" y="3419856"/>
            <a:ext cx="2011680" cy="457200"/>
          </a:xfrm>
          <a:prstGeom prst="roundRect">
            <a:avLst>
              <a:gd name="adj" fmla="val 16000"/>
            </a:avLst>
          </a:prstGeom>
          <a:solidFill>
            <a:srgbClr val="FEE2E2"/>
          </a:solidFill>
          <a:ln w="12700">
            <a:solidFill>
              <a:srgbClr val="FCA5A5"/>
            </a:solidFill>
            <a:prstDash val="solid"/>
          </a:ln>
        </p:spPr>
      </p:sp>
      <p:sp>
        <p:nvSpPr>
          <p:cNvPr id="26" name="Text 22"/>
          <p:cNvSpPr txBox="1"/>
          <p:nvPr/>
        </p:nvSpPr>
        <p:spPr>
          <a:xfrm>
            <a:off x="7370064" y="3438144"/>
            <a:ext cx="1865376" cy="420624"/>
          </a:xfrm>
          <a:prstGeom prst="rect">
            <a:avLst/>
          </a:prstGeom>
          <a:noFill/>
          <a:ln/>
        </p:spPr>
        <p:txBody>
          <a:bodyPr wrap="square" lIns="0" tIns="0" rIns="0" bIns="0" rtlCol="0" anchor="ctr"/>
          <a:lstStyle/>
          <a:p>
            <a:pPr algn="ctr" indent="0" marL="0">
              <a:spcAft>
                <a:spcPts val="200"/>
              </a:spcAft>
              <a:buNone/>
            </a:pPr>
            <a:r>
              <a:rPr lang="en-US" sz="1100" b="1" dirty="0">
                <a:solidFill>
                  <a:srgbClr val="991B1B"/>
                </a:solidFill>
                <a:latin typeface="Roboto" pitchFamily="34" charset="0"/>
                <a:ea typeface="Roboto" pitchFamily="34" charset="-122"/>
                <a:cs typeface="Roboto" pitchFamily="34" charset="-120"/>
              </a:rPr>
              <a:t>Keep the tool's own text</a:t>
            </a:r>
            <a:endParaRPr lang="en-US" sz="1100" dirty="0"/>
          </a:p>
        </p:txBody>
      </p:sp>
      <p:sp>
        <p:nvSpPr>
          <p:cNvPr id="27" name="Text 23"/>
          <p:cNvSpPr txBox="1"/>
          <p:nvPr/>
        </p:nvSpPr>
        <p:spPr>
          <a:xfrm>
            <a:off x="548640" y="3840480"/>
            <a:ext cx="4572000" cy="256032"/>
          </a:xfrm>
          <a:prstGeom prst="rect">
            <a:avLst/>
          </a:prstGeom>
          <a:noFill/>
          <a:ln/>
        </p:spPr>
        <p:txBody>
          <a:bodyPr wrap="square" lIns="0" tIns="0" rIns="0" bIns="0" rtlCol="0" anchor="ctr"/>
          <a:lstStyle/>
          <a:p>
            <a:pPr indent="0" marL="0">
              <a:buNone/>
            </a:pPr>
            <a:r>
              <a:rPr lang="en-US" sz="1050" b="1" spc="200" kern="0" dirty="0">
                <a:solidFill>
                  <a:srgbClr val="64748B"/>
                </a:solidFill>
                <a:latin typeface="Roboto" pitchFamily="34" charset="0"/>
                <a:ea typeface="Roboto" pitchFamily="34" charset="-122"/>
                <a:cs typeface="Roboto" pitchFamily="34" charset="-120"/>
              </a:rPr>
              <a:t>THREE KINDS OF AGENT</a:t>
            </a:r>
            <a:endParaRPr lang="en-US" sz="1050" dirty="0"/>
          </a:p>
        </p:txBody>
      </p:sp>
      <p:sp>
        <p:nvSpPr>
          <p:cNvPr id="28" name="Shape 24"/>
          <p:cNvSpPr/>
          <p:nvPr/>
        </p:nvSpPr>
        <p:spPr>
          <a:xfrm>
            <a:off x="548640" y="4187952"/>
            <a:ext cx="3566160" cy="2057400"/>
          </a:xfrm>
          <a:prstGeom prst="roundRect">
            <a:avLst>
              <a:gd name="adj" fmla="val 4444"/>
            </a:avLst>
          </a:prstGeom>
          <a:solidFill>
            <a:srgbClr val="F8FAFC"/>
          </a:solidFill>
          <a:ln w="12700">
            <a:solidFill>
              <a:srgbClr val="E2E8F0"/>
            </a:solidFill>
            <a:prstDash val="solid"/>
          </a:ln>
        </p:spPr>
      </p:sp>
      <p:sp>
        <p:nvSpPr>
          <p:cNvPr id="29" name="Text 25"/>
          <p:cNvSpPr txBox="1"/>
          <p:nvPr/>
        </p:nvSpPr>
        <p:spPr>
          <a:xfrm>
            <a:off x="777240" y="4297680"/>
            <a:ext cx="914400" cy="685800"/>
          </a:xfrm>
          <a:prstGeom prst="rect">
            <a:avLst/>
          </a:prstGeom>
          <a:noFill/>
          <a:ln/>
        </p:spPr>
        <p:txBody>
          <a:bodyPr wrap="square" lIns="0" tIns="0" rIns="0" bIns="0" rtlCol="0" anchor="ctr"/>
          <a:lstStyle/>
          <a:p>
            <a:pPr indent="0" marL="0">
              <a:buNone/>
            </a:pPr>
            <a:r>
              <a:rPr lang="en-US" sz="3600" b="1" dirty="0">
                <a:solidFill>
                  <a:srgbClr val="4F46E5"/>
                </a:solidFill>
                <a:latin typeface="Roboto" pitchFamily="34" charset="0"/>
                <a:ea typeface="Roboto" pitchFamily="34" charset="-122"/>
                <a:cs typeface="Roboto" pitchFamily="34" charset="-120"/>
              </a:rPr>
              <a:t>18</a:t>
            </a:r>
            <a:endParaRPr lang="en-US" sz="3600" dirty="0"/>
          </a:p>
        </p:txBody>
      </p:sp>
      <p:sp>
        <p:nvSpPr>
          <p:cNvPr id="30" name="Text 26"/>
          <p:cNvSpPr txBox="1"/>
          <p:nvPr/>
        </p:nvSpPr>
        <p:spPr>
          <a:xfrm>
            <a:off x="1645920" y="4370832"/>
            <a:ext cx="2286000" cy="502920"/>
          </a:xfrm>
          <a:prstGeom prst="rect">
            <a:avLst/>
          </a:prstGeom>
          <a:noFill/>
          <a:ln/>
        </p:spPr>
        <p:txBody>
          <a:bodyPr wrap="square" lIns="0" tIns="0" rIns="0" bIns="0" rtlCol="0" anchor="ctr"/>
          <a:lstStyle/>
          <a:p>
            <a:pPr indent="0" marL="0">
              <a:buNone/>
            </a:pPr>
            <a:r>
              <a:rPr lang="en-US" sz="1600" b="1" dirty="0">
                <a:solidFill>
                  <a:srgbClr val="0F172A"/>
                </a:solidFill>
                <a:latin typeface="Roboto" pitchFamily="34" charset="0"/>
                <a:ea typeface="Roboto" pitchFamily="34" charset="-122"/>
                <a:cs typeface="Roboto" pitchFamily="34" charset="-120"/>
              </a:rPr>
              <a:t>Deterministic</a:t>
            </a:r>
            <a:endParaRPr lang="en-US" sz="1600" dirty="0"/>
          </a:p>
        </p:txBody>
      </p:sp>
      <p:sp>
        <p:nvSpPr>
          <p:cNvPr id="31" name="Text 27"/>
          <p:cNvSpPr txBox="1"/>
          <p:nvPr/>
        </p:nvSpPr>
        <p:spPr>
          <a:xfrm>
            <a:off x="777240" y="5029200"/>
            <a:ext cx="3154680" cy="1097280"/>
          </a:xfrm>
          <a:prstGeom prst="rect">
            <a:avLst/>
          </a:prstGeom>
          <a:noFill/>
          <a:ln/>
        </p:spPr>
        <p:txBody>
          <a:bodyPr wrap="square" lIns="0" tIns="0" rIns="0" bIns="0" rtlCol="0" anchor="t"/>
          <a:lstStyle/>
          <a:p>
            <a:pPr indent="0" marL="0">
              <a:spcAft>
                <a:spcPts val="400"/>
              </a:spcAft>
              <a:buNone/>
            </a:pPr>
            <a:r>
              <a:rPr lang="en-US" sz="1150" dirty="0">
                <a:solidFill>
                  <a:srgbClr val="0F172A"/>
                </a:solidFill>
                <a:latin typeface="Roboto" pitchFamily="34" charset="0"/>
                <a:ea typeface="Roboto" pitchFamily="34" charset="-122"/>
                <a:cs typeface="Roboto" pitchFamily="34" charset="-120"/>
              </a:rPr>
              <a:t>Tool only — no model at all.</a:t>
            </a:r>
            <a:endParaRPr lang="en-US" sz="1150" dirty="0"/>
          </a:p>
          <a:p>
            <a:pPr indent="0" marL="0">
              <a:spcAft>
                <a:spcPts val="400"/>
              </a:spcAft>
              <a:buNone/>
            </a:pPr>
            <a:r>
              <a:rPr lang="en-US" sz="1000" dirty="0">
                <a:solidFill>
                  <a:srgbClr val="64748B"/>
                </a:solidFill>
                <a:latin typeface="Roboto" pitchFamily="34" charset="0"/>
                <a:ea typeface="Roboto" pitchFamily="34" charset="-122"/>
                <a:cs typeface="Roboto" pitchFamily="34" charset="-120"/>
              </a:rPr>
              <a:t>Validation, masking, face match, tampering signals, fraud fusion, policy rules, risk, offer…</a:t>
            </a:r>
            <a:endParaRPr lang="en-US" sz="1150" dirty="0"/>
          </a:p>
        </p:txBody>
      </p:sp>
      <p:sp>
        <p:nvSpPr>
          <p:cNvPr id="32" name="Shape 28"/>
          <p:cNvSpPr/>
          <p:nvPr/>
        </p:nvSpPr>
        <p:spPr>
          <a:xfrm>
            <a:off x="4297680" y="4187952"/>
            <a:ext cx="3566160" cy="2057400"/>
          </a:xfrm>
          <a:prstGeom prst="roundRect">
            <a:avLst>
              <a:gd name="adj" fmla="val 4444"/>
            </a:avLst>
          </a:prstGeom>
          <a:solidFill>
            <a:srgbClr val="F8FAFC"/>
          </a:solidFill>
          <a:ln w="12700">
            <a:solidFill>
              <a:srgbClr val="E2E8F0"/>
            </a:solidFill>
            <a:prstDash val="solid"/>
          </a:ln>
        </p:spPr>
      </p:sp>
      <p:sp>
        <p:nvSpPr>
          <p:cNvPr id="33" name="Text 29"/>
          <p:cNvSpPr txBox="1"/>
          <p:nvPr/>
        </p:nvSpPr>
        <p:spPr>
          <a:xfrm>
            <a:off x="4526280" y="4297680"/>
            <a:ext cx="914400" cy="685800"/>
          </a:xfrm>
          <a:prstGeom prst="rect">
            <a:avLst/>
          </a:prstGeom>
          <a:noFill/>
          <a:ln/>
        </p:spPr>
        <p:txBody>
          <a:bodyPr wrap="square" lIns="0" tIns="0" rIns="0" bIns="0" rtlCol="0" anchor="ctr"/>
          <a:lstStyle/>
          <a:p>
            <a:pPr indent="0" marL="0">
              <a:buNone/>
            </a:pPr>
            <a:r>
              <a:rPr lang="en-US" sz="3600" b="1" dirty="0">
                <a:solidFill>
                  <a:srgbClr val="D97706"/>
                </a:solidFill>
                <a:latin typeface="Roboto" pitchFamily="34" charset="0"/>
                <a:ea typeface="Roboto" pitchFamily="34" charset="-122"/>
                <a:cs typeface="Roboto" pitchFamily="34" charset="-120"/>
              </a:rPr>
              <a:t>7</a:t>
            </a:r>
            <a:endParaRPr lang="en-US" sz="3600" dirty="0"/>
          </a:p>
        </p:txBody>
      </p:sp>
      <p:sp>
        <p:nvSpPr>
          <p:cNvPr id="34" name="Text 30"/>
          <p:cNvSpPr txBox="1"/>
          <p:nvPr/>
        </p:nvSpPr>
        <p:spPr>
          <a:xfrm>
            <a:off x="5394960" y="4370832"/>
            <a:ext cx="2286000" cy="502920"/>
          </a:xfrm>
          <a:prstGeom prst="rect">
            <a:avLst/>
          </a:prstGeom>
          <a:noFill/>
          <a:ln/>
        </p:spPr>
        <p:txBody>
          <a:bodyPr wrap="square" lIns="0" tIns="0" rIns="0" bIns="0" rtlCol="0" anchor="ctr"/>
          <a:lstStyle/>
          <a:p>
            <a:pPr indent="0" marL="0">
              <a:buNone/>
            </a:pPr>
            <a:r>
              <a:rPr lang="en-US" sz="1600" b="1" dirty="0">
                <a:solidFill>
                  <a:srgbClr val="0F172A"/>
                </a:solidFill>
                <a:latin typeface="Roboto" pitchFamily="34" charset="0"/>
                <a:ea typeface="Roboto" pitchFamily="34" charset="-122"/>
                <a:cs typeface="Roboto" pitchFamily="34" charset="-120"/>
              </a:rPr>
              <a:t>Hybrid</a:t>
            </a:r>
            <a:endParaRPr lang="en-US" sz="1600" dirty="0"/>
          </a:p>
        </p:txBody>
      </p:sp>
      <p:sp>
        <p:nvSpPr>
          <p:cNvPr id="35" name="Text 31"/>
          <p:cNvSpPr txBox="1"/>
          <p:nvPr/>
        </p:nvSpPr>
        <p:spPr>
          <a:xfrm>
            <a:off x="4526280" y="5029200"/>
            <a:ext cx="3154680" cy="1097280"/>
          </a:xfrm>
          <a:prstGeom prst="rect">
            <a:avLst/>
          </a:prstGeom>
          <a:noFill/>
          <a:ln/>
        </p:spPr>
        <p:txBody>
          <a:bodyPr wrap="square" lIns="0" tIns="0" rIns="0" bIns="0" rtlCol="0" anchor="t"/>
          <a:lstStyle/>
          <a:p>
            <a:pPr indent="0" marL="0">
              <a:spcAft>
                <a:spcPts val="400"/>
              </a:spcAft>
              <a:buNone/>
            </a:pPr>
            <a:r>
              <a:rPr lang="en-US" sz="1150" dirty="0">
                <a:solidFill>
                  <a:srgbClr val="0F172A"/>
                </a:solidFill>
                <a:latin typeface="Roboto" pitchFamily="34" charset="0"/>
                <a:ea typeface="Roboto" pitchFamily="34" charset="-122"/>
                <a:cs typeface="Roboto" pitchFamily="34" charset="-120"/>
              </a:rPr>
              <a:t>Tool decides, model narrates or judges within limits.</a:t>
            </a:r>
            <a:endParaRPr lang="en-US" sz="1150" dirty="0"/>
          </a:p>
          <a:p>
            <a:pPr indent="0" marL="0">
              <a:spcAft>
                <a:spcPts val="400"/>
              </a:spcAft>
              <a:buNone/>
            </a:pPr>
            <a:r>
              <a:rPr lang="en-US" sz="1000" dirty="0">
                <a:solidFill>
                  <a:srgbClr val="64748B"/>
                </a:solidFill>
                <a:latin typeface="Roboto" pitchFamily="34" charset="0"/>
                <a:ea typeface="Roboto" pitchFamily="34" charset="-122"/>
                <a:cs typeface="Roboto" pitchFamily="34" charset="-120"/>
              </a:rPr>
              <a:t>Authenticity, tamper explainer, fraud patterns, triage, rule authoring, income, process mining</a:t>
            </a:r>
            <a:endParaRPr lang="en-US" sz="1150" dirty="0"/>
          </a:p>
        </p:txBody>
      </p:sp>
      <p:sp>
        <p:nvSpPr>
          <p:cNvPr id="36" name="Shape 32"/>
          <p:cNvSpPr/>
          <p:nvPr/>
        </p:nvSpPr>
        <p:spPr>
          <a:xfrm>
            <a:off x="8046720" y="4187952"/>
            <a:ext cx="3566160" cy="2057400"/>
          </a:xfrm>
          <a:prstGeom prst="roundRect">
            <a:avLst>
              <a:gd name="adj" fmla="val 4444"/>
            </a:avLst>
          </a:prstGeom>
          <a:solidFill>
            <a:srgbClr val="F8FAFC"/>
          </a:solidFill>
          <a:ln w="12700">
            <a:solidFill>
              <a:srgbClr val="E2E8F0"/>
            </a:solidFill>
            <a:prstDash val="solid"/>
          </a:ln>
        </p:spPr>
      </p:sp>
      <p:sp>
        <p:nvSpPr>
          <p:cNvPr id="37" name="Text 33"/>
          <p:cNvSpPr txBox="1"/>
          <p:nvPr/>
        </p:nvSpPr>
        <p:spPr>
          <a:xfrm>
            <a:off x="8275320" y="4297680"/>
            <a:ext cx="914400" cy="685800"/>
          </a:xfrm>
          <a:prstGeom prst="rect">
            <a:avLst/>
          </a:prstGeom>
          <a:noFill/>
          <a:ln/>
        </p:spPr>
        <p:txBody>
          <a:bodyPr wrap="square" lIns="0" tIns="0" rIns="0" bIns="0" rtlCol="0" anchor="ctr"/>
          <a:lstStyle/>
          <a:p>
            <a:pPr indent="0" marL="0">
              <a:buNone/>
            </a:pPr>
            <a:r>
              <a:rPr lang="en-US" sz="3600" b="1" dirty="0">
                <a:solidFill>
                  <a:srgbClr val="E11D48"/>
                </a:solidFill>
                <a:latin typeface="Roboto" pitchFamily="34" charset="0"/>
                <a:ea typeface="Roboto" pitchFamily="34" charset="-122"/>
                <a:cs typeface="Roboto" pitchFamily="34" charset="-120"/>
              </a:rPr>
              <a:t>4</a:t>
            </a:r>
            <a:endParaRPr lang="en-US" sz="3600" dirty="0"/>
          </a:p>
        </p:txBody>
      </p:sp>
      <p:sp>
        <p:nvSpPr>
          <p:cNvPr id="38" name="Text 34"/>
          <p:cNvSpPr txBox="1"/>
          <p:nvPr/>
        </p:nvSpPr>
        <p:spPr>
          <a:xfrm>
            <a:off x="9144000" y="4370832"/>
            <a:ext cx="2286000" cy="502920"/>
          </a:xfrm>
          <a:prstGeom prst="rect">
            <a:avLst/>
          </a:prstGeom>
          <a:noFill/>
          <a:ln/>
        </p:spPr>
        <p:txBody>
          <a:bodyPr wrap="square" lIns="0" tIns="0" rIns="0" bIns="0" rtlCol="0" anchor="ctr"/>
          <a:lstStyle/>
          <a:p>
            <a:pPr indent="0" marL="0">
              <a:buNone/>
            </a:pPr>
            <a:r>
              <a:rPr lang="en-US" sz="1600" b="1" dirty="0">
                <a:solidFill>
                  <a:srgbClr val="0F172A"/>
                </a:solidFill>
                <a:latin typeface="Roboto" pitchFamily="34" charset="0"/>
                <a:ea typeface="Roboto" pitchFamily="34" charset="-122"/>
                <a:cs typeface="Roboto" pitchFamily="34" charset="-120"/>
              </a:rPr>
              <a:t>LLM</a:t>
            </a:r>
            <a:endParaRPr lang="en-US" sz="1600" dirty="0"/>
          </a:p>
        </p:txBody>
      </p:sp>
      <p:sp>
        <p:nvSpPr>
          <p:cNvPr id="39" name="Text 35"/>
          <p:cNvSpPr txBox="1"/>
          <p:nvPr/>
        </p:nvSpPr>
        <p:spPr>
          <a:xfrm>
            <a:off x="8275320" y="5029200"/>
            <a:ext cx="3154680" cy="1097280"/>
          </a:xfrm>
          <a:prstGeom prst="rect">
            <a:avLst/>
          </a:prstGeom>
          <a:noFill/>
          <a:ln/>
        </p:spPr>
        <p:txBody>
          <a:bodyPr wrap="square" lIns="0" tIns="0" rIns="0" bIns="0" rtlCol="0" anchor="t"/>
          <a:lstStyle/>
          <a:p>
            <a:pPr indent="0" marL="0">
              <a:spcAft>
                <a:spcPts val="400"/>
              </a:spcAft>
              <a:buNone/>
            </a:pPr>
            <a:r>
              <a:rPr lang="en-US" sz="1150" dirty="0">
                <a:solidFill>
                  <a:srgbClr val="0F172A"/>
                </a:solidFill>
                <a:latin typeface="Roboto" pitchFamily="34" charset="0"/>
                <a:ea typeface="Roboto" pitchFamily="34" charset="-122"/>
                <a:cs typeface="Roboto" pitchFamily="34" charset="-120"/>
              </a:rPr>
              <a:t>The model does the core task inside a fenced call.</a:t>
            </a:r>
            <a:endParaRPr lang="en-US" sz="1150" dirty="0"/>
          </a:p>
          <a:p>
            <a:pPr indent="0" marL="0">
              <a:spcAft>
                <a:spcPts val="400"/>
              </a:spcAft>
              <a:buNone/>
            </a:pPr>
            <a:r>
              <a:rPr lang="en-US" sz="1000" dirty="0">
                <a:solidFill>
                  <a:srgbClr val="64748B"/>
                </a:solidFill>
                <a:latin typeface="Roboto" pitchFamily="34" charset="0"/>
                <a:ea typeface="Roboto" pitchFamily="34" charset="-122"/>
                <a:cs typeface="Roboto" pitchFamily="34" charset="-120"/>
              </a:rPr>
              <a:t>Extraction, regulatory Q&amp;A, credit memo, underwriting supervisor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02</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The 29 agents</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Six crews. Each agent has one job, one set of tools and a pass mark fixed before it was tested.</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914400"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91440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Agent map</a:t>
            </a:r>
            <a:endParaRPr lang="en-US" sz="1200" dirty="0"/>
          </a:p>
        </p:txBody>
      </p:sp>
      <p:sp>
        <p:nvSpPr>
          <p:cNvPr id="8" name="Shape 6"/>
          <p:cNvSpPr/>
          <p:nvPr/>
        </p:nvSpPr>
        <p:spPr>
          <a:xfrm>
            <a:off x="1591056" y="5102352"/>
            <a:ext cx="694944"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591056" y="5102352"/>
            <a:ext cx="694944"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Intake</a:t>
            </a:r>
            <a:endParaRPr lang="en-US" sz="1200" dirty="0"/>
          </a:p>
        </p:txBody>
      </p:sp>
      <p:sp>
        <p:nvSpPr>
          <p:cNvPr id="10" name="Shape 8"/>
          <p:cNvSpPr/>
          <p:nvPr/>
        </p:nvSpPr>
        <p:spPr>
          <a:xfrm>
            <a:off x="2414016" y="5102352"/>
            <a:ext cx="1572768"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2414016" y="5102352"/>
            <a:ext cx="157276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Privacy &amp; identity</a:t>
            </a:r>
            <a:endParaRPr lang="en-US" sz="1200" dirty="0"/>
          </a:p>
        </p:txBody>
      </p:sp>
      <p:sp>
        <p:nvSpPr>
          <p:cNvPr id="12" name="Shape 10"/>
          <p:cNvSpPr/>
          <p:nvPr/>
        </p:nvSpPr>
        <p:spPr>
          <a:xfrm>
            <a:off x="4114800" y="5102352"/>
            <a:ext cx="914400" cy="384048"/>
          </a:xfrm>
          <a:prstGeom prst="roundRect">
            <a:avLst>
              <a:gd name="adj" fmla="val 50000"/>
            </a:avLst>
          </a:prstGeom>
          <a:solidFill>
            <a:srgbClr val="1E293B"/>
          </a:solidFill>
          <a:ln w="12700">
            <a:solidFill>
              <a:srgbClr val="334155"/>
            </a:solidFill>
            <a:prstDash val="solid"/>
          </a:ln>
        </p:spPr>
      </p:sp>
      <p:sp>
        <p:nvSpPr>
          <p:cNvPr id="13" name="Text 11"/>
          <p:cNvSpPr txBox="1"/>
          <p:nvPr/>
        </p:nvSpPr>
        <p:spPr>
          <a:xfrm>
            <a:off x="4114800" y="5102352"/>
            <a:ext cx="91440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Tampering</a:t>
            </a:r>
            <a:endParaRPr lang="en-US" sz="1200" dirty="0"/>
          </a:p>
        </p:txBody>
      </p:sp>
      <p:sp>
        <p:nvSpPr>
          <p:cNvPr id="14" name="Shape 12"/>
          <p:cNvSpPr/>
          <p:nvPr/>
        </p:nvSpPr>
        <p:spPr>
          <a:xfrm>
            <a:off x="5157216" y="5102352"/>
            <a:ext cx="1133856" cy="384048"/>
          </a:xfrm>
          <a:prstGeom prst="roundRect">
            <a:avLst>
              <a:gd name="adj" fmla="val 50000"/>
            </a:avLst>
          </a:prstGeom>
          <a:solidFill>
            <a:srgbClr val="1E293B"/>
          </a:solidFill>
          <a:ln w="12700">
            <a:solidFill>
              <a:srgbClr val="334155"/>
            </a:solidFill>
            <a:prstDash val="solid"/>
          </a:ln>
        </p:spPr>
      </p:sp>
      <p:sp>
        <p:nvSpPr>
          <p:cNvPr id="15" name="Text 13"/>
          <p:cNvSpPr txBox="1"/>
          <p:nvPr/>
        </p:nvSpPr>
        <p:spPr>
          <a:xfrm>
            <a:off x="5157216" y="5102352"/>
            <a:ext cx="1133856"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Fraud fusion</a:t>
            </a:r>
            <a:endParaRPr lang="en-US" sz="1200" dirty="0"/>
          </a:p>
        </p:txBody>
      </p:sp>
      <p:sp>
        <p:nvSpPr>
          <p:cNvPr id="16" name="Shape 14"/>
          <p:cNvSpPr/>
          <p:nvPr/>
        </p:nvSpPr>
        <p:spPr>
          <a:xfrm>
            <a:off x="6419088" y="5102352"/>
            <a:ext cx="1499616" cy="384048"/>
          </a:xfrm>
          <a:prstGeom prst="roundRect">
            <a:avLst>
              <a:gd name="adj" fmla="val 50000"/>
            </a:avLst>
          </a:prstGeom>
          <a:solidFill>
            <a:srgbClr val="1E293B"/>
          </a:solidFill>
          <a:ln w="12700">
            <a:solidFill>
              <a:srgbClr val="334155"/>
            </a:solidFill>
            <a:prstDash val="solid"/>
          </a:ln>
        </p:spPr>
      </p:sp>
      <p:sp>
        <p:nvSpPr>
          <p:cNvPr id="17" name="Text 15"/>
          <p:cNvSpPr txBox="1"/>
          <p:nvPr/>
        </p:nvSpPr>
        <p:spPr>
          <a:xfrm>
            <a:off x="6419088" y="5102352"/>
            <a:ext cx="1499616"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Patterns &amp; triage</a:t>
            </a:r>
            <a:endParaRPr lang="en-US" sz="1200" dirty="0"/>
          </a:p>
        </p:txBody>
      </p:sp>
      <p:sp>
        <p:nvSpPr>
          <p:cNvPr id="18" name="Shape 16"/>
          <p:cNvSpPr/>
          <p:nvPr/>
        </p:nvSpPr>
        <p:spPr>
          <a:xfrm>
            <a:off x="548640" y="5614416"/>
            <a:ext cx="987552" cy="384048"/>
          </a:xfrm>
          <a:prstGeom prst="roundRect">
            <a:avLst>
              <a:gd name="adj" fmla="val 50000"/>
            </a:avLst>
          </a:prstGeom>
          <a:solidFill>
            <a:srgbClr val="1E293B"/>
          </a:solidFill>
          <a:ln w="12700">
            <a:solidFill>
              <a:srgbClr val="334155"/>
            </a:solidFill>
            <a:prstDash val="solid"/>
          </a:ln>
        </p:spPr>
      </p:sp>
      <p:sp>
        <p:nvSpPr>
          <p:cNvPr id="19" name="Text 17"/>
          <p:cNvSpPr txBox="1"/>
          <p:nvPr/>
        </p:nvSpPr>
        <p:spPr>
          <a:xfrm>
            <a:off x="548640" y="5614416"/>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Compliance</a:t>
            </a:r>
            <a:endParaRPr lang="en-US" sz="1200" dirty="0"/>
          </a:p>
        </p:txBody>
      </p:sp>
      <p:sp>
        <p:nvSpPr>
          <p:cNvPr id="20" name="Shape 18"/>
          <p:cNvSpPr/>
          <p:nvPr/>
        </p:nvSpPr>
        <p:spPr>
          <a:xfrm>
            <a:off x="1664208" y="5614416"/>
            <a:ext cx="1133856" cy="384048"/>
          </a:xfrm>
          <a:prstGeom prst="roundRect">
            <a:avLst>
              <a:gd name="adj" fmla="val 50000"/>
            </a:avLst>
          </a:prstGeom>
          <a:solidFill>
            <a:srgbClr val="1E293B"/>
          </a:solidFill>
          <a:ln w="12700">
            <a:solidFill>
              <a:srgbClr val="334155"/>
            </a:solidFill>
            <a:prstDash val="solid"/>
          </a:ln>
        </p:spPr>
      </p:sp>
      <p:sp>
        <p:nvSpPr>
          <p:cNvPr id="21" name="Text 19"/>
          <p:cNvSpPr txBox="1"/>
          <p:nvPr/>
        </p:nvSpPr>
        <p:spPr>
          <a:xfrm>
            <a:off x="1664208" y="5614416"/>
            <a:ext cx="1133856"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Underwriting</a:t>
            </a:r>
            <a:endParaRPr lang="en-US" sz="1200" dirty="0"/>
          </a:p>
        </p:txBody>
      </p:sp>
      <p:sp>
        <p:nvSpPr>
          <p:cNvPr id="22" name="Shape 20"/>
          <p:cNvSpPr/>
          <p:nvPr/>
        </p:nvSpPr>
        <p:spPr>
          <a:xfrm>
            <a:off x="2926080" y="5614416"/>
            <a:ext cx="548640" cy="384048"/>
          </a:xfrm>
          <a:prstGeom prst="roundRect">
            <a:avLst>
              <a:gd name="adj" fmla="val 50000"/>
            </a:avLst>
          </a:prstGeom>
          <a:solidFill>
            <a:srgbClr val="1E293B"/>
          </a:solidFill>
          <a:ln w="12700">
            <a:solidFill>
              <a:srgbClr val="334155"/>
            </a:solidFill>
            <a:prstDash val="solid"/>
          </a:ln>
        </p:spPr>
      </p:sp>
      <p:sp>
        <p:nvSpPr>
          <p:cNvPr id="23" name="Text 21"/>
          <p:cNvSpPr txBox="1"/>
          <p:nvPr/>
        </p:nvSpPr>
        <p:spPr>
          <a:xfrm>
            <a:off x="2926080" y="5614416"/>
            <a:ext cx="54864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Risk</a:t>
            </a:r>
            <a:endParaRPr lang="en-US" sz="1200" dirty="0"/>
          </a:p>
        </p:txBody>
      </p:sp>
      <p:sp>
        <p:nvSpPr>
          <p:cNvPr id="24" name="Shape 22"/>
          <p:cNvSpPr/>
          <p:nvPr/>
        </p:nvSpPr>
        <p:spPr>
          <a:xfrm>
            <a:off x="3602736" y="5614416"/>
            <a:ext cx="987552" cy="384048"/>
          </a:xfrm>
          <a:prstGeom prst="roundRect">
            <a:avLst>
              <a:gd name="adj" fmla="val 50000"/>
            </a:avLst>
          </a:prstGeom>
          <a:solidFill>
            <a:srgbClr val="1E293B"/>
          </a:solidFill>
          <a:ln w="12700">
            <a:solidFill>
              <a:srgbClr val="334155"/>
            </a:solidFill>
            <a:prstDash val="solid"/>
          </a:ln>
        </p:spPr>
      </p:sp>
      <p:sp>
        <p:nvSpPr>
          <p:cNvPr id="25" name="Text 23"/>
          <p:cNvSpPr txBox="1"/>
          <p:nvPr/>
        </p:nvSpPr>
        <p:spPr>
          <a:xfrm>
            <a:off x="3602736" y="5614416"/>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Operations</a:t>
            </a:r>
            <a:endParaRPr lang="en-US" sz="1200" dirty="0"/>
          </a:p>
        </p:txBody>
      </p:sp>
      <p:sp>
        <p:nvSpPr>
          <p:cNvPr id="26" name="Shape 24"/>
          <p:cNvSpPr/>
          <p:nvPr/>
        </p:nvSpPr>
        <p:spPr>
          <a:xfrm>
            <a:off x="8549640" y="1600200"/>
            <a:ext cx="3108960" cy="3108960"/>
          </a:xfrm>
          <a:prstGeom prst="ellipse">
            <a:avLst/>
          </a:prstGeom>
          <a:solidFill>
            <a:srgbClr val="1E293B"/>
          </a:solidFill>
          <a:ln w="12700">
            <a:solidFill>
              <a:srgbClr val="334155"/>
            </a:solidFill>
            <a:prstDash val="solid"/>
          </a:ln>
        </p:spPr>
      </p:sp>
      <p:pic>
        <p:nvPicPr>
          <p:cNvPr id="27"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28"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29"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30" name="Text 25"/>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The agent map: 29 agents in six crews</a:t>
            </a:r>
            <a:endParaRPr lang="en-US" sz="2800" dirty="0"/>
          </a:p>
        </p:txBody>
      </p:sp>
      <p:pic>
        <p:nvPicPr>
          <p:cNvPr id="4"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5" name="Text 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12</a:t>
            </a:r>
            <a:endParaRPr lang="en-US" sz="900" dirty="0"/>
          </a:p>
        </p:txBody>
      </p:sp>
      <p:sp>
        <p:nvSpPr>
          <p:cNvPr id="7" name="Shape 3"/>
          <p:cNvSpPr/>
          <p:nvPr/>
        </p:nvSpPr>
        <p:spPr>
          <a:xfrm>
            <a:off x="548640" y="1435608"/>
            <a:ext cx="457200" cy="457200"/>
          </a:xfrm>
          <a:prstGeom prst="ellipse">
            <a:avLst/>
          </a:prstGeom>
          <a:solidFill>
            <a:srgbClr val="EEF2FF"/>
          </a:solidFill>
          <a:ln w="12700">
            <a:solidFill>
              <a:srgbClr val="EEF2FF"/>
            </a:solidFill>
            <a:prstDash val="solid"/>
          </a:ln>
        </p:spPr>
      </p:sp>
      <p:pic>
        <p:nvPicPr>
          <p:cNvPr id="8" name="Image 1" descr="preencoded.png">    </p:cNvPr>
          <p:cNvPicPr>
            <a:picLocks noChangeAspect="1"/>
          </p:cNvPicPr>
          <p:nvPr/>
        </p:nvPicPr>
        <p:blipFill>
          <a:blip r:embed="rId2"/>
          <a:stretch>
            <a:fillRect/>
          </a:stretch>
        </p:blipFill>
        <p:spPr>
          <a:xfrm>
            <a:off x="649224" y="1536192"/>
            <a:ext cx="256032" cy="256032"/>
          </a:xfrm>
          <a:prstGeom prst="rect">
            <a:avLst/>
          </a:prstGeom>
        </p:spPr>
      </p:pic>
      <p:sp>
        <p:nvSpPr>
          <p:cNvPr id="9" name="Text 4"/>
          <p:cNvSpPr txBox="1"/>
          <p:nvPr/>
        </p:nvSpPr>
        <p:spPr>
          <a:xfrm>
            <a:off x="1115568" y="1371600"/>
            <a:ext cx="1508760" cy="585216"/>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Intake</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4 agents</a:t>
            </a:r>
            <a:endParaRPr lang="en-US" sz="1200" dirty="0"/>
          </a:p>
        </p:txBody>
      </p:sp>
      <p:sp>
        <p:nvSpPr>
          <p:cNvPr id="10" name="Shape 5"/>
          <p:cNvSpPr/>
          <p:nvPr/>
        </p:nvSpPr>
        <p:spPr>
          <a:xfrm>
            <a:off x="2606040" y="1371600"/>
            <a:ext cx="1437589" cy="585216"/>
          </a:xfrm>
          <a:prstGeom prst="roundRect">
            <a:avLst>
              <a:gd name="adj" fmla="val 12500"/>
            </a:avLst>
          </a:prstGeom>
          <a:solidFill>
            <a:srgbClr val="EEF2FF"/>
          </a:solidFill>
          <a:ln w="9525">
            <a:solidFill>
              <a:srgbClr val="4F46E5"/>
            </a:solidFill>
            <a:prstDash val="solid"/>
          </a:ln>
        </p:spPr>
      </p:sp>
      <p:sp>
        <p:nvSpPr>
          <p:cNvPr id="11" name="Text 6"/>
          <p:cNvSpPr txBox="1"/>
          <p:nvPr/>
        </p:nvSpPr>
        <p:spPr>
          <a:xfrm>
            <a:off x="2697480" y="1399032"/>
            <a:ext cx="1309573" cy="530352"/>
          </a:xfrm>
          <a:prstGeom prst="rect">
            <a:avLst/>
          </a:prstGeom>
          <a:noFill/>
          <a:ln/>
        </p:spPr>
        <p:txBody>
          <a:bodyPr wrap="square" lIns="0" tIns="0" rIns="0" bIns="0" rtlCol="0" anchor="ctr"/>
          <a:lstStyle/>
          <a:p>
            <a:pPr indent="0" marL="0">
              <a:buNone/>
            </a:pPr>
            <a:r>
              <a:rPr lang="en-US" sz="900" b="1" dirty="0">
                <a:solidFill>
                  <a:srgbClr val="4F46E5"/>
                </a:solidFill>
                <a:latin typeface="Roboto" pitchFamily="34" charset="0"/>
                <a:ea typeface="Roboto" pitchFamily="34" charset="-122"/>
                <a:cs typeface="Roboto" pitchFamily="34" charset="-120"/>
              </a:rPr>
              <a:t>#1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Preprocessing</a:t>
            </a:r>
            <a:endParaRPr lang="en-US" sz="900" dirty="0"/>
          </a:p>
        </p:txBody>
      </p:sp>
      <p:sp>
        <p:nvSpPr>
          <p:cNvPr id="12" name="Shape 7"/>
          <p:cNvSpPr/>
          <p:nvPr/>
        </p:nvSpPr>
        <p:spPr>
          <a:xfrm>
            <a:off x="4125925" y="1371600"/>
            <a:ext cx="1437589" cy="585216"/>
          </a:xfrm>
          <a:prstGeom prst="roundRect">
            <a:avLst>
              <a:gd name="adj" fmla="val 12500"/>
            </a:avLst>
          </a:prstGeom>
          <a:solidFill>
            <a:srgbClr val="EEF2FF"/>
          </a:solidFill>
          <a:ln w="9525">
            <a:solidFill>
              <a:srgbClr val="4F46E5"/>
            </a:solidFill>
            <a:prstDash val="solid"/>
          </a:ln>
        </p:spPr>
      </p:sp>
      <p:sp>
        <p:nvSpPr>
          <p:cNvPr id="13" name="Text 8"/>
          <p:cNvSpPr txBox="1"/>
          <p:nvPr/>
        </p:nvSpPr>
        <p:spPr>
          <a:xfrm>
            <a:off x="4217365" y="1399032"/>
            <a:ext cx="1309573" cy="530352"/>
          </a:xfrm>
          <a:prstGeom prst="rect">
            <a:avLst/>
          </a:prstGeom>
          <a:noFill/>
          <a:ln/>
        </p:spPr>
        <p:txBody>
          <a:bodyPr wrap="square" lIns="0" tIns="0" rIns="0" bIns="0" rtlCol="0" anchor="ctr"/>
          <a:lstStyle/>
          <a:p>
            <a:pPr indent="0" marL="0">
              <a:buNone/>
            </a:pPr>
            <a:r>
              <a:rPr lang="en-US" sz="900" b="1" dirty="0">
                <a:solidFill>
                  <a:srgbClr val="4F46E5"/>
                </a:solidFill>
                <a:latin typeface="Roboto" pitchFamily="34" charset="0"/>
                <a:ea typeface="Roboto" pitchFamily="34" charset="-122"/>
                <a:cs typeface="Roboto" pitchFamily="34" charset="-120"/>
              </a:rPr>
              <a:t>#2  </a:t>
            </a:r>
            <a:pPr indent="0" marL="0">
              <a:buNone/>
            </a:pPr>
            <a:r>
              <a:rPr lang="en-US" sz="850" b="1" dirty="0">
                <a:solidFill>
                  <a:srgbClr val="BE123C"/>
                </a:solidFill>
                <a:latin typeface="Roboto" pitchFamily="34" charset="0"/>
                <a:ea typeface="Roboto" pitchFamily="34" charset="-122"/>
                <a:cs typeface="Roboto" pitchFamily="34" charset="-120"/>
              </a:rPr>
              <a:t>LLM</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Extraction</a:t>
            </a:r>
            <a:endParaRPr lang="en-US" sz="900" dirty="0"/>
          </a:p>
        </p:txBody>
      </p:sp>
      <p:sp>
        <p:nvSpPr>
          <p:cNvPr id="14" name="Shape 9"/>
          <p:cNvSpPr/>
          <p:nvPr/>
        </p:nvSpPr>
        <p:spPr>
          <a:xfrm>
            <a:off x="5645810" y="1371600"/>
            <a:ext cx="1437589" cy="585216"/>
          </a:xfrm>
          <a:prstGeom prst="roundRect">
            <a:avLst>
              <a:gd name="adj" fmla="val 12500"/>
            </a:avLst>
          </a:prstGeom>
          <a:solidFill>
            <a:srgbClr val="EEF2FF"/>
          </a:solidFill>
          <a:ln w="9525">
            <a:solidFill>
              <a:srgbClr val="4F46E5"/>
            </a:solidFill>
            <a:prstDash val="solid"/>
          </a:ln>
        </p:spPr>
      </p:sp>
      <p:sp>
        <p:nvSpPr>
          <p:cNvPr id="15" name="Text 10"/>
          <p:cNvSpPr txBox="1"/>
          <p:nvPr/>
        </p:nvSpPr>
        <p:spPr>
          <a:xfrm>
            <a:off x="5737250" y="1399032"/>
            <a:ext cx="1309573" cy="530352"/>
          </a:xfrm>
          <a:prstGeom prst="rect">
            <a:avLst/>
          </a:prstGeom>
          <a:noFill/>
          <a:ln/>
        </p:spPr>
        <p:txBody>
          <a:bodyPr wrap="square" lIns="0" tIns="0" rIns="0" bIns="0" rtlCol="0" anchor="ctr"/>
          <a:lstStyle/>
          <a:p>
            <a:pPr indent="0" marL="0">
              <a:buNone/>
            </a:pPr>
            <a:r>
              <a:rPr lang="en-US" sz="900" b="1" dirty="0">
                <a:solidFill>
                  <a:srgbClr val="4F46E5"/>
                </a:solidFill>
                <a:latin typeface="Roboto" pitchFamily="34" charset="0"/>
                <a:ea typeface="Roboto" pitchFamily="34" charset="-122"/>
                <a:cs typeface="Roboto" pitchFamily="34" charset="-120"/>
              </a:rPr>
              <a:t>#3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Validation</a:t>
            </a:r>
            <a:endParaRPr lang="en-US" sz="900" dirty="0"/>
          </a:p>
        </p:txBody>
      </p:sp>
      <p:sp>
        <p:nvSpPr>
          <p:cNvPr id="16" name="Shape 11"/>
          <p:cNvSpPr/>
          <p:nvPr/>
        </p:nvSpPr>
        <p:spPr>
          <a:xfrm>
            <a:off x="7165696" y="1371600"/>
            <a:ext cx="1437589" cy="585216"/>
          </a:xfrm>
          <a:prstGeom prst="roundRect">
            <a:avLst>
              <a:gd name="adj" fmla="val 12500"/>
            </a:avLst>
          </a:prstGeom>
          <a:solidFill>
            <a:srgbClr val="EEF2FF"/>
          </a:solidFill>
          <a:ln w="9525">
            <a:solidFill>
              <a:srgbClr val="4F46E5"/>
            </a:solidFill>
            <a:prstDash val="solid"/>
          </a:ln>
        </p:spPr>
      </p:sp>
      <p:sp>
        <p:nvSpPr>
          <p:cNvPr id="17" name="Text 12"/>
          <p:cNvSpPr txBox="1"/>
          <p:nvPr/>
        </p:nvSpPr>
        <p:spPr>
          <a:xfrm>
            <a:off x="7257136" y="1399032"/>
            <a:ext cx="1309573" cy="530352"/>
          </a:xfrm>
          <a:prstGeom prst="rect">
            <a:avLst/>
          </a:prstGeom>
          <a:noFill/>
          <a:ln/>
        </p:spPr>
        <p:txBody>
          <a:bodyPr wrap="square" lIns="0" tIns="0" rIns="0" bIns="0" rtlCol="0" anchor="ctr"/>
          <a:lstStyle/>
          <a:p>
            <a:pPr indent="0" marL="0">
              <a:buNone/>
            </a:pPr>
            <a:r>
              <a:rPr lang="en-US" sz="900" b="1" dirty="0">
                <a:solidFill>
                  <a:srgbClr val="4F46E5"/>
                </a:solidFill>
                <a:latin typeface="Roboto" pitchFamily="34" charset="0"/>
                <a:ea typeface="Roboto" pitchFamily="34" charset="-122"/>
                <a:cs typeface="Roboto" pitchFamily="34" charset="-120"/>
              </a:rPr>
              <a:t>#4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Document Identity</a:t>
            </a:r>
            <a:endParaRPr lang="en-US" sz="900" dirty="0"/>
          </a:p>
        </p:txBody>
      </p:sp>
      <p:sp>
        <p:nvSpPr>
          <p:cNvPr id="18" name="Shape 13"/>
          <p:cNvSpPr/>
          <p:nvPr/>
        </p:nvSpPr>
        <p:spPr>
          <a:xfrm>
            <a:off x="548640" y="2157984"/>
            <a:ext cx="457200" cy="457200"/>
          </a:xfrm>
          <a:prstGeom prst="ellipse">
            <a:avLst/>
          </a:prstGeom>
          <a:solidFill>
            <a:srgbClr val="ECFEFF"/>
          </a:solidFill>
          <a:ln w="12700">
            <a:solidFill>
              <a:srgbClr val="ECFEFF"/>
            </a:solidFill>
            <a:prstDash val="solid"/>
          </a:ln>
        </p:spPr>
      </p:sp>
      <p:pic>
        <p:nvPicPr>
          <p:cNvPr id="19" name="Image 2" descr="preencoded.png">    </p:cNvPr>
          <p:cNvPicPr>
            <a:picLocks noChangeAspect="1"/>
          </p:cNvPicPr>
          <p:nvPr/>
        </p:nvPicPr>
        <p:blipFill>
          <a:blip r:embed="rId3"/>
          <a:stretch>
            <a:fillRect/>
          </a:stretch>
        </p:blipFill>
        <p:spPr>
          <a:xfrm>
            <a:off x="649224" y="2258568"/>
            <a:ext cx="256032" cy="256032"/>
          </a:xfrm>
          <a:prstGeom prst="rect">
            <a:avLst/>
          </a:prstGeom>
        </p:spPr>
      </p:pic>
      <p:sp>
        <p:nvSpPr>
          <p:cNvPr id="20" name="Text 14"/>
          <p:cNvSpPr txBox="1"/>
          <p:nvPr/>
        </p:nvSpPr>
        <p:spPr>
          <a:xfrm>
            <a:off x="1115568" y="2093976"/>
            <a:ext cx="1508760" cy="585216"/>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Privacy</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1 agent</a:t>
            </a:r>
            <a:endParaRPr lang="en-US" sz="1200" dirty="0"/>
          </a:p>
        </p:txBody>
      </p:sp>
      <p:sp>
        <p:nvSpPr>
          <p:cNvPr id="21" name="Shape 15"/>
          <p:cNvSpPr/>
          <p:nvPr/>
        </p:nvSpPr>
        <p:spPr>
          <a:xfrm>
            <a:off x="2606040" y="2093976"/>
            <a:ext cx="1437589" cy="585216"/>
          </a:xfrm>
          <a:prstGeom prst="roundRect">
            <a:avLst>
              <a:gd name="adj" fmla="val 12500"/>
            </a:avLst>
          </a:prstGeom>
          <a:solidFill>
            <a:srgbClr val="ECFEFF"/>
          </a:solidFill>
          <a:ln w="9525">
            <a:solidFill>
              <a:srgbClr val="0891B2"/>
            </a:solidFill>
            <a:prstDash val="solid"/>
          </a:ln>
        </p:spPr>
      </p:sp>
      <p:sp>
        <p:nvSpPr>
          <p:cNvPr id="22" name="Text 16"/>
          <p:cNvSpPr txBox="1"/>
          <p:nvPr/>
        </p:nvSpPr>
        <p:spPr>
          <a:xfrm>
            <a:off x="2697480" y="2121408"/>
            <a:ext cx="1309573" cy="530352"/>
          </a:xfrm>
          <a:prstGeom prst="rect">
            <a:avLst/>
          </a:prstGeom>
          <a:noFill/>
          <a:ln/>
        </p:spPr>
        <p:txBody>
          <a:bodyPr wrap="square" lIns="0" tIns="0" rIns="0" bIns="0" rtlCol="0" anchor="ctr"/>
          <a:lstStyle/>
          <a:p>
            <a:pPr indent="0" marL="0">
              <a:buNone/>
            </a:pPr>
            <a:r>
              <a:rPr lang="en-US" sz="900" b="1" dirty="0">
                <a:solidFill>
                  <a:srgbClr val="0891B2"/>
                </a:solidFill>
                <a:latin typeface="Roboto" pitchFamily="34" charset="0"/>
                <a:ea typeface="Roboto" pitchFamily="34" charset="-122"/>
                <a:cs typeface="Roboto" pitchFamily="34" charset="-120"/>
              </a:rPr>
              <a:t>#5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PII Masking</a:t>
            </a:r>
            <a:endParaRPr lang="en-US" sz="900" dirty="0"/>
          </a:p>
        </p:txBody>
      </p:sp>
      <p:sp>
        <p:nvSpPr>
          <p:cNvPr id="23" name="Shape 17"/>
          <p:cNvSpPr/>
          <p:nvPr/>
        </p:nvSpPr>
        <p:spPr>
          <a:xfrm>
            <a:off x="548640" y="3209544"/>
            <a:ext cx="457200" cy="457200"/>
          </a:xfrm>
          <a:prstGeom prst="ellipse">
            <a:avLst/>
          </a:prstGeom>
          <a:solidFill>
            <a:srgbClr val="FFF1F2"/>
          </a:solidFill>
          <a:ln w="12700">
            <a:solidFill>
              <a:srgbClr val="FFF1F2"/>
            </a:solidFill>
            <a:prstDash val="solid"/>
          </a:ln>
        </p:spPr>
      </p:sp>
      <p:pic>
        <p:nvPicPr>
          <p:cNvPr id="24" name="Image 3" descr="preencoded.png">    </p:cNvPr>
          <p:cNvPicPr>
            <a:picLocks noChangeAspect="1"/>
          </p:cNvPicPr>
          <p:nvPr/>
        </p:nvPicPr>
        <p:blipFill>
          <a:blip r:embed="rId4"/>
          <a:stretch>
            <a:fillRect/>
          </a:stretch>
        </p:blipFill>
        <p:spPr>
          <a:xfrm>
            <a:off x="649224" y="3310128"/>
            <a:ext cx="256032" cy="256032"/>
          </a:xfrm>
          <a:prstGeom prst="rect">
            <a:avLst/>
          </a:prstGeom>
        </p:spPr>
      </p:pic>
      <p:sp>
        <p:nvSpPr>
          <p:cNvPr id="25" name="Text 18"/>
          <p:cNvSpPr txBox="1"/>
          <p:nvPr/>
        </p:nvSpPr>
        <p:spPr>
          <a:xfrm>
            <a:off x="1115568" y="2816352"/>
            <a:ext cx="1508760" cy="1243584"/>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Identity &amp; fraud evidence</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11 agents</a:t>
            </a:r>
            <a:endParaRPr lang="en-US" sz="1200" dirty="0"/>
          </a:p>
        </p:txBody>
      </p:sp>
      <p:sp>
        <p:nvSpPr>
          <p:cNvPr id="26" name="Shape 19"/>
          <p:cNvSpPr/>
          <p:nvPr/>
        </p:nvSpPr>
        <p:spPr>
          <a:xfrm>
            <a:off x="2606040" y="2816352"/>
            <a:ext cx="1437589" cy="585216"/>
          </a:xfrm>
          <a:prstGeom prst="roundRect">
            <a:avLst>
              <a:gd name="adj" fmla="val 12500"/>
            </a:avLst>
          </a:prstGeom>
          <a:solidFill>
            <a:srgbClr val="FFF1F2"/>
          </a:solidFill>
          <a:ln w="9525">
            <a:solidFill>
              <a:srgbClr val="E11D48"/>
            </a:solidFill>
            <a:prstDash val="solid"/>
          </a:ln>
        </p:spPr>
      </p:sp>
      <p:sp>
        <p:nvSpPr>
          <p:cNvPr id="27" name="Text 20"/>
          <p:cNvSpPr txBox="1"/>
          <p:nvPr/>
        </p:nvSpPr>
        <p:spPr>
          <a:xfrm>
            <a:off x="2697480"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#6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Face Verification</a:t>
            </a:r>
            <a:endParaRPr lang="en-US" sz="900" dirty="0"/>
          </a:p>
        </p:txBody>
      </p:sp>
      <p:sp>
        <p:nvSpPr>
          <p:cNvPr id="28" name="Shape 21"/>
          <p:cNvSpPr/>
          <p:nvPr/>
        </p:nvSpPr>
        <p:spPr>
          <a:xfrm>
            <a:off x="4125925" y="2816352"/>
            <a:ext cx="1437589" cy="585216"/>
          </a:xfrm>
          <a:prstGeom prst="roundRect">
            <a:avLst>
              <a:gd name="adj" fmla="val 12500"/>
            </a:avLst>
          </a:prstGeom>
          <a:solidFill>
            <a:srgbClr val="FFF1F2"/>
          </a:solidFill>
          <a:ln w="9525">
            <a:solidFill>
              <a:srgbClr val="E11D48"/>
            </a:solidFill>
            <a:prstDash val="solid"/>
          </a:ln>
        </p:spPr>
      </p:sp>
      <p:sp>
        <p:nvSpPr>
          <p:cNvPr id="29" name="Text 22"/>
          <p:cNvSpPr txBox="1"/>
          <p:nvPr/>
        </p:nvSpPr>
        <p:spPr>
          <a:xfrm>
            <a:off x="4217365"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#7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Tampering Forensics</a:t>
            </a:r>
            <a:endParaRPr lang="en-US" sz="900" dirty="0"/>
          </a:p>
        </p:txBody>
      </p:sp>
      <p:sp>
        <p:nvSpPr>
          <p:cNvPr id="30" name="Shape 23"/>
          <p:cNvSpPr/>
          <p:nvPr/>
        </p:nvSpPr>
        <p:spPr>
          <a:xfrm>
            <a:off x="5645810" y="2816352"/>
            <a:ext cx="1437589" cy="585216"/>
          </a:xfrm>
          <a:prstGeom prst="roundRect">
            <a:avLst>
              <a:gd name="adj" fmla="val 12500"/>
            </a:avLst>
          </a:prstGeom>
          <a:solidFill>
            <a:srgbClr val="FFF1F2"/>
          </a:solidFill>
          <a:ln w="9525">
            <a:solidFill>
              <a:srgbClr val="E11D48"/>
            </a:solidFill>
            <a:prstDash val="solid"/>
          </a:ln>
        </p:spPr>
      </p:sp>
      <p:sp>
        <p:nvSpPr>
          <p:cNvPr id="31" name="Text 24"/>
          <p:cNvSpPr txBox="1"/>
          <p:nvPr/>
        </p:nvSpPr>
        <p:spPr>
          <a:xfrm>
            <a:off x="5737250"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#8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Authenticity</a:t>
            </a:r>
            <a:endParaRPr lang="en-US" sz="900" dirty="0"/>
          </a:p>
        </p:txBody>
      </p:sp>
      <p:sp>
        <p:nvSpPr>
          <p:cNvPr id="32" name="Shape 25"/>
          <p:cNvSpPr/>
          <p:nvPr/>
        </p:nvSpPr>
        <p:spPr>
          <a:xfrm>
            <a:off x="7165696" y="2816352"/>
            <a:ext cx="1437589" cy="585216"/>
          </a:xfrm>
          <a:prstGeom prst="roundRect">
            <a:avLst>
              <a:gd name="adj" fmla="val 12500"/>
            </a:avLst>
          </a:prstGeom>
          <a:solidFill>
            <a:srgbClr val="FFF1F2"/>
          </a:solidFill>
          <a:ln w="9525">
            <a:solidFill>
              <a:srgbClr val="E11D48"/>
            </a:solidFill>
            <a:prstDash val="solid"/>
          </a:ln>
        </p:spPr>
      </p:sp>
      <p:sp>
        <p:nvSpPr>
          <p:cNvPr id="33" name="Text 26"/>
          <p:cNvSpPr txBox="1"/>
          <p:nvPr/>
        </p:nvSpPr>
        <p:spPr>
          <a:xfrm>
            <a:off x="7257136"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#9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Tamper Explainer</a:t>
            </a:r>
            <a:endParaRPr lang="en-US" sz="900" dirty="0"/>
          </a:p>
        </p:txBody>
      </p:sp>
      <p:sp>
        <p:nvSpPr>
          <p:cNvPr id="34" name="Shape 27"/>
          <p:cNvSpPr/>
          <p:nvPr/>
        </p:nvSpPr>
        <p:spPr>
          <a:xfrm>
            <a:off x="8685581" y="2816352"/>
            <a:ext cx="1437589" cy="585216"/>
          </a:xfrm>
          <a:prstGeom prst="roundRect">
            <a:avLst>
              <a:gd name="adj" fmla="val 12500"/>
            </a:avLst>
          </a:prstGeom>
          <a:solidFill>
            <a:srgbClr val="FFF1F2"/>
          </a:solidFill>
          <a:ln w="9525">
            <a:solidFill>
              <a:srgbClr val="E11D48"/>
            </a:solidFill>
            <a:prstDash val="solid"/>
          </a:ln>
        </p:spPr>
      </p:sp>
      <p:sp>
        <p:nvSpPr>
          <p:cNvPr id="35" name="Text 28"/>
          <p:cNvSpPr txBox="1"/>
          <p:nvPr/>
        </p:nvSpPr>
        <p:spPr>
          <a:xfrm>
            <a:off x="8777021"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#10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Tamper Locator</a:t>
            </a:r>
            <a:endParaRPr lang="en-US" sz="900" dirty="0"/>
          </a:p>
        </p:txBody>
      </p:sp>
      <p:sp>
        <p:nvSpPr>
          <p:cNvPr id="36" name="Shape 29"/>
          <p:cNvSpPr/>
          <p:nvPr/>
        </p:nvSpPr>
        <p:spPr>
          <a:xfrm>
            <a:off x="10205466" y="2816352"/>
            <a:ext cx="1437589" cy="585216"/>
          </a:xfrm>
          <a:prstGeom prst="roundRect">
            <a:avLst>
              <a:gd name="adj" fmla="val 12500"/>
            </a:avLst>
          </a:prstGeom>
          <a:solidFill>
            <a:srgbClr val="FFF1F2"/>
          </a:solidFill>
          <a:ln w="9525">
            <a:solidFill>
              <a:srgbClr val="E11D48"/>
            </a:solidFill>
            <a:prstDash val="solid"/>
          </a:ln>
        </p:spPr>
      </p:sp>
      <p:sp>
        <p:nvSpPr>
          <p:cNvPr id="37" name="Text 30"/>
          <p:cNvSpPr txBox="1"/>
          <p:nvPr/>
        </p:nvSpPr>
        <p:spPr>
          <a:xfrm>
            <a:off x="10296906" y="2843784"/>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#11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Cross-Doc Verification</a:t>
            </a:r>
            <a:endParaRPr lang="en-US" sz="900" dirty="0"/>
          </a:p>
        </p:txBody>
      </p:sp>
      <p:sp>
        <p:nvSpPr>
          <p:cNvPr id="38" name="Shape 31"/>
          <p:cNvSpPr/>
          <p:nvPr/>
        </p:nvSpPr>
        <p:spPr>
          <a:xfrm>
            <a:off x="2606040" y="3474720"/>
            <a:ext cx="1437589" cy="585216"/>
          </a:xfrm>
          <a:prstGeom prst="roundRect">
            <a:avLst>
              <a:gd name="adj" fmla="val 12500"/>
            </a:avLst>
          </a:prstGeom>
          <a:solidFill>
            <a:srgbClr val="FFF1F2"/>
          </a:solidFill>
          <a:ln w="9525">
            <a:solidFill>
              <a:srgbClr val="E11D48"/>
            </a:solidFill>
            <a:prstDash val="solid"/>
          </a:ln>
        </p:spPr>
      </p:sp>
      <p:sp>
        <p:nvSpPr>
          <p:cNvPr id="39" name="Text 32"/>
          <p:cNvSpPr txBox="1"/>
          <p:nvPr/>
        </p:nvSpPr>
        <p:spPr>
          <a:xfrm>
            <a:off x="2697480" y="3502152"/>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#12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Dedupe</a:t>
            </a:r>
            <a:endParaRPr lang="en-US" sz="900" dirty="0"/>
          </a:p>
        </p:txBody>
      </p:sp>
      <p:sp>
        <p:nvSpPr>
          <p:cNvPr id="40" name="Shape 33"/>
          <p:cNvSpPr/>
          <p:nvPr/>
        </p:nvSpPr>
        <p:spPr>
          <a:xfrm>
            <a:off x="4125925" y="3474720"/>
            <a:ext cx="1437589" cy="585216"/>
          </a:xfrm>
          <a:prstGeom prst="roundRect">
            <a:avLst>
              <a:gd name="adj" fmla="val 12500"/>
            </a:avLst>
          </a:prstGeom>
          <a:solidFill>
            <a:srgbClr val="FFF1F2"/>
          </a:solidFill>
          <a:ln w="9525">
            <a:solidFill>
              <a:srgbClr val="E11D48"/>
            </a:solidFill>
            <a:prstDash val="solid"/>
          </a:ln>
        </p:spPr>
      </p:sp>
      <p:sp>
        <p:nvSpPr>
          <p:cNvPr id="41" name="Text 34"/>
          <p:cNvSpPr txBox="1"/>
          <p:nvPr/>
        </p:nvSpPr>
        <p:spPr>
          <a:xfrm>
            <a:off x="4217365" y="3502152"/>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#13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Fraud Fusion</a:t>
            </a:r>
            <a:endParaRPr lang="en-US" sz="900" dirty="0"/>
          </a:p>
        </p:txBody>
      </p:sp>
      <p:sp>
        <p:nvSpPr>
          <p:cNvPr id="42" name="Shape 35"/>
          <p:cNvSpPr/>
          <p:nvPr/>
        </p:nvSpPr>
        <p:spPr>
          <a:xfrm>
            <a:off x="5645810" y="3474720"/>
            <a:ext cx="1437589" cy="585216"/>
          </a:xfrm>
          <a:prstGeom prst="roundRect">
            <a:avLst>
              <a:gd name="adj" fmla="val 12500"/>
            </a:avLst>
          </a:prstGeom>
          <a:solidFill>
            <a:srgbClr val="FFF1F2"/>
          </a:solidFill>
          <a:ln w="9525">
            <a:solidFill>
              <a:srgbClr val="E11D48"/>
            </a:solidFill>
            <a:prstDash val="solid"/>
          </a:ln>
        </p:spPr>
      </p:sp>
      <p:sp>
        <p:nvSpPr>
          <p:cNvPr id="43" name="Text 36"/>
          <p:cNvSpPr txBox="1"/>
          <p:nvPr/>
        </p:nvSpPr>
        <p:spPr>
          <a:xfrm>
            <a:off x="5737250" y="3502152"/>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#14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Fraud Patterns</a:t>
            </a:r>
            <a:endParaRPr lang="en-US" sz="900" dirty="0"/>
          </a:p>
        </p:txBody>
      </p:sp>
      <p:sp>
        <p:nvSpPr>
          <p:cNvPr id="44" name="Shape 37"/>
          <p:cNvSpPr/>
          <p:nvPr/>
        </p:nvSpPr>
        <p:spPr>
          <a:xfrm>
            <a:off x="7165696" y="3474720"/>
            <a:ext cx="1437589" cy="585216"/>
          </a:xfrm>
          <a:prstGeom prst="roundRect">
            <a:avLst>
              <a:gd name="adj" fmla="val 12500"/>
            </a:avLst>
          </a:prstGeom>
          <a:solidFill>
            <a:srgbClr val="FFF1F2"/>
          </a:solidFill>
          <a:ln w="9525">
            <a:solidFill>
              <a:srgbClr val="E11D48"/>
            </a:solidFill>
            <a:prstDash val="solid"/>
          </a:ln>
        </p:spPr>
      </p:sp>
      <p:sp>
        <p:nvSpPr>
          <p:cNvPr id="45" name="Text 38"/>
          <p:cNvSpPr txBox="1"/>
          <p:nvPr/>
        </p:nvSpPr>
        <p:spPr>
          <a:xfrm>
            <a:off x="7257136" y="3502152"/>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#15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Fraud Triage</a:t>
            </a:r>
            <a:endParaRPr lang="en-US" sz="900" dirty="0"/>
          </a:p>
        </p:txBody>
      </p:sp>
      <p:sp>
        <p:nvSpPr>
          <p:cNvPr id="46" name="Shape 39"/>
          <p:cNvSpPr/>
          <p:nvPr/>
        </p:nvSpPr>
        <p:spPr>
          <a:xfrm>
            <a:off x="8685581" y="3474720"/>
            <a:ext cx="1437589" cy="585216"/>
          </a:xfrm>
          <a:prstGeom prst="roundRect">
            <a:avLst>
              <a:gd name="adj" fmla="val 12500"/>
            </a:avLst>
          </a:prstGeom>
          <a:solidFill>
            <a:srgbClr val="FFF1F2"/>
          </a:solidFill>
          <a:ln w="9525">
            <a:solidFill>
              <a:srgbClr val="E11D48"/>
            </a:solidFill>
            <a:prstDash val="solid"/>
          </a:ln>
        </p:spPr>
      </p:sp>
      <p:sp>
        <p:nvSpPr>
          <p:cNvPr id="47" name="Text 40"/>
          <p:cNvSpPr txBox="1"/>
          <p:nvPr/>
        </p:nvSpPr>
        <p:spPr>
          <a:xfrm>
            <a:off x="8777021" y="3502152"/>
            <a:ext cx="1309573" cy="530352"/>
          </a:xfrm>
          <a:prstGeom prst="rect">
            <a:avLst/>
          </a:prstGeom>
          <a:noFill/>
          <a:ln/>
        </p:spPr>
        <p:txBody>
          <a:bodyPr wrap="square" lIns="0" tIns="0" rIns="0" bIns="0" rtlCol="0" anchor="ctr"/>
          <a:lstStyle/>
          <a:p>
            <a:pPr indent="0" marL="0">
              <a:buNone/>
            </a:pPr>
            <a:r>
              <a:rPr lang="en-US" sz="900" b="1" dirty="0">
                <a:solidFill>
                  <a:srgbClr val="E11D48"/>
                </a:solidFill>
                <a:latin typeface="Roboto" pitchFamily="34" charset="0"/>
                <a:ea typeface="Roboto" pitchFamily="34" charset="-122"/>
                <a:cs typeface="Roboto" pitchFamily="34" charset="-120"/>
              </a:rPr>
              <a:t>#29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Liveness</a:t>
            </a:r>
            <a:endParaRPr lang="en-US" sz="900" dirty="0"/>
          </a:p>
        </p:txBody>
      </p:sp>
      <p:sp>
        <p:nvSpPr>
          <p:cNvPr id="48" name="Shape 41"/>
          <p:cNvSpPr/>
          <p:nvPr/>
        </p:nvSpPr>
        <p:spPr>
          <a:xfrm>
            <a:off x="548640" y="4261104"/>
            <a:ext cx="457200" cy="457200"/>
          </a:xfrm>
          <a:prstGeom prst="ellipse">
            <a:avLst/>
          </a:prstGeom>
          <a:solidFill>
            <a:srgbClr val="ECFDF5"/>
          </a:solidFill>
          <a:ln w="12700">
            <a:solidFill>
              <a:srgbClr val="ECFDF5"/>
            </a:solidFill>
            <a:prstDash val="solid"/>
          </a:ln>
        </p:spPr>
      </p:sp>
      <p:pic>
        <p:nvPicPr>
          <p:cNvPr id="49" name="Image 4" descr="preencoded.png">    </p:cNvPr>
          <p:cNvPicPr>
            <a:picLocks noChangeAspect="1"/>
          </p:cNvPicPr>
          <p:nvPr/>
        </p:nvPicPr>
        <p:blipFill>
          <a:blip r:embed="rId5"/>
          <a:stretch>
            <a:fillRect/>
          </a:stretch>
        </p:blipFill>
        <p:spPr>
          <a:xfrm>
            <a:off x="649224" y="4361688"/>
            <a:ext cx="256032" cy="256032"/>
          </a:xfrm>
          <a:prstGeom prst="rect">
            <a:avLst/>
          </a:prstGeom>
        </p:spPr>
      </p:pic>
      <p:sp>
        <p:nvSpPr>
          <p:cNvPr id="50" name="Text 42"/>
          <p:cNvSpPr txBox="1"/>
          <p:nvPr/>
        </p:nvSpPr>
        <p:spPr>
          <a:xfrm>
            <a:off x="1115568" y="4197096"/>
            <a:ext cx="1508760" cy="585216"/>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Compliance</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4 agents</a:t>
            </a:r>
            <a:endParaRPr lang="en-US" sz="1200" dirty="0"/>
          </a:p>
        </p:txBody>
      </p:sp>
      <p:sp>
        <p:nvSpPr>
          <p:cNvPr id="51" name="Shape 43"/>
          <p:cNvSpPr/>
          <p:nvPr/>
        </p:nvSpPr>
        <p:spPr>
          <a:xfrm>
            <a:off x="2606040" y="4197096"/>
            <a:ext cx="1437589" cy="585216"/>
          </a:xfrm>
          <a:prstGeom prst="roundRect">
            <a:avLst>
              <a:gd name="adj" fmla="val 12500"/>
            </a:avLst>
          </a:prstGeom>
          <a:solidFill>
            <a:srgbClr val="ECFDF5"/>
          </a:solidFill>
          <a:ln w="9525">
            <a:solidFill>
              <a:srgbClr val="059669"/>
            </a:solidFill>
            <a:prstDash val="solid"/>
          </a:ln>
        </p:spPr>
      </p:sp>
      <p:sp>
        <p:nvSpPr>
          <p:cNvPr id="52" name="Text 44"/>
          <p:cNvSpPr txBox="1"/>
          <p:nvPr/>
        </p:nvSpPr>
        <p:spPr>
          <a:xfrm>
            <a:off x="2697480" y="4224528"/>
            <a:ext cx="1309573" cy="530352"/>
          </a:xfrm>
          <a:prstGeom prst="rect">
            <a:avLst/>
          </a:prstGeom>
          <a:noFill/>
          <a:ln/>
        </p:spPr>
        <p:txBody>
          <a:bodyPr wrap="square" lIns="0" tIns="0" rIns="0" bIns="0" rtlCol="0" anchor="ctr"/>
          <a:lstStyle/>
          <a:p>
            <a:pPr indent="0" marL="0">
              <a:buNone/>
            </a:pPr>
            <a:r>
              <a:rPr lang="en-US" sz="900" b="1" dirty="0">
                <a:solidFill>
                  <a:srgbClr val="059669"/>
                </a:solidFill>
                <a:latin typeface="Roboto" pitchFamily="34" charset="0"/>
                <a:ea typeface="Roboto" pitchFamily="34" charset="-122"/>
                <a:cs typeface="Roboto" pitchFamily="34" charset="-120"/>
              </a:rPr>
              <a:t>#16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KB Ingestion</a:t>
            </a:r>
            <a:endParaRPr lang="en-US" sz="900" dirty="0"/>
          </a:p>
        </p:txBody>
      </p:sp>
      <p:sp>
        <p:nvSpPr>
          <p:cNvPr id="53" name="Shape 45"/>
          <p:cNvSpPr/>
          <p:nvPr/>
        </p:nvSpPr>
        <p:spPr>
          <a:xfrm>
            <a:off x="4125925" y="4197096"/>
            <a:ext cx="1437589" cy="585216"/>
          </a:xfrm>
          <a:prstGeom prst="roundRect">
            <a:avLst>
              <a:gd name="adj" fmla="val 12500"/>
            </a:avLst>
          </a:prstGeom>
          <a:solidFill>
            <a:srgbClr val="ECFDF5"/>
          </a:solidFill>
          <a:ln w="9525">
            <a:solidFill>
              <a:srgbClr val="059669"/>
            </a:solidFill>
            <a:prstDash val="solid"/>
          </a:ln>
        </p:spPr>
      </p:sp>
      <p:sp>
        <p:nvSpPr>
          <p:cNvPr id="54" name="Text 46"/>
          <p:cNvSpPr txBox="1"/>
          <p:nvPr/>
        </p:nvSpPr>
        <p:spPr>
          <a:xfrm>
            <a:off x="4217365" y="4224528"/>
            <a:ext cx="1309573" cy="530352"/>
          </a:xfrm>
          <a:prstGeom prst="rect">
            <a:avLst/>
          </a:prstGeom>
          <a:noFill/>
          <a:ln/>
        </p:spPr>
        <p:txBody>
          <a:bodyPr wrap="square" lIns="0" tIns="0" rIns="0" bIns="0" rtlCol="0" anchor="ctr"/>
          <a:lstStyle/>
          <a:p>
            <a:pPr indent="0" marL="0">
              <a:buNone/>
            </a:pPr>
            <a:r>
              <a:rPr lang="en-US" sz="900" b="1" dirty="0">
                <a:solidFill>
                  <a:srgbClr val="059669"/>
                </a:solidFill>
                <a:latin typeface="Roboto" pitchFamily="34" charset="0"/>
                <a:ea typeface="Roboto" pitchFamily="34" charset="-122"/>
                <a:cs typeface="Roboto" pitchFamily="34" charset="-120"/>
              </a:rPr>
              <a:t>#17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Rule Authoring</a:t>
            </a:r>
            <a:endParaRPr lang="en-US" sz="900" dirty="0"/>
          </a:p>
        </p:txBody>
      </p:sp>
      <p:sp>
        <p:nvSpPr>
          <p:cNvPr id="55" name="Shape 47"/>
          <p:cNvSpPr/>
          <p:nvPr/>
        </p:nvSpPr>
        <p:spPr>
          <a:xfrm>
            <a:off x="5645810" y="4197096"/>
            <a:ext cx="1437589" cy="585216"/>
          </a:xfrm>
          <a:prstGeom prst="roundRect">
            <a:avLst>
              <a:gd name="adj" fmla="val 12500"/>
            </a:avLst>
          </a:prstGeom>
          <a:solidFill>
            <a:srgbClr val="ECFDF5"/>
          </a:solidFill>
          <a:ln w="9525">
            <a:solidFill>
              <a:srgbClr val="059669"/>
            </a:solidFill>
            <a:prstDash val="solid"/>
          </a:ln>
        </p:spPr>
      </p:sp>
      <p:sp>
        <p:nvSpPr>
          <p:cNvPr id="56" name="Text 48"/>
          <p:cNvSpPr txBox="1"/>
          <p:nvPr/>
        </p:nvSpPr>
        <p:spPr>
          <a:xfrm>
            <a:off x="5737250" y="4224528"/>
            <a:ext cx="1309573" cy="530352"/>
          </a:xfrm>
          <a:prstGeom prst="rect">
            <a:avLst/>
          </a:prstGeom>
          <a:noFill/>
          <a:ln/>
        </p:spPr>
        <p:txBody>
          <a:bodyPr wrap="square" lIns="0" tIns="0" rIns="0" bIns="0" rtlCol="0" anchor="ctr"/>
          <a:lstStyle/>
          <a:p>
            <a:pPr indent="0" marL="0">
              <a:buNone/>
            </a:pPr>
            <a:r>
              <a:rPr lang="en-US" sz="900" b="1" dirty="0">
                <a:solidFill>
                  <a:srgbClr val="059669"/>
                </a:solidFill>
                <a:latin typeface="Roboto" pitchFamily="34" charset="0"/>
                <a:ea typeface="Roboto" pitchFamily="34" charset="-122"/>
                <a:cs typeface="Roboto" pitchFamily="34" charset="-120"/>
              </a:rPr>
              <a:t>#18  </a:t>
            </a:r>
            <a:pPr indent="0" marL="0">
              <a:buNone/>
            </a:pPr>
            <a:r>
              <a:rPr lang="en-US" sz="850" b="1" dirty="0">
                <a:solidFill>
                  <a:srgbClr val="BE123C"/>
                </a:solidFill>
                <a:latin typeface="Roboto" pitchFamily="34" charset="0"/>
                <a:ea typeface="Roboto" pitchFamily="34" charset="-122"/>
                <a:cs typeface="Roboto" pitchFamily="34" charset="-120"/>
              </a:rPr>
              <a:t>LLM</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Regulatory Q&amp;A</a:t>
            </a:r>
            <a:endParaRPr lang="en-US" sz="900" dirty="0"/>
          </a:p>
        </p:txBody>
      </p:sp>
      <p:sp>
        <p:nvSpPr>
          <p:cNvPr id="57" name="Shape 49"/>
          <p:cNvSpPr/>
          <p:nvPr/>
        </p:nvSpPr>
        <p:spPr>
          <a:xfrm>
            <a:off x="7165696" y="4197096"/>
            <a:ext cx="1437589" cy="585216"/>
          </a:xfrm>
          <a:prstGeom prst="roundRect">
            <a:avLst>
              <a:gd name="adj" fmla="val 12500"/>
            </a:avLst>
          </a:prstGeom>
          <a:solidFill>
            <a:srgbClr val="ECFDF5"/>
          </a:solidFill>
          <a:ln w="9525">
            <a:solidFill>
              <a:srgbClr val="059669"/>
            </a:solidFill>
            <a:prstDash val="solid"/>
          </a:ln>
        </p:spPr>
      </p:sp>
      <p:sp>
        <p:nvSpPr>
          <p:cNvPr id="58" name="Text 50"/>
          <p:cNvSpPr txBox="1"/>
          <p:nvPr/>
        </p:nvSpPr>
        <p:spPr>
          <a:xfrm>
            <a:off x="7257136" y="4224528"/>
            <a:ext cx="1309573" cy="530352"/>
          </a:xfrm>
          <a:prstGeom prst="rect">
            <a:avLst/>
          </a:prstGeom>
          <a:noFill/>
          <a:ln/>
        </p:spPr>
        <p:txBody>
          <a:bodyPr wrap="square" lIns="0" tIns="0" rIns="0" bIns="0" rtlCol="0" anchor="ctr"/>
          <a:lstStyle/>
          <a:p>
            <a:pPr indent="0" marL="0">
              <a:buNone/>
            </a:pPr>
            <a:r>
              <a:rPr lang="en-US" sz="900" b="1" dirty="0">
                <a:solidFill>
                  <a:srgbClr val="059669"/>
                </a:solidFill>
                <a:latin typeface="Roboto" pitchFamily="34" charset="0"/>
                <a:ea typeface="Roboto" pitchFamily="34" charset="-122"/>
                <a:cs typeface="Roboto" pitchFamily="34" charset="-120"/>
              </a:rPr>
              <a:t>#19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Policy Check</a:t>
            </a:r>
            <a:endParaRPr lang="en-US" sz="900" dirty="0"/>
          </a:p>
        </p:txBody>
      </p:sp>
      <p:sp>
        <p:nvSpPr>
          <p:cNvPr id="59" name="Shape 51"/>
          <p:cNvSpPr/>
          <p:nvPr/>
        </p:nvSpPr>
        <p:spPr>
          <a:xfrm>
            <a:off x="548640" y="4983480"/>
            <a:ext cx="457200" cy="457200"/>
          </a:xfrm>
          <a:prstGeom prst="ellipse">
            <a:avLst/>
          </a:prstGeom>
          <a:solidFill>
            <a:srgbClr val="FFFBEB"/>
          </a:solidFill>
          <a:ln w="12700">
            <a:solidFill>
              <a:srgbClr val="FFFBEB"/>
            </a:solidFill>
            <a:prstDash val="solid"/>
          </a:ln>
        </p:spPr>
      </p:sp>
      <p:pic>
        <p:nvPicPr>
          <p:cNvPr id="60" name="Image 5" descr="preencoded.png">    </p:cNvPr>
          <p:cNvPicPr>
            <a:picLocks noChangeAspect="1"/>
          </p:cNvPicPr>
          <p:nvPr/>
        </p:nvPicPr>
        <p:blipFill>
          <a:blip r:embed="rId6"/>
          <a:stretch>
            <a:fillRect/>
          </a:stretch>
        </p:blipFill>
        <p:spPr>
          <a:xfrm>
            <a:off x="649224" y="5084064"/>
            <a:ext cx="256032" cy="256032"/>
          </a:xfrm>
          <a:prstGeom prst="rect">
            <a:avLst/>
          </a:prstGeom>
        </p:spPr>
      </p:pic>
      <p:sp>
        <p:nvSpPr>
          <p:cNvPr id="61" name="Text 52"/>
          <p:cNvSpPr txBox="1"/>
          <p:nvPr/>
        </p:nvSpPr>
        <p:spPr>
          <a:xfrm>
            <a:off x="1115568" y="4919472"/>
            <a:ext cx="1508760" cy="585216"/>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Underwriting</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6 agents</a:t>
            </a:r>
            <a:endParaRPr lang="en-US" sz="1200" dirty="0"/>
          </a:p>
        </p:txBody>
      </p:sp>
      <p:sp>
        <p:nvSpPr>
          <p:cNvPr id="62" name="Shape 53"/>
          <p:cNvSpPr/>
          <p:nvPr/>
        </p:nvSpPr>
        <p:spPr>
          <a:xfrm>
            <a:off x="2606040" y="4919472"/>
            <a:ext cx="1437589" cy="585216"/>
          </a:xfrm>
          <a:prstGeom prst="roundRect">
            <a:avLst>
              <a:gd name="adj" fmla="val 12500"/>
            </a:avLst>
          </a:prstGeom>
          <a:solidFill>
            <a:srgbClr val="FFFBEB"/>
          </a:solidFill>
          <a:ln w="9525">
            <a:solidFill>
              <a:srgbClr val="D97706"/>
            </a:solidFill>
            <a:prstDash val="solid"/>
          </a:ln>
        </p:spPr>
      </p:sp>
      <p:sp>
        <p:nvSpPr>
          <p:cNvPr id="63" name="Text 54"/>
          <p:cNvSpPr txBox="1"/>
          <p:nvPr/>
        </p:nvSpPr>
        <p:spPr>
          <a:xfrm>
            <a:off x="2697480"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#20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Income Analysis</a:t>
            </a:r>
            <a:endParaRPr lang="en-US" sz="900" dirty="0"/>
          </a:p>
        </p:txBody>
      </p:sp>
      <p:sp>
        <p:nvSpPr>
          <p:cNvPr id="64" name="Shape 55"/>
          <p:cNvSpPr/>
          <p:nvPr/>
        </p:nvSpPr>
        <p:spPr>
          <a:xfrm>
            <a:off x="4125925" y="4919472"/>
            <a:ext cx="1437589" cy="585216"/>
          </a:xfrm>
          <a:prstGeom prst="roundRect">
            <a:avLst>
              <a:gd name="adj" fmla="val 12500"/>
            </a:avLst>
          </a:prstGeom>
          <a:solidFill>
            <a:srgbClr val="FFFBEB"/>
          </a:solidFill>
          <a:ln w="9525">
            <a:solidFill>
              <a:srgbClr val="D97706"/>
            </a:solidFill>
            <a:prstDash val="solid"/>
          </a:ln>
        </p:spPr>
      </p:sp>
      <p:sp>
        <p:nvSpPr>
          <p:cNvPr id="65" name="Text 56"/>
          <p:cNvSpPr txBox="1"/>
          <p:nvPr/>
        </p:nvSpPr>
        <p:spPr>
          <a:xfrm>
            <a:off x="4217365"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#21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Risk Scoring</a:t>
            </a:r>
            <a:endParaRPr lang="en-US" sz="900" dirty="0"/>
          </a:p>
        </p:txBody>
      </p:sp>
      <p:sp>
        <p:nvSpPr>
          <p:cNvPr id="66" name="Shape 57"/>
          <p:cNvSpPr/>
          <p:nvPr/>
        </p:nvSpPr>
        <p:spPr>
          <a:xfrm>
            <a:off x="5645810" y="4919472"/>
            <a:ext cx="1437589" cy="585216"/>
          </a:xfrm>
          <a:prstGeom prst="roundRect">
            <a:avLst>
              <a:gd name="adj" fmla="val 12500"/>
            </a:avLst>
          </a:prstGeom>
          <a:solidFill>
            <a:srgbClr val="FFFBEB"/>
          </a:solidFill>
          <a:ln w="9525">
            <a:solidFill>
              <a:srgbClr val="D97706"/>
            </a:solidFill>
            <a:prstDash val="solid"/>
          </a:ln>
        </p:spPr>
      </p:sp>
      <p:sp>
        <p:nvSpPr>
          <p:cNvPr id="67" name="Text 58"/>
          <p:cNvSpPr txBox="1"/>
          <p:nvPr/>
        </p:nvSpPr>
        <p:spPr>
          <a:xfrm>
            <a:off x="5737250"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#22  </a:t>
            </a:r>
            <a:pPr indent="0" marL="0">
              <a:buNone/>
            </a:pPr>
            <a:r>
              <a:rPr lang="en-US" sz="850" b="1" dirty="0">
                <a:solidFill>
                  <a:srgbClr val="BE123C"/>
                </a:solidFill>
                <a:latin typeface="Roboto" pitchFamily="34" charset="0"/>
                <a:ea typeface="Roboto" pitchFamily="34" charset="-122"/>
                <a:cs typeface="Roboto" pitchFamily="34" charset="-120"/>
              </a:rPr>
              <a:t>LLM</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Credit Memo</a:t>
            </a:r>
            <a:endParaRPr lang="en-US" sz="900" dirty="0"/>
          </a:p>
        </p:txBody>
      </p:sp>
      <p:sp>
        <p:nvSpPr>
          <p:cNvPr id="68" name="Shape 59"/>
          <p:cNvSpPr/>
          <p:nvPr/>
        </p:nvSpPr>
        <p:spPr>
          <a:xfrm>
            <a:off x="7165696" y="4919472"/>
            <a:ext cx="1437589" cy="585216"/>
          </a:xfrm>
          <a:prstGeom prst="roundRect">
            <a:avLst>
              <a:gd name="adj" fmla="val 12500"/>
            </a:avLst>
          </a:prstGeom>
          <a:solidFill>
            <a:srgbClr val="FFFBEB"/>
          </a:solidFill>
          <a:ln w="9525">
            <a:solidFill>
              <a:srgbClr val="D97706"/>
            </a:solidFill>
            <a:prstDash val="solid"/>
          </a:ln>
        </p:spPr>
      </p:sp>
      <p:sp>
        <p:nvSpPr>
          <p:cNvPr id="69" name="Text 60"/>
          <p:cNvSpPr txBox="1"/>
          <p:nvPr/>
        </p:nvSpPr>
        <p:spPr>
          <a:xfrm>
            <a:off x="7257136"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#23  </a:t>
            </a:r>
            <a:pPr indent="0" marL="0">
              <a:buNone/>
            </a:pPr>
            <a:r>
              <a:rPr lang="en-US" sz="850" b="1" dirty="0">
                <a:solidFill>
                  <a:srgbClr val="BE123C"/>
                </a:solidFill>
                <a:latin typeface="Roboto" pitchFamily="34" charset="0"/>
                <a:ea typeface="Roboto" pitchFamily="34" charset="-122"/>
                <a:cs typeface="Roboto" pitchFamily="34" charset="-120"/>
              </a:rPr>
              <a:t>LLM</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Underwriting Supervisor</a:t>
            </a:r>
            <a:endParaRPr lang="en-US" sz="900" dirty="0"/>
          </a:p>
        </p:txBody>
      </p:sp>
      <p:sp>
        <p:nvSpPr>
          <p:cNvPr id="70" name="Shape 61"/>
          <p:cNvSpPr/>
          <p:nvPr/>
        </p:nvSpPr>
        <p:spPr>
          <a:xfrm>
            <a:off x="8685581" y="4919472"/>
            <a:ext cx="1437589" cy="585216"/>
          </a:xfrm>
          <a:prstGeom prst="roundRect">
            <a:avLst>
              <a:gd name="adj" fmla="val 12500"/>
            </a:avLst>
          </a:prstGeom>
          <a:solidFill>
            <a:srgbClr val="FFFBEB"/>
          </a:solidFill>
          <a:ln w="9525">
            <a:solidFill>
              <a:srgbClr val="D97706"/>
            </a:solidFill>
            <a:prstDash val="solid"/>
          </a:ln>
        </p:spPr>
      </p:sp>
      <p:sp>
        <p:nvSpPr>
          <p:cNvPr id="71" name="Text 62"/>
          <p:cNvSpPr txBox="1"/>
          <p:nvPr/>
        </p:nvSpPr>
        <p:spPr>
          <a:xfrm>
            <a:off x="8777021"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#24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Offer Generation</a:t>
            </a:r>
            <a:endParaRPr lang="en-US" sz="900" dirty="0"/>
          </a:p>
        </p:txBody>
      </p:sp>
      <p:sp>
        <p:nvSpPr>
          <p:cNvPr id="72" name="Shape 63"/>
          <p:cNvSpPr/>
          <p:nvPr/>
        </p:nvSpPr>
        <p:spPr>
          <a:xfrm>
            <a:off x="10205466" y="4919472"/>
            <a:ext cx="1437589" cy="585216"/>
          </a:xfrm>
          <a:prstGeom prst="roundRect">
            <a:avLst>
              <a:gd name="adj" fmla="val 12500"/>
            </a:avLst>
          </a:prstGeom>
          <a:solidFill>
            <a:srgbClr val="FFFBEB"/>
          </a:solidFill>
          <a:ln w="9525">
            <a:solidFill>
              <a:srgbClr val="D97706"/>
            </a:solidFill>
            <a:prstDash val="solid"/>
          </a:ln>
        </p:spPr>
      </p:sp>
      <p:sp>
        <p:nvSpPr>
          <p:cNvPr id="73" name="Text 64"/>
          <p:cNvSpPr txBox="1"/>
          <p:nvPr/>
        </p:nvSpPr>
        <p:spPr>
          <a:xfrm>
            <a:off x="10296906" y="4946904"/>
            <a:ext cx="1309573" cy="530352"/>
          </a:xfrm>
          <a:prstGeom prst="rect">
            <a:avLst/>
          </a:prstGeom>
          <a:noFill/>
          <a:ln/>
        </p:spPr>
        <p:txBody>
          <a:bodyPr wrap="square" lIns="0" tIns="0" rIns="0" bIns="0" rtlCol="0" anchor="ctr"/>
          <a:lstStyle/>
          <a:p>
            <a:pPr indent="0" marL="0">
              <a:buNone/>
            </a:pPr>
            <a:r>
              <a:rPr lang="en-US" sz="900" b="1" dirty="0">
                <a:solidFill>
                  <a:srgbClr val="D97706"/>
                </a:solidFill>
                <a:latin typeface="Roboto" pitchFamily="34" charset="0"/>
                <a:ea typeface="Roboto" pitchFamily="34" charset="-122"/>
                <a:cs typeface="Roboto" pitchFamily="34" charset="-120"/>
              </a:rPr>
              <a:t>#25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Workflow Router</a:t>
            </a:r>
            <a:endParaRPr lang="en-US" sz="900" dirty="0"/>
          </a:p>
        </p:txBody>
      </p:sp>
      <p:sp>
        <p:nvSpPr>
          <p:cNvPr id="74" name="Shape 65"/>
          <p:cNvSpPr/>
          <p:nvPr/>
        </p:nvSpPr>
        <p:spPr>
          <a:xfrm>
            <a:off x="548640" y="5705856"/>
            <a:ext cx="457200" cy="457200"/>
          </a:xfrm>
          <a:prstGeom prst="ellipse">
            <a:avLst/>
          </a:prstGeom>
          <a:solidFill>
            <a:srgbClr val="F5F3FF"/>
          </a:solidFill>
          <a:ln w="12700">
            <a:solidFill>
              <a:srgbClr val="F5F3FF"/>
            </a:solidFill>
            <a:prstDash val="solid"/>
          </a:ln>
        </p:spPr>
      </p:sp>
      <p:pic>
        <p:nvPicPr>
          <p:cNvPr id="75" name="Image 6" descr="preencoded.png">    </p:cNvPr>
          <p:cNvPicPr>
            <a:picLocks noChangeAspect="1"/>
          </p:cNvPicPr>
          <p:nvPr/>
        </p:nvPicPr>
        <p:blipFill>
          <a:blip r:embed="rId7"/>
          <a:stretch>
            <a:fillRect/>
          </a:stretch>
        </p:blipFill>
        <p:spPr>
          <a:xfrm>
            <a:off x="649224" y="5806440"/>
            <a:ext cx="256032" cy="256032"/>
          </a:xfrm>
          <a:prstGeom prst="rect">
            <a:avLst/>
          </a:prstGeom>
        </p:spPr>
      </p:pic>
      <p:sp>
        <p:nvSpPr>
          <p:cNvPr id="76" name="Text 66"/>
          <p:cNvSpPr txBox="1"/>
          <p:nvPr/>
        </p:nvSpPr>
        <p:spPr>
          <a:xfrm>
            <a:off x="1115568" y="5641848"/>
            <a:ext cx="1508760" cy="585216"/>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Operations</a:t>
            </a:r>
            <a:endParaRPr lang="en-US" sz="1200" dirty="0"/>
          </a:p>
          <a:p>
            <a:pPr indent="0" marL="0">
              <a:buNone/>
            </a:pPr>
            <a:r>
              <a:rPr lang="en-US" sz="1000" dirty="0">
                <a:solidFill>
                  <a:srgbClr val="64748B"/>
                </a:solidFill>
                <a:latin typeface="Roboto" pitchFamily="34" charset="0"/>
                <a:ea typeface="Roboto" pitchFamily="34" charset="-122"/>
                <a:cs typeface="Roboto" pitchFamily="34" charset="-120"/>
              </a:rPr>
              <a:t>3 agents</a:t>
            </a:r>
            <a:endParaRPr lang="en-US" sz="1200" dirty="0"/>
          </a:p>
        </p:txBody>
      </p:sp>
      <p:sp>
        <p:nvSpPr>
          <p:cNvPr id="77" name="Shape 67"/>
          <p:cNvSpPr/>
          <p:nvPr/>
        </p:nvSpPr>
        <p:spPr>
          <a:xfrm>
            <a:off x="2606040" y="5641848"/>
            <a:ext cx="1437589" cy="585216"/>
          </a:xfrm>
          <a:prstGeom prst="roundRect">
            <a:avLst>
              <a:gd name="adj" fmla="val 12500"/>
            </a:avLst>
          </a:prstGeom>
          <a:solidFill>
            <a:srgbClr val="F5F3FF"/>
          </a:solidFill>
          <a:ln w="9525">
            <a:solidFill>
              <a:srgbClr val="7C3AED"/>
            </a:solidFill>
            <a:prstDash val="solid"/>
          </a:ln>
        </p:spPr>
      </p:sp>
      <p:sp>
        <p:nvSpPr>
          <p:cNvPr id="78" name="Text 68"/>
          <p:cNvSpPr txBox="1"/>
          <p:nvPr/>
        </p:nvSpPr>
        <p:spPr>
          <a:xfrm>
            <a:off x="2697480" y="5669280"/>
            <a:ext cx="1309573" cy="530352"/>
          </a:xfrm>
          <a:prstGeom prst="rect">
            <a:avLst/>
          </a:prstGeom>
          <a:noFill/>
          <a:ln/>
        </p:spPr>
        <p:txBody>
          <a:bodyPr wrap="square" lIns="0" tIns="0" rIns="0" bIns="0" rtlCol="0" anchor="ctr"/>
          <a:lstStyle/>
          <a:p>
            <a:pPr indent="0" marL="0">
              <a:buNone/>
            </a:pPr>
            <a:r>
              <a:rPr lang="en-US" sz="900" b="1" dirty="0">
                <a:solidFill>
                  <a:srgbClr val="7C3AED"/>
                </a:solidFill>
                <a:latin typeface="Roboto" pitchFamily="34" charset="0"/>
                <a:ea typeface="Roboto" pitchFamily="34" charset="-122"/>
                <a:cs typeface="Roboto" pitchFamily="34" charset="-120"/>
              </a:rPr>
              <a:t>#26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Notifier</a:t>
            </a:r>
            <a:endParaRPr lang="en-US" sz="900" dirty="0"/>
          </a:p>
        </p:txBody>
      </p:sp>
      <p:sp>
        <p:nvSpPr>
          <p:cNvPr id="79" name="Shape 69"/>
          <p:cNvSpPr/>
          <p:nvPr/>
        </p:nvSpPr>
        <p:spPr>
          <a:xfrm>
            <a:off x="4125925" y="5641848"/>
            <a:ext cx="1437589" cy="585216"/>
          </a:xfrm>
          <a:prstGeom prst="roundRect">
            <a:avLst>
              <a:gd name="adj" fmla="val 12500"/>
            </a:avLst>
          </a:prstGeom>
          <a:solidFill>
            <a:srgbClr val="F5F3FF"/>
          </a:solidFill>
          <a:ln w="9525">
            <a:solidFill>
              <a:srgbClr val="7C3AED"/>
            </a:solidFill>
            <a:prstDash val="solid"/>
          </a:ln>
        </p:spPr>
      </p:sp>
      <p:sp>
        <p:nvSpPr>
          <p:cNvPr id="80" name="Text 70"/>
          <p:cNvSpPr txBox="1"/>
          <p:nvPr/>
        </p:nvSpPr>
        <p:spPr>
          <a:xfrm>
            <a:off x="4217365" y="5669280"/>
            <a:ext cx="1309573" cy="530352"/>
          </a:xfrm>
          <a:prstGeom prst="rect">
            <a:avLst/>
          </a:prstGeom>
          <a:noFill/>
          <a:ln/>
        </p:spPr>
        <p:txBody>
          <a:bodyPr wrap="square" lIns="0" tIns="0" rIns="0" bIns="0" rtlCol="0" anchor="ctr"/>
          <a:lstStyle/>
          <a:p>
            <a:pPr indent="0" marL="0">
              <a:buNone/>
            </a:pPr>
            <a:r>
              <a:rPr lang="en-US" sz="900" b="1" dirty="0">
                <a:solidFill>
                  <a:srgbClr val="7C3AED"/>
                </a:solidFill>
                <a:latin typeface="Roboto" pitchFamily="34" charset="0"/>
                <a:ea typeface="Roboto" pitchFamily="34" charset="-122"/>
                <a:cs typeface="Roboto" pitchFamily="34" charset="-120"/>
              </a:rPr>
              <a:t>#27  </a:t>
            </a:r>
            <a:pPr indent="0" marL="0">
              <a:buNone/>
            </a:pPr>
            <a:r>
              <a:rPr lang="en-US" sz="850" dirty="0">
                <a:solidFill>
                  <a:srgbClr val="64748B"/>
                </a:solidFill>
                <a:latin typeface="Roboto" pitchFamily="34" charset="0"/>
                <a:ea typeface="Roboto" pitchFamily="34" charset="-122"/>
                <a:cs typeface="Roboto" pitchFamily="34" charset="-120"/>
              </a:rPr>
              <a:t>deterministic</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Audit / Storage</a:t>
            </a:r>
            <a:endParaRPr lang="en-US" sz="900" dirty="0"/>
          </a:p>
        </p:txBody>
      </p:sp>
      <p:sp>
        <p:nvSpPr>
          <p:cNvPr id="81" name="Shape 71"/>
          <p:cNvSpPr/>
          <p:nvPr/>
        </p:nvSpPr>
        <p:spPr>
          <a:xfrm>
            <a:off x="5645810" y="5641848"/>
            <a:ext cx="1437589" cy="585216"/>
          </a:xfrm>
          <a:prstGeom prst="roundRect">
            <a:avLst>
              <a:gd name="adj" fmla="val 12500"/>
            </a:avLst>
          </a:prstGeom>
          <a:solidFill>
            <a:srgbClr val="F5F3FF"/>
          </a:solidFill>
          <a:ln w="9525">
            <a:solidFill>
              <a:srgbClr val="7C3AED"/>
            </a:solidFill>
            <a:prstDash val="solid"/>
          </a:ln>
        </p:spPr>
      </p:sp>
      <p:sp>
        <p:nvSpPr>
          <p:cNvPr id="82" name="Text 72"/>
          <p:cNvSpPr txBox="1"/>
          <p:nvPr/>
        </p:nvSpPr>
        <p:spPr>
          <a:xfrm>
            <a:off x="5737250" y="5669280"/>
            <a:ext cx="1309573" cy="530352"/>
          </a:xfrm>
          <a:prstGeom prst="rect">
            <a:avLst/>
          </a:prstGeom>
          <a:noFill/>
          <a:ln/>
        </p:spPr>
        <p:txBody>
          <a:bodyPr wrap="square" lIns="0" tIns="0" rIns="0" bIns="0" rtlCol="0" anchor="ctr"/>
          <a:lstStyle/>
          <a:p>
            <a:pPr indent="0" marL="0">
              <a:buNone/>
            </a:pPr>
            <a:r>
              <a:rPr lang="en-US" sz="900" b="1" dirty="0">
                <a:solidFill>
                  <a:srgbClr val="7C3AED"/>
                </a:solidFill>
                <a:latin typeface="Roboto" pitchFamily="34" charset="0"/>
                <a:ea typeface="Roboto" pitchFamily="34" charset="-122"/>
                <a:cs typeface="Roboto" pitchFamily="34" charset="-120"/>
              </a:rPr>
              <a:t>#28  </a:t>
            </a:r>
            <a:pPr indent="0" marL="0">
              <a:buNone/>
            </a:pPr>
            <a:r>
              <a:rPr lang="en-US" sz="850" b="1" dirty="0">
                <a:solidFill>
                  <a:srgbClr val="B45309"/>
                </a:solidFill>
                <a:latin typeface="Roboto" pitchFamily="34" charset="0"/>
                <a:ea typeface="Roboto" pitchFamily="34" charset="-122"/>
                <a:cs typeface="Roboto" pitchFamily="34" charset="-120"/>
              </a:rPr>
              <a:t>hybrid</a:t>
            </a:r>
            <a:endParaRPr lang="en-US" sz="900" dirty="0"/>
          </a:p>
          <a:p>
            <a:pPr indent="0" marL="0">
              <a:buNone/>
            </a:pPr>
            <a:r>
              <a:rPr lang="en-US" sz="1100" b="1" dirty="0">
                <a:solidFill>
                  <a:srgbClr val="0F172A"/>
                </a:solidFill>
                <a:latin typeface="Roboto" pitchFamily="34" charset="0"/>
                <a:ea typeface="Roboto" pitchFamily="34" charset="-122"/>
                <a:cs typeface="Roboto" pitchFamily="34" charset="-120"/>
              </a:rPr>
              <a:t>Process-Mining Analyst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INTAKE CREW</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Intake: every upload becomes checked, structured fields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Four agents run on each document, in about 10 seconds on the local model.</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13</a:t>
            </a:r>
            <a:endParaRPr lang="en-US" sz="900" dirty="0"/>
          </a:p>
        </p:txBody>
      </p:sp>
      <p:sp>
        <p:nvSpPr>
          <p:cNvPr id="8" name="Shape 4"/>
          <p:cNvSpPr/>
          <p:nvPr/>
        </p:nvSpPr>
        <p:spPr>
          <a:xfrm>
            <a:off x="548640" y="1783080"/>
            <a:ext cx="1325880" cy="960120"/>
          </a:xfrm>
          <a:prstGeom prst="roundRect">
            <a:avLst>
              <a:gd name="adj" fmla="val 7619"/>
            </a:avLst>
          </a:prstGeom>
          <a:solidFill>
            <a:srgbClr val="F8FAFC"/>
          </a:solidFill>
          <a:ln w="12700">
            <a:solidFill>
              <a:srgbClr val="E2E8F0"/>
            </a:solidFill>
            <a:prstDash val="solid"/>
          </a:ln>
        </p:spPr>
      </p:sp>
      <p:sp>
        <p:nvSpPr>
          <p:cNvPr id="9" name="Text 5"/>
          <p:cNvSpPr txBox="1"/>
          <p:nvPr/>
        </p:nvSpPr>
        <p:spPr>
          <a:xfrm>
            <a:off x="621792" y="1801368"/>
            <a:ext cx="1179576" cy="923544"/>
          </a:xfrm>
          <a:prstGeom prst="rect">
            <a:avLst/>
          </a:prstGeom>
          <a:noFill/>
          <a:ln/>
        </p:spPr>
        <p:txBody>
          <a:bodyPr wrap="square" lIns="0" tIns="0" rIns="0" bIns="0" rtlCol="0" anchor="ctr"/>
          <a:lstStyle/>
          <a:p>
            <a:pPr algn="ctr" indent="0" marL="0">
              <a:spcAft>
                <a:spcPts val="200"/>
              </a:spcAft>
              <a:buNone/>
            </a:pPr>
            <a:r>
              <a:rPr lang="en-US" sz="1200" b="1" dirty="0">
                <a:solidFill>
                  <a:srgbClr val="0F172A"/>
                </a:solidFill>
                <a:latin typeface="Roboto" pitchFamily="34" charset="0"/>
                <a:ea typeface="Roboto" pitchFamily="34" charset="-122"/>
                <a:cs typeface="Roboto" pitchFamily="34" charset="-120"/>
              </a:rPr>
              <a:t>Upload</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photo or PDF</a:t>
            </a:r>
            <a:endParaRPr lang="en-US" sz="1200" dirty="0"/>
          </a:p>
        </p:txBody>
      </p:sp>
      <p:sp>
        <p:nvSpPr>
          <p:cNvPr id="10" name="Shape 6"/>
          <p:cNvSpPr/>
          <p:nvPr/>
        </p:nvSpPr>
        <p:spPr>
          <a:xfrm>
            <a:off x="1892808" y="2263140"/>
            <a:ext cx="228600" cy="0"/>
          </a:xfrm>
          <a:prstGeom prst="line">
            <a:avLst/>
          </a:prstGeom>
          <a:noFill/>
          <a:ln w="19050">
            <a:solidFill>
              <a:srgbClr val="94A3B8"/>
            </a:solidFill>
            <a:prstDash val="solid"/>
            <a:tailEnd type="triangle"/>
          </a:ln>
        </p:spPr>
      </p:sp>
      <p:sp>
        <p:nvSpPr>
          <p:cNvPr id="11" name="Shape 7"/>
          <p:cNvSpPr/>
          <p:nvPr/>
        </p:nvSpPr>
        <p:spPr>
          <a:xfrm>
            <a:off x="2148840" y="1783080"/>
            <a:ext cx="2148840" cy="960120"/>
          </a:xfrm>
          <a:prstGeom prst="roundRect">
            <a:avLst>
              <a:gd name="adj" fmla="val 7619"/>
            </a:avLst>
          </a:prstGeom>
          <a:solidFill>
            <a:srgbClr val="EEF2FF"/>
          </a:solidFill>
          <a:ln w="12700">
            <a:solidFill>
              <a:srgbClr val="4F46E5"/>
            </a:solidFill>
            <a:prstDash val="solid"/>
          </a:ln>
        </p:spPr>
      </p:sp>
      <p:sp>
        <p:nvSpPr>
          <p:cNvPr id="12" name="Text 8"/>
          <p:cNvSpPr txBox="1"/>
          <p:nvPr/>
        </p:nvSpPr>
        <p:spPr>
          <a:xfrm>
            <a:off x="2221992" y="1801368"/>
            <a:ext cx="2002536" cy="923544"/>
          </a:xfrm>
          <a:prstGeom prst="rect">
            <a:avLst/>
          </a:prstGeom>
          <a:noFill/>
          <a:ln/>
        </p:spPr>
        <p:txBody>
          <a:bodyPr wrap="square" lIns="0" tIns="0" rIns="0" bIns="0" rtlCol="0" anchor="ctr"/>
          <a:lstStyle/>
          <a:p>
            <a:pPr algn="ctr" indent="0" marL="0">
              <a:spcAft>
                <a:spcPts val="200"/>
              </a:spcAft>
              <a:buNone/>
            </a:pPr>
            <a:r>
              <a:rPr lang="en-US" sz="1200" b="1" dirty="0">
                <a:solidFill>
                  <a:srgbClr val="4F46E5"/>
                </a:solidFill>
                <a:latin typeface="Roboto" pitchFamily="34" charset="0"/>
                <a:ea typeface="Roboto" pitchFamily="34" charset="-122"/>
                <a:cs typeface="Roboto" pitchFamily="34" charset="-120"/>
              </a:rPr>
              <a:t>1 · Preprocessing</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orient · crop · repair light · revert if worse</a:t>
            </a:r>
            <a:endParaRPr lang="en-US" sz="1200" dirty="0"/>
          </a:p>
        </p:txBody>
      </p:sp>
      <p:sp>
        <p:nvSpPr>
          <p:cNvPr id="13" name="Shape 9"/>
          <p:cNvSpPr/>
          <p:nvPr/>
        </p:nvSpPr>
        <p:spPr>
          <a:xfrm flipV="1">
            <a:off x="4315968" y="2002536"/>
            <a:ext cx="228600" cy="260604"/>
          </a:xfrm>
          <a:prstGeom prst="line">
            <a:avLst/>
          </a:prstGeom>
          <a:noFill/>
          <a:ln w="19050">
            <a:solidFill>
              <a:srgbClr val="94A3B8"/>
            </a:solidFill>
            <a:prstDash val="solid"/>
            <a:tailEnd type="triangle"/>
          </a:ln>
        </p:spPr>
      </p:sp>
      <p:sp>
        <p:nvSpPr>
          <p:cNvPr id="14" name="Shape 10"/>
          <p:cNvSpPr/>
          <p:nvPr/>
        </p:nvSpPr>
        <p:spPr>
          <a:xfrm>
            <a:off x="4315968" y="2263140"/>
            <a:ext cx="228600" cy="260604"/>
          </a:xfrm>
          <a:prstGeom prst="line">
            <a:avLst/>
          </a:prstGeom>
          <a:noFill/>
          <a:ln w="19050">
            <a:solidFill>
              <a:srgbClr val="94A3B8"/>
            </a:solidFill>
            <a:prstDash val="solid"/>
            <a:tailEnd type="triangle"/>
          </a:ln>
        </p:spPr>
      </p:sp>
      <p:sp>
        <p:nvSpPr>
          <p:cNvPr id="15" name="Shape 11"/>
          <p:cNvSpPr/>
          <p:nvPr/>
        </p:nvSpPr>
        <p:spPr>
          <a:xfrm>
            <a:off x="4572000" y="1737360"/>
            <a:ext cx="2286000" cy="475488"/>
          </a:xfrm>
          <a:prstGeom prst="roundRect">
            <a:avLst>
              <a:gd name="adj" fmla="val 15385"/>
            </a:avLst>
          </a:prstGeom>
          <a:solidFill>
            <a:srgbClr val="EEF2FF"/>
          </a:solidFill>
          <a:ln w="12700">
            <a:solidFill>
              <a:srgbClr val="4F46E5"/>
            </a:solidFill>
            <a:prstDash val="solid"/>
          </a:ln>
        </p:spPr>
      </p:sp>
      <p:sp>
        <p:nvSpPr>
          <p:cNvPr id="16" name="Text 12"/>
          <p:cNvSpPr txBox="1"/>
          <p:nvPr/>
        </p:nvSpPr>
        <p:spPr>
          <a:xfrm>
            <a:off x="4645152" y="1755648"/>
            <a:ext cx="2139696" cy="438912"/>
          </a:xfrm>
          <a:prstGeom prst="rect">
            <a:avLst/>
          </a:prstGeom>
          <a:noFill/>
          <a:ln/>
        </p:spPr>
        <p:txBody>
          <a:bodyPr wrap="square" lIns="0" tIns="0" rIns="0" bIns="0" rtlCol="0" anchor="ctr"/>
          <a:lstStyle/>
          <a:p>
            <a:pPr algn="ctr" indent="0" marL="0">
              <a:spcAft>
                <a:spcPts val="200"/>
              </a:spcAft>
              <a:buNone/>
            </a:pPr>
            <a:r>
              <a:rPr lang="en-US" sz="1150" b="1" dirty="0">
                <a:solidFill>
                  <a:srgbClr val="4F46E5"/>
                </a:solidFill>
                <a:latin typeface="Roboto" pitchFamily="34" charset="0"/>
                <a:ea typeface="Roboto" pitchFamily="34" charset="-122"/>
                <a:cs typeface="Roboto" pitchFamily="34" charset="-120"/>
              </a:rPr>
              <a:t>2 · Extraction</a:t>
            </a:r>
            <a:endParaRPr lang="en-US" sz="1150" dirty="0"/>
          </a:p>
        </p:txBody>
      </p:sp>
      <p:sp>
        <p:nvSpPr>
          <p:cNvPr id="17" name="Shape 13"/>
          <p:cNvSpPr/>
          <p:nvPr/>
        </p:nvSpPr>
        <p:spPr>
          <a:xfrm>
            <a:off x="4572000" y="2313432"/>
            <a:ext cx="2286000" cy="475488"/>
          </a:xfrm>
          <a:prstGeom prst="roundRect">
            <a:avLst>
              <a:gd name="adj" fmla="val 15385"/>
            </a:avLst>
          </a:prstGeom>
          <a:solidFill>
            <a:srgbClr val="F8FAFC"/>
          </a:solidFill>
          <a:ln w="12700">
            <a:solidFill>
              <a:srgbClr val="E2E8F0"/>
            </a:solidFill>
            <a:prstDash val="solid"/>
          </a:ln>
        </p:spPr>
      </p:sp>
      <p:sp>
        <p:nvSpPr>
          <p:cNvPr id="18" name="Text 14"/>
          <p:cNvSpPr txBox="1"/>
          <p:nvPr/>
        </p:nvSpPr>
        <p:spPr>
          <a:xfrm>
            <a:off x="4645152" y="2331720"/>
            <a:ext cx="2139696" cy="438912"/>
          </a:xfrm>
          <a:prstGeom prst="rect">
            <a:avLst/>
          </a:prstGeom>
          <a:noFill/>
          <a:ln/>
        </p:spPr>
        <p:txBody>
          <a:bodyPr wrap="square" lIns="0" tIns="0" rIns="0" bIns="0" rtlCol="0" anchor="ctr"/>
          <a:lstStyle/>
          <a:p>
            <a:pPr algn="ctr" indent="0" marL="0">
              <a:spcAft>
                <a:spcPts val="200"/>
              </a:spcAft>
              <a:buNone/>
            </a:pPr>
            <a:r>
              <a:rPr lang="en-US" sz="1050" b="1" dirty="0">
                <a:solidFill>
                  <a:srgbClr val="334155"/>
                </a:solidFill>
                <a:latin typeface="Roboto" pitchFamily="34" charset="0"/>
                <a:ea typeface="Roboto" pitchFamily="34" charset="-122"/>
                <a:cs typeface="Roboto" pitchFamily="34" charset="-120"/>
              </a:rPr>
              <a:t>page read (same OCR words)</a:t>
            </a:r>
            <a:endParaRPr lang="en-US" sz="1050" dirty="0"/>
          </a:p>
        </p:txBody>
      </p:sp>
      <p:sp>
        <p:nvSpPr>
          <p:cNvPr id="19" name="Shape 15"/>
          <p:cNvSpPr/>
          <p:nvPr/>
        </p:nvSpPr>
        <p:spPr>
          <a:xfrm>
            <a:off x="6876288" y="1975104"/>
            <a:ext cx="256032" cy="0"/>
          </a:xfrm>
          <a:prstGeom prst="line">
            <a:avLst/>
          </a:prstGeom>
          <a:noFill/>
          <a:ln w="19050">
            <a:solidFill>
              <a:srgbClr val="94A3B8"/>
            </a:solidFill>
            <a:prstDash val="solid"/>
            <a:tailEnd type="triangle"/>
          </a:ln>
        </p:spPr>
      </p:sp>
      <p:sp>
        <p:nvSpPr>
          <p:cNvPr id="20" name="Shape 16"/>
          <p:cNvSpPr/>
          <p:nvPr/>
        </p:nvSpPr>
        <p:spPr>
          <a:xfrm>
            <a:off x="6876288" y="2551176"/>
            <a:ext cx="256032" cy="0"/>
          </a:xfrm>
          <a:prstGeom prst="line">
            <a:avLst/>
          </a:prstGeom>
          <a:noFill/>
          <a:ln w="19050">
            <a:solidFill>
              <a:srgbClr val="94A3B8"/>
            </a:solidFill>
            <a:prstDash val="solid"/>
            <a:tailEnd type="triangle"/>
          </a:ln>
        </p:spPr>
      </p:sp>
      <p:sp>
        <p:nvSpPr>
          <p:cNvPr id="21" name="Shape 17"/>
          <p:cNvSpPr/>
          <p:nvPr/>
        </p:nvSpPr>
        <p:spPr>
          <a:xfrm>
            <a:off x="7159752" y="1737360"/>
            <a:ext cx="2240280" cy="475488"/>
          </a:xfrm>
          <a:prstGeom prst="roundRect">
            <a:avLst>
              <a:gd name="adj" fmla="val 15385"/>
            </a:avLst>
          </a:prstGeom>
          <a:solidFill>
            <a:srgbClr val="EEF2FF"/>
          </a:solidFill>
          <a:ln w="12700">
            <a:solidFill>
              <a:srgbClr val="4F46E5"/>
            </a:solidFill>
            <a:prstDash val="solid"/>
          </a:ln>
        </p:spPr>
      </p:sp>
      <p:sp>
        <p:nvSpPr>
          <p:cNvPr id="22" name="Text 18"/>
          <p:cNvSpPr txBox="1"/>
          <p:nvPr/>
        </p:nvSpPr>
        <p:spPr>
          <a:xfrm>
            <a:off x="7232904" y="1755648"/>
            <a:ext cx="2093976" cy="438912"/>
          </a:xfrm>
          <a:prstGeom prst="rect">
            <a:avLst/>
          </a:prstGeom>
          <a:noFill/>
          <a:ln/>
        </p:spPr>
        <p:txBody>
          <a:bodyPr wrap="square" lIns="0" tIns="0" rIns="0" bIns="0" rtlCol="0" anchor="ctr"/>
          <a:lstStyle/>
          <a:p>
            <a:pPr algn="ctr" indent="0" marL="0">
              <a:spcAft>
                <a:spcPts val="200"/>
              </a:spcAft>
              <a:buNone/>
            </a:pPr>
            <a:r>
              <a:rPr lang="en-US" sz="1150" b="1" dirty="0">
                <a:solidFill>
                  <a:srgbClr val="4F46E5"/>
                </a:solidFill>
                <a:latin typeface="Roboto" pitchFamily="34" charset="0"/>
                <a:ea typeface="Roboto" pitchFamily="34" charset="-122"/>
                <a:cs typeface="Roboto" pitchFamily="34" charset="-120"/>
              </a:rPr>
              <a:t>3 · Validation</a:t>
            </a:r>
            <a:endParaRPr lang="en-US" sz="1150" dirty="0"/>
          </a:p>
        </p:txBody>
      </p:sp>
      <p:sp>
        <p:nvSpPr>
          <p:cNvPr id="23" name="Shape 19"/>
          <p:cNvSpPr/>
          <p:nvPr/>
        </p:nvSpPr>
        <p:spPr>
          <a:xfrm>
            <a:off x="7159752" y="2313432"/>
            <a:ext cx="2240280" cy="475488"/>
          </a:xfrm>
          <a:prstGeom prst="roundRect">
            <a:avLst>
              <a:gd name="adj" fmla="val 15385"/>
            </a:avLst>
          </a:prstGeom>
          <a:solidFill>
            <a:srgbClr val="EEF2FF"/>
          </a:solidFill>
          <a:ln w="12700">
            <a:solidFill>
              <a:srgbClr val="4F46E5"/>
            </a:solidFill>
            <a:prstDash val="solid"/>
          </a:ln>
        </p:spPr>
      </p:sp>
      <p:sp>
        <p:nvSpPr>
          <p:cNvPr id="24" name="Text 20"/>
          <p:cNvSpPr txBox="1"/>
          <p:nvPr/>
        </p:nvSpPr>
        <p:spPr>
          <a:xfrm>
            <a:off x="7232904" y="2331720"/>
            <a:ext cx="2093976" cy="438912"/>
          </a:xfrm>
          <a:prstGeom prst="rect">
            <a:avLst/>
          </a:prstGeom>
          <a:noFill/>
          <a:ln/>
        </p:spPr>
        <p:txBody>
          <a:bodyPr wrap="square" lIns="0" tIns="0" rIns="0" bIns="0" rtlCol="0" anchor="ctr"/>
          <a:lstStyle/>
          <a:p>
            <a:pPr algn="ctr" indent="0" marL="0">
              <a:spcAft>
                <a:spcPts val="200"/>
              </a:spcAft>
              <a:buNone/>
            </a:pPr>
            <a:r>
              <a:rPr lang="en-US" sz="1150" b="1" dirty="0">
                <a:solidFill>
                  <a:srgbClr val="4F46E5"/>
                </a:solidFill>
                <a:latin typeface="Roboto" pitchFamily="34" charset="0"/>
                <a:ea typeface="Roboto" pitchFamily="34" charset="-122"/>
                <a:cs typeface="Roboto" pitchFamily="34" charset="-120"/>
              </a:rPr>
              <a:t>4 · Document Identity</a:t>
            </a:r>
            <a:endParaRPr lang="en-US" sz="1150" dirty="0"/>
          </a:p>
        </p:txBody>
      </p:sp>
      <p:sp>
        <p:nvSpPr>
          <p:cNvPr id="25" name="Shape 21"/>
          <p:cNvSpPr/>
          <p:nvPr/>
        </p:nvSpPr>
        <p:spPr>
          <a:xfrm>
            <a:off x="9418320" y="2263140"/>
            <a:ext cx="256032" cy="0"/>
          </a:xfrm>
          <a:prstGeom prst="line">
            <a:avLst/>
          </a:prstGeom>
          <a:noFill/>
          <a:ln w="19050">
            <a:solidFill>
              <a:srgbClr val="94A3B8"/>
            </a:solidFill>
            <a:prstDash val="solid"/>
            <a:tailEnd type="triangle"/>
          </a:ln>
        </p:spPr>
      </p:sp>
      <p:sp>
        <p:nvSpPr>
          <p:cNvPr id="26" name="Shape 22"/>
          <p:cNvSpPr/>
          <p:nvPr/>
        </p:nvSpPr>
        <p:spPr>
          <a:xfrm>
            <a:off x="9692640" y="1783080"/>
            <a:ext cx="1947672" cy="960120"/>
          </a:xfrm>
          <a:prstGeom prst="roundRect">
            <a:avLst>
              <a:gd name="adj" fmla="val 7619"/>
            </a:avLst>
          </a:prstGeom>
          <a:solidFill>
            <a:srgbClr val="DCFCE7"/>
          </a:solidFill>
          <a:ln w="12700">
            <a:solidFill>
              <a:srgbClr val="86EFAC"/>
            </a:solidFill>
            <a:prstDash val="solid"/>
          </a:ln>
        </p:spPr>
      </p:sp>
      <p:sp>
        <p:nvSpPr>
          <p:cNvPr id="27" name="Text 23"/>
          <p:cNvSpPr txBox="1"/>
          <p:nvPr/>
        </p:nvSpPr>
        <p:spPr>
          <a:xfrm>
            <a:off x="9765792" y="1801368"/>
            <a:ext cx="1801368" cy="923544"/>
          </a:xfrm>
          <a:prstGeom prst="rect">
            <a:avLst/>
          </a:prstGeom>
          <a:noFill/>
          <a:ln/>
        </p:spPr>
        <p:txBody>
          <a:bodyPr wrap="square" lIns="0" tIns="0" rIns="0" bIns="0" rtlCol="0" anchor="ctr"/>
          <a:lstStyle/>
          <a:p>
            <a:pPr algn="ctr" indent="0" marL="0">
              <a:spcAft>
                <a:spcPts val="200"/>
              </a:spcAft>
              <a:buNone/>
            </a:pPr>
            <a:r>
              <a:rPr lang="en-US" sz="1200" b="1" dirty="0">
                <a:solidFill>
                  <a:srgbClr val="166534"/>
                </a:solidFill>
                <a:latin typeface="Roboto" pitchFamily="34" charset="0"/>
                <a:ea typeface="Roboto" pitchFamily="34" charset="-122"/>
                <a:cs typeface="Roboto" pitchFamily="34" charset="-120"/>
              </a:rPr>
              <a:t>Person confirms</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"Please check &amp; confirm"</a:t>
            </a:r>
            <a:endParaRPr lang="en-US" sz="1200" dirty="0"/>
          </a:p>
        </p:txBody>
      </p:sp>
      <p:sp>
        <p:nvSpPr>
          <p:cNvPr id="28" name="Text 24"/>
          <p:cNvSpPr txBox="1"/>
          <p:nvPr/>
        </p:nvSpPr>
        <p:spPr>
          <a:xfrm>
            <a:off x="548640" y="2898648"/>
            <a:ext cx="11094415" cy="27432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qwen2.5vl reads every requested field into JSON, inventing nothing  ·  Verhoeff, PAN, IFSC, GSTIN formats  ·  the page's own phrases must match the requested type</a:t>
            </a:r>
            <a:endParaRPr lang="en-US" sz="1050" dirty="0"/>
          </a:p>
        </p:txBody>
      </p:sp>
      <p:sp>
        <p:nvSpPr>
          <p:cNvPr id="29" name="Shape 25"/>
          <p:cNvSpPr/>
          <p:nvPr/>
        </p:nvSpPr>
        <p:spPr>
          <a:xfrm>
            <a:off x="548640" y="3291840"/>
            <a:ext cx="6055203" cy="3063240"/>
          </a:xfrm>
          <a:prstGeom prst="roundRect">
            <a:avLst>
              <a:gd name="adj" fmla="val 2090"/>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0" name="Shape 26"/>
          <p:cNvSpPr/>
          <p:nvPr/>
        </p:nvSpPr>
        <p:spPr>
          <a:xfrm>
            <a:off x="667512" y="3369564"/>
            <a:ext cx="82296" cy="82296"/>
          </a:xfrm>
          <a:prstGeom prst="ellipse">
            <a:avLst/>
          </a:prstGeom>
          <a:solidFill>
            <a:srgbClr val="F87171"/>
          </a:solidFill>
          <a:ln w="12700">
            <a:solidFill>
              <a:srgbClr val="F87171"/>
            </a:solidFill>
            <a:prstDash val="solid"/>
          </a:ln>
        </p:spPr>
      </p:sp>
      <p:sp>
        <p:nvSpPr>
          <p:cNvPr id="31" name="Shape 27"/>
          <p:cNvSpPr/>
          <p:nvPr/>
        </p:nvSpPr>
        <p:spPr>
          <a:xfrm>
            <a:off x="804672" y="3369564"/>
            <a:ext cx="82296" cy="82296"/>
          </a:xfrm>
          <a:prstGeom prst="ellipse">
            <a:avLst/>
          </a:prstGeom>
          <a:solidFill>
            <a:srgbClr val="FBBF24"/>
          </a:solidFill>
          <a:ln w="12700">
            <a:solidFill>
              <a:srgbClr val="FBBF24"/>
            </a:solidFill>
            <a:prstDash val="solid"/>
          </a:ln>
        </p:spPr>
      </p:sp>
      <p:sp>
        <p:nvSpPr>
          <p:cNvPr id="32" name="Shape 28"/>
          <p:cNvSpPr/>
          <p:nvPr/>
        </p:nvSpPr>
        <p:spPr>
          <a:xfrm>
            <a:off x="941832" y="3369564"/>
            <a:ext cx="82296" cy="82296"/>
          </a:xfrm>
          <a:prstGeom prst="ellipse">
            <a:avLst/>
          </a:prstGeom>
          <a:solidFill>
            <a:srgbClr val="34D399"/>
          </a:solidFill>
          <a:ln w="12700">
            <a:solidFill>
              <a:srgbClr val="34D399"/>
            </a:solidFill>
            <a:prstDash val="solid"/>
          </a:ln>
        </p:spPr>
      </p:sp>
      <p:pic>
        <p:nvPicPr>
          <p:cNvPr id="33" name="Image 1" descr="C:\Users\shrey\AppData\Local\Temp\claude\D--novacinternship-finsight\87f4101b-bf26-4b28-976a-e637573d77e1\scratchpad\deck\img\wizard_extract.png">    </p:cNvPr>
          <p:cNvPicPr>
            <a:picLocks noChangeAspect="1"/>
          </p:cNvPicPr>
          <p:nvPr/>
        </p:nvPicPr>
        <p:blipFill>
          <a:blip r:embed="rId2"/>
          <a:stretch>
            <a:fillRect/>
          </a:stretch>
        </p:blipFill>
        <p:spPr>
          <a:xfrm>
            <a:off x="594360" y="3529584"/>
            <a:ext cx="5963763" cy="2779776"/>
          </a:xfrm>
          <a:prstGeom prst="rect">
            <a:avLst/>
          </a:prstGeom>
        </p:spPr>
      </p:pic>
      <p:sp>
        <p:nvSpPr>
          <p:cNvPr id="34" name="Shape 29"/>
          <p:cNvSpPr/>
          <p:nvPr/>
        </p:nvSpPr>
        <p:spPr>
          <a:xfrm>
            <a:off x="7498080" y="3291840"/>
            <a:ext cx="4142232" cy="713232"/>
          </a:xfrm>
          <a:prstGeom prst="roundRect">
            <a:avLst>
              <a:gd name="adj" fmla="val 10256"/>
            </a:avLst>
          </a:prstGeom>
          <a:solidFill>
            <a:srgbClr val="F8FAFC"/>
          </a:solidFill>
          <a:ln w="12700">
            <a:solidFill>
              <a:srgbClr val="E2E8F0"/>
            </a:solidFill>
            <a:prstDash val="solid"/>
          </a:ln>
        </p:spPr>
      </p:sp>
      <p:sp>
        <p:nvSpPr>
          <p:cNvPr id="35" name="Text 30"/>
          <p:cNvSpPr txBox="1"/>
          <p:nvPr/>
        </p:nvSpPr>
        <p:spPr>
          <a:xfrm>
            <a:off x="7635240" y="329184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99.6%</a:t>
            </a:r>
            <a:endParaRPr lang="en-US" sz="2000" dirty="0"/>
          </a:p>
        </p:txBody>
      </p:sp>
      <p:sp>
        <p:nvSpPr>
          <p:cNvPr id="36" name="Text 31"/>
          <p:cNvSpPr txBox="1"/>
          <p:nvPr/>
        </p:nvSpPr>
        <p:spPr>
          <a:xfrm>
            <a:off x="9006840" y="3291840"/>
            <a:ext cx="25420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Preprocessing</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field text readable on 60 degraded cards</a:t>
            </a:r>
            <a:endParaRPr lang="en-US" sz="1150" dirty="0"/>
          </a:p>
        </p:txBody>
      </p:sp>
      <p:sp>
        <p:nvSpPr>
          <p:cNvPr id="37" name="Shape 32"/>
          <p:cNvSpPr/>
          <p:nvPr/>
        </p:nvSpPr>
        <p:spPr>
          <a:xfrm>
            <a:off x="7498080" y="4069080"/>
            <a:ext cx="4142232" cy="713232"/>
          </a:xfrm>
          <a:prstGeom prst="roundRect">
            <a:avLst>
              <a:gd name="adj" fmla="val 10256"/>
            </a:avLst>
          </a:prstGeom>
          <a:solidFill>
            <a:srgbClr val="F8FAFC"/>
          </a:solidFill>
          <a:ln w="12700">
            <a:solidFill>
              <a:srgbClr val="E2E8F0"/>
            </a:solidFill>
            <a:prstDash val="solid"/>
          </a:ln>
        </p:spPr>
      </p:sp>
      <p:sp>
        <p:nvSpPr>
          <p:cNvPr id="38" name="Text 33"/>
          <p:cNvSpPr txBox="1"/>
          <p:nvPr/>
        </p:nvSpPr>
        <p:spPr>
          <a:xfrm>
            <a:off x="7635240" y="406908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97.2%</a:t>
            </a:r>
            <a:endParaRPr lang="en-US" sz="2000" dirty="0"/>
          </a:p>
        </p:txBody>
      </p:sp>
      <p:sp>
        <p:nvSpPr>
          <p:cNvPr id="39" name="Text 34"/>
          <p:cNvSpPr txBox="1"/>
          <p:nvPr/>
        </p:nvSpPr>
        <p:spPr>
          <a:xfrm>
            <a:off x="9006840" y="4069080"/>
            <a:ext cx="25420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Extraction</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field accuracy · 48 docs, 318 fields · 9.1 s</a:t>
            </a:r>
            <a:endParaRPr lang="en-US" sz="1150" dirty="0"/>
          </a:p>
        </p:txBody>
      </p:sp>
      <p:sp>
        <p:nvSpPr>
          <p:cNvPr id="40" name="Shape 35"/>
          <p:cNvSpPr/>
          <p:nvPr/>
        </p:nvSpPr>
        <p:spPr>
          <a:xfrm>
            <a:off x="7498080" y="4846320"/>
            <a:ext cx="4142232" cy="713232"/>
          </a:xfrm>
          <a:prstGeom prst="roundRect">
            <a:avLst>
              <a:gd name="adj" fmla="val 10256"/>
            </a:avLst>
          </a:prstGeom>
          <a:solidFill>
            <a:srgbClr val="F8FAFC"/>
          </a:solidFill>
          <a:ln w="12700">
            <a:solidFill>
              <a:srgbClr val="E2E8F0"/>
            </a:solidFill>
            <a:prstDash val="solid"/>
          </a:ln>
        </p:spPr>
      </p:sp>
      <p:sp>
        <p:nvSpPr>
          <p:cNvPr id="41" name="Text 36"/>
          <p:cNvSpPr txBox="1"/>
          <p:nvPr/>
        </p:nvSpPr>
        <p:spPr>
          <a:xfrm>
            <a:off x="7635240" y="484632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2" name="Text 37"/>
          <p:cNvSpPr txBox="1"/>
          <p:nvPr/>
        </p:nvSpPr>
        <p:spPr>
          <a:xfrm>
            <a:off x="9006840" y="4846320"/>
            <a:ext cx="25420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Validation</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1,487 generated IDs flagged correctly</a:t>
            </a:r>
            <a:endParaRPr lang="en-US" sz="1150" dirty="0"/>
          </a:p>
        </p:txBody>
      </p:sp>
      <p:sp>
        <p:nvSpPr>
          <p:cNvPr id="43" name="Shape 38"/>
          <p:cNvSpPr/>
          <p:nvPr/>
        </p:nvSpPr>
        <p:spPr>
          <a:xfrm>
            <a:off x="7498080" y="5623560"/>
            <a:ext cx="4142232" cy="713232"/>
          </a:xfrm>
          <a:prstGeom prst="roundRect">
            <a:avLst>
              <a:gd name="adj" fmla="val 10256"/>
            </a:avLst>
          </a:prstGeom>
          <a:solidFill>
            <a:srgbClr val="F8FAFC"/>
          </a:solidFill>
          <a:ln w="12700">
            <a:solidFill>
              <a:srgbClr val="E2E8F0"/>
            </a:solidFill>
            <a:prstDash val="solid"/>
          </a:ln>
        </p:spPr>
      </p:sp>
      <p:sp>
        <p:nvSpPr>
          <p:cNvPr id="44" name="Text 39"/>
          <p:cNvSpPr txBox="1"/>
          <p:nvPr/>
        </p:nvSpPr>
        <p:spPr>
          <a:xfrm>
            <a:off x="7635240" y="562356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5" name="Text 40"/>
          <p:cNvSpPr txBox="1"/>
          <p:nvPr/>
        </p:nvSpPr>
        <p:spPr>
          <a:xfrm>
            <a:off x="9006840" y="5623560"/>
            <a:ext cx="25420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Document Identity</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wrong uploads caught (was 54%)</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PRIVACY · IDENTITY</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Privacy &amp; identity: mask the numbers, match the faces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PII Masking protects the officer's view; Face Verification and Liveness make sure one real person is applying.</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14</a:t>
            </a:r>
            <a:endParaRPr lang="en-US" sz="900" dirty="0"/>
          </a:p>
        </p:txBody>
      </p:sp>
      <p:sp>
        <p:nvSpPr>
          <p:cNvPr id="8" name="Shape 4"/>
          <p:cNvSpPr/>
          <p:nvPr/>
        </p:nvSpPr>
        <p:spPr>
          <a:xfrm>
            <a:off x="548640" y="1783080"/>
            <a:ext cx="3566160" cy="4526280"/>
          </a:xfrm>
          <a:prstGeom prst="roundRect">
            <a:avLst>
              <a:gd name="adj" fmla="val 3077"/>
            </a:avLst>
          </a:prstGeom>
          <a:solidFill>
            <a:srgbClr val="F8FAFC"/>
          </a:solidFill>
          <a:ln w="12700">
            <a:solidFill>
              <a:srgbClr val="E2E8F0"/>
            </a:solidFill>
            <a:prstDash val="solid"/>
          </a:ln>
        </p:spPr>
      </p:sp>
      <p:sp>
        <p:nvSpPr>
          <p:cNvPr id="9" name="Shape 5"/>
          <p:cNvSpPr/>
          <p:nvPr/>
        </p:nvSpPr>
        <p:spPr>
          <a:xfrm>
            <a:off x="777240" y="1965960"/>
            <a:ext cx="566928" cy="566928"/>
          </a:xfrm>
          <a:prstGeom prst="ellipse">
            <a:avLst/>
          </a:prstGeom>
          <a:solidFill>
            <a:srgbClr val="ECFEFF"/>
          </a:solidFill>
          <a:ln w="12700">
            <a:solidFill>
              <a:srgbClr val="ECFEFF"/>
            </a:solidFill>
            <a:prstDash val="solid"/>
          </a:ln>
        </p:spPr>
      </p:sp>
      <p:pic>
        <p:nvPicPr>
          <p:cNvPr id="10" name="Image 1" descr="preencoded.png">    </p:cNvPr>
          <p:cNvPicPr>
            <a:picLocks noChangeAspect="1"/>
          </p:cNvPicPr>
          <p:nvPr/>
        </p:nvPicPr>
        <p:blipFill>
          <a:blip r:embed="rId2"/>
          <a:stretch>
            <a:fillRect/>
          </a:stretch>
        </p:blipFill>
        <p:spPr>
          <a:xfrm>
            <a:off x="901964" y="2090684"/>
            <a:ext cx="317480" cy="317480"/>
          </a:xfrm>
          <a:prstGeom prst="rect">
            <a:avLst/>
          </a:prstGeom>
        </p:spPr>
      </p:pic>
      <p:sp>
        <p:nvSpPr>
          <p:cNvPr id="11" name="Text 6"/>
          <p:cNvSpPr txBox="1"/>
          <p:nvPr/>
        </p:nvSpPr>
        <p:spPr>
          <a:xfrm>
            <a:off x="1463040" y="2011680"/>
            <a:ext cx="2560320" cy="457200"/>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PII Masking  #5</a:t>
            </a:r>
            <a:endParaRPr lang="en-US" sz="1500" dirty="0"/>
          </a:p>
        </p:txBody>
      </p:sp>
      <p:sp>
        <p:nvSpPr>
          <p:cNvPr id="12" name="Shape 7"/>
          <p:cNvSpPr/>
          <p:nvPr/>
        </p:nvSpPr>
        <p:spPr>
          <a:xfrm>
            <a:off x="777240" y="2697480"/>
            <a:ext cx="3108960" cy="1188720"/>
          </a:xfrm>
          <a:prstGeom prst="roundRect">
            <a:avLst>
              <a:gd name="adj" fmla="val 6154"/>
            </a:avLst>
          </a:prstGeom>
          <a:solidFill>
            <a:srgbClr val="FFFFFF"/>
          </a:solidFill>
          <a:ln w="12700">
            <a:solidFill>
              <a:srgbClr val="E2E8F0"/>
            </a:solidFill>
            <a:prstDash val="solid"/>
          </a:ln>
        </p:spPr>
      </p:sp>
      <p:sp>
        <p:nvSpPr>
          <p:cNvPr id="13" name="Text 8"/>
          <p:cNvSpPr txBox="1"/>
          <p:nvPr/>
        </p:nvSpPr>
        <p:spPr>
          <a:xfrm>
            <a:off x="914400" y="2770632"/>
            <a:ext cx="914400" cy="228600"/>
          </a:xfrm>
          <a:prstGeom prst="rect">
            <a:avLst/>
          </a:prstGeom>
          <a:noFill/>
          <a:ln/>
        </p:spPr>
        <p:txBody>
          <a:bodyPr wrap="square" lIns="0" tIns="0" rIns="0" bIns="0" rtlCol="0" anchor="ctr"/>
          <a:lstStyle/>
          <a:p>
            <a:pPr indent="0" marL="0">
              <a:buNone/>
            </a:pPr>
            <a:r>
              <a:rPr lang="en-US" sz="900" b="1" dirty="0">
                <a:solidFill>
                  <a:srgbClr val="64748B"/>
                </a:solidFill>
                <a:latin typeface="Roboto" pitchFamily="34" charset="0"/>
                <a:ea typeface="Roboto" pitchFamily="34" charset="-122"/>
                <a:cs typeface="Roboto" pitchFamily="34" charset="-120"/>
              </a:rPr>
              <a:t>PAN</a:t>
            </a:r>
            <a:endParaRPr lang="en-US" sz="900" dirty="0"/>
          </a:p>
        </p:txBody>
      </p:sp>
      <p:sp>
        <p:nvSpPr>
          <p:cNvPr id="14" name="Text 9"/>
          <p:cNvSpPr txBox="1"/>
          <p:nvPr/>
        </p:nvSpPr>
        <p:spPr>
          <a:xfrm>
            <a:off x="914400" y="2999232"/>
            <a:ext cx="2926080" cy="320040"/>
          </a:xfrm>
          <a:prstGeom prst="rect">
            <a:avLst/>
          </a:prstGeom>
          <a:noFill/>
          <a:ln/>
        </p:spPr>
        <p:txBody>
          <a:bodyPr wrap="square" lIns="0" tIns="0" rIns="0" bIns="0" rtlCol="0" anchor="ctr"/>
          <a:lstStyle/>
          <a:p>
            <a:pPr indent="0" marL="0">
              <a:buNone/>
            </a:pPr>
            <a:r>
              <a:rPr lang="en-US" sz="1250" strike="sngStrike" dirty="0">
                <a:solidFill>
                  <a:srgbClr val="94A3B8"/>
                </a:solidFill>
                <a:latin typeface="Consolas" pitchFamily="34" charset="0"/>
                <a:ea typeface="Consolas" pitchFamily="34" charset="-122"/>
                <a:cs typeface="Consolas" pitchFamily="34" charset="-120"/>
              </a:rPr>
              <a:t>MCQPD5333A</a:t>
            </a:r>
            <a:pPr indent="0" marL="0">
              <a:buNone/>
            </a:pPr>
            <a:r>
              <a:rPr lang="en-US" sz="1250" dirty="0">
                <a:solidFill>
                  <a:srgbClr val="64748B"/>
                </a:solidFill>
                <a:latin typeface="Consolas" pitchFamily="34" charset="0"/>
                <a:ea typeface="Consolas" pitchFamily="34" charset="-122"/>
                <a:cs typeface="Consolas" pitchFamily="34" charset="-120"/>
              </a:rPr>
              <a:t>  →  </a:t>
            </a:r>
            <a:pPr indent="0" marL="0">
              <a:buNone/>
            </a:pPr>
            <a:r>
              <a:rPr lang="en-US" sz="1250" b="1" dirty="0">
                <a:solidFill>
                  <a:srgbClr val="0891B2"/>
                </a:solidFill>
                <a:latin typeface="Consolas" pitchFamily="34" charset="0"/>
                <a:ea typeface="Consolas" pitchFamily="34" charset="-122"/>
                <a:cs typeface="Consolas" pitchFamily="34" charset="-120"/>
              </a:rPr>
              <a:t>XXXXXX333A</a:t>
            </a:r>
            <a:endParaRPr lang="en-US" sz="1250" dirty="0"/>
          </a:p>
        </p:txBody>
      </p:sp>
      <p:sp>
        <p:nvSpPr>
          <p:cNvPr id="15" name="Text 10"/>
          <p:cNvSpPr txBox="1"/>
          <p:nvPr/>
        </p:nvSpPr>
        <p:spPr>
          <a:xfrm>
            <a:off x="914400" y="3310128"/>
            <a:ext cx="1097280" cy="228600"/>
          </a:xfrm>
          <a:prstGeom prst="rect">
            <a:avLst/>
          </a:prstGeom>
          <a:noFill/>
          <a:ln/>
        </p:spPr>
        <p:txBody>
          <a:bodyPr wrap="square" lIns="0" tIns="0" rIns="0" bIns="0" rtlCol="0" anchor="ctr"/>
          <a:lstStyle/>
          <a:p>
            <a:pPr indent="0" marL="0">
              <a:buNone/>
            </a:pPr>
            <a:r>
              <a:rPr lang="en-US" sz="900" b="1" dirty="0">
                <a:solidFill>
                  <a:srgbClr val="64748B"/>
                </a:solidFill>
                <a:latin typeface="Roboto" pitchFamily="34" charset="0"/>
                <a:ea typeface="Roboto" pitchFamily="34" charset="-122"/>
                <a:cs typeface="Roboto" pitchFamily="34" charset="-120"/>
              </a:rPr>
              <a:t>AADHAAR</a:t>
            </a:r>
            <a:endParaRPr lang="en-US" sz="900" dirty="0"/>
          </a:p>
        </p:txBody>
      </p:sp>
      <p:sp>
        <p:nvSpPr>
          <p:cNvPr id="16" name="Text 11"/>
          <p:cNvSpPr txBox="1"/>
          <p:nvPr/>
        </p:nvSpPr>
        <p:spPr>
          <a:xfrm>
            <a:off x="914400" y="3529584"/>
            <a:ext cx="2926080" cy="274320"/>
          </a:xfrm>
          <a:prstGeom prst="rect">
            <a:avLst/>
          </a:prstGeom>
          <a:noFill/>
          <a:ln/>
        </p:spPr>
        <p:txBody>
          <a:bodyPr wrap="square" lIns="0" tIns="0" rIns="0" bIns="0" rtlCol="0" anchor="ctr"/>
          <a:lstStyle/>
          <a:p>
            <a:pPr indent="0" marL="0">
              <a:buNone/>
            </a:pPr>
            <a:r>
              <a:rPr lang="en-US" sz="1250" b="1" dirty="0">
                <a:solidFill>
                  <a:srgbClr val="0891B2"/>
                </a:solidFill>
                <a:latin typeface="Consolas" pitchFamily="34" charset="0"/>
                <a:ea typeface="Consolas" pitchFamily="34" charset="-122"/>
                <a:cs typeface="Consolas" pitchFamily="34" charset="-120"/>
              </a:rPr>
              <a:t>XXXX XXXX </a:t>
            </a:r>
            <a:pPr indent="0" marL="0">
              <a:buNone/>
            </a:pPr>
            <a:r>
              <a:rPr lang="en-US" sz="1250" b="1" dirty="0">
                <a:solidFill>
                  <a:srgbClr val="0F172A"/>
                </a:solidFill>
                <a:latin typeface="Consolas" pitchFamily="34" charset="0"/>
                <a:ea typeface="Consolas" pitchFamily="34" charset="-122"/>
                <a:cs typeface="Consolas" pitchFamily="34" charset="-120"/>
              </a:rPr>
              <a:t>5784</a:t>
            </a:r>
            <a:endParaRPr lang="en-US" sz="1250" dirty="0"/>
          </a:p>
        </p:txBody>
      </p:sp>
      <p:sp>
        <p:nvSpPr>
          <p:cNvPr id="17" name="Text 12"/>
          <p:cNvSpPr txBox="1"/>
          <p:nvPr/>
        </p:nvSpPr>
        <p:spPr>
          <a:xfrm>
            <a:off x="777240" y="4041648"/>
            <a:ext cx="3154680" cy="12344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OCR finds the PAN / Aadhaar number and masks all but the last four</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Reads the card upright first, so sideways photos can't leak</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Officers and the audit view only ever see the masked copy</a:t>
            </a:r>
            <a:endParaRPr lang="en-US" sz="1100" dirty="0"/>
          </a:p>
        </p:txBody>
      </p:sp>
      <p:sp>
        <p:nvSpPr>
          <p:cNvPr id="18" name="Shape 13"/>
          <p:cNvSpPr/>
          <p:nvPr/>
        </p:nvSpPr>
        <p:spPr>
          <a:xfrm>
            <a:off x="777240" y="5376672"/>
            <a:ext cx="3108960" cy="749808"/>
          </a:xfrm>
          <a:prstGeom prst="roundRect">
            <a:avLst>
              <a:gd name="adj" fmla="val 9756"/>
            </a:avLst>
          </a:prstGeom>
          <a:solidFill>
            <a:srgbClr val="FFFFFF"/>
          </a:solidFill>
          <a:ln w="12700">
            <a:solidFill>
              <a:srgbClr val="E2E8F0"/>
            </a:solidFill>
            <a:prstDash val="solid"/>
          </a:ln>
        </p:spPr>
      </p:sp>
      <p:sp>
        <p:nvSpPr>
          <p:cNvPr id="19" name="Text 14"/>
          <p:cNvSpPr txBox="1"/>
          <p:nvPr/>
        </p:nvSpPr>
        <p:spPr>
          <a:xfrm>
            <a:off x="896112" y="5376672"/>
            <a:ext cx="1097280" cy="749808"/>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0 leaks</a:t>
            </a:r>
            <a:endParaRPr lang="en-US" sz="2000" dirty="0"/>
          </a:p>
        </p:txBody>
      </p:sp>
      <p:sp>
        <p:nvSpPr>
          <p:cNvPr id="20" name="Text 15"/>
          <p:cNvSpPr txBox="1"/>
          <p:nvPr/>
        </p:nvSpPr>
        <p:spPr>
          <a:xfrm>
            <a:off x="1965960" y="5376672"/>
            <a:ext cx="1874520" cy="749808"/>
          </a:xfrm>
          <a:prstGeom prst="rect">
            <a:avLst/>
          </a:prstGeom>
          <a:noFill/>
          <a:ln/>
        </p:spPr>
        <p:txBody>
          <a:bodyPr wrap="square" lIns="0" tIns="0" rIns="0" bIns="0" rtlCol="0" anchor="ctr"/>
          <a:lstStyle/>
          <a:p>
            <a:pPr indent="0" marL="0">
              <a:buNone/>
            </a:pPr>
            <a:r>
              <a:rPr lang="en-US" sz="950" dirty="0">
                <a:solidFill>
                  <a:srgbClr val="64748B"/>
                </a:solidFill>
                <a:latin typeface="Roboto" pitchFamily="34" charset="0"/>
                <a:ea typeface="Roboto" pitchFamily="34" charset="-122"/>
                <a:cs typeface="Roboto" pitchFamily="34" charset="-120"/>
              </a:rPr>
              <a:t>48 test cards + 4 real scans · last four kept 93.8%</a:t>
            </a:r>
            <a:endParaRPr lang="en-US" sz="950" dirty="0"/>
          </a:p>
        </p:txBody>
      </p:sp>
      <p:sp>
        <p:nvSpPr>
          <p:cNvPr id="21" name="Shape 16"/>
          <p:cNvSpPr/>
          <p:nvPr/>
        </p:nvSpPr>
        <p:spPr>
          <a:xfrm>
            <a:off x="4297680" y="1783080"/>
            <a:ext cx="3566160" cy="4526280"/>
          </a:xfrm>
          <a:prstGeom prst="roundRect">
            <a:avLst>
              <a:gd name="adj" fmla="val 3077"/>
            </a:avLst>
          </a:prstGeom>
          <a:solidFill>
            <a:srgbClr val="F8FAFC"/>
          </a:solidFill>
          <a:ln w="12700">
            <a:solidFill>
              <a:srgbClr val="E2E8F0"/>
            </a:solidFill>
            <a:prstDash val="solid"/>
          </a:ln>
        </p:spPr>
      </p:sp>
      <p:sp>
        <p:nvSpPr>
          <p:cNvPr id="22" name="Shape 17"/>
          <p:cNvSpPr/>
          <p:nvPr/>
        </p:nvSpPr>
        <p:spPr>
          <a:xfrm>
            <a:off x="4526280" y="1965960"/>
            <a:ext cx="566928" cy="566928"/>
          </a:xfrm>
          <a:prstGeom prst="ellipse">
            <a:avLst/>
          </a:prstGeom>
          <a:solidFill>
            <a:srgbClr val="FFF1F2"/>
          </a:solidFill>
          <a:ln w="12700">
            <a:solidFill>
              <a:srgbClr val="FFF1F2"/>
            </a:solidFill>
            <a:prstDash val="solid"/>
          </a:ln>
        </p:spPr>
      </p:sp>
      <p:pic>
        <p:nvPicPr>
          <p:cNvPr id="23" name="Image 2" descr="preencoded.png">    </p:cNvPr>
          <p:cNvPicPr>
            <a:picLocks noChangeAspect="1"/>
          </p:cNvPicPr>
          <p:nvPr/>
        </p:nvPicPr>
        <p:blipFill>
          <a:blip r:embed="rId3"/>
          <a:stretch>
            <a:fillRect/>
          </a:stretch>
        </p:blipFill>
        <p:spPr>
          <a:xfrm>
            <a:off x="4651004" y="2090684"/>
            <a:ext cx="317480" cy="317480"/>
          </a:xfrm>
          <a:prstGeom prst="rect">
            <a:avLst/>
          </a:prstGeom>
        </p:spPr>
      </p:pic>
      <p:sp>
        <p:nvSpPr>
          <p:cNvPr id="24" name="Text 18"/>
          <p:cNvSpPr txBox="1"/>
          <p:nvPr/>
        </p:nvSpPr>
        <p:spPr>
          <a:xfrm>
            <a:off x="5212080" y="2011680"/>
            <a:ext cx="2560320" cy="457200"/>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Face Verification  #6</a:t>
            </a:r>
            <a:endParaRPr lang="en-US" sz="1500" dirty="0"/>
          </a:p>
        </p:txBody>
      </p:sp>
      <p:sp>
        <p:nvSpPr>
          <p:cNvPr id="25" name="Shape 19"/>
          <p:cNvSpPr/>
          <p:nvPr/>
        </p:nvSpPr>
        <p:spPr>
          <a:xfrm>
            <a:off x="4526280" y="2971800"/>
            <a:ext cx="896112" cy="640080"/>
          </a:xfrm>
          <a:prstGeom prst="roundRect">
            <a:avLst>
              <a:gd name="adj" fmla="val 11429"/>
            </a:avLst>
          </a:prstGeom>
          <a:solidFill>
            <a:srgbClr val="FFFFFF"/>
          </a:solidFill>
          <a:ln w="12700">
            <a:solidFill>
              <a:srgbClr val="E11D48"/>
            </a:solidFill>
            <a:prstDash val="solid"/>
          </a:ln>
        </p:spPr>
      </p:sp>
      <p:sp>
        <p:nvSpPr>
          <p:cNvPr id="26" name="Text 20"/>
          <p:cNvSpPr txBox="1"/>
          <p:nvPr/>
        </p:nvSpPr>
        <p:spPr>
          <a:xfrm>
            <a:off x="4599432"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YuNet</a:t>
            </a:r>
            <a:endParaRPr lang="en-US" sz="1050" dirty="0"/>
          </a:p>
        </p:txBody>
      </p:sp>
      <p:sp>
        <p:nvSpPr>
          <p:cNvPr id="27" name="Shape 21"/>
          <p:cNvSpPr/>
          <p:nvPr/>
        </p:nvSpPr>
        <p:spPr>
          <a:xfrm>
            <a:off x="5431536" y="3291840"/>
            <a:ext cx="164592" cy="0"/>
          </a:xfrm>
          <a:prstGeom prst="line">
            <a:avLst/>
          </a:prstGeom>
          <a:noFill/>
          <a:ln w="19050">
            <a:solidFill>
              <a:srgbClr val="E11D48"/>
            </a:solidFill>
            <a:prstDash val="solid"/>
            <a:tailEnd type="triangle"/>
          </a:ln>
        </p:spPr>
      </p:sp>
      <p:sp>
        <p:nvSpPr>
          <p:cNvPr id="28" name="Shape 22"/>
          <p:cNvSpPr/>
          <p:nvPr/>
        </p:nvSpPr>
        <p:spPr>
          <a:xfrm>
            <a:off x="5605272" y="2971800"/>
            <a:ext cx="896112" cy="640080"/>
          </a:xfrm>
          <a:prstGeom prst="roundRect">
            <a:avLst>
              <a:gd name="adj" fmla="val 11429"/>
            </a:avLst>
          </a:prstGeom>
          <a:solidFill>
            <a:srgbClr val="FFFFFF"/>
          </a:solidFill>
          <a:ln w="12700">
            <a:solidFill>
              <a:srgbClr val="E11D48"/>
            </a:solidFill>
            <a:prstDash val="solid"/>
          </a:ln>
        </p:spPr>
      </p:sp>
      <p:sp>
        <p:nvSpPr>
          <p:cNvPr id="29" name="Text 23"/>
          <p:cNvSpPr txBox="1"/>
          <p:nvPr/>
        </p:nvSpPr>
        <p:spPr>
          <a:xfrm>
            <a:off x="5678424"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SFace</a:t>
            </a:r>
            <a:endParaRPr lang="en-US" sz="1050" dirty="0"/>
          </a:p>
        </p:txBody>
      </p:sp>
      <p:sp>
        <p:nvSpPr>
          <p:cNvPr id="30" name="Shape 24"/>
          <p:cNvSpPr/>
          <p:nvPr/>
        </p:nvSpPr>
        <p:spPr>
          <a:xfrm>
            <a:off x="6510528" y="3291840"/>
            <a:ext cx="164592" cy="0"/>
          </a:xfrm>
          <a:prstGeom prst="line">
            <a:avLst/>
          </a:prstGeom>
          <a:noFill/>
          <a:ln w="19050">
            <a:solidFill>
              <a:srgbClr val="E11D48"/>
            </a:solidFill>
            <a:prstDash val="solid"/>
            <a:tailEnd type="triangle"/>
          </a:ln>
        </p:spPr>
      </p:sp>
      <p:sp>
        <p:nvSpPr>
          <p:cNvPr id="31" name="Shape 25"/>
          <p:cNvSpPr/>
          <p:nvPr/>
        </p:nvSpPr>
        <p:spPr>
          <a:xfrm>
            <a:off x="6684264" y="2971800"/>
            <a:ext cx="896112" cy="640080"/>
          </a:xfrm>
          <a:prstGeom prst="roundRect">
            <a:avLst>
              <a:gd name="adj" fmla="val 11429"/>
            </a:avLst>
          </a:prstGeom>
          <a:solidFill>
            <a:srgbClr val="FFFFFF"/>
          </a:solidFill>
          <a:ln w="12700">
            <a:solidFill>
              <a:srgbClr val="E11D48"/>
            </a:solidFill>
            <a:prstDash val="solid"/>
          </a:ln>
        </p:spPr>
      </p:sp>
      <p:sp>
        <p:nvSpPr>
          <p:cNvPr id="32" name="Text 26"/>
          <p:cNvSpPr txBox="1"/>
          <p:nvPr/>
        </p:nvSpPr>
        <p:spPr>
          <a:xfrm>
            <a:off x="6757416"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 0.363</a:t>
            </a:r>
            <a:endParaRPr lang="en-US" sz="1050" dirty="0"/>
          </a:p>
        </p:txBody>
      </p:sp>
      <p:sp>
        <p:nvSpPr>
          <p:cNvPr id="33" name="Text 27"/>
          <p:cNvSpPr txBox="1"/>
          <p:nvPr/>
        </p:nvSpPr>
        <p:spPr>
          <a:xfrm>
            <a:off x="4526280" y="4041648"/>
            <a:ext cx="3154680" cy="12344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YuNet finds each face, SFace turns it into an embedding</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Cosine similarity ≥ 0.363 → same person</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A blurry or tiny face can only be 'uncertain', never 'mismatch'</a:t>
            </a:r>
            <a:endParaRPr lang="en-US" sz="1100" dirty="0"/>
          </a:p>
        </p:txBody>
      </p:sp>
      <p:sp>
        <p:nvSpPr>
          <p:cNvPr id="34" name="Shape 28"/>
          <p:cNvSpPr/>
          <p:nvPr/>
        </p:nvSpPr>
        <p:spPr>
          <a:xfrm>
            <a:off x="4526280" y="5376672"/>
            <a:ext cx="3108960" cy="749808"/>
          </a:xfrm>
          <a:prstGeom prst="roundRect">
            <a:avLst>
              <a:gd name="adj" fmla="val 9756"/>
            </a:avLst>
          </a:prstGeom>
          <a:solidFill>
            <a:srgbClr val="FFFFFF"/>
          </a:solidFill>
          <a:ln w="12700">
            <a:solidFill>
              <a:srgbClr val="E2E8F0"/>
            </a:solidFill>
            <a:prstDash val="solid"/>
          </a:ln>
        </p:spPr>
      </p:sp>
      <p:sp>
        <p:nvSpPr>
          <p:cNvPr id="35" name="Text 29"/>
          <p:cNvSpPr txBox="1"/>
          <p:nvPr/>
        </p:nvSpPr>
        <p:spPr>
          <a:xfrm>
            <a:off x="4645152" y="5376672"/>
            <a:ext cx="1097280" cy="749808"/>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99.4%</a:t>
            </a:r>
            <a:endParaRPr lang="en-US" sz="2000" dirty="0"/>
          </a:p>
        </p:txBody>
      </p:sp>
      <p:sp>
        <p:nvSpPr>
          <p:cNvPr id="36" name="Text 30"/>
          <p:cNvSpPr txBox="1"/>
          <p:nvPr/>
        </p:nvSpPr>
        <p:spPr>
          <a:xfrm>
            <a:off x="5715000" y="5376672"/>
            <a:ext cx="1874520" cy="749808"/>
          </a:xfrm>
          <a:prstGeom prst="rect">
            <a:avLst/>
          </a:prstGeom>
          <a:noFill/>
          <a:ln/>
        </p:spPr>
        <p:txBody>
          <a:bodyPr wrap="square" lIns="0" tIns="0" rIns="0" bIns="0" rtlCol="0" anchor="ctr"/>
          <a:lstStyle/>
          <a:p>
            <a:pPr indent="0" marL="0">
              <a:buNone/>
            </a:pPr>
            <a:r>
              <a:rPr lang="en-US" sz="950" dirty="0">
                <a:solidFill>
                  <a:srgbClr val="64748B"/>
                </a:solidFill>
                <a:latin typeface="Roboto" pitchFamily="34" charset="0"/>
                <a:ea typeface="Roboto" pitchFamily="34" charset="-122"/>
                <a:cs typeface="Roboto" pitchFamily="34" charset="-120"/>
              </a:rPr>
              <a:t>correct verdicts on 160 LFW pairs · 0.3 s</a:t>
            </a:r>
            <a:endParaRPr lang="en-US" sz="950" dirty="0"/>
          </a:p>
        </p:txBody>
      </p:sp>
      <p:sp>
        <p:nvSpPr>
          <p:cNvPr id="37" name="Shape 31"/>
          <p:cNvSpPr/>
          <p:nvPr/>
        </p:nvSpPr>
        <p:spPr>
          <a:xfrm>
            <a:off x="8046720" y="1783080"/>
            <a:ext cx="3566160" cy="4526280"/>
          </a:xfrm>
          <a:prstGeom prst="roundRect">
            <a:avLst>
              <a:gd name="adj" fmla="val 3077"/>
            </a:avLst>
          </a:prstGeom>
          <a:solidFill>
            <a:srgbClr val="F8FAFC"/>
          </a:solidFill>
          <a:ln w="12700">
            <a:solidFill>
              <a:srgbClr val="E2E8F0"/>
            </a:solidFill>
            <a:prstDash val="solid"/>
          </a:ln>
        </p:spPr>
      </p:sp>
      <p:sp>
        <p:nvSpPr>
          <p:cNvPr id="38" name="Shape 32"/>
          <p:cNvSpPr/>
          <p:nvPr/>
        </p:nvSpPr>
        <p:spPr>
          <a:xfrm>
            <a:off x="8275320" y="1965960"/>
            <a:ext cx="566928" cy="566928"/>
          </a:xfrm>
          <a:prstGeom prst="ellipse">
            <a:avLst/>
          </a:prstGeom>
          <a:solidFill>
            <a:srgbClr val="FFF1F2"/>
          </a:solidFill>
          <a:ln w="12700">
            <a:solidFill>
              <a:srgbClr val="FFF1F2"/>
            </a:solidFill>
            <a:prstDash val="solid"/>
          </a:ln>
        </p:spPr>
      </p:sp>
      <p:pic>
        <p:nvPicPr>
          <p:cNvPr id="39" name="Image 3" descr="preencoded.png">    </p:cNvPr>
          <p:cNvPicPr>
            <a:picLocks noChangeAspect="1"/>
          </p:cNvPicPr>
          <p:nvPr/>
        </p:nvPicPr>
        <p:blipFill>
          <a:blip r:embed="rId4"/>
          <a:stretch>
            <a:fillRect/>
          </a:stretch>
        </p:blipFill>
        <p:spPr>
          <a:xfrm>
            <a:off x="8400044" y="2090684"/>
            <a:ext cx="317480" cy="317480"/>
          </a:xfrm>
          <a:prstGeom prst="rect">
            <a:avLst/>
          </a:prstGeom>
        </p:spPr>
      </p:pic>
      <p:sp>
        <p:nvSpPr>
          <p:cNvPr id="40" name="Text 33"/>
          <p:cNvSpPr txBox="1"/>
          <p:nvPr/>
        </p:nvSpPr>
        <p:spPr>
          <a:xfrm>
            <a:off x="8961120" y="2011680"/>
            <a:ext cx="2560320" cy="457200"/>
          </a:xfrm>
          <a:prstGeom prst="rect">
            <a:avLst/>
          </a:prstGeom>
          <a:noFill/>
          <a:ln/>
        </p:spPr>
        <p:txBody>
          <a:bodyPr wrap="square" lIns="0" tIns="0" rIns="0" bIns="0" rtlCol="0" anchor="ctr"/>
          <a:lstStyle/>
          <a:p>
            <a:pPr indent="0" marL="0">
              <a:buNone/>
            </a:pPr>
            <a:r>
              <a:rPr lang="en-US" sz="1500" b="1" dirty="0">
                <a:solidFill>
                  <a:srgbClr val="0F172A"/>
                </a:solidFill>
                <a:latin typeface="Roboto" pitchFamily="34" charset="0"/>
                <a:ea typeface="Roboto" pitchFamily="34" charset="-122"/>
                <a:cs typeface="Roboto" pitchFamily="34" charset="-120"/>
              </a:rPr>
              <a:t>Liveness  #29</a:t>
            </a:r>
            <a:endParaRPr lang="en-US" sz="1500" dirty="0"/>
          </a:p>
        </p:txBody>
      </p:sp>
      <p:sp>
        <p:nvSpPr>
          <p:cNvPr id="41" name="Shape 34"/>
          <p:cNvSpPr/>
          <p:nvPr/>
        </p:nvSpPr>
        <p:spPr>
          <a:xfrm>
            <a:off x="8275320" y="2971800"/>
            <a:ext cx="896112" cy="640080"/>
          </a:xfrm>
          <a:prstGeom prst="roundRect">
            <a:avLst>
              <a:gd name="adj" fmla="val 11429"/>
            </a:avLst>
          </a:prstGeom>
          <a:solidFill>
            <a:srgbClr val="FFFFFF"/>
          </a:solidFill>
          <a:ln w="12700">
            <a:solidFill>
              <a:srgbClr val="E11D48"/>
            </a:solidFill>
            <a:prstDash val="solid"/>
          </a:ln>
        </p:spPr>
      </p:sp>
      <p:sp>
        <p:nvSpPr>
          <p:cNvPr id="42" name="Text 35"/>
          <p:cNvSpPr txBox="1"/>
          <p:nvPr/>
        </p:nvSpPr>
        <p:spPr>
          <a:xfrm>
            <a:off x="8348472"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Selfie</a:t>
            </a:r>
            <a:endParaRPr lang="en-US" sz="1050" dirty="0"/>
          </a:p>
        </p:txBody>
      </p:sp>
      <p:sp>
        <p:nvSpPr>
          <p:cNvPr id="43" name="Shape 36"/>
          <p:cNvSpPr/>
          <p:nvPr/>
        </p:nvSpPr>
        <p:spPr>
          <a:xfrm>
            <a:off x="9180576" y="3291840"/>
            <a:ext cx="164592" cy="0"/>
          </a:xfrm>
          <a:prstGeom prst="line">
            <a:avLst/>
          </a:prstGeom>
          <a:noFill/>
          <a:ln w="19050">
            <a:solidFill>
              <a:srgbClr val="E11D48"/>
            </a:solidFill>
            <a:prstDash val="solid"/>
            <a:tailEnd type="triangle"/>
          </a:ln>
        </p:spPr>
      </p:sp>
      <p:sp>
        <p:nvSpPr>
          <p:cNvPr id="44" name="Shape 37"/>
          <p:cNvSpPr/>
          <p:nvPr/>
        </p:nvSpPr>
        <p:spPr>
          <a:xfrm>
            <a:off x="9354312" y="2971800"/>
            <a:ext cx="896112" cy="640080"/>
          </a:xfrm>
          <a:prstGeom prst="roundRect">
            <a:avLst>
              <a:gd name="adj" fmla="val 11429"/>
            </a:avLst>
          </a:prstGeom>
          <a:solidFill>
            <a:srgbClr val="FFFFFF"/>
          </a:solidFill>
          <a:ln w="12700">
            <a:solidFill>
              <a:srgbClr val="E11D48"/>
            </a:solidFill>
            <a:prstDash val="solid"/>
          </a:ln>
        </p:spPr>
      </p:sp>
      <p:sp>
        <p:nvSpPr>
          <p:cNvPr id="45" name="Text 38"/>
          <p:cNvSpPr txBox="1"/>
          <p:nvPr/>
        </p:nvSpPr>
        <p:spPr>
          <a:xfrm>
            <a:off x="9427464"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MiniFASNet</a:t>
            </a:r>
            <a:endParaRPr lang="en-US" sz="1050" dirty="0"/>
          </a:p>
        </p:txBody>
      </p:sp>
      <p:sp>
        <p:nvSpPr>
          <p:cNvPr id="46" name="Shape 39"/>
          <p:cNvSpPr/>
          <p:nvPr/>
        </p:nvSpPr>
        <p:spPr>
          <a:xfrm>
            <a:off x="10259568" y="3291840"/>
            <a:ext cx="164592" cy="0"/>
          </a:xfrm>
          <a:prstGeom prst="line">
            <a:avLst/>
          </a:prstGeom>
          <a:noFill/>
          <a:ln w="19050">
            <a:solidFill>
              <a:srgbClr val="E11D48"/>
            </a:solidFill>
            <a:prstDash val="solid"/>
            <a:tailEnd type="triangle"/>
          </a:ln>
        </p:spPr>
      </p:sp>
      <p:sp>
        <p:nvSpPr>
          <p:cNvPr id="47" name="Shape 40"/>
          <p:cNvSpPr/>
          <p:nvPr/>
        </p:nvSpPr>
        <p:spPr>
          <a:xfrm>
            <a:off x="10433304" y="2971800"/>
            <a:ext cx="896112" cy="640080"/>
          </a:xfrm>
          <a:prstGeom prst="roundRect">
            <a:avLst>
              <a:gd name="adj" fmla="val 11429"/>
            </a:avLst>
          </a:prstGeom>
          <a:solidFill>
            <a:srgbClr val="FFFFFF"/>
          </a:solidFill>
          <a:ln w="12700">
            <a:solidFill>
              <a:srgbClr val="E11D48"/>
            </a:solidFill>
            <a:prstDash val="solid"/>
          </a:ln>
        </p:spPr>
      </p:sp>
      <p:sp>
        <p:nvSpPr>
          <p:cNvPr id="48" name="Text 41"/>
          <p:cNvSpPr txBox="1"/>
          <p:nvPr/>
        </p:nvSpPr>
        <p:spPr>
          <a:xfrm>
            <a:off x="10506456" y="2990088"/>
            <a:ext cx="749808" cy="603504"/>
          </a:xfrm>
          <a:prstGeom prst="rect">
            <a:avLst/>
          </a:prstGeom>
          <a:noFill/>
          <a:ln/>
        </p:spPr>
        <p:txBody>
          <a:bodyPr wrap="square" lIns="0" tIns="0" rIns="0" bIns="0" rtlCol="0" anchor="ctr"/>
          <a:lstStyle/>
          <a:p>
            <a:pPr algn="ctr" indent="0" marL="0">
              <a:spcAft>
                <a:spcPts val="200"/>
              </a:spcAft>
              <a:buNone/>
            </a:pPr>
            <a:r>
              <a:rPr lang="en-US" sz="1050" b="1" dirty="0">
                <a:solidFill>
                  <a:srgbClr val="E11D48"/>
                </a:solidFill>
                <a:latin typeface="Roboto" pitchFamily="34" charset="0"/>
                <a:ea typeface="Roboto" pitchFamily="34" charset="-122"/>
                <a:cs typeface="Roboto" pitchFamily="34" charset="-120"/>
              </a:rPr>
              <a:t>ID match</a:t>
            </a:r>
            <a:endParaRPr lang="en-US" sz="1050" dirty="0"/>
          </a:p>
        </p:txBody>
      </p:sp>
      <p:sp>
        <p:nvSpPr>
          <p:cNvPr id="49" name="Text 42"/>
          <p:cNvSpPr txBox="1"/>
          <p:nvPr/>
        </p:nvSpPr>
        <p:spPr>
          <a:xfrm>
            <a:off x="8275320" y="4041648"/>
            <a:ext cx="3154680" cy="12344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Selfie checked by MiniFASNet for print / screen attacks</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Then matched to the ID photo on the case</a:t>
            </a:r>
            <a:endParaRPr lang="en-US" sz="1100" dirty="0"/>
          </a:p>
          <a:p>
            <a:pPr marL="177800" indent="-177800">
              <a:spcAft>
                <a:spcPts val="500"/>
              </a:spcAft>
              <a:buSzPct val="100000"/>
              <a:buChar char="•"/>
            </a:pPr>
            <a:r>
              <a:rPr lang="en-US" sz="1100" dirty="0">
                <a:solidFill>
                  <a:srgbClr val="334155"/>
                </a:solidFill>
                <a:latin typeface="Roboto" pitchFamily="34" charset="0"/>
                <a:ea typeface="Roboto" pitchFamily="34" charset="-122"/>
                <a:cs typeface="Roboto" pitchFamily="34" charset="-120"/>
              </a:rPr>
              <a:t>The picture is checked and discarded</a:t>
            </a:r>
            <a:endParaRPr lang="en-US" sz="1100" dirty="0"/>
          </a:p>
        </p:txBody>
      </p:sp>
      <p:sp>
        <p:nvSpPr>
          <p:cNvPr id="50" name="Shape 43"/>
          <p:cNvSpPr/>
          <p:nvPr/>
        </p:nvSpPr>
        <p:spPr>
          <a:xfrm>
            <a:off x="8275320" y="5376672"/>
            <a:ext cx="3108960" cy="749808"/>
          </a:xfrm>
          <a:prstGeom prst="roundRect">
            <a:avLst>
              <a:gd name="adj" fmla="val 9756"/>
            </a:avLst>
          </a:prstGeom>
          <a:solidFill>
            <a:srgbClr val="FFFFFF"/>
          </a:solidFill>
          <a:ln w="12700">
            <a:solidFill>
              <a:srgbClr val="E2E8F0"/>
            </a:solidFill>
            <a:prstDash val="solid"/>
          </a:ln>
        </p:spPr>
      </p:sp>
      <p:sp>
        <p:nvSpPr>
          <p:cNvPr id="51" name="Text 44"/>
          <p:cNvSpPr txBox="1"/>
          <p:nvPr/>
        </p:nvSpPr>
        <p:spPr>
          <a:xfrm>
            <a:off x="8394192" y="5376672"/>
            <a:ext cx="1097280" cy="749808"/>
          </a:xfrm>
          <a:prstGeom prst="rect">
            <a:avLst/>
          </a:prstGeom>
          <a:noFill/>
          <a:ln/>
        </p:spPr>
        <p:txBody>
          <a:bodyPr wrap="square" lIns="0" tIns="0" rIns="0" bIns="0" rtlCol="0" anchor="ctr"/>
          <a:lstStyle/>
          <a:p>
            <a:pPr indent="0" marL="0">
              <a:buNone/>
            </a:pPr>
            <a:r>
              <a:rPr lang="en-US" sz="2000" b="1" dirty="0">
                <a:solidFill>
                  <a:srgbClr val="DC2626"/>
                </a:solidFill>
                <a:latin typeface="Roboto" pitchFamily="34" charset="0"/>
                <a:ea typeface="Roboto" pitchFamily="34" charset="-122"/>
                <a:cs typeface="Roboto" pitchFamily="34" charset="-120"/>
              </a:rPr>
              <a:t>22.2%</a:t>
            </a:r>
            <a:endParaRPr lang="en-US" sz="2000" dirty="0"/>
          </a:p>
        </p:txBody>
      </p:sp>
      <p:sp>
        <p:nvSpPr>
          <p:cNvPr id="52" name="Text 45"/>
          <p:cNvSpPr txBox="1"/>
          <p:nvPr/>
        </p:nvSpPr>
        <p:spPr>
          <a:xfrm>
            <a:off x="9464040" y="5376672"/>
            <a:ext cx="1874520" cy="749808"/>
          </a:xfrm>
          <a:prstGeom prst="rect">
            <a:avLst/>
          </a:prstGeom>
          <a:noFill/>
          <a:ln/>
        </p:spPr>
        <p:txBody>
          <a:bodyPr wrap="square" lIns="0" tIns="0" rIns="0" bIns="0" rtlCol="0" anchor="ctr"/>
          <a:lstStyle/>
          <a:p>
            <a:pPr indent="0" marL="0">
              <a:buNone/>
            </a:pPr>
            <a:r>
              <a:rPr lang="en-US" sz="950" dirty="0">
                <a:solidFill>
                  <a:srgbClr val="64748B"/>
                </a:solidFill>
                <a:latin typeface="Roboto" pitchFamily="34" charset="0"/>
                <a:ea typeface="Roboto" pitchFamily="34" charset="-122"/>
                <a:cs typeface="Roboto" pitchFamily="34" charset="-120"/>
              </a:rPr>
              <a:t>ACER (target ≤ 10%) — Weak; needs real selfies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IDENTITY &amp; FRAUD EVIDENCE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Tampering: a nine-signal cascade, fused into one honest tier</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Cheap checks first; pixel forensics only when needed (ID cards always get them). Two helper agents explain and locate.</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15</a:t>
            </a:r>
            <a:endParaRPr lang="en-US" sz="900" dirty="0"/>
          </a:p>
        </p:txBody>
      </p:sp>
      <p:sp>
        <p:nvSpPr>
          <p:cNvPr id="8" name="Shape 4"/>
          <p:cNvSpPr/>
          <p:nvPr/>
        </p:nvSpPr>
        <p:spPr>
          <a:xfrm>
            <a:off x="548640" y="1783080"/>
            <a:ext cx="1143000" cy="1097280"/>
          </a:xfrm>
          <a:prstGeom prst="roundRect">
            <a:avLst>
              <a:gd name="adj" fmla="val 6667"/>
            </a:avLst>
          </a:prstGeom>
          <a:solidFill>
            <a:srgbClr val="F8FAFC"/>
          </a:solidFill>
          <a:ln w="12700">
            <a:solidFill>
              <a:srgbClr val="E2E8F0"/>
            </a:solidFill>
            <a:prstDash val="solid"/>
          </a:ln>
        </p:spPr>
      </p:sp>
      <p:sp>
        <p:nvSpPr>
          <p:cNvPr id="9" name="Text 5"/>
          <p:cNvSpPr txBox="1"/>
          <p:nvPr/>
        </p:nvSpPr>
        <p:spPr>
          <a:xfrm>
            <a:off x="621792" y="1801368"/>
            <a:ext cx="996696" cy="1060704"/>
          </a:xfrm>
          <a:prstGeom prst="rect">
            <a:avLst/>
          </a:prstGeom>
          <a:noFill/>
          <a:ln/>
        </p:spPr>
        <p:txBody>
          <a:bodyPr wrap="square" lIns="0" tIns="0" rIns="0" bIns="0" rtlCol="0" anchor="ctr"/>
          <a:lstStyle/>
          <a:p>
            <a:pPr algn="ctr" indent="0" marL="0">
              <a:spcAft>
                <a:spcPts val="200"/>
              </a:spcAft>
              <a:buNone/>
            </a:pPr>
            <a:r>
              <a:rPr lang="en-US" sz="1200" b="1" dirty="0">
                <a:solidFill>
                  <a:srgbClr val="0F172A"/>
                </a:solidFill>
                <a:latin typeface="Roboto" pitchFamily="34" charset="0"/>
                <a:ea typeface="Roboto" pitchFamily="34" charset="-122"/>
                <a:cs typeface="Roboto" pitchFamily="34" charset="-120"/>
              </a:rPr>
              <a:t>Document</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image or PDF</a:t>
            </a:r>
            <a:endParaRPr lang="en-US" sz="1200" dirty="0"/>
          </a:p>
        </p:txBody>
      </p:sp>
      <p:sp>
        <p:nvSpPr>
          <p:cNvPr id="10" name="Shape 6"/>
          <p:cNvSpPr/>
          <p:nvPr/>
        </p:nvSpPr>
        <p:spPr>
          <a:xfrm>
            <a:off x="1709928" y="2331720"/>
            <a:ext cx="210312" cy="0"/>
          </a:xfrm>
          <a:prstGeom prst="line">
            <a:avLst/>
          </a:prstGeom>
          <a:noFill/>
          <a:ln w="19050">
            <a:solidFill>
              <a:srgbClr val="94A3B8"/>
            </a:solidFill>
            <a:prstDash val="solid"/>
            <a:tailEnd type="triangle"/>
          </a:ln>
        </p:spPr>
      </p:sp>
      <p:sp>
        <p:nvSpPr>
          <p:cNvPr id="11" name="Shape 7"/>
          <p:cNvSpPr/>
          <p:nvPr/>
        </p:nvSpPr>
        <p:spPr>
          <a:xfrm>
            <a:off x="1938528" y="1783080"/>
            <a:ext cx="2331720" cy="1097280"/>
          </a:xfrm>
          <a:prstGeom prst="roundRect">
            <a:avLst>
              <a:gd name="adj" fmla="val 6667"/>
            </a:avLst>
          </a:prstGeom>
          <a:solidFill>
            <a:srgbClr val="FFF1F2"/>
          </a:solidFill>
          <a:ln w="12700">
            <a:solidFill>
              <a:srgbClr val="E11D48"/>
            </a:solidFill>
            <a:prstDash val="solid"/>
          </a:ln>
        </p:spPr>
      </p:sp>
      <p:sp>
        <p:nvSpPr>
          <p:cNvPr id="12" name="Text 8"/>
          <p:cNvSpPr txBox="1"/>
          <p:nvPr/>
        </p:nvSpPr>
        <p:spPr>
          <a:xfrm>
            <a:off x="2011680" y="1801368"/>
            <a:ext cx="2185416" cy="1060704"/>
          </a:xfrm>
          <a:prstGeom prst="rect">
            <a:avLst/>
          </a:prstGeom>
          <a:noFill/>
          <a:ln/>
        </p:spPr>
        <p:txBody>
          <a:bodyPr wrap="square" lIns="0" tIns="0" rIns="0" bIns="0" rtlCol="0" anchor="ctr"/>
          <a:lstStyle/>
          <a:p>
            <a:pPr algn="ctr" indent="0" marL="0">
              <a:spcAft>
                <a:spcPts val="200"/>
              </a:spcAft>
              <a:buNone/>
            </a:pPr>
            <a:r>
              <a:rPr lang="en-US" sz="1200" b="1" dirty="0">
                <a:solidFill>
                  <a:srgbClr val="E11D48"/>
                </a:solidFill>
                <a:latin typeface="Roboto" pitchFamily="34" charset="0"/>
                <a:ea typeface="Roboto" pitchFamily="34" charset="-122"/>
                <a:cs typeface="Roboto" pitchFamily="34" charset="-120"/>
              </a:rPr>
              <a:t>Stage 1 · fast</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metadata · business rules · copy-move · PDF forensics · authenticity (VLM, capped 0.60)</a:t>
            </a:r>
            <a:endParaRPr lang="en-US" sz="1200" dirty="0"/>
          </a:p>
        </p:txBody>
      </p:sp>
      <p:sp>
        <p:nvSpPr>
          <p:cNvPr id="13" name="Shape 9"/>
          <p:cNvSpPr/>
          <p:nvPr/>
        </p:nvSpPr>
        <p:spPr>
          <a:xfrm>
            <a:off x="4288536" y="2331720"/>
            <a:ext cx="192024" cy="0"/>
          </a:xfrm>
          <a:prstGeom prst="line">
            <a:avLst/>
          </a:prstGeom>
          <a:noFill/>
          <a:ln w="19050">
            <a:solidFill>
              <a:srgbClr val="94A3B8"/>
            </a:solidFill>
            <a:prstDash val="solid"/>
            <a:tailEnd type="triangle"/>
          </a:ln>
        </p:spPr>
      </p:sp>
      <p:sp>
        <p:nvSpPr>
          <p:cNvPr id="14" name="Shape 10"/>
          <p:cNvSpPr/>
          <p:nvPr/>
        </p:nvSpPr>
        <p:spPr>
          <a:xfrm>
            <a:off x="4498848" y="1737360"/>
            <a:ext cx="1371600" cy="1188720"/>
          </a:xfrm>
          <a:prstGeom prst="diamond">
            <a:avLst/>
          </a:prstGeom>
          <a:solidFill>
            <a:srgbClr val="FFFFFF"/>
          </a:solidFill>
          <a:ln w="15875">
            <a:solidFill>
              <a:srgbClr val="E11D48"/>
            </a:solidFill>
            <a:prstDash val="solid"/>
          </a:ln>
        </p:spPr>
      </p:sp>
      <p:sp>
        <p:nvSpPr>
          <p:cNvPr id="15" name="Text 11"/>
          <p:cNvSpPr txBox="1"/>
          <p:nvPr/>
        </p:nvSpPr>
        <p:spPr>
          <a:xfrm>
            <a:off x="4617720" y="1783080"/>
            <a:ext cx="1133856" cy="1097280"/>
          </a:xfrm>
          <a:prstGeom prst="rect">
            <a:avLst/>
          </a:prstGeom>
          <a:noFill/>
          <a:ln/>
        </p:spPr>
        <p:txBody>
          <a:bodyPr wrap="square" lIns="0" tIns="0" rIns="0" bIns="0" rtlCol="0" anchor="ctr"/>
          <a:lstStyle/>
          <a:p>
            <a:pPr algn="ctr" indent="0" marL="0">
              <a:buNone/>
            </a:pPr>
            <a:r>
              <a:rPr lang="en-US" sz="1050" b="1" dirty="0">
                <a:solidFill>
                  <a:srgbClr val="0F172A"/>
                </a:solidFill>
                <a:latin typeface="Roboto" pitchFamily="34" charset="0"/>
                <a:ea typeface="Roboto" pitchFamily="34" charset="-122"/>
                <a:cs typeface="Roboto" pitchFamily="34" charset="-120"/>
              </a:rPr>
              <a:t>Gate</a:t>
            </a:r>
            <a:endParaRPr lang="en-US" sz="1050" dirty="0"/>
          </a:p>
          <a:p>
            <a:pPr algn="ctr" indent="0" marL="0">
              <a:buNone/>
            </a:pPr>
            <a:r>
              <a:rPr lang="en-US" sz="900" dirty="0">
                <a:solidFill>
                  <a:srgbClr val="64748B"/>
                </a:solidFill>
                <a:latin typeface="Roboto" pitchFamily="34" charset="0"/>
                <a:ea typeface="Roboto" pitchFamily="34" charset="-122"/>
                <a:cs typeface="Roboto" pitchFamily="34" charset="-120"/>
              </a:rPr>
              <a:t>all &lt; 0.25?</a:t>
            </a:r>
            <a:endParaRPr lang="en-US" sz="1050" dirty="0"/>
          </a:p>
        </p:txBody>
      </p:sp>
      <p:sp>
        <p:nvSpPr>
          <p:cNvPr id="16" name="Shape 12"/>
          <p:cNvSpPr/>
          <p:nvPr/>
        </p:nvSpPr>
        <p:spPr>
          <a:xfrm>
            <a:off x="5888736" y="2331720"/>
            <a:ext cx="192024" cy="0"/>
          </a:xfrm>
          <a:prstGeom prst="line">
            <a:avLst/>
          </a:prstGeom>
          <a:noFill/>
          <a:ln w="19050">
            <a:solidFill>
              <a:srgbClr val="94A3B8"/>
            </a:solidFill>
            <a:prstDash val="solid"/>
            <a:tailEnd type="triangle"/>
          </a:ln>
        </p:spPr>
      </p:sp>
      <p:sp>
        <p:nvSpPr>
          <p:cNvPr id="17" name="Shape 13"/>
          <p:cNvSpPr/>
          <p:nvPr/>
        </p:nvSpPr>
        <p:spPr>
          <a:xfrm>
            <a:off x="6099048" y="1783080"/>
            <a:ext cx="2011680" cy="1097280"/>
          </a:xfrm>
          <a:prstGeom prst="roundRect">
            <a:avLst>
              <a:gd name="adj" fmla="val 6667"/>
            </a:avLst>
          </a:prstGeom>
          <a:solidFill>
            <a:srgbClr val="FFF1F2"/>
          </a:solidFill>
          <a:ln w="12700">
            <a:solidFill>
              <a:srgbClr val="E11D48"/>
            </a:solidFill>
            <a:prstDash val="solid"/>
          </a:ln>
        </p:spPr>
      </p:sp>
      <p:sp>
        <p:nvSpPr>
          <p:cNvPr id="18" name="Text 14"/>
          <p:cNvSpPr txBox="1"/>
          <p:nvPr/>
        </p:nvSpPr>
        <p:spPr>
          <a:xfrm>
            <a:off x="6172200" y="1801368"/>
            <a:ext cx="1865376" cy="1060704"/>
          </a:xfrm>
          <a:prstGeom prst="rect">
            <a:avLst/>
          </a:prstGeom>
          <a:noFill/>
          <a:ln/>
        </p:spPr>
        <p:txBody>
          <a:bodyPr wrap="square" lIns="0" tIns="0" rIns="0" bIns="0" rtlCol="0" anchor="ctr"/>
          <a:lstStyle/>
          <a:p>
            <a:pPr algn="ctr" indent="0" marL="0">
              <a:spcAft>
                <a:spcPts val="200"/>
              </a:spcAft>
              <a:buNone/>
            </a:pPr>
            <a:r>
              <a:rPr lang="en-US" sz="1200" b="1" dirty="0">
                <a:solidFill>
                  <a:srgbClr val="E11D48"/>
                </a:solidFill>
                <a:latin typeface="Roboto" pitchFamily="34" charset="0"/>
                <a:ea typeface="Roboto" pitchFamily="34" charset="-122"/>
                <a:cs typeface="Roboto" pitchFamily="34" charset="-120"/>
              </a:rPr>
              <a:t>Stage 2 · pixels</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ELA · noise · CNN · photo-region</a:t>
            </a:r>
            <a:endParaRPr lang="en-US" sz="1200" dirty="0"/>
          </a:p>
        </p:txBody>
      </p:sp>
      <p:sp>
        <p:nvSpPr>
          <p:cNvPr id="19" name="Shape 15"/>
          <p:cNvSpPr/>
          <p:nvPr/>
        </p:nvSpPr>
        <p:spPr>
          <a:xfrm>
            <a:off x="8129016" y="2331720"/>
            <a:ext cx="192024" cy="0"/>
          </a:xfrm>
          <a:prstGeom prst="line">
            <a:avLst/>
          </a:prstGeom>
          <a:noFill/>
          <a:ln w="19050">
            <a:solidFill>
              <a:srgbClr val="94A3B8"/>
            </a:solidFill>
            <a:prstDash val="solid"/>
            <a:tailEnd type="triangle"/>
          </a:ln>
        </p:spPr>
      </p:sp>
      <p:sp>
        <p:nvSpPr>
          <p:cNvPr id="20" name="Shape 16"/>
          <p:cNvSpPr/>
          <p:nvPr/>
        </p:nvSpPr>
        <p:spPr>
          <a:xfrm>
            <a:off x="8339328" y="1783080"/>
            <a:ext cx="1691640" cy="1097280"/>
          </a:xfrm>
          <a:prstGeom prst="roundRect">
            <a:avLst>
              <a:gd name="adj" fmla="val 6667"/>
            </a:avLst>
          </a:prstGeom>
          <a:solidFill>
            <a:srgbClr val="FFFFFF"/>
          </a:solidFill>
          <a:ln w="12700">
            <a:solidFill>
              <a:srgbClr val="E11D48"/>
            </a:solidFill>
            <a:prstDash val="solid"/>
          </a:ln>
        </p:spPr>
      </p:sp>
      <p:sp>
        <p:nvSpPr>
          <p:cNvPr id="21" name="Text 17"/>
          <p:cNvSpPr txBox="1"/>
          <p:nvPr/>
        </p:nvSpPr>
        <p:spPr>
          <a:xfrm>
            <a:off x="8412480" y="1801368"/>
            <a:ext cx="1545336" cy="1060704"/>
          </a:xfrm>
          <a:prstGeom prst="rect">
            <a:avLst/>
          </a:prstGeom>
          <a:noFill/>
          <a:ln/>
        </p:spPr>
        <p:txBody>
          <a:bodyPr wrap="square" lIns="0" tIns="0" rIns="0" bIns="0" rtlCol="0" anchor="ctr"/>
          <a:lstStyle/>
          <a:p>
            <a:pPr algn="ctr" indent="0" marL="0">
              <a:spcAft>
                <a:spcPts val="200"/>
              </a:spcAft>
              <a:buNone/>
            </a:pPr>
            <a:r>
              <a:rPr lang="en-US" sz="1200" b="1" dirty="0">
                <a:solidFill>
                  <a:srgbClr val="E11D48"/>
                </a:solidFill>
                <a:latin typeface="Roboto" pitchFamily="34" charset="0"/>
                <a:ea typeface="Roboto" pitchFamily="34" charset="-122"/>
                <a:cs typeface="Roboto" pitchFamily="34" charset="-120"/>
              </a:rPr>
              <a:t>Fusion</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max(weighted avg, strongest × confidence)</a:t>
            </a:r>
            <a:endParaRPr lang="en-US" sz="1200" dirty="0"/>
          </a:p>
        </p:txBody>
      </p:sp>
      <p:sp>
        <p:nvSpPr>
          <p:cNvPr id="22" name="Shape 18"/>
          <p:cNvSpPr/>
          <p:nvPr/>
        </p:nvSpPr>
        <p:spPr>
          <a:xfrm>
            <a:off x="10049256" y="2331720"/>
            <a:ext cx="192024" cy="0"/>
          </a:xfrm>
          <a:prstGeom prst="line">
            <a:avLst/>
          </a:prstGeom>
          <a:noFill/>
          <a:ln w="19050">
            <a:solidFill>
              <a:srgbClr val="94A3B8"/>
            </a:solidFill>
            <a:prstDash val="solid"/>
            <a:tailEnd type="triangle"/>
          </a:ln>
        </p:spPr>
      </p:sp>
      <p:sp>
        <p:nvSpPr>
          <p:cNvPr id="23" name="Shape 19"/>
          <p:cNvSpPr/>
          <p:nvPr/>
        </p:nvSpPr>
        <p:spPr>
          <a:xfrm>
            <a:off x="10259568" y="1783080"/>
            <a:ext cx="1380744" cy="1097280"/>
          </a:xfrm>
          <a:prstGeom prst="roundRect">
            <a:avLst>
              <a:gd name="adj" fmla="val 6667"/>
            </a:avLst>
          </a:prstGeom>
          <a:solidFill>
            <a:srgbClr val="FEE2E2"/>
          </a:solidFill>
          <a:ln w="12700">
            <a:solidFill>
              <a:srgbClr val="FCA5A5"/>
            </a:solidFill>
            <a:prstDash val="solid"/>
          </a:ln>
        </p:spPr>
      </p:sp>
      <p:sp>
        <p:nvSpPr>
          <p:cNvPr id="24" name="Text 20"/>
          <p:cNvSpPr txBox="1"/>
          <p:nvPr/>
        </p:nvSpPr>
        <p:spPr>
          <a:xfrm>
            <a:off x="10332720" y="1801368"/>
            <a:ext cx="1234440" cy="1060704"/>
          </a:xfrm>
          <a:prstGeom prst="rect">
            <a:avLst/>
          </a:prstGeom>
          <a:noFill/>
          <a:ln/>
        </p:spPr>
        <p:txBody>
          <a:bodyPr wrap="square" lIns="0" tIns="0" rIns="0" bIns="0" rtlCol="0" anchor="ctr"/>
          <a:lstStyle/>
          <a:p>
            <a:pPr algn="ctr" indent="0" marL="0">
              <a:spcAft>
                <a:spcPts val="200"/>
              </a:spcAft>
              <a:buNone/>
            </a:pPr>
            <a:r>
              <a:rPr lang="en-US" sz="1200" b="1" dirty="0">
                <a:solidFill>
                  <a:srgbClr val="991B1B"/>
                </a:solidFill>
                <a:latin typeface="Roboto" pitchFamily="34" charset="0"/>
                <a:ea typeface="Roboto" pitchFamily="34" charset="-122"/>
                <a:cs typeface="Roboto" pitchFamily="34" charset="-120"/>
              </a:rPr>
              <a:t>Tier</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LOW · MEDIUM ≥ 0.30 · HIGH ≥ 0.60</a:t>
            </a:r>
            <a:endParaRPr lang="en-US" sz="1200" dirty="0"/>
          </a:p>
        </p:txBody>
      </p:sp>
      <p:sp>
        <p:nvSpPr>
          <p:cNvPr id="25" name="Shape 21"/>
          <p:cNvSpPr/>
          <p:nvPr/>
        </p:nvSpPr>
        <p:spPr>
          <a:xfrm>
            <a:off x="5184648" y="2935224"/>
            <a:ext cx="0" cy="274320"/>
          </a:xfrm>
          <a:prstGeom prst="line">
            <a:avLst/>
          </a:prstGeom>
          <a:noFill/>
          <a:ln w="19050">
            <a:solidFill>
              <a:srgbClr val="16A34A"/>
            </a:solidFill>
            <a:prstDash val="solid"/>
            <a:tailEnd type="triangle"/>
          </a:ln>
        </p:spPr>
      </p:sp>
      <p:sp>
        <p:nvSpPr>
          <p:cNvPr id="26" name="Text 22"/>
          <p:cNvSpPr txBox="1"/>
          <p:nvPr/>
        </p:nvSpPr>
        <p:spPr>
          <a:xfrm>
            <a:off x="5303520" y="2971800"/>
            <a:ext cx="3017520" cy="256032"/>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yes → LOW, fast-tracked (never for ID cards)</a:t>
            </a:r>
            <a:endParaRPr lang="en-US" sz="950" dirty="0"/>
          </a:p>
        </p:txBody>
      </p:sp>
      <p:sp>
        <p:nvSpPr>
          <p:cNvPr id="27" name="Shape 23"/>
          <p:cNvSpPr/>
          <p:nvPr/>
        </p:nvSpPr>
        <p:spPr>
          <a:xfrm flipH="1">
            <a:off x="9189720" y="2898648"/>
            <a:ext cx="1371600" cy="274320"/>
          </a:xfrm>
          <a:prstGeom prst="line">
            <a:avLst/>
          </a:prstGeom>
          <a:noFill/>
          <a:ln w="19050">
            <a:solidFill>
              <a:srgbClr val="94A3B8"/>
            </a:solidFill>
            <a:prstDash val="solid"/>
            <a:tailEnd type="triangle"/>
          </a:ln>
        </p:spPr>
      </p:sp>
      <p:sp>
        <p:nvSpPr>
          <p:cNvPr id="28" name="Shape 24"/>
          <p:cNvSpPr/>
          <p:nvPr/>
        </p:nvSpPr>
        <p:spPr>
          <a:xfrm>
            <a:off x="10945368" y="2898648"/>
            <a:ext cx="0" cy="274320"/>
          </a:xfrm>
          <a:prstGeom prst="line">
            <a:avLst/>
          </a:prstGeom>
          <a:noFill/>
          <a:ln w="19050">
            <a:solidFill>
              <a:srgbClr val="94A3B8"/>
            </a:solidFill>
            <a:prstDash val="solid"/>
            <a:tailEnd type="triangle"/>
          </a:ln>
        </p:spPr>
      </p:sp>
      <p:sp>
        <p:nvSpPr>
          <p:cNvPr id="29" name="Shape 25"/>
          <p:cNvSpPr/>
          <p:nvPr/>
        </p:nvSpPr>
        <p:spPr>
          <a:xfrm>
            <a:off x="8339328" y="3191256"/>
            <a:ext cx="1691640" cy="502920"/>
          </a:xfrm>
          <a:prstGeom prst="roundRect">
            <a:avLst>
              <a:gd name="adj" fmla="val 14545"/>
            </a:avLst>
          </a:prstGeom>
          <a:solidFill>
            <a:srgbClr val="FFFFFF"/>
          </a:solidFill>
          <a:ln w="12700">
            <a:solidFill>
              <a:srgbClr val="E2E8F0"/>
            </a:solidFill>
            <a:prstDash val="solid"/>
          </a:ln>
        </p:spPr>
      </p:sp>
      <p:sp>
        <p:nvSpPr>
          <p:cNvPr id="30" name="Text 26"/>
          <p:cNvSpPr txBox="1"/>
          <p:nvPr/>
        </p:nvSpPr>
        <p:spPr>
          <a:xfrm>
            <a:off x="8412480" y="3209544"/>
            <a:ext cx="1545336" cy="466344"/>
          </a:xfrm>
          <a:prstGeom prst="rect">
            <a:avLst/>
          </a:prstGeom>
          <a:noFill/>
          <a:ln/>
        </p:spPr>
        <p:txBody>
          <a:bodyPr wrap="square" lIns="0" tIns="0" rIns="0" bIns="0" rtlCol="0" anchor="ctr"/>
          <a:lstStyle/>
          <a:p>
            <a:pPr algn="ctr" indent="0" marL="0">
              <a:spcAft>
                <a:spcPts val="200"/>
              </a:spcAft>
              <a:buNone/>
            </a:pPr>
            <a:r>
              <a:rPr lang="en-US" sz="1000" b="1" dirty="0">
                <a:solidFill>
                  <a:srgbClr val="0F172A"/>
                </a:solidFill>
                <a:latin typeface="Roboto" pitchFamily="34" charset="0"/>
                <a:ea typeface="Roboto" pitchFamily="34" charset="-122"/>
                <a:cs typeface="Roboto" pitchFamily="34" charset="-120"/>
              </a:rPr>
              <a:t>#9 Tamper Explainer</a:t>
            </a:r>
            <a:endParaRPr lang="en-US" sz="1000" dirty="0"/>
          </a:p>
          <a:p>
            <a:pPr algn="ctr" indent="0" marL="0">
              <a:spcAft>
                <a:spcPts val="200"/>
              </a:spcAft>
              <a:buNone/>
            </a:pPr>
            <a:r>
              <a:rPr lang="en-US" sz="850" dirty="0">
                <a:solidFill>
                  <a:srgbClr val="64748B"/>
                </a:solidFill>
                <a:latin typeface="Roboto" pitchFamily="34" charset="0"/>
                <a:ea typeface="Roboto" pitchFamily="34" charset="-122"/>
                <a:cs typeface="Roboto" pitchFamily="34" charset="-120"/>
              </a:rPr>
              <a:t>plain words, grounded</a:t>
            </a:r>
            <a:endParaRPr lang="en-US" sz="1000" dirty="0"/>
          </a:p>
        </p:txBody>
      </p:sp>
      <p:sp>
        <p:nvSpPr>
          <p:cNvPr id="31" name="Shape 27"/>
          <p:cNvSpPr/>
          <p:nvPr/>
        </p:nvSpPr>
        <p:spPr>
          <a:xfrm>
            <a:off x="10168128" y="3191256"/>
            <a:ext cx="1472184" cy="502920"/>
          </a:xfrm>
          <a:prstGeom prst="roundRect">
            <a:avLst>
              <a:gd name="adj" fmla="val 14545"/>
            </a:avLst>
          </a:prstGeom>
          <a:solidFill>
            <a:srgbClr val="FFFFFF"/>
          </a:solidFill>
          <a:ln w="12700">
            <a:solidFill>
              <a:srgbClr val="E2E8F0"/>
            </a:solidFill>
            <a:prstDash val="solid"/>
          </a:ln>
        </p:spPr>
      </p:sp>
      <p:sp>
        <p:nvSpPr>
          <p:cNvPr id="32" name="Text 28"/>
          <p:cNvSpPr txBox="1"/>
          <p:nvPr/>
        </p:nvSpPr>
        <p:spPr>
          <a:xfrm>
            <a:off x="10241280" y="3209544"/>
            <a:ext cx="1325880" cy="466344"/>
          </a:xfrm>
          <a:prstGeom prst="rect">
            <a:avLst/>
          </a:prstGeom>
          <a:noFill/>
          <a:ln/>
        </p:spPr>
        <p:txBody>
          <a:bodyPr wrap="square" lIns="0" tIns="0" rIns="0" bIns="0" rtlCol="0" anchor="ctr"/>
          <a:lstStyle/>
          <a:p>
            <a:pPr algn="ctr" indent="0" marL="0">
              <a:spcAft>
                <a:spcPts val="200"/>
              </a:spcAft>
              <a:buNone/>
            </a:pPr>
            <a:r>
              <a:rPr lang="en-US" sz="1000" b="1" dirty="0">
                <a:solidFill>
                  <a:srgbClr val="0F172A"/>
                </a:solidFill>
                <a:latin typeface="Roboto" pitchFamily="34" charset="0"/>
                <a:ea typeface="Roboto" pitchFamily="34" charset="-122"/>
                <a:cs typeface="Roboto" pitchFamily="34" charset="-120"/>
              </a:rPr>
              <a:t>#10 Tamper Locator</a:t>
            </a:r>
            <a:endParaRPr lang="en-US" sz="1000" dirty="0"/>
          </a:p>
          <a:p>
            <a:pPr algn="ctr" indent="0" marL="0">
              <a:spcAft>
                <a:spcPts val="200"/>
              </a:spcAft>
              <a:buNone/>
            </a:pPr>
            <a:r>
              <a:rPr lang="en-US" sz="850" dirty="0">
                <a:solidFill>
                  <a:srgbClr val="64748B"/>
                </a:solidFill>
                <a:latin typeface="Roboto" pitchFamily="34" charset="0"/>
                <a:ea typeface="Roboto" pitchFamily="34" charset="-122"/>
                <a:cs typeface="Roboto" pitchFamily="34" charset="-120"/>
              </a:rPr>
              <a:t>boxes the figure</a:t>
            </a:r>
            <a:endParaRPr lang="en-US" sz="1000" dirty="0"/>
          </a:p>
        </p:txBody>
      </p:sp>
      <p:sp>
        <p:nvSpPr>
          <p:cNvPr id="33" name="Shape 29"/>
          <p:cNvSpPr/>
          <p:nvPr/>
        </p:nvSpPr>
        <p:spPr>
          <a:xfrm>
            <a:off x="548640" y="3840480"/>
            <a:ext cx="6555700" cy="2560320"/>
          </a:xfrm>
          <a:prstGeom prst="roundRect">
            <a:avLst>
              <a:gd name="adj" fmla="val 2500"/>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4" name="Shape 30"/>
          <p:cNvSpPr/>
          <p:nvPr/>
        </p:nvSpPr>
        <p:spPr>
          <a:xfrm>
            <a:off x="667512" y="3918204"/>
            <a:ext cx="82296" cy="82296"/>
          </a:xfrm>
          <a:prstGeom prst="ellipse">
            <a:avLst/>
          </a:prstGeom>
          <a:solidFill>
            <a:srgbClr val="F87171"/>
          </a:solidFill>
          <a:ln w="12700">
            <a:solidFill>
              <a:srgbClr val="F87171"/>
            </a:solidFill>
            <a:prstDash val="solid"/>
          </a:ln>
        </p:spPr>
      </p:sp>
      <p:sp>
        <p:nvSpPr>
          <p:cNvPr id="35" name="Shape 31"/>
          <p:cNvSpPr/>
          <p:nvPr/>
        </p:nvSpPr>
        <p:spPr>
          <a:xfrm>
            <a:off x="804672" y="3918204"/>
            <a:ext cx="82296" cy="82296"/>
          </a:xfrm>
          <a:prstGeom prst="ellipse">
            <a:avLst/>
          </a:prstGeom>
          <a:solidFill>
            <a:srgbClr val="FBBF24"/>
          </a:solidFill>
          <a:ln w="12700">
            <a:solidFill>
              <a:srgbClr val="FBBF24"/>
            </a:solidFill>
            <a:prstDash val="solid"/>
          </a:ln>
        </p:spPr>
      </p:sp>
      <p:sp>
        <p:nvSpPr>
          <p:cNvPr id="36" name="Shape 32"/>
          <p:cNvSpPr/>
          <p:nvPr/>
        </p:nvSpPr>
        <p:spPr>
          <a:xfrm>
            <a:off x="941832" y="3918204"/>
            <a:ext cx="82296" cy="82296"/>
          </a:xfrm>
          <a:prstGeom prst="ellipse">
            <a:avLst/>
          </a:prstGeom>
          <a:solidFill>
            <a:srgbClr val="34D399"/>
          </a:solidFill>
          <a:ln w="12700">
            <a:solidFill>
              <a:srgbClr val="34D399"/>
            </a:solidFill>
            <a:prstDash val="solid"/>
          </a:ln>
        </p:spPr>
      </p:sp>
      <p:pic>
        <p:nvPicPr>
          <p:cNvPr id="37" name="Image 1" descr="C:\Users\shrey\AppData\Local\Temp\claude\D--novacinternship-finsight\87f4101b-bf26-4b28-976a-e637573d77e1\scratchpad\deck\img\integrity_pan.png">    </p:cNvPr>
          <p:cNvPicPr>
            <a:picLocks noChangeAspect="1"/>
          </p:cNvPicPr>
          <p:nvPr/>
        </p:nvPicPr>
        <p:blipFill>
          <a:blip r:embed="rId2"/>
          <a:stretch>
            <a:fillRect/>
          </a:stretch>
        </p:blipFill>
        <p:spPr>
          <a:xfrm>
            <a:off x="594360" y="4078224"/>
            <a:ext cx="6464260" cy="2276856"/>
          </a:xfrm>
          <a:prstGeom prst="rect">
            <a:avLst/>
          </a:prstGeom>
        </p:spPr>
      </p:pic>
      <p:sp>
        <p:nvSpPr>
          <p:cNvPr id="38" name="Shape 33"/>
          <p:cNvSpPr/>
          <p:nvPr/>
        </p:nvSpPr>
        <p:spPr>
          <a:xfrm>
            <a:off x="7726680" y="3840480"/>
            <a:ext cx="3913632" cy="713232"/>
          </a:xfrm>
          <a:prstGeom prst="roundRect">
            <a:avLst>
              <a:gd name="adj" fmla="val 10256"/>
            </a:avLst>
          </a:prstGeom>
          <a:solidFill>
            <a:srgbClr val="F8FAFC"/>
          </a:solidFill>
          <a:ln w="12700">
            <a:solidFill>
              <a:srgbClr val="E2E8F0"/>
            </a:solidFill>
            <a:prstDash val="solid"/>
          </a:ln>
        </p:spPr>
      </p:sp>
      <p:sp>
        <p:nvSpPr>
          <p:cNvPr id="39" name="Text 34"/>
          <p:cNvSpPr txBox="1"/>
          <p:nvPr/>
        </p:nvSpPr>
        <p:spPr>
          <a:xfrm>
            <a:off x="7863840" y="384048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0" name="Text 35"/>
          <p:cNvSpPr txBox="1"/>
          <p:nvPr/>
        </p:nvSpPr>
        <p:spPr>
          <a:xfrm>
            <a:off x="9235440" y="3840480"/>
            <a:ext cx="23134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Forgeries flagged</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72 forgeries, 7 attack types</a:t>
            </a:r>
            <a:endParaRPr lang="en-US" sz="1150" dirty="0"/>
          </a:p>
        </p:txBody>
      </p:sp>
      <p:sp>
        <p:nvSpPr>
          <p:cNvPr id="41" name="Shape 36"/>
          <p:cNvSpPr/>
          <p:nvPr/>
        </p:nvSpPr>
        <p:spPr>
          <a:xfrm>
            <a:off x="7726680" y="4599432"/>
            <a:ext cx="3913632" cy="713232"/>
          </a:xfrm>
          <a:prstGeom prst="roundRect">
            <a:avLst>
              <a:gd name="adj" fmla="val 10256"/>
            </a:avLst>
          </a:prstGeom>
          <a:solidFill>
            <a:srgbClr val="F8FAFC"/>
          </a:solidFill>
          <a:ln w="12700">
            <a:solidFill>
              <a:srgbClr val="E2E8F0"/>
            </a:solidFill>
            <a:prstDash val="solid"/>
          </a:ln>
        </p:spPr>
      </p:sp>
      <p:sp>
        <p:nvSpPr>
          <p:cNvPr id="42" name="Text 37"/>
          <p:cNvSpPr txBox="1"/>
          <p:nvPr/>
        </p:nvSpPr>
        <p:spPr>
          <a:xfrm>
            <a:off x="7863840" y="4599432"/>
            <a:ext cx="1325880" cy="713232"/>
          </a:xfrm>
          <a:prstGeom prst="rect">
            <a:avLst/>
          </a:prstGeom>
          <a:noFill/>
          <a:ln/>
        </p:spPr>
        <p:txBody>
          <a:bodyPr wrap="square" lIns="0" tIns="0" rIns="0" bIns="0" rtlCol="0" anchor="ctr"/>
          <a:lstStyle/>
          <a:p>
            <a:pPr indent="0" marL="0">
              <a:buNone/>
            </a:pPr>
            <a:r>
              <a:rPr lang="en-US" sz="2000" b="1" dirty="0">
                <a:solidFill>
                  <a:srgbClr val="D97706"/>
                </a:solidFill>
                <a:latin typeface="Roboto" pitchFamily="34" charset="0"/>
                <a:ea typeface="Roboto" pitchFamily="34" charset="-122"/>
                <a:cs typeface="Roboto" pitchFamily="34" charset="-120"/>
              </a:rPr>
              <a:t>16.7%</a:t>
            </a:r>
            <a:endParaRPr lang="en-US" sz="2000" dirty="0"/>
          </a:p>
        </p:txBody>
      </p:sp>
      <p:sp>
        <p:nvSpPr>
          <p:cNvPr id="43" name="Text 38"/>
          <p:cNvSpPr txBox="1"/>
          <p:nvPr/>
        </p:nvSpPr>
        <p:spPr>
          <a:xfrm>
            <a:off x="9235440" y="4599432"/>
            <a:ext cx="23134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Genuine photos HIGH</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known over-flag on camera photos</a:t>
            </a:r>
            <a:endParaRPr lang="en-US" sz="1150" dirty="0"/>
          </a:p>
        </p:txBody>
      </p:sp>
      <p:sp>
        <p:nvSpPr>
          <p:cNvPr id="44" name="Shape 39"/>
          <p:cNvSpPr/>
          <p:nvPr/>
        </p:nvSpPr>
        <p:spPr>
          <a:xfrm>
            <a:off x="7726680" y="5358384"/>
            <a:ext cx="3913632" cy="713232"/>
          </a:xfrm>
          <a:prstGeom prst="roundRect">
            <a:avLst>
              <a:gd name="adj" fmla="val 10256"/>
            </a:avLst>
          </a:prstGeom>
          <a:solidFill>
            <a:srgbClr val="F8FAFC"/>
          </a:solidFill>
          <a:ln w="12700">
            <a:solidFill>
              <a:srgbClr val="E2E8F0"/>
            </a:solidFill>
            <a:prstDash val="solid"/>
          </a:ln>
        </p:spPr>
      </p:sp>
      <p:sp>
        <p:nvSpPr>
          <p:cNvPr id="45" name="Text 40"/>
          <p:cNvSpPr txBox="1"/>
          <p:nvPr/>
        </p:nvSpPr>
        <p:spPr>
          <a:xfrm>
            <a:off x="7863840" y="5358384"/>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89.5%</a:t>
            </a:r>
            <a:endParaRPr lang="en-US" sz="2000" dirty="0"/>
          </a:p>
        </p:txBody>
      </p:sp>
      <p:sp>
        <p:nvSpPr>
          <p:cNvPr id="46" name="Text 41"/>
          <p:cNvSpPr txBox="1"/>
          <p:nvPr/>
        </p:nvSpPr>
        <p:spPr>
          <a:xfrm>
            <a:off x="9235440" y="5358384"/>
            <a:ext cx="231343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Authenticity · Explainer</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fabrications caught · explainer 90% grounded</a:t>
            </a:r>
            <a:endParaRPr lang="en-US" sz="1150" dirty="0"/>
          </a:p>
        </p:txBody>
      </p:sp>
      <p:sp>
        <p:nvSpPr>
          <p:cNvPr id="47" name="Text 42"/>
          <p:cNvSpPr txBox="1"/>
          <p:nvPr/>
        </p:nvSpPr>
        <p:spPr>
          <a:xfrm>
            <a:off x="7726680" y="6144768"/>
            <a:ext cx="3913632" cy="256032"/>
          </a:xfrm>
          <a:prstGeom prst="rect">
            <a:avLst/>
          </a:prstGeom>
          <a:noFill/>
          <a:ln/>
        </p:spPr>
        <p:txBody>
          <a:bodyPr wrap="square" lIns="0" tIns="0" rIns="0" bIns="0" rtlCol="0" anchor="ctr"/>
          <a:lstStyle/>
          <a:p>
            <a:pPr indent="0" marL="0">
              <a:buNone/>
            </a:pPr>
            <a:r>
              <a:rPr lang="en-US" sz="950" i="1" dirty="0">
                <a:solidFill>
                  <a:srgbClr val="DC2626"/>
                </a:solidFill>
                <a:latin typeface="Roboto" pitchFamily="34" charset="0"/>
                <a:ea typeface="Roboto" pitchFamily="34" charset="-122"/>
                <a:cs typeface="Roboto" pitchFamily="34" charset="-120"/>
              </a:rPr>
              <a:t>Tamper Locator boxes only edited figures: 33% (Weak).</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IDENTITY &amp; FRAUD EVIDENCE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Case assessment: all the evidence, one advisory route</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Runs when the file is complete — no language model at all, about 100 ms.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16</a:t>
            </a:r>
            <a:endParaRPr lang="en-US" sz="900" dirty="0"/>
          </a:p>
        </p:txBody>
      </p:sp>
      <p:sp>
        <p:nvSpPr>
          <p:cNvPr id="8" name="Shape 4"/>
          <p:cNvSpPr/>
          <p:nvPr/>
        </p:nvSpPr>
        <p:spPr>
          <a:xfrm>
            <a:off x="548640" y="1783080"/>
            <a:ext cx="5212080" cy="658368"/>
          </a:xfrm>
          <a:prstGeom prst="roundRect">
            <a:avLst>
              <a:gd name="adj" fmla="val 11111"/>
            </a:avLst>
          </a:prstGeom>
          <a:solidFill>
            <a:srgbClr val="F8FAFC"/>
          </a:solidFill>
          <a:ln w="12700">
            <a:solidFill>
              <a:srgbClr val="E2E8F0"/>
            </a:solidFill>
            <a:prstDash val="solid"/>
          </a:ln>
        </p:spPr>
      </p:sp>
      <p:sp>
        <p:nvSpPr>
          <p:cNvPr id="9" name="Text 5"/>
          <p:cNvSpPr txBox="1"/>
          <p:nvPr/>
        </p:nvSpPr>
        <p:spPr>
          <a:xfrm>
            <a:off x="621792" y="1801368"/>
            <a:ext cx="5065776" cy="621792"/>
          </a:xfrm>
          <a:prstGeom prst="rect">
            <a:avLst/>
          </a:prstGeom>
          <a:noFill/>
          <a:ln/>
        </p:spPr>
        <p:txBody>
          <a:bodyPr wrap="square" lIns="0" tIns="0" rIns="0" bIns="0" rtlCol="0" anchor="ctr"/>
          <a:lstStyle/>
          <a:p>
            <a:pPr algn="ctr" indent="0" marL="0">
              <a:spcAft>
                <a:spcPts val="200"/>
              </a:spcAft>
              <a:buNone/>
            </a:pPr>
            <a:r>
              <a:rPr lang="en-US" sz="1200" b="1" dirty="0">
                <a:solidFill>
                  <a:srgbClr val="0F172A"/>
                </a:solidFill>
                <a:latin typeface="Roboto" pitchFamily="34" charset="0"/>
                <a:ea typeface="Roboto" pitchFamily="34" charset="-122"/>
                <a:cs typeface="Roboto" pitchFamily="34" charset="-120"/>
              </a:rPr>
              <a:t>Evidence bundle</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extracted fields · tampering tiers · face result · statement rows</a:t>
            </a:r>
            <a:endParaRPr lang="en-US" sz="1200" dirty="0"/>
          </a:p>
        </p:txBody>
      </p:sp>
      <p:sp>
        <p:nvSpPr>
          <p:cNvPr id="10" name="Shape 6"/>
          <p:cNvSpPr/>
          <p:nvPr/>
        </p:nvSpPr>
        <p:spPr>
          <a:xfrm flipH="1">
            <a:off x="1371600" y="2459736"/>
            <a:ext cx="1783080" cy="237744"/>
          </a:xfrm>
          <a:prstGeom prst="line">
            <a:avLst/>
          </a:prstGeom>
          <a:noFill/>
          <a:ln w="19050">
            <a:solidFill>
              <a:srgbClr val="94A3B8"/>
            </a:solidFill>
            <a:prstDash val="solid"/>
            <a:tailEnd type="triangle"/>
          </a:ln>
        </p:spPr>
      </p:sp>
      <p:sp>
        <p:nvSpPr>
          <p:cNvPr id="11" name="Shape 7"/>
          <p:cNvSpPr/>
          <p:nvPr/>
        </p:nvSpPr>
        <p:spPr>
          <a:xfrm>
            <a:off x="548640" y="2715768"/>
            <a:ext cx="1645920" cy="777240"/>
          </a:xfrm>
          <a:prstGeom prst="roundRect">
            <a:avLst>
              <a:gd name="adj" fmla="val 9412"/>
            </a:avLst>
          </a:prstGeom>
          <a:solidFill>
            <a:srgbClr val="FFF1F2"/>
          </a:solidFill>
          <a:ln w="12700">
            <a:solidFill>
              <a:srgbClr val="E11D48"/>
            </a:solidFill>
            <a:prstDash val="solid"/>
          </a:ln>
        </p:spPr>
      </p:sp>
      <p:sp>
        <p:nvSpPr>
          <p:cNvPr id="12" name="Text 8"/>
          <p:cNvSpPr txBox="1"/>
          <p:nvPr/>
        </p:nvSpPr>
        <p:spPr>
          <a:xfrm>
            <a:off x="621792" y="2734056"/>
            <a:ext cx="1499616" cy="740664"/>
          </a:xfrm>
          <a:prstGeom prst="rect">
            <a:avLst/>
          </a:prstGeom>
          <a:noFill/>
          <a:ln/>
        </p:spPr>
        <p:txBody>
          <a:bodyPr wrap="square" lIns="0" tIns="0" rIns="0" bIns="0" rtlCol="0" anchor="ctr"/>
          <a:lstStyle/>
          <a:p>
            <a:pPr algn="ctr" indent="0" marL="0">
              <a:spcAft>
                <a:spcPts val="200"/>
              </a:spcAft>
              <a:buNone/>
            </a:pPr>
            <a:r>
              <a:rPr lang="en-US" sz="1100" b="1" dirty="0">
                <a:solidFill>
                  <a:srgbClr val="E11D48"/>
                </a:solidFill>
                <a:latin typeface="Roboto" pitchFamily="34" charset="0"/>
                <a:ea typeface="Roboto" pitchFamily="34" charset="-122"/>
                <a:cs typeface="Roboto" pitchFamily="34" charset="-120"/>
              </a:rPr>
              <a:t>#11 Cross-Doc</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names · DOB · gender</a:t>
            </a:r>
            <a:endParaRPr lang="en-US" sz="1100" dirty="0"/>
          </a:p>
        </p:txBody>
      </p:sp>
      <p:sp>
        <p:nvSpPr>
          <p:cNvPr id="13" name="Shape 9"/>
          <p:cNvSpPr/>
          <p:nvPr/>
        </p:nvSpPr>
        <p:spPr>
          <a:xfrm>
            <a:off x="1371600" y="3511296"/>
            <a:ext cx="1783080" cy="256032"/>
          </a:xfrm>
          <a:prstGeom prst="line">
            <a:avLst/>
          </a:prstGeom>
          <a:noFill/>
          <a:ln w="19050">
            <a:solidFill>
              <a:srgbClr val="94A3B8"/>
            </a:solidFill>
            <a:prstDash val="solid"/>
            <a:tailEnd type="triangle"/>
          </a:ln>
        </p:spPr>
      </p:sp>
      <p:sp>
        <p:nvSpPr>
          <p:cNvPr id="14" name="Shape 10"/>
          <p:cNvSpPr/>
          <p:nvPr/>
        </p:nvSpPr>
        <p:spPr>
          <a:xfrm flipH="1">
            <a:off x="3154680" y="2459736"/>
            <a:ext cx="0" cy="237744"/>
          </a:xfrm>
          <a:prstGeom prst="line">
            <a:avLst/>
          </a:prstGeom>
          <a:noFill/>
          <a:ln w="19050">
            <a:solidFill>
              <a:srgbClr val="94A3B8"/>
            </a:solidFill>
            <a:prstDash val="solid"/>
            <a:tailEnd type="triangle"/>
          </a:ln>
        </p:spPr>
      </p:sp>
      <p:sp>
        <p:nvSpPr>
          <p:cNvPr id="15" name="Shape 11"/>
          <p:cNvSpPr/>
          <p:nvPr/>
        </p:nvSpPr>
        <p:spPr>
          <a:xfrm>
            <a:off x="2331720" y="2715768"/>
            <a:ext cx="1645920" cy="777240"/>
          </a:xfrm>
          <a:prstGeom prst="roundRect">
            <a:avLst>
              <a:gd name="adj" fmla="val 9412"/>
            </a:avLst>
          </a:prstGeom>
          <a:solidFill>
            <a:srgbClr val="FFF1F2"/>
          </a:solidFill>
          <a:ln w="12700">
            <a:solidFill>
              <a:srgbClr val="E11D48"/>
            </a:solidFill>
            <a:prstDash val="solid"/>
          </a:ln>
        </p:spPr>
      </p:sp>
      <p:sp>
        <p:nvSpPr>
          <p:cNvPr id="16" name="Text 12"/>
          <p:cNvSpPr txBox="1"/>
          <p:nvPr/>
        </p:nvSpPr>
        <p:spPr>
          <a:xfrm>
            <a:off x="2404872" y="2734056"/>
            <a:ext cx="1499616" cy="740664"/>
          </a:xfrm>
          <a:prstGeom prst="rect">
            <a:avLst/>
          </a:prstGeom>
          <a:noFill/>
          <a:ln/>
        </p:spPr>
        <p:txBody>
          <a:bodyPr wrap="square" lIns="0" tIns="0" rIns="0" bIns="0" rtlCol="0" anchor="ctr"/>
          <a:lstStyle/>
          <a:p>
            <a:pPr algn="ctr" indent="0" marL="0">
              <a:spcAft>
                <a:spcPts val="200"/>
              </a:spcAft>
              <a:buNone/>
            </a:pPr>
            <a:r>
              <a:rPr lang="en-US" sz="1100" b="1" dirty="0">
                <a:solidFill>
                  <a:srgbClr val="E11D48"/>
                </a:solidFill>
                <a:latin typeface="Roboto" pitchFamily="34" charset="0"/>
                <a:ea typeface="Roboto" pitchFamily="34" charset="-122"/>
                <a:cs typeface="Roboto" pitchFamily="34" charset="-120"/>
              </a:rPr>
              <a:t>#12 Dedupe</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HMAC keys · file hash · face</a:t>
            </a:r>
            <a:endParaRPr lang="en-US" sz="1100" dirty="0"/>
          </a:p>
        </p:txBody>
      </p:sp>
      <p:sp>
        <p:nvSpPr>
          <p:cNvPr id="17" name="Shape 13"/>
          <p:cNvSpPr/>
          <p:nvPr/>
        </p:nvSpPr>
        <p:spPr>
          <a:xfrm>
            <a:off x="3154680" y="3511296"/>
            <a:ext cx="0" cy="256032"/>
          </a:xfrm>
          <a:prstGeom prst="line">
            <a:avLst/>
          </a:prstGeom>
          <a:noFill/>
          <a:ln w="19050">
            <a:solidFill>
              <a:srgbClr val="94A3B8"/>
            </a:solidFill>
            <a:prstDash val="solid"/>
            <a:tailEnd type="triangle"/>
          </a:ln>
        </p:spPr>
      </p:sp>
      <p:sp>
        <p:nvSpPr>
          <p:cNvPr id="18" name="Shape 14"/>
          <p:cNvSpPr/>
          <p:nvPr/>
        </p:nvSpPr>
        <p:spPr>
          <a:xfrm>
            <a:off x="3154680" y="2459736"/>
            <a:ext cx="1783080" cy="237744"/>
          </a:xfrm>
          <a:prstGeom prst="line">
            <a:avLst/>
          </a:prstGeom>
          <a:noFill/>
          <a:ln w="19050">
            <a:solidFill>
              <a:srgbClr val="94A3B8"/>
            </a:solidFill>
            <a:prstDash val="solid"/>
            <a:tailEnd type="triangle"/>
          </a:ln>
        </p:spPr>
      </p:sp>
      <p:sp>
        <p:nvSpPr>
          <p:cNvPr id="19" name="Shape 15"/>
          <p:cNvSpPr/>
          <p:nvPr/>
        </p:nvSpPr>
        <p:spPr>
          <a:xfrm>
            <a:off x="4114800" y="2715768"/>
            <a:ext cx="1645920" cy="777240"/>
          </a:xfrm>
          <a:prstGeom prst="roundRect">
            <a:avLst>
              <a:gd name="adj" fmla="val 9412"/>
            </a:avLst>
          </a:prstGeom>
          <a:solidFill>
            <a:srgbClr val="FFF1F2"/>
          </a:solidFill>
          <a:ln w="12700">
            <a:solidFill>
              <a:srgbClr val="E11D48"/>
            </a:solidFill>
            <a:prstDash val="solid"/>
          </a:ln>
        </p:spPr>
      </p:sp>
      <p:sp>
        <p:nvSpPr>
          <p:cNvPr id="20" name="Text 16"/>
          <p:cNvSpPr txBox="1"/>
          <p:nvPr/>
        </p:nvSpPr>
        <p:spPr>
          <a:xfrm>
            <a:off x="4187952" y="2734056"/>
            <a:ext cx="1499616" cy="740664"/>
          </a:xfrm>
          <a:prstGeom prst="rect">
            <a:avLst/>
          </a:prstGeom>
          <a:noFill/>
          <a:ln/>
        </p:spPr>
        <p:txBody>
          <a:bodyPr wrap="square" lIns="0" tIns="0" rIns="0" bIns="0" rtlCol="0" anchor="ctr"/>
          <a:lstStyle/>
          <a:p>
            <a:pPr algn="ctr" indent="0" marL="0">
              <a:spcAft>
                <a:spcPts val="200"/>
              </a:spcAft>
              <a:buNone/>
            </a:pPr>
            <a:r>
              <a:rPr lang="en-US" sz="1100" b="1" dirty="0">
                <a:solidFill>
                  <a:srgbClr val="E11D48"/>
                </a:solidFill>
                <a:latin typeface="Roboto" pitchFamily="34" charset="0"/>
                <a:ea typeface="Roboto" pitchFamily="34" charset="-122"/>
                <a:cs typeface="Roboto" pitchFamily="34" charset="-120"/>
              </a:rPr>
              <a:t>#14 Patterns</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statement rows</a:t>
            </a:r>
            <a:endParaRPr lang="en-US" sz="1100" dirty="0"/>
          </a:p>
        </p:txBody>
      </p:sp>
      <p:sp>
        <p:nvSpPr>
          <p:cNvPr id="21" name="Shape 17"/>
          <p:cNvSpPr/>
          <p:nvPr/>
        </p:nvSpPr>
        <p:spPr>
          <a:xfrm flipH="1">
            <a:off x="3154680" y="3511296"/>
            <a:ext cx="1783080" cy="256032"/>
          </a:xfrm>
          <a:prstGeom prst="line">
            <a:avLst/>
          </a:prstGeom>
          <a:noFill/>
          <a:ln w="19050">
            <a:solidFill>
              <a:srgbClr val="94A3B8"/>
            </a:solidFill>
            <a:prstDash val="solid"/>
            <a:tailEnd type="triangle"/>
          </a:ln>
        </p:spPr>
      </p:sp>
      <p:sp>
        <p:nvSpPr>
          <p:cNvPr id="22" name="Shape 18"/>
          <p:cNvSpPr/>
          <p:nvPr/>
        </p:nvSpPr>
        <p:spPr>
          <a:xfrm>
            <a:off x="548640" y="3785616"/>
            <a:ext cx="5212080" cy="658368"/>
          </a:xfrm>
          <a:prstGeom prst="roundRect">
            <a:avLst>
              <a:gd name="adj" fmla="val 11111"/>
            </a:avLst>
          </a:prstGeom>
          <a:solidFill>
            <a:srgbClr val="FFF1F2"/>
          </a:solidFill>
          <a:ln w="12700">
            <a:solidFill>
              <a:srgbClr val="E11D48"/>
            </a:solidFill>
            <a:prstDash val="solid"/>
          </a:ln>
        </p:spPr>
      </p:sp>
      <p:sp>
        <p:nvSpPr>
          <p:cNvPr id="23" name="Text 19"/>
          <p:cNvSpPr txBox="1"/>
          <p:nvPr/>
        </p:nvSpPr>
        <p:spPr>
          <a:xfrm>
            <a:off x="621792" y="3803904"/>
            <a:ext cx="5065776" cy="621792"/>
          </a:xfrm>
          <a:prstGeom prst="rect">
            <a:avLst/>
          </a:prstGeom>
          <a:noFill/>
          <a:ln/>
        </p:spPr>
        <p:txBody>
          <a:bodyPr wrap="square" lIns="0" tIns="0" rIns="0" bIns="0" rtlCol="0" anchor="ctr"/>
          <a:lstStyle/>
          <a:p>
            <a:pPr algn="ctr" indent="0" marL="0">
              <a:spcAft>
                <a:spcPts val="200"/>
              </a:spcAft>
              <a:buNone/>
            </a:pPr>
            <a:r>
              <a:rPr lang="en-US" sz="1200" b="1" dirty="0">
                <a:solidFill>
                  <a:srgbClr val="E11D48"/>
                </a:solidFill>
                <a:latin typeface="Roboto" pitchFamily="34" charset="0"/>
                <a:ea typeface="Roboto" pitchFamily="34" charset="-122"/>
                <a:cs typeface="Roboto" pitchFamily="34" charset="-120"/>
              </a:rPr>
              <a:t>#13 Fraud Fusion</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one advisory score and tier (LOW · MEDIUM · HIGH)</a:t>
            </a:r>
            <a:endParaRPr lang="en-US" sz="1200" dirty="0"/>
          </a:p>
        </p:txBody>
      </p:sp>
      <p:sp>
        <p:nvSpPr>
          <p:cNvPr id="24" name="Shape 20"/>
          <p:cNvSpPr/>
          <p:nvPr/>
        </p:nvSpPr>
        <p:spPr>
          <a:xfrm>
            <a:off x="3154680" y="4462272"/>
            <a:ext cx="0" cy="201168"/>
          </a:xfrm>
          <a:prstGeom prst="line">
            <a:avLst/>
          </a:prstGeom>
          <a:noFill/>
          <a:ln w="19050">
            <a:solidFill>
              <a:srgbClr val="94A3B8"/>
            </a:solidFill>
            <a:prstDash val="solid"/>
            <a:tailEnd type="triangle"/>
          </a:ln>
        </p:spPr>
      </p:sp>
      <p:sp>
        <p:nvSpPr>
          <p:cNvPr id="25" name="Shape 21"/>
          <p:cNvSpPr/>
          <p:nvPr/>
        </p:nvSpPr>
        <p:spPr>
          <a:xfrm>
            <a:off x="548640" y="4681728"/>
            <a:ext cx="5212080" cy="658368"/>
          </a:xfrm>
          <a:prstGeom prst="roundRect">
            <a:avLst>
              <a:gd name="adj" fmla="val 11111"/>
            </a:avLst>
          </a:prstGeom>
          <a:solidFill>
            <a:srgbClr val="ECFDF5"/>
          </a:solidFill>
          <a:ln w="12700">
            <a:solidFill>
              <a:srgbClr val="059669"/>
            </a:solidFill>
            <a:prstDash val="solid"/>
          </a:ln>
        </p:spPr>
      </p:sp>
      <p:sp>
        <p:nvSpPr>
          <p:cNvPr id="26" name="Text 22"/>
          <p:cNvSpPr txBox="1"/>
          <p:nvPr/>
        </p:nvSpPr>
        <p:spPr>
          <a:xfrm>
            <a:off x="621792" y="4700016"/>
            <a:ext cx="5065776" cy="621792"/>
          </a:xfrm>
          <a:prstGeom prst="rect">
            <a:avLst/>
          </a:prstGeom>
          <a:noFill/>
          <a:ln/>
        </p:spPr>
        <p:txBody>
          <a:bodyPr wrap="square" lIns="0" tIns="0" rIns="0" bIns="0" rtlCol="0" anchor="ctr"/>
          <a:lstStyle/>
          <a:p>
            <a:pPr algn="ctr" indent="0" marL="0">
              <a:spcAft>
                <a:spcPts val="200"/>
              </a:spcAft>
              <a:buNone/>
            </a:pPr>
            <a:r>
              <a:rPr lang="en-US" sz="1200" b="1" dirty="0">
                <a:solidFill>
                  <a:srgbClr val="059669"/>
                </a:solidFill>
                <a:latin typeface="Roboto" pitchFamily="34" charset="0"/>
                <a:ea typeface="Roboto" pitchFamily="34" charset="-122"/>
                <a:cs typeface="Roboto" pitchFamily="34" charset="-120"/>
              </a:rPr>
              <a:t>#19 Policy Check</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16 active RBI / internal rules → PASS · FAIL · NEED INFO</a:t>
            </a:r>
            <a:endParaRPr lang="en-US" sz="1200" dirty="0"/>
          </a:p>
        </p:txBody>
      </p:sp>
      <p:sp>
        <p:nvSpPr>
          <p:cNvPr id="27" name="Shape 23"/>
          <p:cNvSpPr/>
          <p:nvPr/>
        </p:nvSpPr>
        <p:spPr>
          <a:xfrm>
            <a:off x="3154680" y="5358384"/>
            <a:ext cx="0" cy="201168"/>
          </a:xfrm>
          <a:prstGeom prst="line">
            <a:avLst/>
          </a:prstGeom>
          <a:noFill/>
          <a:ln w="19050">
            <a:solidFill>
              <a:srgbClr val="94A3B8"/>
            </a:solidFill>
            <a:prstDash val="solid"/>
            <a:tailEnd type="triangle"/>
          </a:ln>
        </p:spPr>
      </p:sp>
      <p:sp>
        <p:nvSpPr>
          <p:cNvPr id="28" name="Shape 24"/>
          <p:cNvSpPr/>
          <p:nvPr/>
        </p:nvSpPr>
        <p:spPr>
          <a:xfrm>
            <a:off x="548640" y="5577840"/>
            <a:ext cx="5212080" cy="658368"/>
          </a:xfrm>
          <a:prstGeom prst="roundRect">
            <a:avLst>
              <a:gd name="adj" fmla="val 11111"/>
            </a:avLst>
          </a:prstGeom>
          <a:solidFill>
            <a:srgbClr val="DCFCE7"/>
          </a:solidFill>
          <a:ln w="12700">
            <a:solidFill>
              <a:srgbClr val="86EFAC"/>
            </a:solidFill>
            <a:prstDash val="solid"/>
          </a:ln>
        </p:spPr>
      </p:sp>
      <p:sp>
        <p:nvSpPr>
          <p:cNvPr id="29" name="Text 25"/>
          <p:cNvSpPr txBox="1"/>
          <p:nvPr/>
        </p:nvSpPr>
        <p:spPr>
          <a:xfrm>
            <a:off x="621792" y="5596128"/>
            <a:ext cx="5065776" cy="621792"/>
          </a:xfrm>
          <a:prstGeom prst="rect">
            <a:avLst/>
          </a:prstGeom>
          <a:noFill/>
          <a:ln/>
        </p:spPr>
        <p:txBody>
          <a:bodyPr wrap="square" lIns="0" tIns="0" rIns="0" bIns="0" rtlCol="0" anchor="ctr"/>
          <a:lstStyle/>
          <a:p>
            <a:pPr algn="ctr" indent="0" marL="0">
              <a:spcAft>
                <a:spcPts val="200"/>
              </a:spcAft>
              <a:buNone/>
            </a:pPr>
            <a:r>
              <a:rPr lang="en-US" sz="1200" b="1" dirty="0">
                <a:solidFill>
                  <a:srgbClr val="166534"/>
                </a:solidFill>
                <a:latin typeface="Roboto" pitchFamily="34" charset="0"/>
                <a:ea typeface="Roboto" pitchFamily="34" charset="-122"/>
                <a:cs typeface="Roboto" pitchFamily="34" charset="-120"/>
              </a:rPr>
              <a:t>Advisory route</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proceed · or refer for a closer human review — never reject</a:t>
            </a:r>
            <a:endParaRPr lang="en-US" sz="1200" dirty="0"/>
          </a:p>
        </p:txBody>
      </p:sp>
      <p:sp>
        <p:nvSpPr>
          <p:cNvPr id="30" name="Shape 26"/>
          <p:cNvSpPr/>
          <p:nvPr/>
        </p:nvSpPr>
        <p:spPr>
          <a:xfrm>
            <a:off x="6035040" y="1783080"/>
            <a:ext cx="5605272" cy="4035933"/>
          </a:xfrm>
          <a:prstGeom prst="roundRect">
            <a:avLst>
              <a:gd name="adj" fmla="val 1586"/>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1" name="Shape 27"/>
          <p:cNvSpPr/>
          <p:nvPr/>
        </p:nvSpPr>
        <p:spPr>
          <a:xfrm>
            <a:off x="6153912" y="1860804"/>
            <a:ext cx="82296" cy="82296"/>
          </a:xfrm>
          <a:prstGeom prst="ellipse">
            <a:avLst/>
          </a:prstGeom>
          <a:solidFill>
            <a:srgbClr val="F87171"/>
          </a:solidFill>
          <a:ln w="12700">
            <a:solidFill>
              <a:srgbClr val="F87171"/>
            </a:solidFill>
            <a:prstDash val="solid"/>
          </a:ln>
        </p:spPr>
      </p:sp>
      <p:sp>
        <p:nvSpPr>
          <p:cNvPr id="32" name="Shape 28"/>
          <p:cNvSpPr/>
          <p:nvPr/>
        </p:nvSpPr>
        <p:spPr>
          <a:xfrm>
            <a:off x="6291072" y="1860804"/>
            <a:ext cx="82296" cy="82296"/>
          </a:xfrm>
          <a:prstGeom prst="ellipse">
            <a:avLst/>
          </a:prstGeom>
          <a:solidFill>
            <a:srgbClr val="FBBF24"/>
          </a:solidFill>
          <a:ln w="12700">
            <a:solidFill>
              <a:srgbClr val="FBBF24"/>
            </a:solidFill>
            <a:prstDash val="solid"/>
          </a:ln>
        </p:spPr>
      </p:sp>
      <p:sp>
        <p:nvSpPr>
          <p:cNvPr id="33" name="Shape 29"/>
          <p:cNvSpPr/>
          <p:nvPr/>
        </p:nvSpPr>
        <p:spPr>
          <a:xfrm>
            <a:off x="6428232" y="1860804"/>
            <a:ext cx="82296" cy="82296"/>
          </a:xfrm>
          <a:prstGeom prst="ellipse">
            <a:avLst/>
          </a:prstGeom>
          <a:solidFill>
            <a:srgbClr val="34D399"/>
          </a:solidFill>
          <a:ln w="12700">
            <a:solidFill>
              <a:srgbClr val="34D399"/>
            </a:solidFill>
            <a:prstDash val="solid"/>
          </a:ln>
        </p:spPr>
      </p:sp>
      <p:pic>
        <p:nvPicPr>
          <p:cNvPr id="34" name="Image 1" descr="C:\Users\shrey\AppData\Local\Temp\claude\D--novacinternship-finsight\87f4101b-bf26-4b28-976a-e637573d77e1\scratchpad\deck\img\assessment_full.png">    </p:cNvPr>
          <p:cNvPicPr>
            <a:picLocks noChangeAspect="1"/>
          </p:cNvPicPr>
          <p:nvPr/>
        </p:nvPicPr>
        <p:blipFill>
          <a:blip r:embed="rId2"/>
          <a:stretch>
            <a:fillRect/>
          </a:stretch>
        </p:blipFill>
        <p:spPr>
          <a:xfrm>
            <a:off x="6080760" y="2020824"/>
            <a:ext cx="5513832" cy="3752469"/>
          </a:xfrm>
          <a:prstGeom prst="rect">
            <a:avLst/>
          </a:prstGeom>
        </p:spPr>
      </p:pic>
      <p:sp>
        <p:nvSpPr>
          <p:cNvPr id="35" name="Text 30"/>
          <p:cNvSpPr txBox="1"/>
          <p:nvPr/>
        </p:nvSpPr>
        <p:spPr>
          <a:xfrm>
            <a:off x="6035040" y="5928741"/>
            <a:ext cx="5605272" cy="41148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Real run, synthetic applicant submitted twice: Dedupe finds the same files → two floors → HIGH.</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FRAUD FUSION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Fraud Fusion v2: how one score is built</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A weighted average measures agreement; a dominant path and floors stop one strong red flag being averaged away.</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17</a:t>
            </a:r>
            <a:endParaRPr lang="en-US" sz="900" dirty="0"/>
          </a:p>
        </p:txBody>
      </p:sp>
      <p:graphicFrame>
        <p:nvGraphicFramePr>
          <p:cNvPr id="8" name="Chart 0" descr=""/>
          <p:cNvGraphicFramePr/>
          <p:nvPr/>
        </p:nvGraphicFramePr>
        <p:xfrm>
          <a:off x="548640" y="1737360"/>
          <a:ext cx="4937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654296"/>
            <a:ext cx="310896" cy="310896"/>
          </a:xfrm>
          <a:prstGeom prst="roundRect">
            <a:avLst>
              <a:gd name="adj" fmla="val 50000"/>
            </a:avLst>
          </a:prstGeom>
          <a:solidFill>
            <a:srgbClr val="E11D48"/>
          </a:solidFill>
          <a:ln w="12700">
            <a:solidFill>
              <a:srgbClr val="E11D48"/>
            </a:solidFill>
            <a:prstDash val="solid"/>
          </a:ln>
        </p:spPr>
      </p:sp>
      <p:sp>
        <p:nvSpPr>
          <p:cNvPr id="10" name="Text 5"/>
          <p:cNvSpPr txBox="1"/>
          <p:nvPr/>
        </p:nvSpPr>
        <p:spPr>
          <a:xfrm>
            <a:off x="548640" y="4654296"/>
            <a:ext cx="3108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Roboto" pitchFamily="34" charset="0"/>
                <a:ea typeface="Roboto" pitchFamily="34" charset="-122"/>
                <a:cs typeface="Roboto" pitchFamily="34" charset="-120"/>
              </a:rPr>
              <a:t>1</a:t>
            </a:r>
            <a:endParaRPr lang="en-US" sz="1050" dirty="0"/>
          </a:p>
        </p:txBody>
      </p:sp>
      <p:sp>
        <p:nvSpPr>
          <p:cNvPr id="11" name="Text 6"/>
          <p:cNvSpPr txBox="1"/>
          <p:nvPr/>
        </p:nvSpPr>
        <p:spPr>
          <a:xfrm>
            <a:off x="987552" y="4617720"/>
            <a:ext cx="4846320" cy="402336"/>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Weighted average  </a:t>
            </a:r>
            <a:pPr indent="0" marL="0">
              <a:buNone/>
            </a:pPr>
            <a:r>
              <a:rPr lang="en-US" sz="1050" dirty="0">
                <a:solidFill>
                  <a:srgbClr val="64748B"/>
                </a:solidFill>
                <a:latin typeface="Roboto" pitchFamily="34" charset="0"/>
                <a:ea typeface="Roboto" pitchFamily="34" charset="-122"/>
                <a:cs typeface="Roboto" pitchFamily="34" charset="-120"/>
              </a:rPr>
              <a:t>Each component scores 0–1; only components with evidence count.</a:t>
            </a:r>
            <a:endParaRPr lang="en-US" sz="1050" dirty="0"/>
          </a:p>
        </p:txBody>
      </p:sp>
      <p:sp>
        <p:nvSpPr>
          <p:cNvPr id="12" name="Shape 7"/>
          <p:cNvSpPr/>
          <p:nvPr/>
        </p:nvSpPr>
        <p:spPr>
          <a:xfrm>
            <a:off x="548640" y="5084064"/>
            <a:ext cx="310896" cy="310896"/>
          </a:xfrm>
          <a:prstGeom prst="roundRect">
            <a:avLst>
              <a:gd name="adj" fmla="val 50000"/>
            </a:avLst>
          </a:prstGeom>
          <a:solidFill>
            <a:srgbClr val="E11D48"/>
          </a:solidFill>
          <a:ln w="12700">
            <a:solidFill>
              <a:srgbClr val="E11D48"/>
            </a:solidFill>
            <a:prstDash val="solid"/>
          </a:ln>
        </p:spPr>
      </p:sp>
      <p:sp>
        <p:nvSpPr>
          <p:cNvPr id="13" name="Text 8"/>
          <p:cNvSpPr txBox="1"/>
          <p:nvPr/>
        </p:nvSpPr>
        <p:spPr>
          <a:xfrm>
            <a:off x="548640" y="5084064"/>
            <a:ext cx="3108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Roboto" pitchFamily="34" charset="0"/>
                <a:ea typeface="Roboto" pitchFamily="34" charset="-122"/>
                <a:cs typeface="Roboto" pitchFamily="34" charset="-120"/>
              </a:rPr>
              <a:t>2</a:t>
            </a:r>
            <a:endParaRPr lang="en-US" sz="1050" dirty="0"/>
          </a:p>
        </p:txBody>
      </p:sp>
      <p:sp>
        <p:nvSpPr>
          <p:cNvPr id="14" name="Text 9"/>
          <p:cNvSpPr txBox="1"/>
          <p:nvPr/>
        </p:nvSpPr>
        <p:spPr>
          <a:xfrm>
            <a:off x="987552" y="5047488"/>
            <a:ext cx="4846320" cy="402336"/>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Dominant path  </a:t>
            </a:r>
            <a:pPr indent="0" marL="0">
              <a:buNone/>
            </a:pPr>
            <a:r>
              <a:rPr lang="en-US" sz="1050" dirty="0">
                <a:solidFill>
                  <a:srgbClr val="64748B"/>
                </a:solidFill>
                <a:latin typeface="Roboto" pitchFamily="34" charset="0"/>
                <a:ea typeface="Roboto" pitchFamily="34" charset="-122"/>
                <a:cs typeface="Roboto" pitchFamily="34" charset="-120"/>
              </a:rPr>
              <a:t>fused = max(average, strongest signal × its confidence) — plus 0.1 if another signal agrees.</a:t>
            </a:r>
            <a:endParaRPr lang="en-US" sz="1050" dirty="0"/>
          </a:p>
        </p:txBody>
      </p:sp>
      <p:sp>
        <p:nvSpPr>
          <p:cNvPr id="15" name="Shape 10"/>
          <p:cNvSpPr/>
          <p:nvPr/>
        </p:nvSpPr>
        <p:spPr>
          <a:xfrm>
            <a:off x="548640" y="5513832"/>
            <a:ext cx="310896" cy="310896"/>
          </a:xfrm>
          <a:prstGeom prst="roundRect">
            <a:avLst>
              <a:gd name="adj" fmla="val 50000"/>
            </a:avLst>
          </a:prstGeom>
          <a:solidFill>
            <a:srgbClr val="E11D48"/>
          </a:solidFill>
          <a:ln w="12700">
            <a:solidFill>
              <a:srgbClr val="E11D48"/>
            </a:solidFill>
            <a:prstDash val="solid"/>
          </a:ln>
        </p:spPr>
      </p:sp>
      <p:sp>
        <p:nvSpPr>
          <p:cNvPr id="16" name="Text 11"/>
          <p:cNvSpPr txBox="1"/>
          <p:nvPr/>
        </p:nvSpPr>
        <p:spPr>
          <a:xfrm>
            <a:off x="548640" y="5513832"/>
            <a:ext cx="3108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Roboto" pitchFamily="34" charset="0"/>
                <a:ea typeface="Roboto" pitchFamily="34" charset="-122"/>
                <a:cs typeface="Roboto" pitchFamily="34" charset="-120"/>
              </a:rPr>
              <a:t>3</a:t>
            </a:r>
            <a:endParaRPr lang="en-US" sz="1050" dirty="0"/>
          </a:p>
        </p:txBody>
      </p:sp>
      <p:sp>
        <p:nvSpPr>
          <p:cNvPr id="17" name="Text 12"/>
          <p:cNvSpPr txBox="1"/>
          <p:nvPr/>
        </p:nvSpPr>
        <p:spPr>
          <a:xfrm>
            <a:off x="987552" y="5477256"/>
            <a:ext cx="4846320" cy="402336"/>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Floors  </a:t>
            </a:r>
            <a:pPr indent="0" marL="0">
              <a:buNone/>
            </a:pPr>
            <a:r>
              <a:rPr lang="en-US" sz="1050" dirty="0">
                <a:solidFill>
                  <a:srgbClr val="64748B"/>
                </a:solidFill>
                <a:latin typeface="Roboto" pitchFamily="34" charset="0"/>
                <a:ea typeface="Roboto" pitchFamily="34" charset="-122"/>
                <a:cs typeface="Roboto" pitchFamily="34" charset="-120"/>
              </a:rPr>
              <a:t>Confident face mismatch · exact duplicate identity · tampering HIGH. One floor → at least MEDIUM; two → HIGH.</a:t>
            </a:r>
            <a:endParaRPr lang="en-US" sz="1050" dirty="0"/>
          </a:p>
        </p:txBody>
      </p:sp>
      <p:sp>
        <p:nvSpPr>
          <p:cNvPr id="18" name="Shape 13"/>
          <p:cNvSpPr/>
          <p:nvPr/>
        </p:nvSpPr>
        <p:spPr>
          <a:xfrm>
            <a:off x="548640" y="5943600"/>
            <a:ext cx="310896" cy="310896"/>
          </a:xfrm>
          <a:prstGeom prst="roundRect">
            <a:avLst>
              <a:gd name="adj" fmla="val 50000"/>
            </a:avLst>
          </a:prstGeom>
          <a:solidFill>
            <a:srgbClr val="E11D48"/>
          </a:solidFill>
          <a:ln w="12700">
            <a:solidFill>
              <a:srgbClr val="E11D48"/>
            </a:solidFill>
            <a:prstDash val="solid"/>
          </a:ln>
        </p:spPr>
      </p:sp>
      <p:sp>
        <p:nvSpPr>
          <p:cNvPr id="19" name="Text 14"/>
          <p:cNvSpPr txBox="1"/>
          <p:nvPr/>
        </p:nvSpPr>
        <p:spPr>
          <a:xfrm>
            <a:off x="548640" y="5943600"/>
            <a:ext cx="31089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Roboto" pitchFamily="34" charset="0"/>
                <a:ea typeface="Roboto" pitchFamily="34" charset="-122"/>
                <a:cs typeface="Roboto" pitchFamily="34" charset="-120"/>
              </a:rPr>
              <a:t>4</a:t>
            </a:r>
            <a:endParaRPr lang="en-US" sz="1050" dirty="0"/>
          </a:p>
        </p:txBody>
      </p:sp>
      <p:sp>
        <p:nvSpPr>
          <p:cNvPr id="20" name="Text 15"/>
          <p:cNvSpPr txBox="1"/>
          <p:nvPr/>
        </p:nvSpPr>
        <p:spPr>
          <a:xfrm>
            <a:off x="987552" y="5907024"/>
            <a:ext cx="4846320" cy="402336"/>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Tiers, advisory only  </a:t>
            </a:r>
            <a:pPr indent="0" marL="0">
              <a:buNone/>
            </a:pPr>
            <a:r>
              <a:rPr lang="en-US" sz="1050" dirty="0">
                <a:solidFill>
                  <a:srgbClr val="64748B"/>
                </a:solidFill>
                <a:latin typeface="Roboto" pitchFamily="34" charset="0"/>
                <a:ea typeface="Roboto" pitchFamily="34" charset="-122"/>
                <a:cs typeface="Roboto" pitchFamily="34" charset="-120"/>
              </a:rPr>
              <a:t>MEDIUM ≥ 0.20 · HIGH ≥ 0.60. The score never rejects on its own.</a:t>
            </a:r>
            <a:endParaRPr lang="en-US" sz="1050" dirty="0"/>
          </a:p>
        </p:txBody>
      </p:sp>
      <p:sp>
        <p:nvSpPr>
          <p:cNvPr id="21" name="Shape 16"/>
          <p:cNvSpPr/>
          <p:nvPr/>
        </p:nvSpPr>
        <p:spPr>
          <a:xfrm>
            <a:off x="5989320" y="1737360"/>
            <a:ext cx="5650992" cy="4572000"/>
          </a:xfrm>
          <a:prstGeom prst="roundRect">
            <a:avLst>
              <a:gd name="adj" fmla="val 2400"/>
            </a:avLst>
          </a:prstGeom>
          <a:solidFill>
            <a:srgbClr val="F8FAFC"/>
          </a:solidFill>
          <a:ln w="12700">
            <a:solidFill>
              <a:srgbClr val="E2E8F0"/>
            </a:solidFill>
            <a:prstDash val="solid"/>
          </a:ln>
        </p:spPr>
      </p:sp>
      <p:sp>
        <p:nvSpPr>
          <p:cNvPr id="22" name="Text 17"/>
          <p:cNvSpPr txBox="1"/>
          <p:nvPr/>
        </p:nvSpPr>
        <p:spPr>
          <a:xfrm>
            <a:off x="6217920" y="1874520"/>
            <a:ext cx="5212080" cy="320040"/>
          </a:xfrm>
          <a:prstGeom prst="rect">
            <a:avLst/>
          </a:prstGeom>
          <a:noFill/>
          <a:ln/>
        </p:spPr>
        <p:txBody>
          <a:bodyPr wrap="square" lIns="0" tIns="0" rIns="0" bIns="0" rtlCol="0" anchor="ctr"/>
          <a:lstStyle/>
          <a:p>
            <a:pPr indent="0" marL="0">
              <a:buNone/>
            </a:pPr>
            <a:r>
              <a:rPr lang="en-US" sz="1300" b="1" dirty="0">
                <a:solidFill>
                  <a:srgbClr val="0F172A"/>
                </a:solidFill>
                <a:latin typeface="Roboto" pitchFamily="34" charset="0"/>
                <a:ea typeface="Roboto" pitchFamily="34" charset="-122"/>
                <a:cs typeface="Roboto" pitchFamily="34" charset="-120"/>
              </a:rPr>
              <a:t>Held-out tier accuracy · 400 labelled scenarios</a:t>
            </a:r>
            <a:endParaRPr lang="en-US" sz="1300" dirty="0"/>
          </a:p>
        </p:txBody>
      </p:sp>
      <p:graphicFrame>
        <p:nvGraphicFramePr>
          <p:cNvPr id="23" name="Chart 1" descr=""/>
          <p:cNvGraphicFramePr/>
          <p:nvPr/>
        </p:nvGraphicFramePr>
        <p:xfrm>
          <a:off x="6172200" y="2240280"/>
          <a:ext cx="5303520" cy="2926080"/>
        </p:xfrm>
        <a:graphic xmlns:a="http://schemas.openxmlformats.org/drawingml/2006/main">
          <a:graphicData uri="http://schemas.openxmlformats.org/drawingml/2006/chart">
            <c:chart xmlns:c="http://schemas.openxmlformats.org/drawingml/2006/chart" r:id="rId3"/>
          </a:graphicData>
        </a:graphic>
      </p:graphicFrame>
      <p:sp>
        <p:nvSpPr>
          <p:cNvPr id="24" name="Text 18"/>
          <p:cNvSpPr txBox="1"/>
          <p:nvPr/>
        </p:nvSpPr>
        <p:spPr>
          <a:xfrm>
            <a:off x="6217920" y="5303520"/>
            <a:ext cx="5212080" cy="868680"/>
          </a:xfrm>
          <a:prstGeom prst="rect">
            <a:avLst/>
          </a:prstGeom>
          <a:noFill/>
          <a:ln/>
        </p:spPr>
        <p:txBody>
          <a:bodyPr wrap="square" lIns="0" tIns="0" rIns="0" bIns="0" rtlCol="0" anchor="ctr"/>
          <a:lstStyle/>
          <a:p>
            <a:pPr indent="0" marL="0">
              <a:buNone/>
            </a:pPr>
            <a:r>
              <a:rPr lang="en-US" sz="2200" b="1" dirty="0">
                <a:solidFill>
                  <a:srgbClr val="16A34A"/>
                </a:solidFill>
                <a:latin typeface="Roboto" pitchFamily="34" charset="0"/>
                <a:ea typeface="Roboto" pitchFamily="34" charset="-122"/>
                <a:cs typeface="Roboto" pitchFamily="34" charset="-120"/>
              </a:rPr>
              <a:t>93%  </a:t>
            </a:r>
            <a:pPr indent="0" marL="0">
              <a:buNone/>
            </a:pPr>
            <a:r>
              <a:rPr lang="en-US" sz="1100" dirty="0">
                <a:solidFill>
                  <a:srgbClr val="334155"/>
                </a:solidFill>
                <a:latin typeface="Roboto" pitchFamily="34" charset="0"/>
                <a:ea typeface="Roboto" pitchFamily="34" charset="-122"/>
                <a:cs typeface="Roboto" pitchFamily="34" charset="-120"/>
              </a:rPr>
              <a:t>meets the ≥ 90% target. In v2's errors, 17 of 35 HIGH cases were called MEDIUM — it leans cautious toward review, not toward rejection.</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IDENTITY &amp; FRAUD EVIDENCE</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Statement patterns and fraud triage</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Patterns read the bank statement row by row; triage looks across all applications for rings.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18</a:t>
            </a:r>
            <a:endParaRPr lang="en-US" sz="900" dirty="0"/>
          </a:p>
        </p:txBody>
      </p:sp>
      <p:sp>
        <p:nvSpPr>
          <p:cNvPr id="8" name="Text 4"/>
          <p:cNvSpPr txBox="1"/>
          <p:nvPr/>
        </p:nvSpPr>
        <p:spPr>
          <a:xfrm>
            <a:off x="548640" y="1755648"/>
            <a:ext cx="4572000" cy="256032"/>
          </a:xfrm>
          <a:prstGeom prst="rect">
            <a:avLst/>
          </a:prstGeom>
          <a:noFill/>
          <a:ln/>
        </p:spPr>
        <p:txBody>
          <a:bodyPr wrap="square" lIns="0" tIns="0" rIns="0" bIns="0" rtlCol="0" anchor="ctr"/>
          <a:lstStyle/>
          <a:p>
            <a:pPr indent="0" marL="0">
              <a:buNone/>
            </a:pPr>
            <a:r>
              <a:rPr lang="en-US" sz="1050" b="1" spc="200" kern="0" dirty="0">
                <a:solidFill>
                  <a:srgbClr val="E11D48"/>
                </a:solidFill>
                <a:latin typeface="Roboto" pitchFamily="34" charset="0"/>
                <a:ea typeface="Roboto" pitchFamily="34" charset="-122"/>
                <a:cs typeface="Roboto" pitchFamily="34" charset="-120"/>
              </a:rPr>
              <a:t>#14 FRAUD PATTERNS</a:t>
            </a:r>
            <a:endParaRPr lang="en-US" sz="1050" dirty="0"/>
          </a:p>
        </p:txBody>
      </p:sp>
      <p:sp>
        <p:nvSpPr>
          <p:cNvPr id="9" name="Shape 5"/>
          <p:cNvSpPr/>
          <p:nvPr/>
        </p:nvSpPr>
        <p:spPr>
          <a:xfrm>
            <a:off x="548640" y="2103120"/>
            <a:ext cx="1600200" cy="731520"/>
          </a:xfrm>
          <a:prstGeom prst="roundRect">
            <a:avLst>
              <a:gd name="adj" fmla="val 10000"/>
            </a:avLst>
          </a:prstGeom>
          <a:solidFill>
            <a:srgbClr val="FFFFFF"/>
          </a:solidFill>
          <a:ln w="12700">
            <a:solidFill>
              <a:srgbClr val="E2E8F0"/>
            </a:solidFill>
            <a:prstDash val="solid"/>
          </a:ln>
        </p:spPr>
      </p:sp>
      <p:sp>
        <p:nvSpPr>
          <p:cNvPr id="10" name="Text 6"/>
          <p:cNvSpPr txBox="1"/>
          <p:nvPr/>
        </p:nvSpPr>
        <p:spPr>
          <a:xfrm>
            <a:off x="621792" y="2121408"/>
            <a:ext cx="1453896" cy="694944"/>
          </a:xfrm>
          <a:prstGeom prst="rect">
            <a:avLst/>
          </a:prstGeom>
          <a:noFill/>
          <a:ln/>
        </p:spPr>
        <p:txBody>
          <a:bodyPr wrap="square" lIns="0" tIns="0" rIns="0" bIns="0" rtlCol="0" anchor="ctr"/>
          <a:lstStyle/>
          <a:p>
            <a:pPr algn="ctr" indent="0" marL="0">
              <a:spcAft>
                <a:spcPts val="200"/>
              </a:spcAft>
              <a:buNone/>
            </a:pPr>
            <a:r>
              <a:rPr lang="en-US" sz="1050" b="1" dirty="0">
                <a:solidFill>
                  <a:srgbClr val="0F172A"/>
                </a:solidFill>
                <a:latin typeface="Roboto" pitchFamily="34" charset="0"/>
                <a:ea typeface="Roboto" pitchFamily="34" charset="-122"/>
                <a:cs typeface="Roboto" pitchFamily="34" charset="-120"/>
              </a:rPr>
              <a:t>PDF text layer</a:t>
            </a:r>
            <a:endParaRPr lang="en-US" sz="105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or OCR words</a:t>
            </a:r>
            <a:endParaRPr lang="en-US" sz="1050" dirty="0"/>
          </a:p>
        </p:txBody>
      </p:sp>
      <p:sp>
        <p:nvSpPr>
          <p:cNvPr id="11" name="Shape 7"/>
          <p:cNvSpPr/>
          <p:nvPr/>
        </p:nvSpPr>
        <p:spPr>
          <a:xfrm>
            <a:off x="2167128" y="2468880"/>
            <a:ext cx="146304" cy="0"/>
          </a:xfrm>
          <a:prstGeom prst="line">
            <a:avLst/>
          </a:prstGeom>
          <a:noFill/>
          <a:ln w="19050">
            <a:solidFill>
              <a:srgbClr val="94A3B8"/>
            </a:solidFill>
            <a:prstDash val="solid"/>
            <a:tailEnd type="triangle"/>
          </a:ln>
        </p:spPr>
      </p:sp>
      <p:sp>
        <p:nvSpPr>
          <p:cNvPr id="12" name="Shape 8"/>
          <p:cNvSpPr/>
          <p:nvPr/>
        </p:nvSpPr>
        <p:spPr>
          <a:xfrm>
            <a:off x="2331720" y="2103120"/>
            <a:ext cx="1600200" cy="731520"/>
          </a:xfrm>
          <a:prstGeom prst="roundRect">
            <a:avLst>
              <a:gd name="adj" fmla="val 10000"/>
            </a:avLst>
          </a:prstGeom>
          <a:solidFill>
            <a:srgbClr val="FFFFFF"/>
          </a:solidFill>
          <a:ln w="12700">
            <a:solidFill>
              <a:srgbClr val="E2E8F0"/>
            </a:solidFill>
            <a:prstDash val="solid"/>
          </a:ln>
        </p:spPr>
      </p:sp>
      <p:sp>
        <p:nvSpPr>
          <p:cNvPr id="13" name="Text 9"/>
          <p:cNvSpPr txBox="1"/>
          <p:nvPr/>
        </p:nvSpPr>
        <p:spPr>
          <a:xfrm>
            <a:off x="2404872" y="2121408"/>
            <a:ext cx="1453896" cy="694944"/>
          </a:xfrm>
          <a:prstGeom prst="rect">
            <a:avLst/>
          </a:prstGeom>
          <a:noFill/>
          <a:ln/>
        </p:spPr>
        <p:txBody>
          <a:bodyPr wrap="square" lIns="0" tIns="0" rIns="0" bIns="0" rtlCol="0" anchor="ctr"/>
          <a:lstStyle/>
          <a:p>
            <a:pPr algn="ctr" indent="0" marL="0">
              <a:spcAft>
                <a:spcPts val="200"/>
              </a:spcAft>
              <a:buNone/>
            </a:pPr>
            <a:r>
              <a:rPr lang="en-US" sz="1050" b="1" dirty="0">
                <a:solidFill>
                  <a:srgbClr val="0F172A"/>
                </a:solidFill>
                <a:latin typeface="Roboto" pitchFamily="34" charset="0"/>
                <a:ea typeface="Roboto" pitchFamily="34" charset="-122"/>
                <a:cs typeface="Roboto" pitchFamily="34" charset="-120"/>
              </a:rPr>
              <a:t>Tilt-corrected rows</a:t>
            </a:r>
            <a:endParaRPr lang="en-US" sz="105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date + amounts</a:t>
            </a:r>
            <a:endParaRPr lang="en-US" sz="1050" dirty="0"/>
          </a:p>
        </p:txBody>
      </p:sp>
      <p:sp>
        <p:nvSpPr>
          <p:cNvPr id="14" name="Shape 10"/>
          <p:cNvSpPr/>
          <p:nvPr/>
        </p:nvSpPr>
        <p:spPr>
          <a:xfrm>
            <a:off x="3950208" y="2468880"/>
            <a:ext cx="146304" cy="0"/>
          </a:xfrm>
          <a:prstGeom prst="line">
            <a:avLst/>
          </a:prstGeom>
          <a:noFill/>
          <a:ln w="19050">
            <a:solidFill>
              <a:srgbClr val="94A3B8"/>
            </a:solidFill>
            <a:prstDash val="solid"/>
            <a:tailEnd type="triangle"/>
          </a:ln>
        </p:spPr>
      </p:sp>
      <p:sp>
        <p:nvSpPr>
          <p:cNvPr id="15" name="Shape 11"/>
          <p:cNvSpPr/>
          <p:nvPr/>
        </p:nvSpPr>
        <p:spPr>
          <a:xfrm>
            <a:off x="4114800" y="2103120"/>
            <a:ext cx="1600200" cy="731520"/>
          </a:xfrm>
          <a:prstGeom prst="roundRect">
            <a:avLst>
              <a:gd name="adj" fmla="val 10000"/>
            </a:avLst>
          </a:prstGeom>
          <a:solidFill>
            <a:srgbClr val="FFFFFF"/>
          </a:solidFill>
          <a:ln w="12700">
            <a:solidFill>
              <a:srgbClr val="E2E8F0"/>
            </a:solidFill>
            <a:prstDash val="solid"/>
          </a:ln>
        </p:spPr>
      </p:sp>
      <p:sp>
        <p:nvSpPr>
          <p:cNvPr id="16" name="Text 12"/>
          <p:cNvSpPr txBox="1"/>
          <p:nvPr/>
        </p:nvSpPr>
        <p:spPr>
          <a:xfrm>
            <a:off x="4187952" y="2121408"/>
            <a:ext cx="1453896" cy="694944"/>
          </a:xfrm>
          <a:prstGeom prst="rect">
            <a:avLst/>
          </a:prstGeom>
          <a:noFill/>
          <a:ln/>
        </p:spPr>
        <p:txBody>
          <a:bodyPr wrap="square" lIns="0" tIns="0" rIns="0" bIns="0" rtlCol="0" anchor="ctr"/>
          <a:lstStyle/>
          <a:p>
            <a:pPr algn="ctr" indent="0" marL="0">
              <a:spcAft>
                <a:spcPts val="200"/>
              </a:spcAft>
              <a:buNone/>
            </a:pPr>
            <a:r>
              <a:rPr lang="en-US" sz="1050" b="1" dirty="0">
                <a:solidFill>
                  <a:srgbClr val="0F172A"/>
                </a:solidFill>
                <a:latin typeface="Roboto" pitchFamily="34" charset="0"/>
                <a:ea typeface="Roboto" pitchFamily="34" charset="-122"/>
                <a:cs typeface="Roboto" pitchFamily="34" charset="-120"/>
              </a:rPr>
              <a:t>Reconcile</a:t>
            </a:r>
            <a:endParaRPr lang="en-US" sz="105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debit / credit by balance</a:t>
            </a:r>
            <a:endParaRPr lang="en-US" sz="1050" dirty="0"/>
          </a:p>
        </p:txBody>
      </p:sp>
      <p:sp>
        <p:nvSpPr>
          <p:cNvPr id="17" name="Text 13"/>
          <p:cNvSpPr txBox="1"/>
          <p:nvPr/>
        </p:nvSpPr>
        <p:spPr>
          <a:xfrm>
            <a:off x="548640" y="3017520"/>
            <a:ext cx="3657600" cy="237744"/>
          </a:xfrm>
          <a:prstGeom prst="rect">
            <a:avLst/>
          </a:prstGeom>
          <a:noFill/>
          <a:ln/>
        </p:spPr>
        <p:txBody>
          <a:bodyPr wrap="square" lIns="0" tIns="0" rIns="0" bIns="0" rtlCol="0" anchor="ctr"/>
          <a:lstStyle/>
          <a:p>
            <a:pPr indent="0" marL="0">
              <a:buNone/>
            </a:pPr>
            <a:r>
              <a:rPr lang="en-US" sz="950" b="1" spc="100" kern="0" dirty="0">
                <a:solidFill>
                  <a:srgbClr val="64748B"/>
                </a:solidFill>
                <a:latin typeface="Roboto" pitchFamily="34" charset="0"/>
                <a:ea typeface="Roboto" pitchFamily="34" charset="-122"/>
                <a:cs typeface="Roboto" pitchFamily="34" charset="-120"/>
              </a:rPr>
              <a:t>FIVE PATTERNS</a:t>
            </a:r>
            <a:endParaRPr lang="en-US" sz="950" dirty="0"/>
          </a:p>
        </p:txBody>
      </p:sp>
      <p:sp>
        <p:nvSpPr>
          <p:cNvPr id="18" name="Shape 14"/>
          <p:cNvSpPr/>
          <p:nvPr/>
        </p:nvSpPr>
        <p:spPr>
          <a:xfrm>
            <a:off x="548640" y="3310128"/>
            <a:ext cx="5257800" cy="411480"/>
          </a:xfrm>
          <a:prstGeom prst="roundRect">
            <a:avLst>
              <a:gd name="adj" fmla="val 17778"/>
            </a:avLst>
          </a:prstGeom>
          <a:solidFill>
            <a:srgbClr val="FFF1F2"/>
          </a:solidFill>
          <a:ln w="12700">
            <a:solidFill>
              <a:srgbClr val="FECDD3"/>
            </a:solidFill>
            <a:prstDash val="solid"/>
          </a:ln>
        </p:spPr>
      </p:sp>
      <p:sp>
        <p:nvSpPr>
          <p:cNvPr id="19" name="Text 15"/>
          <p:cNvSpPr txBox="1"/>
          <p:nvPr/>
        </p:nvSpPr>
        <p:spPr>
          <a:xfrm>
            <a:off x="685800" y="3310128"/>
            <a:ext cx="5029200" cy="411480"/>
          </a:xfrm>
          <a:prstGeom prst="rect">
            <a:avLst/>
          </a:prstGeom>
          <a:noFill/>
          <a:ln/>
        </p:spPr>
        <p:txBody>
          <a:bodyPr wrap="square" lIns="0" tIns="0" rIns="0" bIns="0" rtlCol="0" anchor="ctr"/>
          <a:lstStyle/>
          <a:p>
            <a:pPr indent="0" marL="0">
              <a:buNone/>
            </a:pPr>
            <a:r>
              <a:rPr lang="en-US" sz="1100" b="1" dirty="0">
                <a:solidFill>
                  <a:srgbClr val="0F172A"/>
                </a:solidFill>
                <a:latin typeface="Roboto" pitchFamily="34" charset="0"/>
                <a:ea typeface="Roboto" pitchFamily="34" charset="-122"/>
                <a:cs typeface="Roboto" pitchFamily="34" charset="-120"/>
              </a:rPr>
              <a:t>Cash cycling  </a:t>
            </a:r>
            <a:pPr indent="0" marL="0">
              <a:buNone/>
            </a:pPr>
            <a:r>
              <a:rPr lang="en-US" sz="1100" dirty="0">
                <a:solidFill>
                  <a:srgbClr val="64748B"/>
                </a:solidFill>
                <a:latin typeface="Roboto" pitchFamily="34" charset="0"/>
                <a:ea typeface="Roboto" pitchFamily="34" charset="-122"/>
                <a:cs typeface="Roboto" pitchFamily="34" charset="-120"/>
              </a:rPr>
              <a:t>money in and straight back out</a:t>
            </a:r>
            <a:endParaRPr lang="en-US" sz="1100" dirty="0"/>
          </a:p>
        </p:txBody>
      </p:sp>
      <p:sp>
        <p:nvSpPr>
          <p:cNvPr id="20" name="Shape 16"/>
          <p:cNvSpPr/>
          <p:nvPr/>
        </p:nvSpPr>
        <p:spPr>
          <a:xfrm>
            <a:off x="548640" y="3785616"/>
            <a:ext cx="5257800" cy="411480"/>
          </a:xfrm>
          <a:prstGeom prst="roundRect">
            <a:avLst>
              <a:gd name="adj" fmla="val 17778"/>
            </a:avLst>
          </a:prstGeom>
          <a:solidFill>
            <a:srgbClr val="FFF1F2"/>
          </a:solidFill>
          <a:ln w="12700">
            <a:solidFill>
              <a:srgbClr val="FECDD3"/>
            </a:solidFill>
            <a:prstDash val="solid"/>
          </a:ln>
        </p:spPr>
      </p:sp>
      <p:sp>
        <p:nvSpPr>
          <p:cNvPr id="21" name="Text 17"/>
          <p:cNvSpPr txBox="1"/>
          <p:nvPr/>
        </p:nvSpPr>
        <p:spPr>
          <a:xfrm>
            <a:off x="685800" y="3785616"/>
            <a:ext cx="5029200" cy="411480"/>
          </a:xfrm>
          <a:prstGeom prst="rect">
            <a:avLst/>
          </a:prstGeom>
          <a:noFill/>
          <a:ln/>
        </p:spPr>
        <p:txBody>
          <a:bodyPr wrap="square" lIns="0" tIns="0" rIns="0" bIns="0" rtlCol="0" anchor="ctr"/>
          <a:lstStyle/>
          <a:p>
            <a:pPr indent="0" marL="0">
              <a:buNone/>
            </a:pPr>
            <a:r>
              <a:rPr lang="en-US" sz="1100" b="1" dirty="0">
                <a:solidFill>
                  <a:srgbClr val="0F172A"/>
                </a:solidFill>
                <a:latin typeface="Roboto" pitchFamily="34" charset="0"/>
                <a:ea typeface="Roboto" pitchFamily="34" charset="-122"/>
                <a:cs typeface="Roboto" pitchFamily="34" charset="-120"/>
              </a:rPr>
              <a:t>Sudden deposit  </a:t>
            </a:r>
            <a:pPr indent="0" marL="0">
              <a:buNone/>
            </a:pPr>
            <a:r>
              <a:rPr lang="en-US" sz="1100" dirty="0">
                <a:solidFill>
                  <a:srgbClr val="64748B"/>
                </a:solidFill>
                <a:latin typeface="Roboto" pitchFamily="34" charset="0"/>
                <a:ea typeface="Roboto" pitchFamily="34" charset="-122"/>
                <a:cs typeface="Roboto" pitchFamily="34" charset="-120"/>
              </a:rPr>
              <a:t>a lump sum just before applying</a:t>
            </a:r>
            <a:endParaRPr lang="en-US" sz="1100" dirty="0"/>
          </a:p>
        </p:txBody>
      </p:sp>
      <p:sp>
        <p:nvSpPr>
          <p:cNvPr id="22" name="Shape 18"/>
          <p:cNvSpPr/>
          <p:nvPr/>
        </p:nvSpPr>
        <p:spPr>
          <a:xfrm>
            <a:off x="548640" y="4261104"/>
            <a:ext cx="5257800" cy="411480"/>
          </a:xfrm>
          <a:prstGeom prst="roundRect">
            <a:avLst>
              <a:gd name="adj" fmla="val 17778"/>
            </a:avLst>
          </a:prstGeom>
          <a:solidFill>
            <a:srgbClr val="FFF1F2"/>
          </a:solidFill>
          <a:ln w="12700">
            <a:solidFill>
              <a:srgbClr val="FECDD3"/>
            </a:solidFill>
            <a:prstDash val="solid"/>
          </a:ln>
        </p:spPr>
      </p:sp>
      <p:sp>
        <p:nvSpPr>
          <p:cNvPr id="23" name="Text 19"/>
          <p:cNvSpPr txBox="1"/>
          <p:nvPr/>
        </p:nvSpPr>
        <p:spPr>
          <a:xfrm>
            <a:off x="685800" y="4261104"/>
            <a:ext cx="5029200" cy="411480"/>
          </a:xfrm>
          <a:prstGeom prst="rect">
            <a:avLst/>
          </a:prstGeom>
          <a:noFill/>
          <a:ln/>
        </p:spPr>
        <p:txBody>
          <a:bodyPr wrap="square" lIns="0" tIns="0" rIns="0" bIns="0" rtlCol="0" anchor="ctr"/>
          <a:lstStyle/>
          <a:p>
            <a:pPr indent="0" marL="0">
              <a:buNone/>
            </a:pPr>
            <a:r>
              <a:rPr lang="en-US" sz="1100" b="1" dirty="0">
                <a:solidFill>
                  <a:srgbClr val="0F172A"/>
                </a:solidFill>
                <a:latin typeface="Roboto" pitchFamily="34" charset="0"/>
                <a:ea typeface="Roboto" pitchFamily="34" charset="-122"/>
                <a:cs typeface="Roboto" pitchFamily="34" charset="-120"/>
              </a:rPr>
              <a:t>Window dressing  </a:t>
            </a:r>
            <a:pPr indent="0" marL="0">
              <a:buNone/>
            </a:pPr>
            <a:r>
              <a:rPr lang="en-US" sz="1100" dirty="0">
                <a:solidFill>
                  <a:srgbClr val="64748B"/>
                </a:solidFill>
                <a:latin typeface="Roboto" pitchFamily="34" charset="0"/>
                <a:ea typeface="Roboto" pitchFamily="34" charset="-122"/>
                <a:cs typeface="Roboto" pitchFamily="34" charset="-120"/>
              </a:rPr>
              <a:t>balance pumped near statement end</a:t>
            </a:r>
            <a:endParaRPr lang="en-US" sz="1100" dirty="0"/>
          </a:p>
        </p:txBody>
      </p:sp>
      <p:sp>
        <p:nvSpPr>
          <p:cNvPr id="24" name="Shape 20"/>
          <p:cNvSpPr/>
          <p:nvPr/>
        </p:nvSpPr>
        <p:spPr>
          <a:xfrm>
            <a:off x="548640" y="4736592"/>
            <a:ext cx="5257800" cy="411480"/>
          </a:xfrm>
          <a:prstGeom prst="roundRect">
            <a:avLst>
              <a:gd name="adj" fmla="val 17778"/>
            </a:avLst>
          </a:prstGeom>
          <a:solidFill>
            <a:srgbClr val="FFF1F2"/>
          </a:solidFill>
          <a:ln w="12700">
            <a:solidFill>
              <a:srgbClr val="FECDD3"/>
            </a:solidFill>
            <a:prstDash val="solid"/>
          </a:ln>
        </p:spPr>
      </p:sp>
      <p:sp>
        <p:nvSpPr>
          <p:cNvPr id="25" name="Text 21"/>
          <p:cNvSpPr txBox="1"/>
          <p:nvPr/>
        </p:nvSpPr>
        <p:spPr>
          <a:xfrm>
            <a:off x="685800" y="4736592"/>
            <a:ext cx="5029200" cy="411480"/>
          </a:xfrm>
          <a:prstGeom prst="rect">
            <a:avLst/>
          </a:prstGeom>
          <a:noFill/>
          <a:ln/>
        </p:spPr>
        <p:txBody>
          <a:bodyPr wrap="square" lIns="0" tIns="0" rIns="0" bIns="0" rtlCol="0" anchor="ctr"/>
          <a:lstStyle/>
          <a:p>
            <a:pPr indent="0" marL="0">
              <a:buNone/>
            </a:pPr>
            <a:r>
              <a:rPr lang="en-US" sz="1100" b="1" dirty="0">
                <a:solidFill>
                  <a:srgbClr val="0F172A"/>
                </a:solidFill>
                <a:latin typeface="Roboto" pitchFamily="34" charset="0"/>
                <a:ea typeface="Roboto" pitchFamily="34" charset="-122"/>
                <a:cs typeface="Roboto" pitchFamily="34" charset="-120"/>
              </a:rPr>
              <a:t>Income mismatch  </a:t>
            </a:r>
            <a:pPr indent="0" marL="0">
              <a:buNone/>
            </a:pPr>
            <a:r>
              <a:rPr lang="en-US" sz="1100" dirty="0">
                <a:solidFill>
                  <a:srgbClr val="64748B"/>
                </a:solidFill>
                <a:latin typeface="Roboto" pitchFamily="34" charset="0"/>
                <a:ea typeface="Roboto" pitchFamily="34" charset="-122"/>
                <a:cs typeface="Roboto" pitchFamily="34" charset="-120"/>
              </a:rPr>
              <a:t>salary credits ≠ payslip net</a:t>
            </a:r>
            <a:endParaRPr lang="en-US" sz="1100" dirty="0"/>
          </a:p>
        </p:txBody>
      </p:sp>
      <p:sp>
        <p:nvSpPr>
          <p:cNvPr id="26" name="Shape 22"/>
          <p:cNvSpPr/>
          <p:nvPr/>
        </p:nvSpPr>
        <p:spPr>
          <a:xfrm>
            <a:off x="548640" y="5212080"/>
            <a:ext cx="5257800" cy="411480"/>
          </a:xfrm>
          <a:prstGeom prst="roundRect">
            <a:avLst>
              <a:gd name="adj" fmla="val 17778"/>
            </a:avLst>
          </a:prstGeom>
          <a:solidFill>
            <a:srgbClr val="FFF1F2"/>
          </a:solidFill>
          <a:ln w="12700">
            <a:solidFill>
              <a:srgbClr val="FECDD3"/>
            </a:solidFill>
            <a:prstDash val="solid"/>
          </a:ln>
        </p:spPr>
      </p:sp>
      <p:sp>
        <p:nvSpPr>
          <p:cNvPr id="27" name="Text 23"/>
          <p:cNvSpPr txBox="1"/>
          <p:nvPr/>
        </p:nvSpPr>
        <p:spPr>
          <a:xfrm>
            <a:off x="685800" y="5212080"/>
            <a:ext cx="5029200" cy="411480"/>
          </a:xfrm>
          <a:prstGeom prst="rect">
            <a:avLst/>
          </a:prstGeom>
          <a:noFill/>
          <a:ln/>
        </p:spPr>
        <p:txBody>
          <a:bodyPr wrap="square" lIns="0" tIns="0" rIns="0" bIns="0" rtlCol="0" anchor="ctr"/>
          <a:lstStyle/>
          <a:p>
            <a:pPr indent="0" marL="0">
              <a:buNone/>
            </a:pPr>
            <a:r>
              <a:rPr lang="en-US" sz="1100" b="1" dirty="0">
                <a:solidFill>
                  <a:srgbClr val="0F172A"/>
                </a:solidFill>
                <a:latin typeface="Roboto" pitchFamily="34" charset="0"/>
                <a:ea typeface="Roboto" pitchFamily="34" charset="-122"/>
                <a:cs typeface="Roboto" pitchFamily="34" charset="-120"/>
              </a:rPr>
              <a:t>GST inflation  </a:t>
            </a:r>
            <a:pPr indent="0" marL="0">
              <a:buNone/>
            </a:pPr>
            <a:r>
              <a:rPr lang="en-US" sz="1100" dirty="0">
                <a:solidFill>
                  <a:srgbClr val="64748B"/>
                </a:solidFill>
                <a:latin typeface="Roboto" pitchFamily="34" charset="0"/>
                <a:ea typeface="Roboto" pitchFamily="34" charset="-122"/>
                <a:cs typeface="Roboto" pitchFamily="34" charset="-120"/>
              </a:rPr>
              <a:t>credits far below declared turnover</a:t>
            </a:r>
            <a:endParaRPr lang="en-US" sz="1100" dirty="0"/>
          </a:p>
        </p:txBody>
      </p:sp>
      <p:sp>
        <p:nvSpPr>
          <p:cNvPr id="28" name="Shape 24"/>
          <p:cNvSpPr/>
          <p:nvPr/>
        </p:nvSpPr>
        <p:spPr>
          <a:xfrm>
            <a:off x="548640" y="5760720"/>
            <a:ext cx="5257800" cy="603504"/>
          </a:xfrm>
          <a:prstGeom prst="roundRect">
            <a:avLst>
              <a:gd name="adj" fmla="val 12121"/>
            </a:avLst>
          </a:prstGeom>
          <a:solidFill>
            <a:srgbClr val="F8FAFC"/>
          </a:solidFill>
          <a:ln w="12700">
            <a:solidFill>
              <a:srgbClr val="E2E8F0"/>
            </a:solidFill>
            <a:prstDash val="solid"/>
          </a:ln>
        </p:spPr>
      </p:sp>
      <p:sp>
        <p:nvSpPr>
          <p:cNvPr id="29" name="Text 25"/>
          <p:cNvSpPr txBox="1"/>
          <p:nvPr/>
        </p:nvSpPr>
        <p:spPr>
          <a:xfrm>
            <a:off x="685800" y="5760720"/>
            <a:ext cx="1325880" cy="603504"/>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F1 1.00</a:t>
            </a:r>
            <a:endParaRPr lang="en-US" sz="2000" dirty="0"/>
          </a:p>
        </p:txBody>
      </p:sp>
      <p:sp>
        <p:nvSpPr>
          <p:cNvPr id="30" name="Text 26"/>
          <p:cNvSpPr txBox="1"/>
          <p:nvPr/>
        </p:nvSpPr>
        <p:spPr>
          <a:xfrm>
            <a:off x="2057400" y="5760720"/>
            <a:ext cx="3657600" cy="603504"/>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Pattern detection · 54 statements</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photo statement rows parsed 99.5% (was 66%)</a:t>
            </a:r>
            <a:endParaRPr lang="en-US" sz="1150" dirty="0"/>
          </a:p>
        </p:txBody>
      </p:sp>
      <p:sp>
        <p:nvSpPr>
          <p:cNvPr id="31" name="Shape 27"/>
          <p:cNvSpPr/>
          <p:nvPr/>
        </p:nvSpPr>
        <p:spPr>
          <a:xfrm>
            <a:off x="5989320" y="1783080"/>
            <a:ext cx="5650992" cy="3053974"/>
          </a:xfrm>
          <a:prstGeom prst="roundRect">
            <a:avLst>
              <a:gd name="adj" fmla="val 2096"/>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2" name="Shape 28"/>
          <p:cNvSpPr/>
          <p:nvPr/>
        </p:nvSpPr>
        <p:spPr>
          <a:xfrm>
            <a:off x="6108192" y="1860804"/>
            <a:ext cx="82296" cy="82296"/>
          </a:xfrm>
          <a:prstGeom prst="ellipse">
            <a:avLst/>
          </a:prstGeom>
          <a:solidFill>
            <a:srgbClr val="F87171"/>
          </a:solidFill>
          <a:ln w="12700">
            <a:solidFill>
              <a:srgbClr val="F87171"/>
            </a:solidFill>
            <a:prstDash val="solid"/>
          </a:ln>
        </p:spPr>
      </p:sp>
      <p:sp>
        <p:nvSpPr>
          <p:cNvPr id="33" name="Shape 29"/>
          <p:cNvSpPr/>
          <p:nvPr/>
        </p:nvSpPr>
        <p:spPr>
          <a:xfrm>
            <a:off x="6245352" y="1860804"/>
            <a:ext cx="82296" cy="82296"/>
          </a:xfrm>
          <a:prstGeom prst="ellipse">
            <a:avLst/>
          </a:prstGeom>
          <a:solidFill>
            <a:srgbClr val="FBBF24"/>
          </a:solidFill>
          <a:ln w="12700">
            <a:solidFill>
              <a:srgbClr val="FBBF24"/>
            </a:solidFill>
            <a:prstDash val="solid"/>
          </a:ln>
        </p:spPr>
      </p:sp>
      <p:sp>
        <p:nvSpPr>
          <p:cNvPr id="34" name="Shape 30"/>
          <p:cNvSpPr/>
          <p:nvPr/>
        </p:nvSpPr>
        <p:spPr>
          <a:xfrm>
            <a:off x="6382512" y="1860804"/>
            <a:ext cx="82296" cy="82296"/>
          </a:xfrm>
          <a:prstGeom prst="ellipse">
            <a:avLst/>
          </a:prstGeom>
          <a:solidFill>
            <a:srgbClr val="34D399"/>
          </a:solidFill>
          <a:ln w="12700">
            <a:solidFill>
              <a:srgbClr val="34D399"/>
            </a:solidFill>
            <a:prstDash val="solid"/>
          </a:ln>
        </p:spPr>
      </p:sp>
      <p:pic>
        <p:nvPicPr>
          <p:cNvPr id="35" name="Image 1" descr="C:\Users\shrey\AppData\Local\Temp\claude\D--novacinternship-finsight\87f4101b-bf26-4b28-976a-e637573d77e1\scratchpad\deck\img\triage.png">    </p:cNvPr>
          <p:cNvPicPr>
            <a:picLocks noChangeAspect="1"/>
          </p:cNvPicPr>
          <p:nvPr/>
        </p:nvPicPr>
        <p:blipFill>
          <a:blip r:embed="rId2"/>
          <a:stretch>
            <a:fillRect/>
          </a:stretch>
        </p:blipFill>
        <p:spPr>
          <a:xfrm>
            <a:off x="6035040" y="2020824"/>
            <a:ext cx="5559552" cy="2770510"/>
          </a:xfrm>
          <a:prstGeom prst="rect">
            <a:avLst/>
          </a:prstGeom>
        </p:spPr>
      </p:pic>
      <p:sp>
        <p:nvSpPr>
          <p:cNvPr id="36" name="Text 31"/>
          <p:cNvSpPr txBox="1"/>
          <p:nvPr/>
        </p:nvSpPr>
        <p:spPr>
          <a:xfrm>
            <a:off x="5989320" y="5001646"/>
            <a:ext cx="4572000" cy="256032"/>
          </a:xfrm>
          <a:prstGeom prst="rect">
            <a:avLst/>
          </a:prstGeom>
          <a:noFill/>
          <a:ln/>
        </p:spPr>
        <p:txBody>
          <a:bodyPr wrap="square" lIns="0" tIns="0" rIns="0" bIns="0" rtlCol="0" anchor="ctr"/>
          <a:lstStyle/>
          <a:p>
            <a:pPr indent="0" marL="0">
              <a:buNone/>
            </a:pPr>
            <a:r>
              <a:rPr lang="en-US" sz="1050" b="1" spc="200" kern="0" dirty="0">
                <a:solidFill>
                  <a:srgbClr val="E11D48"/>
                </a:solidFill>
                <a:latin typeface="Roboto" pitchFamily="34" charset="0"/>
                <a:ea typeface="Roboto" pitchFamily="34" charset="-122"/>
                <a:cs typeface="Roboto" pitchFamily="34" charset="-120"/>
              </a:rPr>
              <a:t>#15 FRAUD TRIAGE</a:t>
            </a:r>
            <a:endParaRPr lang="en-US" sz="1050" dirty="0"/>
          </a:p>
        </p:txBody>
      </p:sp>
      <p:sp>
        <p:nvSpPr>
          <p:cNvPr id="37" name="Text 32"/>
          <p:cNvSpPr txBox="1"/>
          <p:nvPr/>
        </p:nvSpPr>
        <p:spPr>
          <a:xfrm>
            <a:off x="5989320" y="5294254"/>
            <a:ext cx="5650992" cy="109728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334155"/>
                </a:solidFill>
                <a:latin typeface="Roboto" pitchFamily="34" charset="0"/>
                <a:ea typeface="Roboto" pitchFamily="34" charset="-122"/>
                <a:cs typeface="Roboto" pitchFamily="34" charset="-120"/>
              </a:rPr>
              <a:t>Links applications that share one face under several PANs, one bank account, one PAN with two faces, or one file</a:t>
            </a:r>
            <a:endParaRPr lang="en-US" sz="1100" dirty="0"/>
          </a:p>
          <a:p>
            <a:pPr marL="177800" indent="-177800">
              <a:spcAft>
                <a:spcPts val="400"/>
              </a:spcAft>
              <a:buSzPct val="100000"/>
              <a:buChar char="•"/>
            </a:pPr>
            <a:r>
              <a:rPr lang="en-US" sz="1100" dirty="0">
                <a:solidFill>
                  <a:srgbClr val="334155"/>
                </a:solidFill>
                <a:latin typeface="Roboto" pitchFamily="34" charset="0"/>
                <a:ea typeface="Roboto" pitchFamily="34" charset="-122"/>
                <a:cs typeface="Roboto" pitchFamily="34" charset="-120"/>
              </a:rPr>
              <a:t>Proposes cases only — a person decides what to open</a:t>
            </a:r>
            <a:endParaRPr lang="en-US" sz="1100" dirty="0"/>
          </a:p>
          <a:p>
            <a:pPr marL="177800" indent="-177800">
              <a:spcAft>
                <a:spcPts val="400"/>
              </a:spcAft>
              <a:buSzPct val="100000"/>
              <a:buChar char="•"/>
            </a:pPr>
            <a:r>
              <a:rPr lang="en-US" sz="1100" dirty="0">
                <a:solidFill>
                  <a:srgbClr val="334155"/>
                </a:solidFill>
                <a:latin typeface="Roboto" pitchFamily="34" charset="0"/>
                <a:ea typeface="Roboto" pitchFamily="34" charset="-122"/>
                <a:cs typeface="Roboto" pitchFamily="34" charset="-120"/>
              </a:rPr>
              <a:t>9 of 9 planted rings and cases found, 0 false ones; repeat customers never flagged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COMPLIANCE CREW</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Compliance: RBI rules as data, answers with citations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Regulations are indexed once; rules are drafted by an agent and approved by a person; every case is checked against them.</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19</a:t>
            </a:r>
            <a:endParaRPr lang="en-US" sz="900" dirty="0"/>
          </a:p>
        </p:txBody>
      </p:sp>
      <p:sp>
        <p:nvSpPr>
          <p:cNvPr id="8" name="Shape 4"/>
          <p:cNvSpPr/>
          <p:nvPr/>
        </p:nvSpPr>
        <p:spPr>
          <a:xfrm>
            <a:off x="548640" y="1783080"/>
            <a:ext cx="1664208" cy="914400"/>
          </a:xfrm>
          <a:prstGeom prst="roundRect">
            <a:avLst>
              <a:gd name="adj" fmla="val 8000"/>
            </a:avLst>
          </a:prstGeom>
          <a:solidFill>
            <a:srgbClr val="F8FAFC"/>
          </a:solidFill>
          <a:ln w="12700">
            <a:solidFill>
              <a:srgbClr val="E2E8F0"/>
            </a:solidFill>
            <a:prstDash val="solid"/>
          </a:ln>
        </p:spPr>
      </p:sp>
      <p:sp>
        <p:nvSpPr>
          <p:cNvPr id="9" name="Text 5"/>
          <p:cNvSpPr txBox="1"/>
          <p:nvPr/>
        </p:nvSpPr>
        <p:spPr>
          <a:xfrm>
            <a:off x="621792"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0F172A"/>
                </a:solidFill>
                <a:latin typeface="Roboto" pitchFamily="34" charset="0"/>
                <a:ea typeface="Roboto" pitchFamily="34" charset="-122"/>
                <a:cs typeface="Roboto" pitchFamily="34" charset="-120"/>
              </a:rPr>
              <a:t>RBI &amp; internal documents</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6 seeded</a:t>
            </a:r>
            <a:endParaRPr lang="en-US" sz="1100" dirty="0"/>
          </a:p>
        </p:txBody>
      </p:sp>
      <p:sp>
        <p:nvSpPr>
          <p:cNvPr id="10" name="Shape 6"/>
          <p:cNvSpPr/>
          <p:nvPr/>
        </p:nvSpPr>
        <p:spPr>
          <a:xfrm>
            <a:off x="2231136" y="2240280"/>
            <a:ext cx="182880" cy="0"/>
          </a:xfrm>
          <a:prstGeom prst="line">
            <a:avLst/>
          </a:prstGeom>
          <a:noFill/>
          <a:ln w="19050">
            <a:solidFill>
              <a:srgbClr val="94A3B8"/>
            </a:solidFill>
            <a:prstDash val="solid"/>
            <a:tailEnd type="triangle"/>
          </a:ln>
        </p:spPr>
      </p:sp>
      <p:sp>
        <p:nvSpPr>
          <p:cNvPr id="11" name="Shape 7"/>
          <p:cNvSpPr/>
          <p:nvPr/>
        </p:nvSpPr>
        <p:spPr>
          <a:xfrm>
            <a:off x="2432304" y="1783080"/>
            <a:ext cx="1664208" cy="914400"/>
          </a:xfrm>
          <a:prstGeom prst="roundRect">
            <a:avLst>
              <a:gd name="adj" fmla="val 8000"/>
            </a:avLst>
          </a:prstGeom>
          <a:solidFill>
            <a:srgbClr val="ECFDF5"/>
          </a:solidFill>
          <a:ln w="12700">
            <a:solidFill>
              <a:srgbClr val="059669"/>
            </a:solidFill>
            <a:prstDash val="solid"/>
          </a:ln>
        </p:spPr>
      </p:sp>
      <p:sp>
        <p:nvSpPr>
          <p:cNvPr id="12" name="Text 8"/>
          <p:cNvSpPr txBox="1"/>
          <p:nvPr/>
        </p:nvSpPr>
        <p:spPr>
          <a:xfrm>
            <a:off x="2505456"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059669"/>
                </a:solidFill>
                <a:latin typeface="Roboto" pitchFamily="34" charset="0"/>
                <a:ea typeface="Roboto" pitchFamily="34" charset="-122"/>
                <a:cs typeface="Roboto" pitchFamily="34" charset="-120"/>
              </a:rPr>
              <a:t>#16 KB Ingestion</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chunk &amp; index</a:t>
            </a:r>
            <a:endParaRPr lang="en-US" sz="1100" dirty="0"/>
          </a:p>
        </p:txBody>
      </p:sp>
      <p:sp>
        <p:nvSpPr>
          <p:cNvPr id="13" name="Shape 9"/>
          <p:cNvSpPr/>
          <p:nvPr/>
        </p:nvSpPr>
        <p:spPr>
          <a:xfrm>
            <a:off x="4114800" y="2240280"/>
            <a:ext cx="182880" cy="0"/>
          </a:xfrm>
          <a:prstGeom prst="line">
            <a:avLst/>
          </a:prstGeom>
          <a:noFill/>
          <a:ln w="19050">
            <a:solidFill>
              <a:srgbClr val="94A3B8"/>
            </a:solidFill>
            <a:prstDash val="solid"/>
            <a:tailEnd type="triangle"/>
          </a:ln>
        </p:spPr>
      </p:sp>
      <p:sp>
        <p:nvSpPr>
          <p:cNvPr id="14" name="Shape 10"/>
          <p:cNvSpPr/>
          <p:nvPr/>
        </p:nvSpPr>
        <p:spPr>
          <a:xfrm>
            <a:off x="4315968" y="1783080"/>
            <a:ext cx="1664208" cy="914400"/>
          </a:xfrm>
          <a:prstGeom prst="roundRect">
            <a:avLst>
              <a:gd name="adj" fmla="val 8000"/>
            </a:avLst>
          </a:prstGeom>
          <a:solidFill>
            <a:srgbClr val="ECFDF5"/>
          </a:solidFill>
          <a:ln w="12700">
            <a:solidFill>
              <a:srgbClr val="059669"/>
            </a:solidFill>
            <a:prstDash val="solid"/>
          </a:ln>
        </p:spPr>
      </p:sp>
      <p:sp>
        <p:nvSpPr>
          <p:cNvPr id="15" name="Text 11"/>
          <p:cNvSpPr txBox="1"/>
          <p:nvPr/>
        </p:nvSpPr>
        <p:spPr>
          <a:xfrm>
            <a:off x="4389120"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059669"/>
                </a:solidFill>
                <a:latin typeface="Roboto" pitchFamily="34" charset="0"/>
                <a:ea typeface="Roboto" pitchFamily="34" charset="-122"/>
                <a:cs typeface="Roboto" pitchFamily="34" charset="-120"/>
              </a:rPr>
              <a:t>#17 Rule Authoring</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drafts candidates</a:t>
            </a:r>
            <a:endParaRPr lang="en-US" sz="1100" dirty="0"/>
          </a:p>
        </p:txBody>
      </p:sp>
      <p:sp>
        <p:nvSpPr>
          <p:cNvPr id="16" name="Shape 12"/>
          <p:cNvSpPr/>
          <p:nvPr/>
        </p:nvSpPr>
        <p:spPr>
          <a:xfrm>
            <a:off x="5998464" y="2240280"/>
            <a:ext cx="182880" cy="0"/>
          </a:xfrm>
          <a:prstGeom prst="line">
            <a:avLst/>
          </a:prstGeom>
          <a:noFill/>
          <a:ln w="19050">
            <a:solidFill>
              <a:srgbClr val="94A3B8"/>
            </a:solidFill>
            <a:prstDash val="solid"/>
            <a:tailEnd type="triangle"/>
          </a:ln>
        </p:spPr>
      </p:sp>
      <p:sp>
        <p:nvSpPr>
          <p:cNvPr id="17" name="Shape 13"/>
          <p:cNvSpPr/>
          <p:nvPr/>
        </p:nvSpPr>
        <p:spPr>
          <a:xfrm>
            <a:off x="6199632" y="1783080"/>
            <a:ext cx="1664208" cy="914400"/>
          </a:xfrm>
          <a:prstGeom prst="roundRect">
            <a:avLst>
              <a:gd name="adj" fmla="val 8000"/>
            </a:avLst>
          </a:prstGeom>
          <a:solidFill>
            <a:srgbClr val="FEF3C7"/>
          </a:solidFill>
          <a:ln w="12700">
            <a:solidFill>
              <a:srgbClr val="FCD34D"/>
            </a:solidFill>
            <a:prstDash val="solid"/>
          </a:ln>
        </p:spPr>
      </p:sp>
      <p:sp>
        <p:nvSpPr>
          <p:cNvPr id="18" name="Text 14"/>
          <p:cNvSpPr txBox="1"/>
          <p:nvPr/>
        </p:nvSpPr>
        <p:spPr>
          <a:xfrm>
            <a:off x="6272784"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92400E"/>
                </a:solidFill>
                <a:latin typeface="Roboto" pitchFamily="34" charset="0"/>
                <a:ea typeface="Roboto" pitchFamily="34" charset="-122"/>
                <a:cs typeface="Roboto" pitchFamily="34" charset="-120"/>
              </a:rPr>
              <a:t>Human checker</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review queue</a:t>
            </a:r>
            <a:endParaRPr lang="en-US" sz="1100" dirty="0"/>
          </a:p>
        </p:txBody>
      </p:sp>
      <p:sp>
        <p:nvSpPr>
          <p:cNvPr id="19" name="Shape 15"/>
          <p:cNvSpPr/>
          <p:nvPr/>
        </p:nvSpPr>
        <p:spPr>
          <a:xfrm>
            <a:off x="7882128" y="2240280"/>
            <a:ext cx="182880" cy="0"/>
          </a:xfrm>
          <a:prstGeom prst="line">
            <a:avLst/>
          </a:prstGeom>
          <a:noFill/>
          <a:ln w="19050">
            <a:solidFill>
              <a:srgbClr val="94A3B8"/>
            </a:solidFill>
            <a:prstDash val="solid"/>
            <a:tailEnd type="triangle"/>
          </a:ln>
        </p:spPr>
      </p:sp>
      <p:sp>
        <p:nvSpPr>
          <p:cNvPr id="20" name="Shape 16"/>
          <p:cNvSpPr/>
          <p:nvPr/>
        </p:nvSpPr>
        <p:spPr>
          <a:xfrm>
            <a:off x="8083296" y="1783080"/>
            <a:ext cx="1664208" cy="914400"/>
          </a:xfrm>
          <a:prstGeom prst="roundRect">
            <a:avLst>
              <a:gd name="adj" fmla="val 8000"/>
            </a:avLst>
          </a:prstGeom>
          <a:solidFill>
            <a:srgbClr val="F8FAFC"/>
          </a:solidFill>
          <a:ln w="12700">
            <a:solidFill>
              <a:srgbClr val="E2E8F0"/>
            </a:solidFill>
            <a:prstDash val="solid"/>
          </a:ln>
        </p:spPr>
      </p:sp>
      <p:sp>
        <p:nvSpPr>
          <p:cNvPr id="21" name="Text 17"/>
          <p:cNvSpPr txBox="1"/>
          <p:nvPr/>
        </p:nvSpPr>
        <p:spPr>
          <a:xfrm>
            <a:off x="8156448"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0F172A"/>
                </a:solidFill>
                <a:latin typeface="Roboto" pitchFamily="34" charset="0"/>
                <a:ea typeface="Roboto" pitchFamily="34" charset="-122"/>
                <a:cs typeface="Roboto" pitchFamily="34" charset="-120"/>
              </a:rPr>
              <a:t>Active rules</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16 today</a:t>
            </a:r>
            <a:endParaRPr lang="en-US" sz="1100" dirty="0"/>
          </a:p>
        </p:txBody>
      </p:sp>
      <p:sp>
        <p:nvSpPr>
          <p:cNvPr id="22" name="Shape 18"/>
          <p:cNvSpPr/>
          <p:nvPr/>
        </p:nvSpPr>
        <p:spPr>
          <a:xfrm>
            <a:off x="9765792" y="2240280"/>
            <a:ext cx="182880" cy="0"/>
          </a:xfrm>
          <a:prstGeom prst="line">
            <a:avLst/>
          </a:prstGeom>
          <a:noFill/>
          <a:ln w="19050">
            <a:solidFill>
              <a:srgbClr val="94A3B8"/>
            </a:solidFill>
            <a:prstDash val="solid"/>
            <a:tailEnd type="triangle"/>
          </a:ln>
        </p:spPr>
      </p:sp>
      <p:sp>
        <p:nvSpPr>
          <p:cNvPr id="23" name="Shape 19"/>
          <p:cNvSpPr/>
          <p:nvPr/>
        </p:nvSpPr>
        <p:spPr>
          <a:xfrm>
            <a:off x="9966960" y="1783080"/>
            <a:ext cx="1664208" cy="914400"/>
          </a:xfrm>
          <a:prstGeom prst="roundRect">
            <a:avLst>
              <a:gd name="adj" fmla="val 8000"/>
            </a:avLst>
          </a:prstGeom>
          <a:solidFill>
            <a:srgbClr val="ECFDF5"/>
          </a:solidFill>
          <a:ln w="12700">
            <a:solidFill>
              <a:srgbClr val="059669"/>
            </a:solidFill>
            <a:prstDash val="solid"/>
          </a:ln>
        </p:spPr>
      </p:sp>
      <p:sp>
        <p:nvSpPr>
          <p:cNvPr id="24" name="Text 20"/>
          <p:cNvSpPr txBox="1"/>
          <p:nvPr/>
        </p:nvSpPr>
        <p:spPr>
          <a:xfrm>
            <a:off x="10040112" y="1801368"/>
            <a:ext cx="1517904" cy="877824"/>
          </a:xfrm>
          <a:prstGeom prst="rect">
            <a:avLst/>
          </a:prstGeom>
          <a:noFill/>
          <a:ln/>
        </p:spPr>
        <p:txBody>
          <a:bodyPr wrap="square" lIns="0" tIns="0" rIns="0" bIns="0" rtlCol="0" anchor="ctr"/>
          <a:lstStyle/>
          <a:p>
            <a:pPr algn="ctr" indent="0" marL="0">
              <a:spcAft>
                <a:spcPts val="200"/>
              </a:spcAft>
              <a:buNone/>
            </a:pPr>
            <a:r>
              <a:rPr lang="en-US" sz="1100" b="1" dirty="0">
                <a:solidFill>
                  <a:srgbClr val="059669"/>
                </a:solidFill>
                <a:latin typeface="Roboto" pitchFamily="34" charset="0"/>
                <a:ea typeface="Roboto" pitchFamily="34" charset="-122"/>
                <a:cs typeface="Roboto" pitchFamily="34" charset="-120"/>
              </a:rPr>
              <a:t>#19 Policy Check</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PASS · FAIL · NEED INFO</a:t>
            </a:r>
            <a:endParaRPr lang="en-US" sz="1100" dirty="0"/>
          </a:p>
        </p:txBody>
      </p:sp>
      <p:sp>
        <p:nvSpPr>
          <p:cNvPr id="25" name="Shape 21"/>
          <p:cNvSpPr/>
          <p:nvPr/>
        </p:nvSpPr>
        <p:spPr>
          <a:xfrm>
            <a:off x="3264408" y="2715768"/>
            <a:ext cx="0" cy="164592"/>
          </a:xfrm>
          <a:prstGeom prst="line">
            <a:avLst/>
          </a:prstGeom>
          <a:noFill/>
          <a:ln w="19050">
            <a:solidFill>
              <a:srgbClr val="94A3B8"/>
            </a:solidFill>
            <a:prstDash val="solid"/>
            <a:tailEnd type="triangle"/>
          </a:ln>
        </p:spPr>
      </p:sp>
      <p:sp>
        <p:nvSpPr>
          <p:cNvPr id="26" name="Shape 22"/>
          <p:cNvSpPr/>
          <p:nvPr/>
        </p:nvSpPr>
        <p:spPr>
          <a:xfrm>
            <a:off x="2203704" y="2898648"/>
            <a:ext cx="2121408" cy="457200"/>
          </a:xfrm>
          <a:prstGeom prst="roundRect">
            <a:avLst>
              <a:gd name="adj" fmla="val 16000"/>
            </a:avLst>
          </a:prstGeom>
          <a:solidFill>
            <a:srgbClr val="ECFDF5"/>
          </a:solidFill>
          <a:ln w="12700">
            <a:solidFill>
              <a:srgbClr val="059669"/>
            </a:solidFill>
            <a:prstDash val="solid"/>
          </a:ln>
        </p:spPr>
      </p:sp>
      <p:sp>
        <p:nvSpPr>
          <p:cNvPr id="27" name="Text 23"/>
          <p:cNvSpPr txBox="1"/>
          <p:nvPr/>
        </p:nvSpPr>
        <p:spPr>
          <a:xfrm>
            <a:off x="2276856" y="2916936"/>
            <a:ext cx="1975104" cy="420624"/>
          </a:xfrm>
          <a:prstGeom prst="rect">
            <a:avLst/>
          </a:prstGeom>
          <a:noFill/>
          <a:ln/>
        </p:spPr>
        <p:txBody>
          <a:bodyPr wrap="square" lIns="0" tIns="0" rIns="0" bIns="0" rtlCol="0" anchor="ctr"/>
          <a:lstStyle/>
          <a:p>
            <a:pPr algn="ctr" indent="0" marL="0">
              <a:spcAft>
                <a:spcPts val="200"/>
              </a:spcAft>
              <a:buNone/>
            </a:pPr>
            <a:r>
              <a:rPr lang="en-US" sz="1100" b="1" dirty="0">
                <a:solidFill>
                  <a:srgbClr val="059669"/>
                </a:solidFill>
                <a:latin typeface="Roboto" pitchFamily="34" charset="0"/>
                <a:ea typeface="Roboto" pitchFamily="34" charset="-122"/>
                <a:cs typeface="Roboto" pitchFamily="34" charset="-120"/>
              </a:rPr>
              <a:t>#18 Regulatory Q&amp;A</a:t>
            </a:r>
            <a:endParaRPr lang="en-US" sz="1100" dirty="0"/>
          </a:p>
        </p:txBody>
      </p:sp>
      <p:sp>
        <p:nvSpPr>
          <p:cNvPr id="28" name="Text 24"/>
          <p:cNvSpPr txBox="1"/>
          <p:nvPr/>
        </p:nvSpPr>
        <p:spPr>
          <a:xfrm>
            <a:off x="4462272" y="2898648"/>
            <a:ext cx="4572000" cy="45720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retrieves the top-5 passages, then writes a cited, grounded answer</a:t>
            </a:r>
            <a:endParaRPr lang="en-US" sz="1050" dirty="0"/>
          </a:p>
        </p:txBody>
      </p:sp>
      <p:sp>
        <p:nvSpPr>
          <p:cNvPr id="29" name="Shape 25"/>
          <p:cNvSpPr/>
          <p:nvPr/>
        </p:nvSpPr>
        <p:spPr>
          <a:xfrm>
            <a:off x="548640" y="3566160"/>
            <a:ext cx="6062983" cy="2834640"/>
          </a:xfrm>
          <a:prstGeom prst="roundRect">
            <a:avLst>
              <a:gd name="adj" fmla="val 2258"/>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0" name="Shape 26"/>
          <p:cNvSpPr/>
          <p:nvPr/>
        </p:nvSpPr>
        <p:spPr>
          <a:xfrm>
            <a:off x="667512" y="3643884"/>
            <a:ext cx="82296" cy="82296"/>
          </a:xfrm>
          <a:prstGeom prst="ellipse">
            <a:avLst/>
          </a:prstGeom>
          <a:solidFill>
            <a:srgbClr val="F87171"/>
          </a:solidFill>
          <a:ln w="12700">
            <a:solidFill>
              <a:srgbClr val="F87171"/>
            </a:solidFill>
            <a:prstDash val="solid"/>
          </a:ln>
        </p:spPr>
      </p:sp>
      <p:sp>
        <p:nvSpPr>
          <p:cNvPr id="31" name="Shape 27"/>
          <p:cNvSpPr/>
          <p:nvPr/>
        </p:nvSpPr>
        <p:spPr>
          <a:xfrm>
            <a:off x="804672" y="3643884"/>
            <a:ext cx="82296" cy="82296"/>
          </a:xfrm>
          <a:prstGeom prst="ellipse">
            <a:avLst/>
          </a:prstGeom>
          <a:solidFill>
            <a:srgbClr val="FBBF24"/>
          </a:solidFill>
          <a:ln w="12700">
            <a:solidFill>
              <a:srgbClr val="FBBF24"/>
            </a:solidFill>
            <a:prstDash val="solid"/>
          </a:ln>
        </p:spPr>
      </p:sp>
      <p:sp>
        <p:nvSpPr>
          <p:cNvPr id="32" name="Shape 28"/>
          <p:cNvSpPr/>
          <p:nvPr/>
        </p:nvSpPr>
        <p:spPr>
          <a:xfrm>
            <a:off x="941832" y="3643884"/>
            <a:ext cx="82296" cy="82296"/>
          </a:xfrm>
          <a:prstGeom prst="ellipse">
            <a:avLst/>
          </a:prstGeom>
          <a:solidFill>
            <a:srgbClr val="34D399"/>
          </a:solidFill>
          <a:ln w="12700">
            <a:solidFill>
              <a:srgbClr val="34D399"/>
            </a:solidFill>
            <a:prstDash val="solid"/>
          </a:ln>
        </p:spPr>
      </p:sp>
      <p:pic>
        <p:nvPicPr>
          <p:cNvPr id="33" name="Image 1" descr="C:\Users\shrey\AppData\Local\Temp\claude\D--novacinternship-finsight\87f4101b-bf26-4b28-976a-e637573d77e1\scratchpad\deck\img\rbi_chat.png">    </p:cNvPr>
          <p:cNvPicPr>
            <a:picLocks noChangeAspect="1"/>
          </p:cNvPicPr>
          <p:nvPr/>
        </p:nvPicPr>
        <p:blipFill>
          <a:blip r:embed="rId2"/>
          <a:stretch>
            <a:fillRect/>
          </a:stretch>
        </p:blipFill>
        <p:spPr>
          <a:xfrm>
            <a:off x="594360" y="3803904"/>
            <a:ext cx="5971543" cy="2551176"/>
          </a:xfrm>
          <a:prstGeom prst="rect">
            <a:avLst/>
          </a:prstGeom>
        </p:spPr>
      </p:pic>
      <p:sp>
        <p:nvSpPr>
          <p:cNvPr id="34" name="Shape 29"/>
          <p:cNvSpPr/>
          <p:nvPr/>
        </p:nvSpPr>
        <p:spPr>
          <a:xfrm>
            <a:off x="7589520" y="3566160"/>
            <a:ext cx="4050792" cy="640080"/>
          </a:xfrm>
          <a:prstGeom prst="roundRect">
            <a:avLst>
              <a:gd name="adj" fmla="val 11429"/>
            </a:avLst>
          </a:prstGeom>
          <a:solidFill>
            <a:srgbClr val="F8FAFC"/>
          </a:solidFill>
          <a:ln w="12700">
            <a:solidFill>
              <a:srgbClr val="E2E8F0"/>
            </a:solidFill>
            <a:prstDash val="solid"/>
          </a:ln>
        </p:spPr>
      </p:sp>
      <p:sp>
        <p:nvSpPr>
          <p:cNvPr id="35" name="Text 30"/>
          <p:cNvSpPr txBox="1"/>
          <p:nvPr/>
        </p:nvSpPr>
        <p:spPr>
          <a:xfrm>
            <a:off x="7726680" y="3566160"/>
            <a:ext cx="1325880" cy="640080"/>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91.7%</a:t>
            </a:r>
            <a:endParaRPr lang="en-US" sz="2000" dirty="0"/>
          </a:p>
        </p:txBody>
      </p:sp>
      <p:sp>
        <p:nvSpPr>
          <p:cNvPr id="36" name="Text 31"/>
          <p:cNvSpPr txBox="1"/>
          <p:nvPr/>
        </p:nvSpPr>
        <p:spPr>
          <a:xfrm>
            <a:off x="9098280" y="3566160"/>
            <a:ext cx="2450592" cy="640080"/>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KB Ingestion</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recall@5 on 12 gold questions</a:t>
            </a:r>
            <a:endParaRPr lang="en-US" sz="1150" dirty="0"/>
          </a:p>
        </p:txBody>
      </p:sp>
      <p:sp>
        <p:nvSpPr>
          <p:cNvPr id="37" name="Shape 32"/>
          <p:cNvSpPr/>
          <p:nvPr/>
        </p:nvSpPr>
        <p:spPr>
          <a:xfrm>
            <a:off x="7589520" y="4261104"/>
            <a:ext cx="4050792" cy="640080"/>
          </a:xfrm>
          <a:prstGeom prst="roundRect">
            <a:avLst>
              <a:gd name="adj" fmla="val 11429"/>
            </a:avLst>
          </a:prstGeom>
          <a:solidFill>
            <a:srgbClr val="F8FAFC"/>
          </a:solidFill>
          <a:ln w="12700">
            <a:solidFill>
              <a:srgbClr val="E2E8F0"/>
            </a:solidFill>
            <a:prstDash val="solid"/>
          </a:ln>
        </p:spPr>
      </p:sp>
      <p:sp>
        <p:nvSpPr>
          <p:cNvPr id="38" name="Text 33"/>
          <p:cNvSpPr txBox="1"/>
          <p:nvPr/>
        </p:nvSpPr>
        <p:spPr>
          <a:xfrm>
            <a:off x="7726680" y="4261104"/>
            <a:ext cx="1325880" cy="640080"/>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8 of 9</a:t>
            </a:r>
            <a:endParaRPr lang="en-US" sz="2000" dirty="0"/>
          </a:p>
        </p:txBody>
      </p:sp>
      <p:sp>
        <p:nvSpPr>
          <p:cNvPr id="39" name="Text 34"/>
          <p:cNvSpPr txBox="1"/>
          <p:nvPr/>
        </p:nvSpPr>
        <p:spPr>
          <a:xfrm>
            <a:off x="9098280" y="4261104"/>
            <a:ext cx="2450592" cy="640080"/>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Rule Authoring</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known rules recovered (88.9%)</a:t>
            </a:r>
            <a:endParaRPr lang="en-US" sz="1150" dirty="0"/>
          </a:p>
        </p:txBody>
      </p:sp>
      <p:sp>
        <p:nvSpPr>
          <p:cNvPr id="40" name="Shape 35"/>
          <p:cNvSpPr/>
          <p:nvPr/>
        </p:nvSpPr>
        <p:spPr>
          <a:xfrm>
            <a:off x="7589520" y="4956048"/>
            <a:ext cx="4050792" cy="640080"/>
          </a:xfrm>
          <a:prstGeom prst="roundRect">
            <a:avLst>
              <a:gd name="adj" fmla="val 11429"/>
            </a:avLst>
          </a:prstGeom>
          <a:solidFill>
            <a:srgbClr val="F8FAFC"/>
          </a:solidFill>
          <a:ln w="12700">
            <a:solidFill>
              <a:srgbClr val="E2E8F0"/>
            </a:solidFill>
            <a:prstDash val="solid"/>
          </a:ln>
        </p:spPr>
      </p:sp>
      <p:sp>
        <p:nvSpPr>
          <p:cNvPr id="41" name="Text 36"/>
          <p:cNvSpPr txBox="1"/>
          <p:nvPr/>
        </p:nvSpPr>
        <p:spPr>
          <a:xfrm>
            <a:off x="7726680" y="4956048"/>
            <a:ext cx="1325880" cy="640080"/>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2" name="Text 37"/>
          <p:cNvSpPr txBox="1"/>
          <p:nvPr/>
        </p:nvSpPr>
        <p:spPr>
          <a:xfrm>
            <a:off x="9098280" y="4956048"/>
            <a:ext cx="2450592" cy="640080"/>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Regulatory Q&amp;A</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answering passage in top 5 · 5.1 s</a:t>
            </a:r>
            <a:endParaRPr lang="en-US" sz="1150" dirty="0"/>
          </a:p>
        </p:txBody>
      </p:sp>
      <p:sp>
        <p:nvSpPr>
          <p:cNvPr id="43" name="Shape 38"/>
          <p:cNvSpPr/>
          <p:nvPr/>
        </p:nvSpPr>
        <p:spPr>
          <a:xfrm>
            <a:off x="7589520" y="5650992"/>
            <a:ext cx="4050792" cy="640080"/>
          </a:xfrm>
          <a:prstGeom prst="roundRect">
            <a:avLst>
              <a:gd name="adj" fmla="val 11429"/>
            </a:avLst>
          </a:prstGeom>
          <a:solidFill>
            <a:srgbClr val="F8FAFC"/>
          </a:solidFill>
          <a:ln w="12700">
            <a:solidFill>
              <a:srgbClr val="E2E8F0"/>
            </a:solidFill>
            <a:prstDash val="solid"/>
          </a:ln>
        </p:spPr>
      </p:sp>
      <p:sp>
        <p:nvSpPr>
          <p:cNvPr id="44" name="Text 39"/>
          <p:cNvSpPr txBox="1"/>
          <p:nvPr/>
        </p:nvSpPr>
        <p:spPr>
          <a:xfrm>
            <a:off x="7726680" y="5650992"/>
            <a:ext cx="1325880" cy="640080"/>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5" name="Text 40"/>
          <p:cNvSpPr txBox="1"/>
          <p:nvPr/>
        </p:nvSpPr>
        <p:spPr>
          <a:xfrm>
            <a:off x="9098280" y="5650992"/>
            <a:ext cx="2450592" cy="640080"/>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Policy Check</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violations detected one at a time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UNDERWRITING CREW</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Underwriting: from income to a drafted offer</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One click runs the chain; the only model calls are the two agents inside the crew. About 20 seconds.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20</a:t>
            </a:r>
            <a:endParaRPr lang="en-US" sz="900" dirty="0"/>
          </a:p>
        </p:txBody>
      </p:sp>
      <p:sp>
        <p:nvSpPr>
          <p:cNvPr id="8" name="Shape 4"/>
          <p:cNvSpPr/>
          <p:nvPr/>
        </p:nvSpPr>
        <p:spPr>
          <a:xfrm>
            <a:off x="548640" y="1783080"/>
            <a:ext cx="1600200" cy="1005840"/>
          </a:xfrm>
          <a:prstGeom prst="roundRect">
            <a:avLst>
              <a:gd name="adj" fmla="val 7273"/>
            </a:avLst>
          </a:prstGeom>
          <a:solidFill>
            <a:srgbClr val="FFFBEB"/>
          </a:solidFill>
          <a:ln w="12700">
            <a:solidFill>
              <a:srgbClr val="D97706"/>
            </a:solidFill>
            <a:prstDash val="solid"/>
          </a:ln>
        </p:spPr>
      </p:sp>
      <p:sp>
        <p:nvSpPr>
          <p:cNvPr id="9" name="Text 5"/>
          <p:cNvSpPr txBox="1"/>
          <p:nvPr/>
        </p:nvSpPr>
        <p:spPr>
          <a:xfrm>
            <a:off x="621792" y="1801368"/>
            <a:ext cx="1453896" cy="96926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#20 Income</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payslip · ITR · bank · GST</a:t>
            </a:r>
            <a:endParaRPr lang="en-US" sz="1200" dirty="0"/>
          </a:p>
        </p:txBody>
      </p:sp>
      <p:sp>
        <p:nvSpPr>
          <p:cNvPr id="10" name="Shape 6"/>
          <p:cNvSpPr/>
          <p:nvPr/>
        </p:nvSpPr>
        <p:spPr>
          <a:xfrm>
            <a:off x="2167128" y="2286000"/>
            <a:ext cx="182880" cy="0"/>
          </a:xfrm>
          <a:prstGeom prst="line">
            <a:avLst/>
          </a:prstGeom>
          <a:noFill/>
          <a:ln w="19050">
            <a:solidFill>
              <a:srgbClr val="94A3B8"/>
            </a:solidFill>
            <a:prstDash val="solid"/>
            <a:tailEnd type="triangle"/>
          </a:ln>
        </p:spPr>
      </p:sp>
      <p:sp>
        <p:nvSpPr>
          <p:cNvPr id="11" name="Shape 7"/>
          <p:cNvSpPr/>
          <p:nvPr/>
        </p:nvSpPr>
        <p:spPr>
          <a:xfrm>
            <a:off x="2368296" y="1783080"/>
            <a:ext cx="1600200" cy="1005840"/>
          </a:xfrm>
          <a:prstGeom prst="roundRect">
            <a:avLst>
              <a:gd name="adj" fmla="val 7273"/>
            </a:avLst>
          </a:prstGeom>
          <a:solidFill>
            <a:srgbClr val="FFFBEB"/>
          </a:solidFill>
          <a:ln w="12700">
            <a:solidFill>
              <a:srgbClr val="D97706"/>
            </a:solidFill>
            <a:prstDash val="solid"/>
          </a:ln>
        </p:spPr>
      </p:sp>
      <p:sp>
        <p:nvSpPr>
          <p:cNvPr id="12" name="Text 8"/>
          <p:cNvSpPr txBox="1"/>
          <p:nvPr/>
        </p:nvSpPr>
        <p:spPr>
          <a:xfrm>
            <a:off x="2441448" y="1801368"/>
            <a:ext cx="1453896" cy="96926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#21 Risk</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9 dimensions + XGBoost</a:t>
            </a:r>
            <a:endParaRPr lang="en-US" sz="1200" dirty="0"/>
          </a:p>
        </p:txBody>
      </p:sp>
      <p:sp>
        <p:nvSpPr>
          <p:cNvPr id="13" name="Shape 9"/>
          <p:cNvSpPr/>
          <p:nvPr/>
        </p:nvSpPr>
        <p:spPr>
          <a:xfrm>
            <a:off x="3986784" y="2286000"/>
            <a:ext cx="182880" cy="0"/>
          </a:xfrm>
          <a:prstGeom prst="line">
            <a:avLst/>
          </a:prstGeom>
          <a:noFill/>
          <a:ln w="19050">
            <a:solidFill>
              <a:srgbClr val="94A3B8"/>
            </a:solidFill>
            <a:prstDash val="solid"/>
            <a:tailEnd type="triangle"/>
          </a:ln>
        </p:spPr>
      </p:sp>
      <p:sp>
        <p:nvSpPr>
          <p:cNvPr id="14" name="Shape 10"/>
          <p:cNvSpPr/>
          <p:nvPr/>
        </p:nvSpPr>
        <p:spPr>
          <a:xfrm>
            <a:off x="4187952" y="1600200"/>
            <a:ext cx="3200400" cy="1371600"/>
          </a:xfrm>
          <a:prstGeom prst="roundRect">
            <a:avLst>
              <a:gd name="adj" fmla="val 6667"/>
            </a:avLst>
          </a:prstGeom>
          <a:solidFill>
            <a:srgbClr val="FFFFFF"/>
          </a:solidFill>
          <a:ln w="15875">
            <a:solidFill>
              <a:srgbClr val="D97706"/>
            </a:solidFill>
            <a:prstDash val="dash"/>
          </a:ln>
        </p:spPr>
      </p:sp>
      <p:sp>
        <p:nvSpPr>
          <p:cNvPr id="15" name="Text 11"/>
          <p:cNvSpPr txBox="1"/>
          <p:nvPr/>
        </p:nvSpPr>
        <p:spPr>
          <a:xfrm>
            <a:off x="4297680" y="1627632"/>
            <a:ext cx="3017520" cy="201168"/>
          </a:xfrm>
          <a:prstGeom prst="rect">
            <a:avLst/>
          </a:prstGeom>
          <a:noFill/>
          <a:ln/>
        </p:spPr>
        <p:txBody>
          <a:bodyPr wrap="square" lIns="0" tIns="0" rIns="0" bIns="0" rtlCol="0" anchor="ctr"/>
          <a:lstStyle/>
          <a:p>
            <a:pPr indent="0" marL="0">
              <a:buNone/>
            </a:pPr>
            <a:r>
              <a:rPr lang="en-US" sz="850" b="1" spc="100" kern="0" dirty="0">
                <a:solidFill>
                  <a:srgbClr val="92400E"/>
                </a:solidFill>
                <a:latin typeface="Roboto" pitchFamily="34" charset="0"/>
                <a:ea typeface="Roboto" pitchFamily="34" charset="-122"/>
                <a:cs typeface="Roboto" pitchFamily="34" charset="-120"/>
              </a:rPr>
              <a:t>UNDERWRITING CREW · 2 LLM CALLS</a:t>
            </a:r>
            <a:endParaRPr lang="en-US" sz="850" dirty="0"/>
          </a:p>
        </p:txBody>
      </p:sp>
      <p:sp>
        <p:nvSpPr>
          <p:cNvPr id="16" name="Shape 12"/>
          <p:cNvSpPr/>
          <p:nvPr/>
        </p:nvSpPr>
        <p:spPr>
          <a:xfrm>
            <a:off x="4315968" y="1892808"/>
            <a:ext cx="1417320" cy="868680"/>
          </a:xfrm>
          <a:prstGeom prst="roundRect">
            <a:avLst>
              <a:gd name="adj" fmla="val 8421"/>
            </a:avLst>
          </a:prstGeom>
          <a:solidFill>
            <a:srgbClr val="FFFBEB"/>
          </a:solidFill>
          <a:ln w="12700">
            <a:solidFill>
              <a:srgbClr val="D97706"/>
            </a:solidFill>
            <a:prstDash val="solid"/>
          </a:ln>
        </p:spPr>
      </p:sp>
      <p:sp>
        <p:nvSpPr>
          <p:cNvPr id="17" name="Text 13"/>
          <p:cNvSpPr txBox="1"/>
          <p:nvPr/>
        </p:nvSpPr>
        <p:spPr>
          <a:xfrm>
            <a:off x="4389120" y="1911096"/>
            <a:ext cx="1271016" cy="832104"/>
          </a:xfrm>
          <a:prstGeom prst="rect">
            <a:avLst/>
          </a:prstGeom>
          <a:noFill/>
          <a:ln/>
        </p:spPr>
        <p:txBody>
          <a:bodyPr wrap="square" lIns="0" tIns="0" rIns="0" bIns="0" rtlCol="0" anchor="ctr"/>
          <a:lstStyle/>
          <a:p>
            <a:pPr algn="ctr" indent="0" marL="0">
              <a:spcAft>
                <a:spcPts val="200"/>
              </a:spcAft>
              <a:buNone/>
            </a:pPr>
            <a:r>
              <a:rPr lang="en-US" sz="1100" b="1" dirty="0">
                <a:solidFill>
                  <a:srgbClr val="92400E"/>
                </a:solidFill>
                <a:latin typeface="Roboto" pitchFamily="34" charset="0"/>
                <a:ea typeface="Roboto" pitchFamily="34" charset="-122"/>
                <a:cs typeface="Roboto" pitchFamily="34" charset="-120"/>
              </a:rPr>
              <a:t>#23 Supervisor</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tighten-only</a:t>
            </a:r>
            <a:endParaRPr lang="en-US" sz="1100" dirty="0"/>
          </a:p>
        </p:txBody>
      </p:sp>
      <p:sp>
        <p:nvSpPr>
          <p:cNvPr id="18" name="Shape 14"/>
          <p:cNvSpPr/>
          <p:nvPr/>
        </p:nvSpPr>
        <p:spPr>
          <a:xfrm>
            <a:off x="5852160" y="1892808"/>
            <a:ext cx="1417320" cy="868680"/>
          </a:xfrm>
          <a:prstGeom prst="roundRect">
            <a:avLst>
              <a:gd name="adj" fmla="val 8421"/>
            </a:avLst>
          </a:prstGeom>
          <a:solidFill>
            <a:srgbClr val="FFFBEB"/>
          </a:solidFill>
          <a:ln w="12700">
            <a:solidFill>
              <a:srgbClr val="D97706"/>
            </a:solidFill>
            <a:prstDash val="solid"/>
          </a:ln>
        </p:spPr>
      </p:sp>
      <p:sp>
        <p:nvSpPr>
          <p:cNvPr id="19" name="Text 15"/>
          <p:cNvSpPr txBox="1"/>
          <p:nvPr/>
        </p:nvSpPr>
        <p:spPr>
          <a:xfrm>
            <a:off x="5925312" y="1911096"/>
            <a:ext cx="1271016" cy="832104"/>
          </a:xfrm>
          <a:prstGeom prst="rect">
            <a:avLst/>
          </a:prstGeom>
          <a:noFill/>
          <a:ln/>
        </p:spPr>
        <p:txBody>
          <a:bodyPr wrap="square" lIns="0" tIns="0" rIns="0" bIns="0" rtlCol="0" anchor="ctr"/>
          <a:lstStyle/>
          <a:p>
            <a:pPr algn="ctr" indent="0" marL="0">
              <a:spcAft>
                <a:spcPts val="200"/>
              </a:spcAft>
              <a:buNone/>
            </a:pPr>
            <a:r>
              <a:rPr lang="en-US" sz="1100" b="1" dirty="0">
                <a:solidFill>
                  <a:srgbClr val="92400E"/>
                </a:solidFill>
                <a:latin typeface="Roboto" pitchFamily="34" charset="0"/>
                <a:ea typeface="Roboto" pitchFamily="34" charset="-122"/>
                <a:cs typeface="Roboto" pitchFamily="34" charset="-120"/>
              </a:rPr>
              <a:t>#22 Credit Memo</a:t>
            </a:r>
            <a:endParaRPr lang="en-US" sz="11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grounded</a:t>
            </a:r>
            <a:endParaRPr lang="en-US" sz="1100" dirty="0"/>
          </a:p>
        </p:txBody>
      </p:sp>
      <p:sp>
        <p:nvSpPr>
          <p:cNvPr id="20" name="Shape 16"/>
          <p:cNvSpPr/>
          <p:nvPr/>
        </p:nvSpPr>
        <p:spPr>
          <a:xfrm>
            <a:off x="7406640" y="2286000"/>
            <a:ext cx="182880" cy="0"/>
          </a:xfrm>
          <a:prstGeom prst="line">
            <a:avLst/>
          </a:prstGeom>
          <a:noFill/>
          <a:ln w="19050">
            <a:solidFill>
              <a:srgbClr val="94A3B8"/>
            </a:solidFill>
            <a:prstDash val="solid"/>
            <a:tailEnd type="triangle"/>
          </a:ln>
        </p:spPr>
      </p:sp>
      <p:sp>
        <p:nvSpPr>
          <p:cNvPr id="21" name="Shape 17"/>
          <p:cNvSpPr/>
          <p:nvPr/>
        </p:nvSpPr>
        <p:spPr>
          <a:xfrm>
            <a:off x="7607808" y="1783080"/>
            <a:ext cx="1280160" cy="1005840"/>
          </a:xfrm>
          <a:prstGeom prst="roundRect">
            <a:avLst>
              <a:gd name="adj" fmla="val 7273"/>
            </a:avLst>
          </a:prstGeom>
          <a:solidFill>
            <a:srgbClr val="FFFBEB"/>
          </a:solidFill>
          <a:ln w="12700">
            <a:solidFill>
              <a:srgbClr val="D97706"/>
            </a:solidFill>
            <a:prstDash val="solid"/>
          </a:ln>
        </p:spPr>
      </p:sp>
      <p:sp>
        <p:nvSpPr>
          <p:cNvPr id="22" name="Text 18"/>
          <p:cNvSpPr txBox="1"/>
          <p:nvPr/>
        </p:nvSpPr>
        <p:spPr>
          <a:xfrm>
            <a:off x="7680960" y="1801368"/>
            <a:ext cx="1133856" cy="96926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#24 Offer</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rate · EMI</a:t>
            </a:r>
            <a:endParaRPr lang="en-US" sz="1200" dirty="0"/>
          </a:p>
        </p:txBody>
      </p:sp>
      <p:sp>
        <p:nvSpPr>
          <p:cNvPr id="23" name="Shape 19"/>
          <p:cNvSpPr/>
          <p:nvPr/>
        </p:nvSpPr>
        <p:spPr>
          <a:xfrm>
            <a:off x="8906256" y="2286000"/>
            <a:ext cx="182880" cy="0"/>
          </a:xfrm>
          <a:prstGeom prst="line">
            <a:avLst/>
          </a:prstGeom>
          <a:noFill/>
          <a:ln w="19050">
            <a:solidFill>
              <a:srgbClr val="94A3B8"/>
            </a:solidFill>
            <a:prstDash val="solid"/>
            <a:tailEnd type="triangle"/>
          </a:ln>
        </p:spPr>
      </p:sp>
      <p:sp>
        <p:nvSpPr>
          <p:cNvPr id="24" name="Shape 20"/>
          <p:cNvSpPr/>
          <p:nvPr/>
        </p:nvSpPr>
        <p:spPr>
          <a:xfrm>
            <a:off x="9107424" y="1783080"/>
            <a:ext cx="1280160" cy="1005840"/>
          </a:xfrm>
          <a:prstGeom prst="roundRect">
            <a:avLst>
              <a:gd name="adj" fmla="val 7273"/>
            </a:avLst>
          </a:prstGeom>
          <a:solidFill>
            <a:srgbClr val="FFFBEB"/>
          </a:solidFill>
          <a:ln w="12700">
            <a:solidFill>
              <a:srgbClr val="D97706"/>
            </a:solidFill>
            <a:prstDash val="solid"/>
          </a:ln>
        </p:spPr>
      </p:sp>
      <p:sp>
        <p:nvSpPr>
          <p:cNvPr id="25" name="Text 21"/>
          <p:cNvSpPr txBox="1"/>
          <p:nvPr/>
        </p:nvSpPr>
        <p:spPr>
          <a:xfrm>
            <a:off x="9180576" y="1801368"/>
            <a:ext cx="1133856" cy="96926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#25 Router</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next step + owner</a:t>
            </a:r>
            <a:endParaRPr lang="en-US" sz="1200" dirty="0"/>
          </a:p>
        </p:txBody>
      </p:sp>
      <p:sp>
        <p:nvSpPr>
          <p:cNvPr id="26" name="Shape 22"/>
          <p:cNvSpPr/>
          <p:nvPr/>
        </p:nvSpPr>
        <p:spPr>
          <a:xfrm>
            <a:off x="10405872" y="2286000"/>
            <a:ext cx="182880" cy="0"/>
          </a:xfrm>
          <a:prstGeom prst="line">
            <a:avLst/>
          </a:prstGeom>
          <a:noFill/>
          <a:ln w="19050">
            <a:solidFill>
              <a:srgbClr val="94A3B8"/>
            </a:solidFill>
            <a:prstDash val="solid"/>
            <a:tailEnd type="triangle"/>
          </a:ln>
        </p:spPr>
      </p:sp>
      <p:sp>
        <p:nvSpPr>
          <p:cNvPr id="27" name="Shape 23"/>
          <p:cNvSpPr/>
          <p:nvPr/>
        </p:nvSpPr>
        <p:spPr>
          <a:xfrm>
            <a:off x="10607040" y="1783080"/>
            <a:ext cx="1033272" cy="1005840"/>
          </a:xfrm>
          <a:prstGeom prst="roundRect">
            <a:avLst>
              <a:gd name="adj" fmla="val 7273"/>
            </a:avLst>
          </a:prstGeom>
          <a:solidFill>
            <a:srgbClr val="F5F3FF"/>
          </a:solidFill>
          <a:ln w="12700">
            <a:solidFill>
              <a:srgbClr val="7C3AED"/>
            </a:solidFill>
            <a:prstDash val="solid"/>
          </a:ln>
        </p:spPr>
      </p:sp>
      <p:sp>
        <p:nvSpPr>
          <p:cNvPr id="28" name="Text 24"/>
          <p:cNvSpPr txBox="1"/>
          <p:nvPr/>
        </p:nvSpPr>
        <p:spPr>
          <a:xfrm>
            <a:off x="10680192" y="1801368"/>
            <a:ext cx="886968" cy="969264"/>
          </a:xfrm>
          <a:prstGeom prst="rect">
            <a:avLst/>
          </a:prstGeom>
          <a:noFill/>
          <a:ln/>
        </p:spPr>
        <p:txBody>
          <a:bodyPr wrap="square" lIns="0" tIns="0" rIns="0" bIns="0" rtlCol="0" anchor="ctr"/>
          <a:lstStyle/>
          <a:p>
            <a:pPr algn="ctr" indent="0" marL="0">
              <a:spcAft>
                <a:spcPts val="200"/>
              </a:spcAft>
              <a:buNone/>
            </a:pPr>
            <a:r>
              <a:rPr lang="en-US" sz="1200" b="1" dirty="0">
                <a:solidFill>
                  <a:srgbClr val="7C3AED"/>
                </a:solidFill>
                <a:latin typeface="Roboto" pitchFamily="34" charset="0"/>
                <a:ea typeface="Roboto" pitchFamily="34" charset="-122"/>
                <a:cs typeface="Roboto" pitchFamily="34" charset="-120"/>
              </a:rPr>
              <a:t>#26 Notifier</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in-app</a:t>
            </a:r>
            <a:endParaRPr lang="en-US" sz="1200" dirty="0"/>
          </a:p>
        </p:txBody>
      </p:sp>
      <p:sp>
        <p:nvSpPr>
          <p:cNvPr id="29" name="Shape 25"/>
          <p:cNvSpPr/>
          <p:nvPr/>
        </p:nvSpPr>
        <p:spPr>
          <a:xfrm>
            <a:off x="548640" y="3246120"/>
            <a:ext cx="5343664" cy="3154680"/>
          </a:xfrm>
          <a:prstGeom prst="roundRect">
            <a:avLst>
              <a:gd name="adj" fmla="val 2029"/>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0" name="Shape 26"/>
          <p:cNvSpPr/>
          <p:nvPr/>
        </p:nvSpPr>
        <p:spPr>
          <a:xfrm>
            <a:off x="667512" y="3323844"/>
            <a:ext cx="82296" cy="82296"/>
          </a:xfrm>
          <a:prstGeom prst="ellipse">
            <a:avLst/>
          </a:prstGeom>
          <a:solidFill>
            <a:srgbClr val="F87171"/>
          </a:solidFill>
          <a:ln w="12700">
            <a:solidFill>
              <a:srgbClr val="F87171"/>
            </a:solidFill>
            <a:prstDash val="solid"/>
          </a:ln>
        </p:spPr>
      </p:sp>
      <p:sp>
        <p:nvSpPr>
          <p:cNvPr id="31" name="Shape 27"/>
          <p:cNvSpPr/>
          <p:nvPr/>
        </p:nvSpPr>
        <p:spPr>
          <a:xfrm>
            <a:off x="804672" y="3323844"/>
            <a:ext cx="82296" cy="82296"/>
          </a:xfrm>
          <a:prstGeom prst="ellipse">
            <a:avLst/>
          </a:prstGeom>
          <a:solidFill>
            <a:srgbClr val="FBBF24"/>
          </a:solidFill>
          <a:ln w="12700">
            <a:solidFill>
              <a:srgbClr val="FBBF24"/>
            </a:solidFill>
            <a:prstDash val="solid"/>
          </a:ln>
        </p:spPr>
      </p:sp>
      <p:sp>
        <p:nvSpPr>
          <p:cNvPr id="32" name="Shape 28"/>
          <p:cNvSpPr/>
          <p:nvPr/>
        </p:nvSpPr>
        <p:spPr>
          <a:xfrm>
            <a:off x="941832" y="3323844"/>
            <a:ext cx="82296" cy="82296"/>
          </a:xfrm>
          <a:prstGeom prst="ellipse">
            <a:avLst/>
          </a:prstGeom>
          <a:solidFill>
            <a:srgbClr val="34D399"/>
          </a:solidFill>
          <a:ln w="12700">
            <a:solidFill>
              <a:srgbClr val="34D399"/>
            </a:solidFill>
            <a:prstDash val="solid"/>
          </a:ln>
        </p:spPr>
      </p:sp>
      <p:pic>
        <p:nvPicPr>
          <p:cNvPr id="33" name="Image 1" descr="C:\Users\shrey\AppData\Local\Temp\claude\D--novacinternship-finsight\87f4101b-bf26-4b28-976a-e637573d77e1\scratchpad\deck\img\memo_top.png">    </p:cNvPr>
          <p:cNvPicPr>
            <a:picLocks noChangeAspect="1"/>
          </p:cNvPicPr>
          <p:nvPr/>
        </p:nvPicPr>
        <p:blipFill>
          <a:blip r:embed="rId2"/>
          <a:stretch>
            <a:fillRect/>
          </a:stretch>
        </p:blipFill>
        <p:spPr>
          <a:xfrm>
            <a:off x="594360" y="3483864"/>
            <a:ext cx="5252224" cy="2871216"/>
          </a:xfrm>
          <a:prstGeom prst="rect">
            <a:avLst/>
          </a:prstGeom>
        </p:spPr>
      </p:pic>
      <p:sp>
        <p:nvSpPr>
          <p:cNvPr id="34" name="Shape 29"/>
          <p:cNvSpPr/>
          <p:nvPr/>
        </p:nvSpPr>
        <p:spPr>
          <a:xfrm>
            <a:off x="7132320" y="3246120"/>
            <a:ext cx="4507992" cy="713232"/>
          </a:xfrm>
          <a:prstGeom prst="roundRect">
            <a:avLst>
              <a:gd name="adj" fmla="val 10256"/>
            </a:avLst>
          </a:prstGeom>
          <a:solidFill>
            <a:srgbClr val="F8FAFC"/>
          </a:solidFill>
          <a:ln w="12700">
            <a:solidFill>
              <a:srgbClr val="E2E8F0"/>
            </a:solidFill>
            <a:prstDash val="solid"/>
          </a:ln>
        </p:spPr>
      </p:sp>
      <p:sp>
        <p:nvSpPr>
          <p:cNvPr id="35" name="Text 30"/>
          <p:cNvSpPr txBox="1"/>
          <p:nvPr/>
        </p:nvSpPr>
        <p:spPr>
          <a:xfrm>
            <a:off x="7269480" y="3246120"/>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F1 1.00</a:t>
            </a:r>
            <a:endParaRPr lang="en-US" sz="2000" dirty="0"/>
          </a:p>
        </p:txBody>
      </p:sp>
      <p:sp>
        <p:nvSpPr>
          <p:cNvPr id="36" name="Text 31"/>
          <p:cNvSpPr txBox="1"/>
          <p:nvPr/>
        </p:nvSpPr>
        <p:spPr>
          <a:xfrm>
            <a:off x="8641080" y="3246120"/>
            <a:ext cx="290779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Income Analysis</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mismatch detection on 120 cases</a:t>
            </a:r>
            <a:endParaRPr lang="en-US" sz="1150" dirty="0"/>
          </a:p>
        </p:txBody>
      </p:sp>
      <p:sp>
        <p:nvSpPr>
          <p:cNvPr id="37" name="Shape 32"/>
          <p:cNvSpPr/>
          <p:nvPr/>
        </p:nvSpPr>
        <p:spPr>
          <a:xfrm>
            <a:off x="7132320" y="4005072"/>
            <a:ext cx="4507992" cy="713232"/>
          </a:xfrm>
          <a:prstGeom prst="roundRect">
            <a:avLst>
              <a:gd name="adj" fmla="val 10256"/>
            </a:avLst>
          </a:prstGeom>
          <a:solidFill>
            <a:srgbClr val="F8FAFC"/>
          </a:solidFill>
          <a:ln w="12700">
            <a:solidFill>
              <a:srgbClr val="E2E8F0"/>
            </a:solidFill>
            <a:prstDash val="solid"/>
          </a:ln>
        </p:spPr>
      </p:sp>
      <p:sp>
        <p:nvSpPr>
          <p:cNvPr id="38" name="Text 33"/>
          <p:cNvSpPr txBox="1"/>
          <p:nvPr/>
        </p:nvSpPr>
        <p:spPr>
          <a:xfrm>
            <a:off x="7269480" y="4005072"/>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39" name="Text 34"/>
          <p:cNvSpPr txBox="1"/>
          <p:nvPr/>
        </p:nvSpPr>
        <p:spPr>
          <a:xfrm>
            <a:off x="8641080" y="4005072"/>
            <a:ext cx="290779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Credit Memo</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memos citing only real figures · 19 s crew</a:t>
            </a:r>
            <a:endParaRPr lang="en-US" sz="1150" dirty="0"/>
          </a:p>
        </p:txBody>
      </p:sp>
      <p:sp>
        <p:nvSpPr>
          <p:cNvPr id="40" name="Shape 35"/>
          <p:cNvSpPr/>
          <p:nvPr/>
        </p:nvSpPr>
        <p:spPr>
          <a:xfrm>
            <a:off x="7132320" y="4764024"/>
            <a:ext cx="4507992" cy="713232"/>
          </a:xfrm>
          <a:prstGeom prst="roundRect">
            <a:avLst>
              <a:gd name="adj" fmla="val 10256"/>
            </a:avLst>
          </a:prstGeom>
          <a:solidFill>
            <a:srgbClr val="F8FAFC"/>
          </a:solidFill>
          <a:ln w="12700">
            <a:solidFill>
              <a:srgbClr val="E2E8F0"/>
            </a:solidFill>
            <a:prstDash val="solid"/>
          </a:ln>
        </p:spPr>
      </p:sp>
      <p:sp>
        <p:nvSpPr>
          <p:cNvPr id="41" name="Text 36"/>
          <p:cNvSpPr txBox="1"/>
          <p:nvPr/>
        </p:nvSpPr>
        <p:spPr>
          <a:xfrm>
            <a:off x="7269480" y="4764024"/>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2" name="Text 37"/>
          <p:cNvSpPr txBox="1"/>
          <p:nvPr/>
        </p:nvSpPr>
        <p:spPr>
          <a:xfrm>
            <a:off x="8641080" y="4764024"/>
            <a:ext cx="290779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Supervisor</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agrees with policy · 1 loosening blocked</a:t>
            </a:r>
            <a:endParaRPr lang="en-US" sz="1150" dirty="0"/>
          </a:p>
        </p:txBody>
      </p:sp>
      <p:sp>
        <p:nvSpPr>
          <p:cNvPr id="43" name="Shape 38"/>
          <p:cNvSpPr/>
          <p:nvPr/>
        </p:nvSpPr>
        <p:spPr>
          <a:xfrm>
            <a:off x="7132320" y="5522976"/>
            <a:ext cx="4507992" cy="713232"/>
          </a:xfrm>
          <a:prstGeom prst="roundRect">
            <a:avLst>
              <a:gd name="adj" fmla="val 10256"/>
            </a:avLst>
          </a:prstGeom>
          <a:solidFill>
            <a:srgbClr val="F8FAFC"/>
          </a:solidFill>
          <a:ln w="12700">
            <a:solidFill>
              <a:srgbClr val="E2E8F0"/>
            </a:solidFill>
            <a:prstDash val="solid"/>
          </a:ln>
        </p:spPr>
      </p:sp>
      <p:sp>
        <p:nvSpPr>
          <p:cNvPr id="44" name="Text 39"/>
          <p:cNvSpPr txBox="1"/>
          <p:nvPr/>
        </p:nvSpPr>
        <p:spPr>
          <a:xfrm>
            <a:off x="7269480" y="5522976"/>
            <a:ext cx="1325880" cy="713232"/>
          </a:xfrm>
          <a:prstGeom prst="rect">
            <a:avLst/>
          </a:prstGeom>
          <a:noFill/>
          <a:ln/>
        </p:spPr>
        <p:txBody>
          <a:bodyPr wrap="square" lIns="0" tIns="0" rIns="0" bIns="0" rtlCol="0" anchor="ctr"/>
          <a:lstStyle/>
          <a:p>
            <a:pPr indent="0" marL="0">
              <a:buNone/>
            </a:pPr>
            <a:r>
              <a:rPr lang="en-US" sz="2000" b="1" dirty="0">
                <a:solidFill>
                  <a:srgbClr val="16A34A"/>
                </a:solidFill>
                <a:latin typeface="Roboto" pitchFamily="34" charset="0"/>
                <a:ea typeface="Roboto" pitchFamily="34" charset="-122"/>
                <a:cs typeface="Roboto" pitchFamily="34" charset="-120"/>
              </a:rPr>
              <a:t>100%</a:t>
            </a:r>
            <a:endParaRPr lang="en-US" sz="2000" dirty="0"/>
          </a:p>
        </p:txBody>
      </p:sp>
      <p:sp>
        <p:nvSpPr>
          <p:cNvPr id="45" name="Text 40"/>
          <p:cNvSpPr txBox="1"/>
          <p:nvPr/>
        </p:nvSpPr>
        <p:spPr>
          <a:xfrm>
            <a:off x="8641080" y="5522976"/>
            <a:ext cx="2907792" cy="713232"/>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Offer · Router</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EMI = formula (864) · next step (111)</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UNDERWRITING CREW</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Risk Scoring: nine dimensions plus a machine-learning check</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A 12 × 9 weight matrix (one row per product) gives the grade; XGBoost adds an indicative default probability.</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21</a:t>
            </a:r>
            <a:endParaRPr lang="en-US" sz="900" dirty="0"/>
          </a:p>
        </p:txBody>
      </p:sp>
      <p:graphicFrame>
        <p:nvGraphicFramePr>
          <p:cNvPr id="8" name="Chart 0" descr=""/>
          <p:cNvGraphicFramePr/>
          <p:nvPr/>
        </p:nvGraphicFramePr>
        <p:xfrm>
          <a:off x="548640" y="1691640"/>
          <a:ext cx="4846320" cy="324612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5074920"/>
            <a:ext cx="2331720" cy="1234440"/>
          </a:xfrm>
          <a:prstGeom prst="roundRect">
            <a:avLst>
              <a:gd name="adj" fmla="val 7407"/>
            </a:avLst>
          </a:prstGeom>
          <a:solidFill>
            <a:srgbClr val="F8FAFC"/>
          </a:solidFill>
          <a:ln w="12700">
            <a:solidFill>
              <a:srgbClr val="E2E8F0"/>
            </a:solidFill>
            <a:prstDash val="solid"/>
          </a:ln>
        </p:spPr>
      </p:sp>
      <p:sp>
        <p:nvSpPr>
          <p:cNvPr id="10" name="Text 5"/>
          <p:cNvSpPr txBox="1"/>
          <p:nvPr/>
        </p:nvSpPr>
        <p:spPr>
          <a:xfrm>
            <a:off x="685800" y="5074920"/>
            <a:ext cx="2103120" cy="1234440"/>
          </a:xfrm>
          <a:prstGeom prst="rect">
            <a:avLst/>
          </a:prstGeom>
          <a:noFill/>
          <a:ln/>
        </p:spPr>
        <p:txBody>
          <a:bodyPr wrap="square" lIns="0" tIns="0" rIns="0" bIns="0" rtlCol="0" anchor="ctr"/>
          <a:lstStyle/>
          <a:p>
            <a:pPr indent="0" marL="0">
              <a:buNone/>
            </a:pPr>
            <a:r>
              <a:rPr lang="en-US" sz="1900" b="1" dirty="0">
                <a:solidFill>
                  <a:srgbClr val="16A34A"/>
                </a:solidFill>
                <a:latin typeface="Roboto" pitchFamily="34" charset="0"/>
                <a:ea typeface="Roboto" pitchFamily="34" charset="-122"/>
                <a:cs typeface="Roboto" pitchFamily="34" charset="-120"/>
              </a:rPr>
              <a:t>0.669 → 0.771</a:t>
            </a:r>
            <a:endParaRPr lang="en-US" sz="1900" dirty="0"/>
          </a:p>
          <a:p>
            <a:pPr indent="0" marL="0">
              <a:buNone/>
            </a:pPr>
            <a:r>
              <a:rPr lang="en-US" sz="950" dirty="0">
                <a:solidFill>
                  <a:srgbClr val="64748B"/>
                </a:solidFill>
                <a:latin typeface="Roboto" pitchFamily="34" charset="0"/>
                <a:ea typeface="Roboto" pitchFamily="34" charset="-122"/>
                <a:cs typeface="Roboto" pitchFamily="34" charset="-120"/>
              </a:rPr>
              <a:t>held-out ROC-AUC after the feature fix (target ≥ 0.75)</a:t>
            </a:r>
            <a:endParaRPr lang="en-US" sz="1900" dirty="0"/>
          </a:p>
        </p:txBody>
      </p:sp>
      <p:sp>
        <p:nvSpPr>
          <p:cNvPr id="11" name="Shape 6"/>
          <p:cNvSpPr/>
          <p:nvPr/>
        </p:nvSpPr>
        <p:spPr>
          <a:xfrm>
            <a:off x="3017520" y="5074920"/>
            <a:ext cx="2377440" cy="1234440"/>
          </a:xfrm>
          <a:prstGeom prst="roundRect">
            <a:avLst>
              <a:gd name="adj" fmla="val 7407"/>
            </a:avLst>
          </a:prstGeom>
          <a:solidFill>
            <a:srgbClr val="F8FAFC"/>
          </a:solidFill>
          <a:ln w="12700">
            <a:solidFill>
              <a:srgbClr val="E2E8F0"/>
            </a:solidFill>
            <a:prstDash val="solid"/>
          </a:ln>
        </p:spPr>
      </p:sp>
      <p:sp>
        <p:nvSpPr>
          <p:cNvPr id="12" name="Text 7"/>
          <p:cNvSpPr txBox="1"/>
          <p:nvPr/>
        </p:nvSpPr>
        <p:spPr>
          <a:xfrm>
            <a:off x="3154680" y="5074920"/>
            <a:ext cx="2148840" cy="1234440"/>
          </a:xfrm>
          <a:prstGeom prst="rect">
            <a:avLst/>
          </a:prstGeom>
          <a:noFill/>
          <a:ln/>
        </p:spPr>
        <p:txBody>
          <a:bodyPr wrap="square" lIns="0" tIns="0" rIns="0" bIns="0" rtlCol="0" anchor="ctr"/>
          <a:lstStyle/>
          <a:p>
            <a:pPr indent="0" marL="0">
              <a:buNone/>
            </a:pPr>
            <a:r>
              <a:rPr lang="en-US" sz="1900" b="1" dirty="0">
                <a:solidFill>
                  <a:srgbClr val="16A34A"/>
                </a:solidFill>
                <a:latin typeface="Roboto" pitchFamily="34" charset="0"/>
                <a:ea typeface="Roboto" pitchFamily="34" charset="-122"/>
                <a:cs typeface="Roboto" pitchFamily="34" charset="-120"/>
              </a:rPr>
              <a:t>0 of 750</a:t>
            </a:r>
            <a:endParaRPr lang="en-US" sz="1900" dirty="0"/>
          </a:p>
          <a:p>
            <a:pPr indent="0" marL="0">
              <a:buNone/>
            </a:pPr>
            <a:r>
              <a:rPr lang="en-US" sz="950" dirty="0">
                <a:solidFill>
                  <a:srgbClr val="64748B"/>
                </a:solidFill>
                <a:latin typeface="Roboto" pitchFamily="34" charset="0"/>
                <a:ea typeface="Roboto" pitchFamily="34" charset="-122"/>
                <a:cs typeface="Roboto" pitchFamily="34" charset="-120"/>
              </a:rPr>
              <a:t>checks where a worse input lowered the risk score</a:t>
            </a:r>
            <a:endParaRPr lang="en-US" sz="1900" dirty="0"/>
          </a:p>
        </p:txBody>
      </p:sp>
      <p:sp>
        <p:nvSpPr>
          <p:cNvPr id="13" name="Shape 8"/>
          <p:cNvSpPr/>
          <p:nvPr/>
        </p:nvSpPr>
        <p:spPr>
          <a:xfrm>
            <a:off x="5669280" y="1737360"/>
            <a:ext cx="5971032" cy="3535175"/>
          </a:xfrm>
          <a:prstGeom prst="roundRect">
            <a:avLst>
              <a:gd name="adj" fmla="val 1811"/>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14" name="Shape 9"/>
          <p:cNvSpPr/>
          <p:nvPr/>
        </p:nvSpPr>
        <p:spPr>
          <a:xfrm>
            <a:off x="5788152" y="1815084"/>
            <a:ext cx="82296" cy="82296"/>
          </a:xfrm>
          <a:prstGeom prst="ellipse">
            <a:avLst/>
          </a:prstGeom>
          <a:solidFill>
            <a:srgbClr val="F87171"/>
          </a:solidFill>
          <a:ln w="12700">
            <a:solidFill>
              <a:srgbClr val="F87171"/>
            </a:solidFill>
            <a:prstDash val="solid"/>
          </a:ln>
        </p:spPr>
      </p:sp>
      <p:sp>
        <p:nvSpPr>
          <p:cNvPr id="15" name="Shape 10"/>
          <p:cNvSpPr/>
          <p:nvPr/>
        </p:nvSpPr>
        <p:spPr>
          <a:xfrm>
            <a:off x="5925312" y="1815084"/>
            <a:ext cx="82296" cy="82296"/>
          </a:xfrm>
          <a:prstGeom prst="ellipse">
            <a:avLst/>
          </a:prstGeom>
          <a:solidFill>
            <a:srgbClr val="FBBF24"/>
          </a:solidFill>
          <a:ln w="12700">
            <a:solidFill>
              <a:srgbClr val="FBBF24"/>
            </a:solidFill>
            <a:prstDash val="solid"/>
          </a:ln>
        </p:spPr>
      </p:sp>
      <p:sp>
        <p:nvSpPr>
          <p:cNvPr id="16" name="Shape 11"/>
          <p:cNvSpPr/>
          <p:nvPr/>
        </p:nvSpPr>
        <p:spPr>
          <a:xfrm>
            <a:off x="6062472" y="1815084"/>
            <a:ext cx="82296" cy="82296"/>
          </a:xfrm>
          <a:prstGeom prst="ellipse">
            <a:avLst/>
          </a:prstGeom>
          <a:solidFill>
            <a:srgbClr val="34D399"/>
          </a:solidFill>
          <a:ln w="12700">
            <a:solidFill>
              <a:srgbClr val="34D399"/>
            </a:solidFill>
            <a:prstDash val="solid"/>
          </a:ln>
        </p:spPr>
      </p:sp>
      <p:pic>
        <p:nvPicPr>
          <p:cNvPr id="17" name="Image 1" descr="C:\Users\shrey\AppData\Local\Temp\claude\D--novacinternship-finsight\87f4101b-bf26-4b28-976a-e637573d77e1\scratchpad\deck\img\risk.png">    </p:cNvPr>
          <p:cNvPicPr>
            <a:picLocks noChangeAspect="1"/>
          </p:cNvPicPr>
          <p:nvPr/>
        </p:nvPicPr>
        <p:blipFill>
          <a:blip r:embed="rId3"/>
          <a:stretch>
            <a:fillRect/>
          </a:stretch>
        </p:blipFill>
        <p:spPr>
          <a:xfrm>
            <a:off x="5715000" y="1975104"/>
            <a:ext cx="5879592" cy="3251711"/>
          </a:xfrm>
          <a:prstGeom prst="rect">
            <a:avLst/>
          </a:prstGeom>
        </p:spPr>
      </p:pic>
      <p:sp>
        <p:nvSpPr>
          <p:cNvPr id="18" name="Text 12"/>
          <p:cNvSpPr txBox="1"/>
          <p:nvPr/>
        </p:nvSpPr>
        <p:spPr>
          <a:xfrm>
            <a:off x="5669280" y="5382263"/>
            <a:ext cx="5971032" cy="27432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Application › Risk Analysis: agent score, ML default probability and what drives each.</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THE 29 AGENTS · OPERATIONS CREW</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Operations: notify, keep the record, watch the process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Three back-office agents. None of them can send anything outside the app.</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22</a:t>
            </a:r>
            <a:endParaRPr lang="en-US" sz="900" dirty="0"/>
          </a:p>
        </p:txBody>
      </p:sp>
      <p:sp>
        <p:nvSpPr>
          <p:cNvPr id="8" name="Shape 4"/>
          <p:cNvSpPr/>
          <p:nvPr/>
        </p:nvSpPr>
        <p:spPr>
          <a:xfrm>
            <a:off x="548640" y="1783080"/>
            <a:ext cx="5120640" cy="1371600"/>
          </a:xfrm>
          <a:prstGeom prst="roundRect">
            <a:avLst>
              <a:gd name="adj" fmla="val 6667"/>
            </a:avLst>
          </a:prstGeom>
          <a:solidFill>
            <a:srgbClr val="F5F3FF"/>
          </a:solidFill>
          <a:ln w="12700">
            <a:solidFill>
              <a:srgbClr val="DDD6FE"/>
            </a:solidFill>
            <a:prstDash val="solid"/>
          </a:ln>
        </p:spPr>
      </p:sp>
      <p:sp>
        <p:nvSpPr>
          <p:cNvPr id="9" name="Shape 5"/>
          <p:cNvSpPr/>
          <p:nvPr/>
        </p:nvSpPr>
        <p:spPr>
          <a:xfrm>
            <a:off x="749808" y="2011680"/>
            <a:ext cx="548640" cy="548640"/>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870509" y="2132381"/>
            <a:ext cx="307238" cy="307238"/>
          </a:xfrm>
          <a:prstGeom prst="rect">
            <a:avLst/>
          </a:prstGeom>
        </p:spPr>
      </p:pic>
      <p:sp>
        <p:nvSpPr>
          <p:cNvPr id="11" name="Text 6"/>
          <p:cNvSpPr txBox="1"/>
          <p:nvPr/>
        </p:nvSpPr>
        <p:spPr>
          <a:xfrm>
            <a:off x="1463040" y="1874520"/>
            <a:ext cx="4069080" cy="1188720"/>
          </a:xfrm>
          <a:prstGeom prst="rect">
            <a:avLst/>
          </a:prstGeom>
          <a:noFill/>
          <a:ln/>
        </p:spPr>
        <p:txBody>
          <a:bodyPr wrap="square" lIns="0" tIns="0" rIns="0" bIns="0" rtlCol="0" anchor="ctr"/>
          <a:lstStyle/>
          <a:p>
            <a:pPr indent="0" marL="0">
              <a:spcAft>
                <a:spcPts val="300"/>
              </a:spcAft>
              <a:buNone/>
            </a:pPr>
            <a:r>
              <a:rPr lang="en-US" sz="1350" b="1" dirty="0">
                <a:solidFill>
                  <a:srgbClr val="0F172A"/>
                </a:solidFill>
                <a:latin typeface="Roboto" pitchFamily="34" charset="0"/>
                <a:ea typeface="Roboto" pitchFamily="34" charset="-122"/>
                <a:cs typeface="Roboto" pitchFamily="34" charset="-120"/>
              </a:rPr>
              <a:t>#26 Notifier</a:t>
            </a:r>
            <a:endParaRPr lang="en-US" sz="1350" dirty="0"/>
          </a:p>
          <a:p>
            <a:pPr indent="0" marL="0">
              <a:spcAft>
                <a:spcPts val="300"/>
              </a:spcAft>
              <a:buNone/>
            </a:pPr>
            <a:r>
              <a:rPr lang="en-US" sz="1100" dirty="0">
                <a:solidFill>
                  <a:srgbClr val="334155"/>
                </a:solidFill>
                <a:latin typeface="Roboto" pitchFamily="34" charset="0"/>
                <a:ea typeface="Roboto" pitchFamily="34" charset="-122"/>
                <a:cs typeface="Roboto" pitchFamily="34" charset="-120"/>
              </a:rPr>
              <a:t>Drafts notification rows from templates for borrower, officer and head.</a:t>
            </a:r>
            <a:endParaRPr lang="en-US" sz="1350" dirty="0"/>
          </a:p>
          <a:p>
            <a:pPr indent="0" marL="0">
              <a:spcAft>
                <a:spcPts val="300"/>
              </a:spcAft>
              <a:buNone/>
            </a:pPr>
            <a:r>
              <a:rPr lang="en-US" sz="1000" b="1" dirty="0">
                <a:solidFill>
                  <a:srgbClr val="16A34A"/>
                </a:solidFill>
                <a:latin typeface="Roboto" pitchFamily="34" charset="0"/>
                <a:ea typeface="Roboto" pitchFamily="34" charset="-122"/>
                <a:cs typeface="Roboto" pitchFamily="34" charset="-120"/>
              </a:rPr>
              <a:t>100% correct recipients · 0 outbound attempts</a:t>
            </a:r>
            <a:endParaRPr lang="en-US" sz="1350" dirty="0"/>
          </a:p>
        </p:txBody>
      </p:sp>
      <p:sp>
        <p:nvSpPr>
          <p:cNvPr id="12" name="Shape 7"/>
          <p:cNvSpPr/>
          <p:nvPr/>
        </p:nvSpPr>
        <p:spPr>
          <a:xfrm>
            <a:off x="548640" y="3319272"/>
            <a:ext cx="5120640" cy="1371600"/>
          </a:xfrm>
          <a:prstGeom prst="roundRect">
            <a:avLst>
              <a:gd name="adj" fmla="val 6667"/>
            </a:avLst>
          </a:prstGeom>
          <a:solidFill>
            <a:srgbClr val="F5F3FF"/>
          </a:solidFill>
          <a:ln w="12700">
            <a:solidFill>
              <a:srgbClr val="DDD6FE"/>
            </a:solidFill>
            <a:prstDash val="solid"/>
          </a:ln>
        </p:spPr>
      </p:sp>
      <p:sp>
        <p:nvSpPr>
          <p:cNvPr id="13" name="Shape 8"/>
          <p:cNvSpPr/>
          <p:nvPr/>
        </p:nvSpPr>
        <p:spPr>
          <a:xfrm>
            <a:off x="749808" y="3547872"/>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870509" y="3668573"/>
            <a:ext cx="307238" cy="307238"/>
          </a:xfrm>
          <a:prstGeom prst="rect">
            <a:avLst/>
          </a:prstGeom>
        </p:spPr>
      </p:pic>
      <p:sp>
        <p:nvSpPr>
          <p:cNvPr id="15" name="Text 9"/>
          <p:cNvSpPr txBox="1"/>
          <p:nvPr/>
        </p:nvSpPr>
        <p:spPr>
          <a:xfrm>
            <a:off x="1463040" y="3410712"/>
            <a:ext cx="4069080" cy="1188720"/>
          </a:xfrm>
          <a:prstGeom prst="rect">
            <a:avLst/>
          </a:prstGeom>
          <a:noFill/>
          <a:ln/>
        </p:spPr>
        <p:txBody>
          <a:bodyPr wrap="square" lIns="0" tIns="0" rIns="0" bIns="0" rtlCol="0" anchor="ctr"/>
          <a:lstStyle/>
          <a:p>
            <a:pPr indent="0" marL="0">
              <a:spcAft>
                <a:spcPts val="300"/>
              </a:spcAft>
              <a:buNone/>
            </a:pPr>
            <a:r>
              <a:rPr lang="en-US" sz="1350" b="1" dirty="0">
                <a:solidFill>
                  <a:srgbClr val="0F172A"/>
                </a:solidFill>
                <a:latin typeface="Roboto" pitchFamily="34" charset="0"/>
                <a:ea typeface="Roboto" pitchFamily="34" charset="-122"/>
                <a:cs typeface="Roboto" pitchFamily="34" charset="-120"/>
              </a:rPr>
              <a:t>#27 Audit / Storage</a:t>
            </a:r>
            <a:endParaRPr lang="en-US" sz="1350" dirty="0"/>
          </a:p>
          <a:p>
            <a:pPr indent="0" marL="0">
              <a:spcAft>
                <a:spcPts val="300"/>
              </a:spcAft>
              <a:buNone/>
            </a:pPr>
            <a:r>
              <a:rPr lang="en-US" sz="1100" dirty="0">
                <a:solidFill>
                  <a:srgbClr val="334155"/>
                </a:solidFill>
                <a:latin typeface="Roboto" pitchFamily="34" charset="0"/>
                <a:ea typeface="Roboto" pitchFamily="34" charset="-122"/>
                <a:cs typeface="Roboto" pitchFamily="34" charset="-120"/>
              </a:rPr>
              <a:t>Persists files and SQL rows; officers see a masked copy.</a:t>
            </a:r>
            <a:endParaRPr lang="en-US" sz="1350" dirty="0"/>
          </a:p>
          <a:p>
            <a:pPr indent="0" marL="0">
              <a:spcAft>
                <a:spcPts val="300"/>
              </a:spcAft>
              <a:buNone/>
            </a:pPr>
            <a:r>
              <a:rPr lang="en-US" sz="1000" b="1" dirty="0">
                <a:solidFill>
                  <a:srgbClr val="16A34A"/>
                </a:solidFill>
                <a:latin typeface="Roboto" pitchFamily="34" charset="0"/>
                <a:ea typeface="Roboto" pitchFamily="34" charset="-122"/>
                <a:cs typeface="Roboto" pitchFamily="34" charset="-120"/>
              </a:rPr>
              <a:t>100% files and rows intact</a:t>
            </a:r>
            <a:endParaRPr lang="en-US" sz="1350" dirty="0"/>
          </a:p>
        </p:txBody>
      </p:sp>
      <p:sp>
        <p:nvSpPr>
          <p:cNvPr id="16" name="Shape 10"/>
          <p:cNvSpPr/>
          <p:nvPr/>
        </p:nvSpPr>
        <p:spPr>
          <a:xfrm>
            <a:off x="548640" y="4855464"/>
            <a:ext cx="5120640" cy="1371600"/>
          </a:xfrm>
          <a:prstGeom prst="roundRect">
            <a:avLst>
              <a:gd name="adj" fmla="val 6667"/>
            </a:avLst>
          </a:prstGeom>
          <a:solidFill>
            <a:srgbClr val="F5F3FF"/>
          </a:solidFill>
          <a:ln w="12700">
            <a:solidFill>
              <a:srgbClr val="DDD6FE"/>
            </a:solidFill>
            <a:prstDash val="solid"/>
          </a:ln>
        </p:spPr>
      </p:sp>
      <p:sp>
        <p:nvSpPr>
          <p:cNvPr id="17" name="Shape 11"/>
          <p:cNvSpPr/>
          <p:nvPr/>
        </p:nvSpPr>
        <p:spPr>
          <a:xfrm>
            <a:off x="749808" y="5084064"/>
            <a:ext cx="548640" cy="548640"/>
          </a:xfrm>
          <a:prstGeom prst="ellipse">
            <a:avLst/>
          </a:prstGeom>
          <a:solidFill>
            <a:srgbClr val="FFFFFF"/>
          </a:solidFill>
          <a:ln w="12700">
            <a:solidFill>
              <a:srgbClr val="FFFFFF"/>
            </a:solidFill>
            <a:prstDash val="solid"/>
          </a:ln>
        </p:spPr>
      </p:sp>
      <p:pic>
        <p:nvPicPr>
          <p:cNvPr id="18" name="Image 3" descr="preencoded.png">    </p:cNvPr>
          <p:cNvPicPr>
            <a:picLocks noChangeAspect="1"/>
          </p:cNvPicPr>
          <p:nvPr/>
        </p:nvPicPr>
        <p:blipFill>
          <a:blip r:embed="rId4"/>
          <a:stretch>
            <a:fillRect/>
          </a:stretch>
        </p:blipFill>
        <p:spPr>
          <a:xfrm>
            <a:off x="870509" y="5204765"/>
            <a:ext cx="307238" cy="307238"/>
          </a:xfrm>
          <a:prstGeom prst="rect">
            <a:avLst/>
          </a:prstGeom>
        </p:spPr>
      </p:pic>
      <p:sp>
        <p:nvSpPr>
          <p:cNvPr id="19" name="Text 12"/>
          <p:cNvSpPr txBox="1"/>
          <p:nvPr/>
        </p:nvSpPr>
        <p:spPr>
          <a:xfrm>
            <a:off x="1463040" y="4946904"/>
            <a:ext cx="4069080" cy="1188720"/>
          </a:xfrm>
          <a:prstGeom prst="rect">
            <a:avLst/>
          </a:prstGeom>
          <a:noFill/>
          <a:ln/>
        </p:spPr>
        <p:txBody>
          <a:bodyPr wrap="square" lIns="0" tIns="0" rIns="0" bIns="0" rtlCol="0" anchor="ctr"/>
          <a:lstStyle/>
          <a:p>
            <a:pPr indent="0" marL="0">
              <a:spcAft>
                <a:spcPts val="300"/>
              </a:spcAft>
              <a:buNone/>
            </a:pPr>
            <a:r>
              <a:rPr lang="en-US" sz="1350" b="1" dirty="0">
                <a:solidFill>
                  <a:srgbClr val="0F172A"/>
                </a:solidFill>
                <a:latin typeface="Roboto" pitchFamily="34" charset="0"/>
                <a:ea typeface="Roboto" pitchFamily="34" charset="-122"/>
                <a:cs typeface="Roboto" pitchFamily="34" charset="-120"/>
              </a:rPr>
              <a:t>#28 Process-Mining Analyst</a:t>
            </a:r>
            <a:endParaRPr lang="en-US" sz="1350" dirty="0"/>
          </a:p>
          <a:p>
            <a:pPr indent="0" marL="0">
              <a:spcAft>
                <a:spcPts val="300"/>
              </a:spcAft>
              <a:buNone/>
            </a:pPr>
            <a:r>
              <a:rPr lang="en-US" sz="1100" dirty="0">
                <a:solidFill>
                  <a:srgbClr val="334155"/>
                </a:solidFill>
                <a:latin typeface="Roboto" pitchFamily="34" charset="0"/>
                <a:ea typeface="Roboto" pitchFamily="34" charset="-122"/>
                <a:cs typeface="Roboto" pitchFamily="34" charset="-120"/>
              </a:rPr>
              <a:t>Conformance, variants, waits and slow agents from pm.* views; optional grounded briefing.</a:t>
            </a:r>
            <a:endParaRPr lang="en-US" sz="1350" dirty="0"/>
          </a:p>
          <a:p>
            <a:pPr indent="0" marL="0">
              <a:spcAft>
                <a:spcPts val="300"/>
              </a:spcAft>
              <a:buNone/>
            </a:pPr>
            <a:r>
              <a:rPr lang="en-US" sz="1000" b="1" dirty="0">
                <a:solidFill>
                  <a:srgbClr val="16A34A"/>
                </a:solidFill>
                <a:latin typeface="Roboto" pitchFamily="34" charset="0"/>
                <a:ea typeface="Roboto" pitchFamily="34" charset="-122"/>
                <a:cs typeface="Roboto" pitchFamily="34" charset="-120"/>
              </a:rPr>
              <a:t>100% of figures equal direct SQL · 129 ms</a:t>
            </a:r>
            <a:endParaRPr lang="en-US" sz="1350" dirty="0"/>
          </a:p>
        </p:txBody>
      </p:sp>
      <p:sp>
        <p:nvSpPr>
          <p:cNvPr id="20" name="Shape 13"/>
          <p:cNvSpPr/>
          <p:nvPr/>
        </p:nvSpPr>
        <p:spPr>
          <a:xfrm>
            <a:off x="5897880" y="1783080"/>
            <a:ext cx="5742432" cy="3579876"/>
          </a:xfrm>
          <a:prstGeom prst="roundRect">
            <a:avLst>
              <a:gd name="adj" fmla="val 1788"/>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1" name="Shape 14"/>
          <p:cNvSpPr/>
          <p:nvPr/>
        </p:nvSpPr>
        <p:spPr>
          <a:xfrm>
            <a:off x="6016752" y="1860804"/>
            <a:ext cx="82296" cy="82296"/>
          </a:xfrm>
          <a:prstGeom prst="ellipse">
            <a:avLst/>
          </a:prstGeom>
          <a:solidFill>
            <a:srgbClr val="F87171"/>
          </a:solidFill>
          <a:ln w="12700">
            <a:solidFill>
              <a:srgbClr val="F87171"/>
            </a:solidFill>
            <a:prstDash val="solid"/>
          </a:ln>
        </p:spPr>
      </p:sp>
      <p:sp>
        <p:nvSpPr>
          <p:cNvPr id="22" name="Shape 15"/>
          <p:cNvSpPr/>
          <p:nvPr/>
        </p:nvSpPr>
        <p:spPr>
          <a:xfrm>
            <a:off x="6153912" y="1860804"/>
            <a:ext cx="82296" cy="82296"/>
          </a:xfrm>
          <a:prstGeom prst="ellipse">
            <a:avLst/>
          </a:prstGeom>
          <a:solidFill>
            <a:srgbClr val="FBBF24"/>
          </a:solidFill>
          <a:ln w="12700">
            <a:solidFill>
              <a:srgbClr val="FBBF24"/>
            </a:solidFill>
            <a:prstDash val="solid"/>
          </a:ln>
        </p:spPr>
      </p:sp>
      <p:sp>
        <p:nvSpPr>
          <p:cNvPr id="23" name="Shape 16"/>
          <p:cNvSpPr/>
          <p:nvPr/>
        </p:nvSpPr>
        <p:spPr>
          <a:xfrm>
            <a:off x="6291072" y="1860804"/>
            <a:ext cx="82296" cy="82296"/>
          </a:xfrm>
          <a:prstGeom prst="ellipse">
            <a:avLst/>
          </a:prstGeom>
          <a:solidFill>
            <a:srgbClr val="34D399"/>
          </a:solidFill>
          <a:ln w="12700">
            <a:solidFill>
              <a:srgbClr val="34D399"/>
            </a:solidFill>
            <a:prstDash val="solid"/>
          </a:ln>
        </p:spPr>
      </p:sp>
      <p:pic>
        <p:nvPicPr>
          <p:cNvPr id="24" name="Image 4" descr="C:\Users\shrey\AppData\Local\Temp\claude\D--novacinternship-finsight\87f4101b-bf26-4b28-976a-e637573d77e1\scratchpad\deck\img\pm.png">    </p:cNvPr>
          <p:cNvPicPr>
            <a:picLocks noChangeAspect="1"/>
          </p:cNvPicPr>
          <p:nvPr/>
        </p:nvPicPr>
        <p:blipFill>
          <a:blip r:embed="rId5"/>
          <a:stretch>
            <a:fillRect/>
          </a:stretch>
        </p:blipFill>
        <p:spPr>
          <a:xfrm>
            <a:off x="5943600" y="2020824"/>
            <a:ext cx="5650992" cy="3296412"/>
          </a:xfrm>
          <a:prstGeom prst="rect">
            <a:avLst/>
          </a:prstGeom>
        </p:spPr>
      </p:pic>
      <p:sp>
        <p:nvSpPr>
          <p:cNvPr id="25" name="Text 17"/>
          <p:cNvSpPr txBox="1"/>
          <p:nvPr/>
        </p:nvSpPr>
        <p:spPr>
          <a:xfrm>
            <a:off x="5897880" y="5472684"/>
            <a:ext cx="5742432" cy="45720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Agent Activity › Process Mining — seeded demo process data: 0% conformant paths, 23 cases overdue.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03</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Workflows</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How a loan moves through its lifecycle, who acts at each step, and what a real run looks like.</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1280160"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128016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Loan lifecycle</a:t>
            </a:r>
            <a:endParaRPr lang="en-US" sz="1200" dirty="0"/>
          </a:p>
        </p:txBody>
      </p:sp>
      <p:sp>
        <p:nvSpPr>
          <p:cNvPr id="8" name="Shape 6"/>
          <p:cNvSpPr/>
          <p:nvPr/>
        </p:nvSpPr>
        <p:spPr>
          <a:xfrm>
            <a:off x="1956816" y="5102352"/>
            <a:ext cx="1572768"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956816" y="5102352"/>
            <a:ext cx="157276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End-to-end journey</a:t>
            </a:r>
            <a:endParaRPr lang="en-US" sz="1200" dirty="0"/>
          </a:p>
        </p:txBody>
      </p:sp>
      <p:sp>
        <p:nvSpPr>
          <p:cNvPr id="10" name="Shape 8"/>
          <p:cNvSpPr/>
          <p:nvPr/>
        </p:nvSpPr>
        <p:spPr>
          <a:xfrm>
            <a:off x="3657600" y="5102352"/>
            <a:ext cx="987552"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3657600" y="5102352"/>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A real run</a:t>
            </a:r>
            <a:endParaRPr lang="en-US" sz="1200" dirty="0"/>
          </a:p>
        </p:txBody>
      </p:sp>
      <p:sp>
        <p:nvSpPr>
          <p:cNvPr id="12" name="Shape 10"/>
          <p:cNvSpPr/>
          <p:nvPr/>
        </p:nvSpPr>
        <p:spPr>
          <a:xfrm>
            <a:off x="8549640" y="1600200"/>
            <a:ext cx="3108960" cy="3108960"/>
          </a:xfrm>
          <a:prstGeom prst="ellipse">
            <a:avLst/>
          </a:prstGeom>
          <a:solidFill>
            <a:srgbClr val="1E293B"/>
          </a:solidFill>
          <a:ln w="12700">
            <a:solidFill>
              <a:srgbClr val="334155"/>
            </a:solidFill>
            <a:prstDash val="solid"/>
          </a:ln>
        </p:spPr>
      </p:sp>
      <p:pic>
        <p:nvPicPr>
          <p:cNvPr id="13"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14"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15"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16" name="Text 11"/>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WORKFLOWS</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The loan lifecycle</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One path for every product plus its own branch. The Workflow Router only recommends; a person moves the status.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24</a:t>
            </a:r>
            <a:endParaRPr lang="en-US" sz="900" dirty="0"/>
          </a:p>
        </p:txBody>
      </p:sp>
      <p:sp>
        <p:nvSpPr>
          <p:cNvPr id="8" name="Shape 4"/>
          <p:cNvSpPr/>
          <p:nvPr/>
        </p:nvSpPr>
        <p:spPr>
          <a:xfrm>
            <a:off x="548640" y="1874520"/>
            <a:ext cx="1920240" cy="777240"/>
          </a:xfrm>
          <a:prstGeom prst="roundRect">
            <a:avLst>
              <a:gd name="adj" fmla="val 9412"/>
            </a:avLst>
          </a:prstGeom>
          <a:solidFill>
            <a:srgbClr val="EEF2FF"/>
          </a:solidFill>
          <a:ln w="12700">
            <a:solidFill>
              <a:srgbClr val="C7D2FE"/>
            </a:solidFill>
            <a:prstDash val="solid"/>
          </a:ln>
        </p:spPr>
      </p:sp>
      <p:sp>
        <p:nvSpPr>
          <p:cNvPr id="9" name="Text 5"/>
          <p:cNvSpPr txBox="1"/>
          <p:nvPr/>
        </p:nvSpPr>
        <p:spPr>
          <a:xfrm>
            <a:off x="621792" y="18928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draft</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borrower</a:t>
            </a:r>
            <a:endParaRPr lang="en-US" sz="1150" dirty="0"/>
          </a:p>
        </p:txBody>
      </p:sp>
      <p:sp>
        <p:nvSpPr>
          <p:cNvPr id="10" name="Shape 6"/>
          <p:cNvSpPr/>
          <p:nvPr/>
        </p:nvSpPr>
        <p:spPr>
          <a:xfrm>
            <a:off x="2487168" y="2258568"/>
            <a:ext cx="329184" cy="0"/>
          </a:xfrm>
          <a:prstGeom prst="line">
            <a:avLst/>
          </a:prstGeom>
          <a:noFill/>
          <a:ln w="19050">
            <a:solidFill>
              <a:srgbClr val="4F46E5"/>
            </a:solidFill>
            <a:prstDash val="solid"/>
            <a:tailEnd type="triangle"/>
          </a:ln>
        </p:spPr>
      </p:sp>
      <p:sp>
        <p:nvSpPr>
          <p:cNvPr id="11" name="Shape 7"/>
          <p:cNvSpPr/>
          <p:nvPr/>
        </p:nvSpPr>
        <p:spPr>
          <a:xfrm>
            <a:off x="2834640" y="1874520"/>
            <a:ext cx="1920240" cy="777240"/>
          </a:xfrm>
          <a:prstGeom prst="roundRect">
            <a:avLst>
              <a:gd name="adj" fmla="val 9412"/>
            </a:avLst>
          </a:prstGeom>
          <a:solidFill>
            <a:srgbClr val="EEF2FF"/>
          </a:solidFill>
          <a:ln w="12700">
            <a:solidFill>
              <a:srgbClr val="C7D2FE"/>
            </a:solidFill>
            <a:prstDash val="solid"/>
          </a:ln>
        </p:spPr>
      </p:sp>
      <p:sp>
        <p:nvSpPr>
          <p:cNvPr id="12" name="Text 8"/>
          <p:cNvSpPr txBox="1"/>
          <p:nvPr/>
        </p:nvSpPr>
        <p:spPr>
          <a:xfrm>
            <a:off x="2907792" y="18928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submitted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system</a:t>
            </a:r>
            <a:endParaRPr lang="en-US" sz="1150" dirty="0"/>
          </a:p>
        </p:txBody>
      </p:sp>
      <p:sp>
        <p:nvSpPr>
          <p:cNvPr id="13" name="Shape 9"/>
          <p:cNvSpPr/>
          <p:nvPr/>
        </p:nvSpPr>
        <p:spPr>
          <a:xfrm>
            <a:off x="4773168" y="2258568"/>
            <a:ext cx="329184" cy="0"/>
          </a:xfrm>
          <a:prstGeom prst="line">
            <a:avLst/>
          </a:prstGeom>
          <a:noFill/>
          <a:ln w="19050">
            <a:solidFill>
              <a:srgbClr val="4F46E5"/>
            </a:solidFill>
            <a:prstDash val="solid"/>
            <a:tailEnd type="triangle"/>
          </a:ln>
        </p:spPr>
      </p:sp>
      <p:sp>
        <p:nvSpPr>
          <p:cNvPr id="14" name="Shape 10"/>
          <p:cNvSpPr/>
          <p:nvPr/>
        </p:nvSpPr>
        <p:spPr>
          <a:xfrm>
            <a:off x="5120640" y="1874520"/>
            <a:ext cx="1920240" cy="777240"/>
          </a:xfrm>
          <a:prstGeom prst="roundRect">
            <a:avLst>
              <a:gd name="adj" fmla="val 9412"/>
            </a:avLst>
          </a:prstGeom>
          <a:solidFill>
            <a:srgbClr val="EEF2FF"/>
          </a:solidFill>
          <a:ln w="12700">
            <a:solidFill>
              <a:srgbClr val="C7D2FE"/>
            </a:solidFill>
            <a:prstDash val="solid"/>
          </a:ln>
        </p:spPr>
      </p:sp>
      <p:sp>
        <p:nvSpPr>
          <p:cNvPr id="15" name="Text 11"/>
          <p:cNvSpPr txBox="1"/>
          <p:nvPr/>
        </p:nvSpPr>
        <p:spPr>
          <a:xfrm>
            <a:off x="5193792" y="18928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documentsProcessing</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agents: intake crew</a:t>
            </a:r>
            <a:endParaRPr lang="en-US" sz="1150" dirty="0"/>
          </a:p>
        </p:txBody>
      </p:sp>
      <p:sp>
        <p:nvSpPr>
          <p:cNvPr id="16" name="Shape 12"/>
          <p:cNvSpPr/>
          <p:nvPr/>
        </p:nvSpPr>
        <p:spPr>
          <a:xfrm>
            <a:off x="7059168" y="2258568"/>
            <a:ext cx="329184" cy="0"/>
          </a:xfrm>
          <a:prstGeom prst="line">
            <a:avLst/>
          </a:prstGeom>
          <a:noFill/>
          <a:ln w="19050">
            <a:solidFill>
              <a:srgbClr val="4F46E5"/>
            </a:solidFill>
            <a:prstDash val="solid"/>
            <a:tailEnd type="triangle"/>
          </a:ln>
        </p:spPr>
      </p:sp>
      <p:sp>
        <p:nvSpPr>
          <p:cNvPr id="17" name="Shape 13"/>
          <p:cNvSpPr/>
          <p:nvPr/>
        </p:nvSpPr>
        <p:spPr>
          <a:xfrm>
            <a:off x="7406640" y="1874520"/>
            <a:ext cx="1920240" cy="777240"/>
          </a:xfrm>
          <a:prstGeom prst="roundRect">
            <a:avLst>
              <a:gd name="adj" fmla="val 9412"/>
            </a:avLst>
          </a:prstGeom>
          <a:solidFill>
            <a:srgbClr val="EEF2FF"/>
          </a:solidFill>
          <a:ln w="12700">
            <a:solidFill>
              <a:srgbClr val="C7D2FE"/>
            </a:solidFill>
            <a:prstDash val="solid"/>
          </a:ln>
        </p:spPr>
      </p:sp>
      <p:sp>
        <p:nvSpPr>
          <p:cNvPr id="18" name="Text 14"/>
          <p:cNvSpPr txBox="1"/>
          <p:nvPr/>
        </p:nvSpPr>
        <p:spPr>
          <a:xfrm>
            <a:off x="7479792" y="18928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documentsVerified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officer</a:t>
            </a:r>
            <a:endParaRPr lang="en-US" sz="1150" dirty="0"/>
          </a:p>
        </p:txBody>
      </p:sp>
      <p:sp>
        <p:nvSpPr>
          <p:cNvPr id="19" name="Shape 15"/>
          <p:cNvSpPr/>
          <p:nvPr/>
        </p:nvSpPr>
        <p:spPr>
          <a:xfrm>
            <a:off x="9345168" y="2258568"/>
            <a:ext cx="329184" cy="0"/>
          </a:xfrm>
          <a:prstGeom prst="line">
            <a:avLst/>
          </a:prstGeom>
          <a:noFill/>
          <a:ln w="19050">
            <a:solidFill>
              <a:srgbClr val="4F46E5"/>
            </a:solidFill>
            <a:prstDash val="solid"/>
            <a:tailEnd type="triangle"/>
          </a:ln>
        </p:spPr>
      </p:sp>
      <p:sp>
        <p:nvSpPr>
          <p:cNvPr id="20" name="Shape 16"/>
          <p:cNvSpPr/>
          <p:nvPr/>
        </p:nvSpPr>
        <p:spPr>
          <a:xfrm>
            <a:off x="9692640" y="1874520"/>
            <a:ext cx="1920240" cy="777240"/>
          </a:xfrm>
          <a:prstGeom prst="roundRect">
            <a:avLst>
              <a:gd name="adj" fmla="val 9412"/>
            </a:avLst>
          </a:prstGeom>
          <a:solidFill>
            <a:srgbClr val="FEF3C7"/>
          </a:solidFill>
          <a:ln w="12700">
            <a:solidFill>
              <a:srgbClr val="FCD34D"/>
            </a:solidFill>
            <a:prstDash val="solid"/>
          </a:ln>
        </p:spPr>
      </p:sp>
      <p:sp>
        <p:nvSpPr>
          <p:cNvPr id="21" name="Text 17"/>
          <p:cNvSpPr txBox="1"/>
          <p:nvPr/>
        </p:nvSpPr>
        <p:spPr>
          <a:xfrm>
            <a:off x="9765792" y="18928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92400E"/>
                </a:solidFill>
                <a:latin typeface="Roboto" pitchFamily="34" charset="0"/>
                <a:ea typeface="Roboto" pitchFamily="34" charset="-122"/>
                <a:cs typeface="Roboto" pitchFamily="34" charset="-120"/>
              </a:rPr>
              <a:t>product checks</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branch · see below</a:t>
            </a:r>
            <a:endParaRPr lang="en-US" sz="1150" dirty="0"/>
          </a:p>
        </p:txBody>
      </p:sp>
      <p:sp>
        <p:nvSpPr>
          <p:cNvPr id="22" name="Shape 18"/>
          <p:cNvSpPr/>
          <p:nvPr/>
        </p:nvSpPr>
        <p:spPr>
          <a:xfrm>
            <a:off x="10652760" y="2670048"/>
            <a:ext cx="0" cy="557784"/>
          </a:xfrm>
          <a:prstGeom prst="line">
            <a:avLst/>
          </a:prstGeom>
          <a:noFill/>
          <a:ln w="19050">
            <a:solidFill>
              <a:srgbClr val="4F46E5"/>
            </a:solidFill>
            <a:prstDash val="solid"/>
            <a:tailEnd type="triangle"/>
          </a:ln>
        </p:spPr>
      </p:sp>
      <p:sp>
        <p:nvSpPr>
          <p:cNvPr id="23" name="Shape 19"/>
          <p:cNvSpPr/>
          <p:nvPr/>
        </p:nvSpPr>
        <p:spPr>
          <a:xfrm>
            <a:off x="548640" y="3246120"/>
            <a:ext cx="1920240" cy="777240"/>
          </a:xfrm>
          <a:prstGeom prst="roundRect">
            <a:avLst>
              <a:gd name="adj" fmla="val 9412"/>
            </a:avLst>
          </a:prstGeom>
          <a:solidFill>
            <a:srgbClr val="DCFCE7"/>
          </a:solidFill>
          <a:ln w="12700">
            <a:solidFill>
              <a:srgbClr val="86EFAC"/>
            </a:solidFill>
            <a:prstDash val="solid"/>
          </a:ln>
        </p:spPr>
      </p:sp>
      <p:sp>
        <p:nvSpPr>
          <p:cNvPr id="24" name="Text 20"/>
          <p:cNvSpPr txBox="1"/>
          <p:nvPr/>
        </p:nvSpPr>
        <p:spPr>
          <a:xfrm>
            <a:off x="621792" y="32644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166534"/>
                </a:solidFill>
                <a:latin typeface="Roboto" pitchFamily="34" charset="0"/>
                <a:ea typeface="Roboto" pitchFamily="34" charset="-122"/>
                <a:cs typeface="Roboto" pitchFamily="34" charset="-120"/>
              </a:rPr>
              <a:t>disbursed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a:t>
            </a:r>
            <a:endParaRPr lang="en-US" sz="1150" dirty="0"/>
          </a:p>
        </p:txBody>
      </p:sp>
      <p:sp>
        <p:nvSpPr>
          <p:cNvPr id="25" name="Shape 21"/>
          <p:cNvSpPr/>
          <p:nvPr/>
        </p:nvSpPr>
        <p:spPr>
          <a:xfrm flipH="1">
            <a:off x="2487168" y="3630168"/>
            <a:ext cx="329184" cy="0"/>
          </a:xfrm>
          <a:prstGeom prst="line">
            <a:avLst/>
          </a:prstGeom>
          <a:noFill/>
          <a:ln w="19050">
            <a:solidFill>
              <a:srgbClr val="4F46E5"/>
            </a:solidFill>
            <a:prstDash val="solid"/>
            <a:tailEnd type="triangle"/>
          </a:ln>
        </p:spPr>
      </p:sp>
      <p:sp>
        <p:nvSpPr>
          <p:cNvPr id="26" name="Shape 22"/>
          <p:cNvSpPr/>
          <p:nvPr/>
        </p:nvSpPr>
        <p:spPr>
          <a:xfrm>
            <a:off x="2834640" y="3246120"/>
            <a:ext cx="1920240" cy="777240"/>
          </a:xfrm>
          <a:prstGeom prst="roundRect">
            <a:avLst>
              <a:gd name="adj" fmla="val 9412"/>
            </a:avLst>
          </a:prstGeom>
          <a:solidFill>
            <a:srgbClr val="EEF2FF"/>
          </a:solidFill>
          <a:ln w="12700">
            <a:solidFill>
              <a:srgbClr val="C7D2FE"/>
            </a:solidFill>
            <a:prstDash val="solid"/>
          </a:ln>
        </p:spPr>
      </p:sp>
      <p:sp>
        <p:nvSpPr>
          <p:cNvPr id="27" name="Text 23"/>
          <p:cNvSpPr txBox="1"/>
          <p:nvPr/>
        </p:nvSpPr>
        <p:spPr>
          <a:xfrm>
            <a:off x="2907792" y="32644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sanctioned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operations</a:t>
            </a:r>
            <a:endParaRPr lang="en-US" sz="1150" dirty="0"/>
          </a:p>
        </p:txBody>
      </p:sp>
      <p:sp>
        <p:nvSpPr>
          <p:cNvPr id="28" name="Shape 24"/>
          <p:cNvSpPr/>
          <p:nvPr/>
        </p:nvSpPr>
        <p:spPr>
          <a:xfrm flipH="1">
            <a:off x="4773168" y="3630168"/>
            <a:ext cx="329184" cy="0"/>
          </a:xfrm>
          <a:prstGeom prst="line">
            <a:avLst/>
          </a:prstGeom>
          <a:noFill/>
          <a:ln w="19050">
            <a:solidFill>
              <a:srgbClr val="4F46E5"/>
            </a:solidFill>
            <a:prstDash val="solid"/>
            <a:tailEnd type="triangle"/>
          </a:ln>
        </p:spPr>
      </p:sp>
      <p:sp>
        <p:nvSpPr>
          <p:cNvPr id="29" name="Shape 25"/>
          <p:cNvSpPr/>
          <p:nvPr/>
        </p:nvSpPr>
        <p:spPr>
          <a:xfrm>
            <a:off x="5120640" y="3246120"/>
            <a:ext cx="1920240" cy="777240"/>
          </a:xfrm>
          <a:prstGeom prst="roundRect">
            <a:avLst>
              <a:gd name="adj" fmla="val 9412"/>
            </a:avLst>
          </a:prstGeom>
          <a:solidFill>
            <a:srgbClr val="EEF2FF"/>
          </a:solidFill>
          <a:ln w="12700">
            <a:solidFill>
              <a:srgbClr val="C7D2FE"/>
            </a:solidFill>
            <a:prstDash val="solid"/>
          </a:ln>
        </p:spPr>
      </p:sp>
      <p:sp>
        <p:nvSpPr>
          <p:cNvPr id="30" name="Text 26"/>
          <p:cNvSpPr txBox="1"/>
          <p:nvPr/>
        </p:nvSpPr>
        <p:spPr>
          <a:xfrm>
            <a:off x="5193792" y="32644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accepted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officer / head</a:t>
            </a:r>
            <a:endParaRPr lang="en-US" sz="1150" dirty="0"/>
          </a:p>
        </p:txBody>
      </p:sp>
      <p:sp>
        <p:nvSpPr>
          <p:cNvPr id="31" name="Shape 27"/>
          <p:cNvSpPr/>
          <p:nvPr/>
        </p:nvSpPr>
        <p:spPr>
          <a:xfrm flipH="1">
            <a:off x="7059168" y="3630168"/>
            <a:ext cx="329184" cy="0"/>
          </a:xfrm>
          <a:prstGeom prst="line">
            <a:avLst/>
          </a:prstGeom>
          <a:noFill/>
          <a:ln w="19050">
            <a:solidFill>
              <a:srgbClr val="4F46E5"/>
            </a:solidFill>
            <a:prstDash val="solid"/>
            <a:tailEnd type="triangle"/>
          </a:ln>
        </p:spPr>
      </p:sp>
      <p:sp>
        <p:nvSpPr>
          <p:cNvPr id="32" name="Shape 28"/>
          <p:cNvSpPr/>
          <p:nvPr/>
        </p:nvSpPr>
        <p:spPr>
          <a:xfrm>
            <a:off x="7406640" y="3246120"/>
            <a:ext cx="1920240" cy="777240"/>
          </a:xfrm>
          <a:prstGeom prst="roundRect">
            <a:avLst>
              <a:gd name="adj" fmla="val 9412"/>
            </a:avLst>
          </a:prstGeom>
          <a:solidFill>
            <a:srgbClr val="EEF2FF"/>
          </a:solidFill>
          <a:ln w="12700">
            <a:solidFill>
              <a:srgbClr val="C7D2FE"/>
            </a:solidFill>
            <a:prstDash val="solid"/>
          </a:ln>
        </p:spPr>
      </p:sp>
      <p:sp>
        <p:nvSpPr>
          <p:cNvPr id="33" name="Text 29"/>
          <p:cNvSpPr txBox="1"/>
          <p:nvPr/>
        </p:nvSpPr>
        <p:spPr>
          <a:xfrm>
            <a:off x="7479792" y="32644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offerGenerated</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borrower</a:t>
            </a:r>
            <a:endParaRPr lang="en-US" sz="1150" dirty="0"/>
          </a:p>
        </p:txBody>
      </p:sp>
      <p:sp>
        <p:nvSpPr>
          <p:cNvPr id="34" name="Shape 30"/>
          <p:cNvSpPr/>
          <p:nvPr/>
        </p:nvSpPr>
        <p:spPr>
          <a:xfrm flipH="1">
            <a:off x="9345168" y="3630168"/>
            <a:ext cx="329184" cy="0"/>
          </a:xfrm>
          <a:prstGeom prst="line">
            <a:avLst/>
          </a:prstGeom>
          <a:noFill/>
          <a:ln w="19050">
            <a:solidFill>
              <a:srgbClr val="4F46E5"/>
            </a:solidFill>
            <a:prstDash val="solid"/>
            <a:tailEnd type="triangle"/>
          </a:ln>
        </p:spPr>
      </p:sp>
      <p:sp>
        <p:nvSpPr>
          <p:cNvPr id="35" name="Shape 31"/>
          <p:cNvSpPr/>
          <p:nvPr/>
        </p:nvSpPr>
        <p:spPr>
          <a:xfrm>
            <a:off x="9692640" y="3246120"/>
            <a:ext cx="1920240" cy="777240"/>
          </a:xfrm>
          <a:prstGeom prst="roundRect">
            <a:avLst>
              <a:gd name="adj" fmla="val 9412"/>
            </a:avLst>
          </a:prstGeom>
          <a:solidFill>
            <a:srgbClr val="EEF2FF"/>
          </a:solidFill>
          <a:ln w="12700">
            <a:solidFill>
              <a:srgbClr val="C7D2FE"/>
            </a:solidFill>
            <a:prstDash val="solid"/>
          </a:ln>
        </p:spPr>
      </p:sp>
      <p:sp>
        <p:nvSpPr>
          <p:cNvPr id="36" name="Text 32"/>
          <p:cNvSpPr txBox="1"/>
          <p:nvPr/>
        </p:nvSpPr>
        <p:spPr>
          <a:xfrm>
            <a:off x="9765792" y="3264408"/>
            <a:ext cx="1773936" cy="740664"/>
          </a:xfrm>
          <a:prstGeom prst="rect">
            <a:avLst/>
          </a:prstGeom>
          <a:noFill/>
          <a:ln/>
        </p:spPr>
        <p:txBody>
          <a:bodyPr wrap="square" lIns="0" tIns="0" rIns="0" bIns="0" rtlCol="0" anchor="ctr"/>
          <a:lstStyle/>
          <a:p>
            <a:pPr algn="ctr" indent="0" marL="0">
              <a:spcAft>
                <a:spcPts val="200"/>
              </a:spcAft>
              <a:buNone/>
            </a:pPr>
            <a:r>
              <a:rPr lang="en-US" sz="1150" b="1" dirty="0">
                <a:solidFill>
                  <a:srgbClr val="3730A3"/>
                </a:solidFill>
                <a:latin typeface="Roboto" pitchFamily="34" charset="0"/>
                <a:ea typeface="Roboto" pitchFamily="34" charset="-122"/>
                <a:cs typeface="Roboto" pitchFamily="34" charset="-120"/>
              </a:rPr>
              <a:t>underReview</a:t>
            </a:r>
            <a:endParaRPr lang="en-US" sz="115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officer · credit committee</a:t>
            </a:r>
            <a:endParaRPr lang="en-US" sz="1150" dirty="0"/>
          </a:p>
        </p:txBody>
      </p:sp>
      <p:sp>
        <p:nvSpPr>
          <p:cNvPr id="37" name="Shape 33"/>
          <p:cNvSpPr/>
          <p:nvPr/>
        </p:nvSpPr>
        <p:spPr>
          <a:xfrm>
            <a:off x="5212080" y="1581912"/>
            <a:ext cx="1737360" cy="246888"/>
          </a:xfrm>
          <a:prstGeom prst="roundRect">
            <a:avLst>
              <a:gd name="adj" fmla="val 50000"/>
            </a:avLst>
          </a:prstGeom>
          <a:solidFill>
            <a:srgbClr val="FFF1F2"/>
          </a:solidFill>
          <a:ln w="12700">
            <a:solidFill>
              <a:srgbClr val="FFF1F2"/>
            </a:solidFill>
            <a:prstDash val="solid"/>
          </a:ln>
        </p:spPr>
      </p:sp>
      <p:sp>
        <p:nvSpPr>
          <p:cNvPr id="38" name="Text 34"/>
          <p:cNvSpPr txBox="1"/>
          <p:nvPr/>
        </p:nvSpPr>
        <p:spPr>
          <a:xfrm>
            <a:off x="5212080" y="1581912"/>
            <a:ext cx="1737360" cy="246888"/>
          </a:xfrm>
          <a:prstGeom prst="rect">
            <a:avLst/>
          </a:prstGeom>
          <a:noFill/>
          <a:ln/>
        </p:spPr>
        <p:txBody>
          <a:bodyPr wrap="square" lIns="0" tIns="0" rIns="0" bIns="0" rtlCol="0" anchor="ctr"/>
          <a:lstStyle/>
          <a:p>
            <a:pPr algn="ctr" indent="0" marL="0">
              <a:buNone/>
            </a:pPr>
            <a:r>
              <a:rPr lang="en-US" sz="850" b="1" dirty="0">
                <a:solidFill>
                  <a:srgbClr val="9F1239"/>
                </a:solidFill>
                <a:latin typeface="Roboto" pitchFamily="34" charset="0"/>
                <a:ea typeface="Roboto" pitchFamily="34" charset="-122"/>
                <a:cs typeface="Roboto" pitchFamily="34" charset="-120"/>
              </a:rPr>
              <a:t>Intake · Privacy</a:t>
            </a:r>
            <a:endParaRPr lang="en-US" sz="850" dirty="0"/>
          </a:p>
        </p:txBody>
      </p:sp>
      <p:sp>
        <p:nvSpPr>
          <p:cNvPr id="39" name="Shape 35"/>
          <p:cNvSpPr/>
          <p:nvPr/>
        </p:nvSpPr>
        <p:spPr>
          <a:xfrm>
            <a:off x="7498080" y="1581912"/>
            <a:ext cx="1737360" cy="246888"/>
          </a:xfrm>
          <a:prstGeom prst="roundRect">
            <a:avLst>
              <a:gd name="adj" fmla="val 50000"/>
            </a:avLst>
          </a:prstGeom>
          <a:solidFill>
            <a:srgbClr val="FFF1F2"/>
          </a:solidFill>
          <a:ln w="12700">
            <a:solidFill>
              <a:srgbClr val="FFF1F2"/>
            </a:solidFill>
            <a:prstDash val="solid"/>
          </a:ln>
        </p:spPr>
      </p:sp>
      <p:sp>
        <p:nvSpPr>
          <p:cNvPr id="40" name="Text 36"/>
          <p:cNvSpPr txBox="1"/>
          <p:nvPr/>
        </p:nvSpPr>
        <p:spPr>
          <a:xfrm>
            <a:off x="7498080" y="1581912"/>
            <a:ext cx="1737360" cy="246888"/>
          </a:xfrm>
          <a:prstGeom prst="rect">
            <a:avLst/>
          </a:prstGeom>
          <a:noFill/>
          <a:ln/>
        </p:spPr>
        <p:txBody>
          <a:bodyPr wrap="square" lIns="0" tIns="0" rIns="0" bIns="0" rtlCol="0" anchor="ctr"/>
          <a:lstStyle/>
          <a:p>
            <a:pPr algn="ctr" indent="0" marL="0">
              <a:buNone/>
            </a:pPr>
            <a:r>
              <a:rPr lang="en-US" sz="850" b="1" dirty="0">
                <a:solidFill>
                  <a:srgbClr val="9F1239"/>
                </a:solidFill>
                <a:latin typeface="Roboto" pitchFamily="34" charset="0"/>
                <a:ea typeface="Roboto" pitchFamily="34" charset="-122"/>
                <a:cs typeface="Roboto" pitchFamily="34" charset="-120"/>
              </a:rPr>
              <a:t>Case assessment</a:t>
            </a:r>
            <a:endParaRPr lang="en-US" sz="850" dirty="0"/>
          </a:p>
        </p:txBody>
      </p:sp>
      <p:sp>
        <p:nvSpPr>
          <p:cNvPr id="41" name="Shape 37"/>
          <p:cNvSpPr/>
          <p:nvPr/>
        </p:nvSpPr>
        <p:spPr>
          <a:xfrm>
            <a:off x="9784080" y="4069080"/>
            <a:ext cx="1737360" cy="246888"/>
          </a:xfrm>
          <a:prstGeom prst="roundRect">
            <a:avLst>
              <a:gd name="adj" fmla="val 50000"/>
            </a:avLst>
          </a:prstGeom>
          <a:solidFill>
            <a:srgbClr val="FFF1F2"/>
          </a:solidFill>
          <a:ln w="12700">
            <a:solidFill>
              <a:srgbClr val="FFF1F2"/>
            </a:solidFill>
            <a:prstDash val="solid"/>
          </a:ln>
        </p:spPr>
      </p:sp>
      <p:sp>
        <p:nvSpPr>
          <p:cNvPr id="42" name="Text 38"/>
          <p:cNvSpPr txBox="1"/>
          <p:nvPr/>
        </p:nvSpPr>
        <p:spPr>
          <a:xfrm>
            <a:off x="9784080" y="4069080"/>
            <a:ext cx="1737360" cy="246888"/>
          </a:xfrm>
          <a:prstGeom prst="rect">
            <a:avLst/>
          </a:prstGeom>
          <a:noFill/>
          <a:ln/>
        </p:spPr>
        <p:txBody>
          <a:bodyPr wrap="square" lIns="0" tIns="0" rIns="0" bIns="0" rtlCol="0" anchor="ctr"/>
          <a:lstStyle/>
          <a:p>
            <a:pPr algn="ctr" indent="0" marL="0">
              <a:buNone/>
            </a:pPr>
            <a:r>
              <a:rPr lang="en-US" sz="850" b="1" dirty="0">
                <a:solidFill>
                  <a:srgbClr val="9F1239"/>
                </a:solidFill>
                <a:latin typeface="Roboto" pitchFamily="34" charset="0"/>
                <a:ea typeface="Roboto" pitchFamily="34" charset="-122"/>
                <a:cs typeface="Roboto" pitchFamily="34" charset="-120"/>
              </a:rPr>
              <a:t>Underwriting crew · Router</a:t>
            </a:r>
            <a:endParaRPr lang="en-US" sz="850" dirty="0"/>
          </a:p>
        </p:txBody>
      </p:sp>
      <p:sp>
        <p:nvSpPr>
          <p:cNvPr id="43" name="Shape 39"/>
          <p:cNvSpPr/>
          <p:nvPr/>
        </p:nvSpPr>
        <p:spPr>
          <a:xfrm>
            <a:off x="7498080" y="4069080"/>
            <a:ext cx="1737360" cy="246888"/>
          </a:xfrm>
          <a:prstGeom prst="roundRect">
            <a:avLst>
              <a:gd name="adj" fmla="val 50000"/>
            </a:avLst>
          </a:prstGeom>
          <a:solidFill>
            <a:srgbClr val="FFF1F2"/>
          </a:solidFill>
          <a:ln w="12700">
            <a:solidFill>
              <a:srgbClr val="FFF1F2"/>
            </a:solidFill>
            <a:prstDash val="solid"/>
          </a:ln>
        </p:spPr>
      </p:sp>
      <p:sp>
        <p:nvSpPr>
          <p:cNvPr id="44" name="Text 40"/>
          <p:cNvSpPr txBox="1"/>
          <p:nvPr/>
        </p:nvSpPr>
        <p:spPr>
          <a:xfrm>
            <a:off x="7498080" y="4069080"/>
            <a:ext cx="1737360" cy="246888"/>
          </a:xfrm>
          <a:prstGeom prst="rect">
            <a:avLst/>
          </a:prstGeom>
          <a:noFill/>
          <a:ln/>
        </p:spPr>
        <p:txBody>
          <a:bodyPr wrap="square" lIns="0" tIns="0" rIns="0" bIns="0" rtlCol="0" anchor="ctr"/>
          <a:lstStyle/>
          <a:p>
            <a:pPr algn="ctr" indent="0" marL="0">
              <a:buNone/>
            </a:pPr>
            <a:r>
              <a:rPr lang="en-US" sz="850" b="1" dirty="0">
                <a:solidFill>
                  <a:srgbClr val="9F1239"/>
                </a:solidFill>
                <a:latin typeface="Roboto" pitchFamily="34" charset="0"/>
                <a:ea typeface="Roboto" pitchFamily="34" charset="-122"/>
                <a:cs typeface="Roboto" pitchFamily="34" charset="-120"/>
              </a:rPr>
              <a:t>Offer Generation</a:t>
            </a:r>
            <a:endParaRPr lang="en-US" sz="850" dirty="0"/>
          </a:p>
        </p:txBody>
      </p:sp>
      <p:sp>
        <p:nvSpPr>
          <p:cNvPr id="45" name="Shape 41"/>
          <p:cNvSpPr/>
          <p:nvPr/>
        </p:nvSpPr>
        <p:spPr>
          <a:xfrm>
            <a:off x="5212080" y="4069080"/>
            <a:ext cx="1737360" cy="246888"/>
          </a:xfrm>
          <a:prstGeom prst="roundRect">
            <a:avLst>
              <a:gd name="adj" fmla="val 50000"/>
            </a:avLst>
          </a:prstGeom>
          <a:solidFill>
            <a:srgbClr val="FEF3C7"/>
          </a:solidFill>
          <a:ln w="12700">
            <a:solidFill>
              <a:srgbClr val="FEF3C7"/>
            </a:solidFill>
            <a:prstDash val="solid"/>
          </a:ln>
        </p:spPr>
      </p:sp>
      <p:sp>
        <p:nvSpPr>
          <p:cNvPr id="46" name="Text 42"/>
          <p:cNvSpPr txBox="1"/>
          <p:nvPr/>
        </p:nvSpPr>
        <p:spPr>
          <a:xfrm>
            <a:off x="5212080" y="4069080"/>
            <a:ext cx="1737360" cy="246888"/>
          </a:xfrm>
          <a:prstGeom prst="rect">
            <a:avLst/>
          </a:prstGeom>
          <a:noFill/>
          <a:ln/>
        </p:spPr>
        <p:txBody>
          <a:bodyPr wrap="square" lIns="0" tIns="0" rIns="0" bIns="0" rtlCol="0" anchor="ctr"/>
          <a:lstStyle/>
          <a:p>
            <a:pPr algn="ctr" indent="0" marL="0">
              <a:buNone/>
            </a:pPr>
            <a:r>
              <a:rPr lang="en-US" sz="850" b="1" dirty="0">
                <a:solidFill>
                  <a:srgbClr val="92400E"/>
                </a:solidFill>
                <a:latin typeface="Roboto" pitchFamily="34" charset="0"/>
                <a:ea typeface="Roboto" pitchFamily="34" charset="-122"/>
                <a:cs typeface="Roboto" pitchFamily="34" charset="-120"/>
              </a:rPr>
              <a:t>Head approves &gt; ₹5 lakh</a:t>
            </a:r>
            <a:endParaRPr lang="en-US" sz="850" dirty="0"/>
          </a:p>
        </p:txBody>
      </p:sp>
      <p:sp>
        <p:nvSpPr>
          <p:cNvPr id="47" name="Text 43"/>
          <p:cNvSpPr txBox="1"/>
          <p:nvPr/>
        </p:nvSpPr>
        <p:spPr>
          <a:xfrm>
            <a:off x="548640" y="4526280"/>
            <a:ext cx="7315200" cy="256032"/>
          </a:xfrm>
          <a:prstGeom prst="rect">
            <a:avLst/>
          </a:prstGeom>
          <a:noFill/>
          <a:ln/>
        </p:spPr>
        <p:txBody>
          <a:bodyPr wrap="square" lIns="0" tIns="0" rIns="0" bIns="0" rtlCol="0" anchor="ctr"/>
          <a:lstStyle/>
          <a:p>
            <a:pPr indent="0" marL="0">
              <a:buNone/>
            </a:pPr>
            <a:r>
              <a:rPr lang="en-US" sz="1050" b="1" spc="100" kern="0" dirty="0">
                <a:solidFill>
                  <a:srgbClr val="64748B"/>
                </a:solidFill>
                <a:latin typeface="Roboto" pitchFamily="34" charset="0"/>
                <a:ea typeface="Roboto" pitchFamily="34" charset="-122"/>
                <a:cs typeface="Roboto" pitchFamily="34" charset="-120"/>
              </a:rPr>
              <a:t>PRODUCT BRANCHES (between documentsVerified and review)</a:t>
            </a:r>
            <a:endParaRPr lang="en-US" sz="1050" dirty="0"/>
          </a:p>
        </p:txBody>
      </p:sp>
      <p:sp>
        <p:nvSpPr>
          <p:cNvPr id="48" name="Shape 44"/>
          <p:cNvSpPr/>
          <p:nvPr/>
        </p:nvSpPr>
        <p:spPr>
          <a:xfrm>
            <a:off x="548640" y="4846320"/>
            <a:ext cx="3566160" cy="603504"/>
          </a:xfrm>
          <a:prstGeom prst="roundRect">
            <a:avLst>
              <a:gd name="adj" fmla="val 12121"/>
            </a:avLst>
          </a:prstGeom>
          <a:solidFill>
            <a:srgbClr val="F8FAFC"/>
          </a:solidFill>
          <a:ln w="12700">
            <a:solidFill>
              <a:srgbClr val="E2E8F0"/>
            </a:solidFill>
            <a:prstDash val="solid"/>
          </a:ln>
        </p:spPr>
      </p:sp>
      <p:sp>
        <p:nvSpPr>
          <p:cNvPr id="49" name="Text 45"/>
          <p:cNvSpPr txBox="1"/>
          <p:nvPr/>
        </p:nvSpPr>
        <p:spPr>
          <a:xfrm>
            <a:off x="685800" y="4846320"/>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Gold  </a:t>
            </a:r>
            <a:pPr indent="0" marL="0">
              <a:buNone/>
            </a:pPr>
            <a:r>
              <a:rPr lang="en-US" sz="1050" dirty="0">
                <a:solidFill>
                  <a:srgbClr val="64748B"/>
                </a:solidFill>
                <a:latin typeface="Roboto" pitchFamily="34" charset="0"/>
                <a:ea typeface="Roboto" pitchFamily="34" charset="-122"/>
                <a:cs typeface="Roboto" pitchFamily="34" charset="-120"/>
              </a:rPr>
              <a:t>valuation scheduled → valued</a:t>
            </a:r>
            <a:endParaRPr lang="en-US" sz="1050" dirty="0"/>
          </a:p>
        </p:txBody>
      </p:sp>
      <p:sp>
        <p:nvSpPr>
          <p:cNvPr id="50" name="Shape 46"/>
          <p:cNvSpPr/>
          <p:nvPr/>
        </p:nvSpPr>
        <p:spPr>
          <a:xfrm>
            <a:off x="4297680" y="4846320"/>
            <a:ext cx="3566160" cy="603504"/>
          </a:xfrm>
          <a:prstGeom prst="roundRect">
            <a:avLst>
              <a:gd name="adj" fmla="val 12121"/>
            </a:avLst>
          </a:prstGeom>
          <a:solidFill>
            <a:srgbClr val="F8FAFC"/>
          </a:solidFill>
          <a:ln w="12700">
            <a:solidFill>
              <a:srgbClr val="E2E8F0"/>
            </a:solidFill>
            <a:prstDash val="solid"/>
          </a:ln>
        </p:spPr>
      </p:sp>
      <p:sp>
        <p:nvSpPr>
          <p:cNvPr id="51" name="Text 47"/>
          <p:cNvSpPr txBox="1"/>
          <p:nvPr/>
        </p:nvSpPr>
        <p:spPr>
          <a:xfrm>
            <a:off x="4434840" y="4846320"/>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Tractor · Microfinance  </a:t>
            </a:r>
            <a:pPr indent="0" marL="0">
              <a:buNone/>
            </a:pPr>
            <a:r>
              <a:rPr lang="en-US" sz="1050" dirty="0">
                <a:solidFill>
                  <a:srgbClr val="64748B"/>
                </a:solidFill>
                <a:latin typeface="Roboto" pitchFamily="34" charset="0"/>
                <a:ea typeface="Roboto" pitchFamily="34" charset="-122"/>
                <a:cs typeface="Roboto" pitchFamily="34" charset="-120"/>
              </a:rPr>
              <a:t>field verification</a:t>
            </a:r>
            <a:endParaRPr lang="en-US" sz="1050" dirty="0"/>
          </a:p>
        </p:txBody>
      </p:sp>
      <p:sp>
        <p:nvSpPr>
          <p:cNvPr id="52" name="Shape 48"/>
          <p:cNvSpPr/>
          <p:nvPr/>
        </p:nvSpPr>
        <p:spPr>
          <a:xfrm>
            <a:off x="8046720" y="4846320"/>
            <a:ext cx="3566160" cy="603504"/>
          </a:xfrm>
          <a:prstGeom prst="roundRect">
            <a:avLst>
              <a:gd name="adj" fmla="val 12121"/>
            </a:avLst>
          </a:prstGeom>
          <a:solidFill>
            <a:srgbClr val="F8FAFC"/>
          </a:solidFill>
          <a:ln w="12700">
            <a:solidFill>
              <a:srgbClr val="E2E8F0"/>
            </a:solidFill>
            <a:prstDash val="solid"/>
          </a:ln>
        </p:spPr>
      </p:sp>
      <p:sp>
        <p:nvSpPr>
          <p:cNvPr id="53" name="Text 49"/>
          <p:cNvSpPr txBox="1"/>
          <p:nvPr/>
        </p:nvSpPr>
        <p:spPr>
          <a:xfrm>
            <a:off x="8183880" y="4846320"/>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Loan Against Property  </a:t>
            </a:r>
            <a:pPr indent="0" marL="0">
              <a:buNone/>
            </a:pPr>
            <a:r>
              <a:rPr lang="en-US" sz="1050" dirty="0">
                <a:solidFill>
                  <a:srgbClr val="64748B"/>
                </a:solidFill>
                <a:latin typeface="Roboto" pitchFamily="34" charset="0"/>
                <a:ea typeface="Roboto" pitchFamily="34" charset="-122"/>
                <a:cs typeface="Roboto" pitchFamily="34" charset="-120"/>
              </a:rPr>
              <a:t>property valuation → legal</a:t>
            </a:r>
            <a:endParaRPr lang="en-US" sz="1050" dirty="0"/>
          </a:p>
        </p:txBody>
      </p:sp>
      <p:sp>
        <p:nvSpPr>
          <p:cNvPr id="54" name="Shape 50"/>
          <p:cNvSpPr/>
          <p:nvPr/>
        </p:nvSpPr>
        <p:spPr>
          <a:xfrm>
            <a:off x="548640" y="5559552"/>
            <a:ext cx="3566160" cy="603504"/>
          </a:xfrm>
          <a:prstGeom prst="roundRect">
            <a:avLst>
              <a:gd name="adj" fmla="val 12121"/>
            </a:avLst>
          </a:prstGeom>
          <a:solidFill>
            <a:srgbClr val="F8FAFC"/>
          </a:solidFill>
          <a:ln w="12700">
            <a:solidFill>
              <a:srgbClr val="E2E8F0"/>
            </a:solidFill>
            <a:prstDash val="solid"/>
          </a:ln>
        </p:spPr>
      </p:sp>
      <p:sp>
        <p:nvSpPr>
          <p:cNvPr id="55" name="Text 51"/>
          <p:cNvSpPr txBox="1"/>
          <p:nvPr/>
        </p:nvSpPr>
        <p:spPr>
          <a:xfrm>
            <a:off x="685800" y="5559552"/>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Home  </a:t>
            </a:r>
            <a:pPr indent="0" marL="0">
              <a:buNone/>
            </a:pPr>
            <a:r>
              <a:rPr lang="en-US" sz="1050" dirty="0">
                <a:solidFill>
                  <a:srgbClr val="64748B"/>
                </a:solidFill>
                <a:latin typeface="Roboto" pitchFamily="34" charset="0"/>
                <a:ea typeface="Roboto" pitchFamily="34" charset="-122"/>
                <a:cs typeface="Roboto" pitchFamily="34" charset="-120"/>
              </a:rPr>
              <a:t>6 checks: property, legal, income, docs, technical</a:t>
            </a:r>
            <a:endParaRPr lang="en-US" sz="1050" dirty="0"/>
          </a:p>
        </p:txBody>
      </p:sp>
      <p:sp>
        <p:nvSpPr>
          <p:cNvPr id="56" name="Shape 52"/>
          <p:cNvSpPr/>
          <p:nvPr/>
        </p:nvSpPr>
        <p:spPr>
          <a:xfrm>
            <a:off x="4297680" y="5559552"/>
            <a:ext cx="3566160" cy="603504"/>
          </a:xfrm>
          <a:prstGeom prst="roundRect">
            <a:avLst>
              <a:gd name="adj" fmla="val 12121"/>
            </a:avLst>
          </a:prstGeom>
          <a:solidFill>
            <a:srgbClr val="F8FAFC"/>
          </a:solidFill>
          <a:ln w="12700">
            <a:solidFill>
              <a:srgbClr val="E2E8F0"/>
            </a:solidFill>
            <a:prstDash val="solid"/>
          </a:ln>
        </p:spPr>
      </p:sp>
      <p:sp>
        <p:nvSpPr>
          <p:cNvPr id="57" name="Text 53"/>
          <p:cNvSpPr txBox="1"/>
          <p:nvPr/>
        </p:nvSpPr>
        <p:spPr>
          <a:xfrm>
            <a:off x="4434840" y="5559552"/>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MSME · Working capital  </a:t>
            </a:r>
            <a:pPr indent="0" marL="0">
              <a:buNone/>
            </a:pPr>
            <a:r>
              <a:rPr lang="en-US" sz="1050" dirty="0">
                <a:solidFill>
                  <a:srgbClr val="64748B"/>
                </a:solidFill>
                <a:latin typeface="Roboto" pitchFamily="34" charset="0"/>
                <a:ea typeface="Roboto" pitchFamily="34" charset="-122"/>
                <a:cs typeface="Roboto" pitchFamily="34" charset="-120"/>
              </a:rPr>
              <a:t>bank &amp; GST analysis → committee</a:t>
            </a:r>
            <a:endParaRPr lang="en-US" sz="1050" dirty="0"/>
          </a:p>
        </p:txBody>
      </p:sp>
      <p:sp>
        <p:nvSpPr>
          <p:cNvPr id="58" name="Shape 54"/>
          <p:cNvSpPr/>
          <p:nvPr/>
        </p:nvSpPr>
        <p:spPr>
          <a:xfrm>
            <a:off x="8046720" y="5559552"/>
            <a:ext cx="3566160" cy="603504"/>
          </a:xfrm>
          <a:prstGeom prst="roundRect">
            <a:avLst>
              <a:gd name="adj" fmla="val 12121"/>
            </a:avLst>
          </a:prstGeom>
          <a:solidFill>
            <a:srgbClr val="F8FAFC"/>
          </a:solidFill>
          <a:ln w="12700">
            <a:solidFill>
              <a:srgbClr val="E2E8F0"/>
            </a:solidFill>
            <a:prstDash val="solid"/>
          </a:ln>
        </p:spPr>
      </p:sp>
      <p:sp>
        <p:nvSpPr>
          <p:cNvPr id="59" name="Text 55"/>
          <p:cNvSpPr txBox="1"/>
          <p:nvPr/>
        </p:nvSpPr>
        <p:spPr>
          <a:xfrm>
            <a:off x="8183880" y="5559552"/>
            <a:ext cx="3337560" cy="603504"/>
          </a:xfrm>
          <a:prstGeom prst="rect">
            <a:avLst/>
          </a:prstGeom>
          <a:noFill/>
          <a:ln/>
        </p:spPr>
        <p:txBody>
          <a:bodyPr wrap="square" lIns="0" tIns="0" rIns="0" bIns="0" rtlCol="0" anchor="ctr"/>
          <a:lstStyle/>
          <a:p>
            <a:pPr indent="0" marL="0">
              <a:buNone/>
            </a:pPr>
            <a:r>
              <a:rPr lang="en-US" sz="1050" b="1" dirty="0">
                <a:solidFill>
                  <a:srgbClr val="0F172A"/>
                </a:solidFill>
                <a:latin typeface="Roboto" pitchFamily="34" charset="0"/>
                <a:ea typeface="Roboto" pitchFamily="34" charset="-122"/>
                <a:cs typeface="Roboto" pitchFamily="34" charset="-120"/>
              </a:rPr>
              <a:t>Used vehicle  </a:t>
            </a:r>
            <a:pPr indent="0" marL="0">
              <a:buNone/>
            </a:pPr>
            <a:r>
              <a:rPr lang="en-US" sz="1050" dirty="0">
                <a:solidFill>
                  <a:srgbClr val="64748B"/>
                </a:solidFill>
                <a:latin typeface="Roboto" pitchFamily="34" charset="0"/>
                <a:ea typeface="Roboto" pitchFamily="34" charset="-122"/>
                <a:cs typeface="Roboto" pitchFamily="34" charset="-120"/>
              </a:rPr>
              <a:t>vehicle inspection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WORKFLOWS</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End to end: who does what</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Agents work between the human steps; every agent output is evidence for the next person.</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25</a:t>
            </a:r>
            <a:endParaRPr lang="en-US" sz="900" dirty="0"/>
          </a:p>
        </p:txBody>
      </p:sp>
      <p:sp>
        <p:nvSpPr>
          <p:cNvPr id="8" name="Shape 4"/>
          <p:cNvSpPr/>
          <p:nvPr/>
        </p:nvSpPr>
        <p:spPr>
          <a:xfrm>
            <a:off x="548640" y="1728216"/>
            <a:ext cx="11094415" cy="1042416"/>
          </a:xfrm>
          <a:prstGeom prst="roundRect">
            <a:avLst>
              <a:gd name="adj" fmla="val 5263"/>
            </a:avLst>
          </a:prstGeom>
          <a:solidFill>
            <a:srgbClr val="F8FAFC"/>
          </a:solidFill>
          <a:ln w="12700">
            <a:solidFill>
              <a:srgbClr val="E2E8F0"/>
            </a:solidFill>
            <a:prstDash val="solid"/>
          </a:ln>
        </p:spPr>
      </p:sp>
      <p:sp>
        <p:nvSpPr>
          <p:cNvPr id="9" name="Shape 5"/>
          <p:cNvSpPr/>
          <p:nvPr/>
        </p:nvSpPr>
        <p:spPr>
          <a:xfrm>
            <a:off x="658368" y="2020824"/>
            <a:ext cx="420624" cy="420624"/>
          </a:xfrm>
          <a:prstGeom prst="ellipse">
            <a:avLst/>
          </a:prstGeom>
          <a:solidFill>
            <a:srgbClr val="EEF2FF"/>
          </a:solidFill>
          <a:ln w="12700">
            <a:solidFill>
              <a:srgbClr val="EEF2FF"/>
            </a:solidFill>
            <a:prstDash val="solid"/>
          </a:ln>
        </p:spPr>
      </p:sp>
      <p:pic>
        <p:nvPicPr>
          <p:cNvPr id="10" name="Image 1" descr="preencoded.png">    </p:cNvPr>
          <p:cNvPicPr>
            <a:picLocks noChangeAspect="1"/>
          </p:cNvPicPr>
          <p:nvPr/>
        </p:nvPicPr>
        <p:blipFill>
          <a:blip r:embed="rId2"/>
          <a:stretch>
            <a:fillRect/>
          </a:stretch>
        </p:blipFill>
        <p:spPr>
          <a:xfrm>
            <a:off x="750905" y="2113361"/>
            <a:ext cx="235549" cy="235549"/>
          </a:xfrm>
          <a:prstGeom prst="rect">
            <a:avLst/>
          </a:prstGeom>
        </p:spPr>
      </p:pic>
      <p:sp>
        <p:nvSpPr>
          <p:cNvPr id="11" name="Text 6"/>
          <p:cNvSpPr txBox="1"/>
          <p:nvPr/>
        </p:nvSpPr>
        <p:spPr>
          <a:xfrm>
            <a:off x="1143000" y="1691640"/>
            <a:ext cx="868680" cy="1115568"/>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Borrower</a:t>
            </a:r>
            <a:endParaRPr lang="en-US" sz="1200" dirty="0"/>
          </a:p>
        </p:txBody>
      </p:sp>
      <p:sp>
        <p:nvSpPr>
          <p:cNvPr id="12" name="Shape 7"/>
          <p:cNvSpPr/>
          <p:nvPr/>
        </p:nvSpPr>
        <p:spPr>
          <a:xfrm>
            <a:off x="548640" y="2843784"/>
            <a:ext cx="11094415" cy="1042416"/>
          </a:xfrm>
          <a:prstGeom prst="roundRect">
            <a:avLst>
              <a:gd name="adj" fmla="val 5263"/>
            </a:avLst>
          </a:prstGeom>
          <a:solidFill>
            <a:srgbClr val="FFFFFF"/>
          </a:solidFill>
          <a:ln w="12700">
            <a:solidFill>
              <a:srgbClr val="E2E8F0"/>
            </a:solidFill>
            <a:prstDash val="solid"/>
          </a:ln>
        </p:spPr>
      </p:sp>
      <p:sp>
        <p:nvSpPr>
          <p:cNvPr id="13" name="Shape 8"/>
          <p:cNvSpPr/>
          <p:nvPr/>
        </p:nvSpPr>
        <p:spPr>
          <a:xfrm>
            <a:off x="658368" y="3136392"/>
            <a:ext cx="420624" cy="420624"/>
          </a:xfrm>
          <a:prstGeom prst="ellipse">
            <a:avLst/>
          </a:prstGeom>
          <a:solidFill>
            <a:srgbClr val="FFF1F2"/>
          </a:solidFill>
          <a:ln w="12700">
            <a:solidFill>
              <a:srgbClr val="FFF1F2"/>
            </a:solidFill>
            <a:prstDash val="solid"/>
          </a:ln>
        </p:spPr>
      </p:sp>
      <p:pic>
        <p:nvPicPr>
          <p:cNvPr id="14" name="Image 2" descr="preencoded.png">    </p:cNvPr>
          <p:cNvPicPr>
            <a:picLocks noChangeAspect="1"/>
          </p:cNvPicPr>
          <p:nvPr/>
        </p:nvPicPr>
        <p:blipFill>
          <a:blip r:embed="rId3"/>
          <a:stretch>
            <a:fillRect/>
          </a:stretch>
        </p:blipFill>
        <p:spPr>
          <a:xfrm>
            <a:off x="750905" y="3228929"/>
            <a:ext cx="235549" cy="235549"/>
          </a:xfrm>
          <a:prstGeom prst="rect">
            <a:avLst/>
          </a:prstGeom>
        </p:spPr>
      </p:pic>
      <p:sp>
        <p:nvSpPr>
          <p:cNvPr id="15" name="Text 9"/>
          <p:cNvSpPr txBox="1"/>
          <p:nvPr/>
        </p:nvSpPr>
        <p:spPr>
          <a:xfrm>
            <a:off x="1143000" y="2807208"/>
            <a:ext cx="868680" cy="1115568"/>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AI agents</a:t>
            </a:r>
            <a:endParaRPr lang="en-US" sz="1200" dirty="0"/>
          </a:p>
        </p:txBody>
      </p:sp>
      <p:sp>
        <p:nvSpPr>
          <p:cNvPr id="16" name="Shape 10"/>
          <p:cNvSpPr/>
          <p:nvPr/>
        </p:nvSpPr>
        <p:spPr>
          <a:xfrm>
            <a:off x="548640" y="3959352"/>
            <a:ext cx="11094415" cy="1042416"/>
          </a:xfrm>
          <a:prstGeom prst="roundRect">
            <a:avLst>
              <a:gd name="adj" fmla="val 5263"/>
            </a:avLst>
          </a:prstGeom>
          <a:solidFill>
            <a:srgbClr val="F8FAFC"/>
          </a:solidFill>
          <a:ln w="12700">
            <a:solidFill>
              <a:srgbClr val="E2E8F0"/>
            </a:solidFill>
            <a:prstDash val="solid"/>
          </a:ln>
        </p:spPr>
      </p:sp>
      <p:sp>
        <p:nvSpPr>
          <p:cNvPr id="17" name="Shape 11"/>
          <p:cNvSpPr/>
          <p:nvPr/>
        </p:nvSpPr>
        <p:spPr>
          <a:xfrm>
            <a:off x="658368" y="4251960"/>
            <a:ext cx="420624" cy="420624"/>
          </a:xfrm>
          <a:prstGeom prst="ellipse">
            <a:avLst/>
          </a:prstGeom>
          <a:solidFill>
            <a:srgbClr val="CCFBF1"/>
          </a:solidFill>
          <a:ln w="12700">
            <a:solidFill>
              <a:srgbClr val="CCFBF1"/>
            </a:solidFill>
            <a:prstDash val="solid"/>
          </a:ln>
        </p:spPr>
      </p:sp>
      <p:pic>
        <p:nvPicPr>
          <p:cNvPr id="18" name="Image 3" descr="preencoded.png">    </p:cNvPr>
          <p:cNvPicPr>
            <a:picLocks noChangeAspect="1"/>
          </p:cNvPicPr>
          <p:nvPr/>
        </p:nvPicPr>
        <p:blipFill>
          <a:blip r:embed="rId4"/>
          <a:stretch>
            <a:fillRect/>
          </a:stretch>
        </p:blipFill>
        <p:spPr>
          <a:xfrm>
            <a:off x="750905" y="4344497"/>
            <a:ext cx="235549" cy="235549"/>
          </a:xfrm>
          <a:prstGeom prst="rect">
            <a:avLst/>
          </a:prstGeom>
        </p:spPr>
      </p:pic>
      <p:sp>
        <p:nvSpPr>
          <p:cNvPr id="19" name="Text 12"/>
          <p:cNvSpPr txBox="1"/>
          <p:nvPr/>
        </p:nvSpPr>
        <p:spPr>
          <a:xfrm>
            <a:off x="1143000" y="3922776"/>
            <a:ext cx="868680" cy="1115568"/>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Officer</a:t>
            </a:r>
            <a:endParaRPr lang="en-US" sz="1200" dirty="0"/>
          </a:p>
        </p:txBody>
      </p:sp>
      <p:sp>
        <p:nvSpPr>
          <p:cNvPr id="20" name="Shape 13"/>
          <p:cNvSpPr/>
          <p:nvPr/>
        </p:nvSpPr>
        <p:spPr>
          <a:xfrm>
            <a:off x="548640" y="5074920"/>
            <a:ext cx="11094415" cy="1042416"/>
          </a:xfrm>
          <a:prstGeom prst="roundRect">
            <a:avLst>
              <a:gd name="adj" fmla="val 5263"/>
            </a:avLst>
          </a:prstGeom>
          <a:solidFill>
            <a:srgbClr val="FFFFFF"/>
          </a:solidFill>
          <a:ln w="12700">
            <a:solidFill>
              <a:srgbClr val="E2E8F0"/>
            </a:solidFill>
            <a:prstDash val="solid"/>
          </a:ln>
        </p:spPr>
      </p:sp>
      <p:sp>
        <p:nvSpPr>
          <p:cNvPr id="21" name="Shape 14"/>
          <p:cNvSpPr/>
          <p:nvPr/>
        </p:nvSpPr>
        <p:spPr>
          <a:xfrm>
            <a:off x="658368" y="5367528"/>
            <a:ext cx="420624" cy="420624"/>
          </a:xfrm>
          <a:prstGeom prst="ellipse">
            <a:avLst/>
          </a:prstGeom>
          <a:solidFill>
            <a:srgbClr val="FFFBEB"/>
          </a:solidFill>
          <a:ln w="12700">
            <a:solidFill>
              <a:srgbClr val="FFFBEB"/>
            </a:solidFill>
            <a:prstDash val="solid"/>
          </a:ln>
        </p:spPr>
      </p:sp>
      <p:pic>
        <p:nvPicPr>
          <p:cNvPr id="22" name="Image 4" descr="preencoded.png">    </p:cNvPr>
          <p:cNvPicPr>
            <a:picLocks noChangeAspect="1"/>
          </p:cNvPicPr>
          <p:nvPr/>
        </p:nvPicPr>
        <p:blipFill>
          <a:blip r:embed="rId5"/>
          <a:stretch>
            <a:fillRect/>
          </a:stretch>
        </p:blipFill>
        <p:spPr>
          <a:xfrm>
            <a:off x="750905" y="5460065"/>
            <a:ext cx="235549" cy="235549"/>
          </a:xfrm>
          <a:prstGeom prst="rect">
            <a:avLst/>
          </a:prstGeom>
        </p:spPr>
      </p:pic>
      <p:sp>
        <p:nvSpPr>
          <p:cNvPr id="23" name="Text 15"/>
          <p:cNvSpPr txBox="1"/>
          <p:nvPr/>
        </p:nvSpPr>
        <p:spPr>
          <a:xfrm>
            <a:off x="1143000" y="5038344"/>
            <a:ext cx="868680" cy="1115568"/>
          </a:xfrm>
          <a:prstGeom prst="rect">
            <a:avLst/>
          </a:prstGeom>
          <a:noFill/>
          <a:ln/>
        </p:spPr>
        <p:txBody>
          <a:bodyPr wrap="square" lIns="0" tIns="0" rIns="0" bIns="0" rtlCol="0" anchor="ctr"/>
          <a:lstStyle/>
          <a:p>
            <a:pPr indent="0" marL="0">
              <a:buNone/>
            </a:pPr>
            <a:r>
              <a:rPr lang="en-US" sz="1200" b="1" dirty="0">
                <a:solidFill>
                  <a:srgbClr val="0F172A"/>
                </a:solidFill>
                <a:latin typeface="Roboto" pitchFamily="34" charset="0"/>
                <a:ea typeface="Roboto" pitchFamily="34" charset="-122"/>
                <a:cs typeface="Roboto" pitchFamily="34" charset="-120"/>
              </a:rPr>
              <a:t>Head</a:t>
            </a:r>
            <a:endParaRPr lang="en-US" sz="1200" dirty="0"/>
          </a:p>
        </p:txBody>
      </p:sp>
      <p:sp>
        <p:nvSpPr>
          <p:cNvPr id="24" name="Shape 16"/>
          <p:cNvSpPr/>
          <p:nvPr/>
        </p:nvSpPr>
        <p:spPr>
          <a:xfrm flipH="1">
            <a:off x="3336760" y="2633472"/>
            <a:ext cx="37376" cy="347472"/>
          </a:xfrm>
          <a:prstGeom prst="line">
            <a:avLst/>
          </a:prstGeom>
          <a:noFill/>
          <a:ln w="15875">
            <a:solidFill>
              <a:srgbClr val="94A3B8"/>
            </a:solidFill>
            <a:prstDash val="solid"/>
            <a:tailEnd type="triangle"/>
          </a:ln>
        </p:spPr>
      </p:sp>
      <p:sp>
        <p:nvSpPr>
          <p:cNvPr id="25" name="Shape 17"/>
          <p:cNvSpPr/>
          <p:nvPr/>
        </p:nvSpPr>
        <p:spPr>
          <a:xfrm flipH="1" flipV="1">
            <a:off x="4341800" y="2633472"/>
            <a:ext cx="37376" cy="347472"/>
          </a:xfrm>
          <a:prstGeom prst="line">
            <a:avLst/>
          </a:prstGeom>
          <a:noFill/>
          <a:ln w="15875">
            <a:solidFill>
              <a:srgbClr val="94A3B8"/>
            </a:solidFill>
            <a:prstDash val="solid"/>
            <a:tailEnd type="triangle"/>
          </a:ln>
        </p:spPr>
      </p:sp>
      <p:sp>
        <p:nvSpPr>
          <p:cNvPr id="26" name="Shape 18"/>
          <p:cNvSpPr/>
          <p:nvPr/>
        </p:nvSpPr>
        <p:spPr>
          <a:xfrm flipH="1">
            <a:off x="5346840" y="2633472"/>
            <a:ext cx="37376" cy="347472"/>
          </a:xfrm>
          <a:prstGeom prst="line">
            <a:avLst/>
          </a:prstGeom>
          <a:noFill/>
          <a:ln w="15875">
            <a:solidFill>
              <a:srgbClr val="94A3B8"/>
            </a:solidFill>
            <a:prstDash val="solid"/>
            <a:tailEnd type="triangle"/>
          </a:ln>
        </p:spPr>
      </p:sp>
      <p:sp>
        <p:nvSpPr>
          <p:cNvPr id="27" name="Shape 19"/>
          <p:cNvSpPr/>
          <p:nvPr/>
        </p:nvSpPr>
        <p:spPr>
          <a:xfrm flipH="1">
            <a:off x="6351880" y="3749040"/>
            <a:ext cx="37376" cy="347472"/>
          </a:xfrm>
          <a:prstGeom prst="line">
            <a:avLst/>
          </a:prstGeom>
          <a:noFill/>
          <a:ln w="15875">
            <a:solidFill>
              <a:srgbClr val="94A3B8"/>
            </a:solidFill>
            <a:prstDash val="solid"/>
            <a:tailEnd type="triangle"/>
          </a:ln>
        </p:spPr>
      </p:sp>
      <p:sp>
        <p:nvSpPr>
          <p:cNvPr id="28" name="Shape 20"/>
          <p:cNvSpPr/>
          <p:nvPr/>
        </p:nvSpPr>
        <p:spPr>
          <a:xfrm flipH="1" flipV="1">
            <a:off x="7356919" y="3749040"/>
            <a:ext cx="37376" cy="347472"/>
          </a:xfrm>
          <a:prstGeom prst="line">
            <a:avLst/>
          </a:prstGeom>
          <a:noFill/>
          <a:ln w="15875">
            <a:solidFill>
              <a:srgbClr val="94A3B8"/>
            </a:solidFill>
            <a:prstDash val="solid"/>
            <a:tailEnd type="triangle"/>
          </a:ln>
        </p:spPr>
      </p:sp>
      <p:sp>
        <p:nvSpPr>
          <p:cNvPr id="29" name="Shape 21"/>
          <p:cNvSpPr/>
          <p:nvPr/>
        </p:nvSpPr>
        <p:spPr>
          <a:xfrm flipH="1">
            <a:off x="8361959" y="3749040"/>
            <a:ext cx="37376" cy="347472"/>
          </a:xfrm>
          <a:prstGeom prst="line">
            <a:avLst/>
          </a:prstGeom>
          <a:noFill/>
          <a:ln w="15875">
            <a:solidFill>
              <a:srgbClr val="94A3B8"/>
            </a:solidFill>
            <a:prstDash val="solid"/>
            <a:tailEnd type="triangle"/>
          </a:ln>
        </p:spPr>
      </p:sp>
      <p:sp>
        <p:nvSpPr>
          <p:cNvPr id="30" name="Shape 22"/>
          <p:cNvSpPr/>
          <p:nvPr/>
        </p:nvSpPr>
        <p:spPr>
          <a:xfrm flipH="1">
            <a:off x="9366999" y="4864608"/>
            <a:ext cx="37376" cy="347472"/>
          </a:xfrm>
          <a:prstGeom prst="line">
            <a:avLst/>
          </a:prstGeom>
          <a:noFill/>
          <a:ln w="15875">
            <a:solidFill>
              <a:srgbClr val="94A3B8"/>
            </a:solidFill>
            <a:prstDash val="solid"/>
            <a:tailEnd type="triangle"/>
          </a:ln>
        </p:spPr>
      </p:sp>
      <p:sp>
        <p:nvSpPr>
          <p:cNvPr id="31" name="Shape 23"/>
          <p:cNvSpPr/>
          <p:nvPr/>
        </p:nvSpPr>
        <p:spPr>
          <a:xfrm flipH="1" flipV="1">
            <a:off x="10372039" y="2633472"/>
            <a:ext cx="37376" cy="2578608"/>
          </a:xfrm>
          <a:prstGeom prst="line">
            <a:avLst/>
          </a:prstGeom>
          <a:noFill/>
          <a:ln w="15875">
            <a:solidFill>
              <a:srgbClr val="94A3B8"/>
            </a:solidFill>
            <a:prstDash val="solid"/>
            <a:tailEnd type="triangle"/>
          </a:ln>
        </p:spPr>
      </p:sp>
      <p:sp>
        <p:nvSpPr>
          <p:cNvPr id="32" name="Shape 24"/>
          <p:cNvSpPr/>
          <p:nvPr/>
        </p:nvSpPr>
        <p:spPr>
          <a:xfrm>
            <a:off x="2103120" y="1865376"/>
            <a:ext cx="1499616" cy="768096"/>
          </a:xfrm>
          <a:prstGeom prst="roundRect">
            <a:avLst>
              <a:gd name="adj" fmla="val 9524"/>
            </a:avLst>
          </a:prstGeom>
          <a:solidFill>
            <a:srgbClr val="FFFFFF"/>
          </a:solidFill>
          <a:ln w="15875">
            <a:solidFill>
              <a:srgbClr val="4F46E5"/>
            </a:solidFill>
            <a:prstDash val="solid"/>
          </a:ln>
          <a:effectLst>
            <a:outerShdw sx="100000" sy="100000" kx="0" ky="0" algn="bl" rotWithShape="0" blurRad="127000" dist="25400" dir="5400000">
              <a:srgbClr val="0F172A">
                <a:alpha val="12000"/>
              </a:srgbClr>
            </a:outerShdw>
          </a:effectLst>
        </p:spPr>
      </p:sp>
      <p:sp>
        <p:nvSpPr>
          <p:cNvPr id="33" name="Shape 25"/>
          <p:cNvSpPr/>
          <p:nvPr/>
        </p:nvSpPr>
        <p:spPr>
          <a:xfrm>
            <a:off x="2176272" y="1938528"/>
            <a:ext cx="256032" cy="256032"/>
          </a:xfrm>
          <a:prstGeom prst="roundRect">
            <a:avLst>
              <a:gd name="adj" fmla="val 50000"/>
            </a:avLst>
          </a:prstGeom>
          <a:solidFill>
            <a:srgbClr val="4F46E5"/>
          </a:solidFill>
          <a:ln w="12700">
            <a:solidFill>
              <a:srgbClr val="4F46E5"/>
            </a:solidFill>
            <a:prstDash val="solid"/>
          </a:ln>
        </p:spPr>
      </p:sp>
      <p:sp>
        <p:nvSpPr>
          <p:cNvPr id="34" name="Text 26"/>
          <p:cNvSpPr txBox="1"/>
          <p:nvPr/>
        </p:nvSpPr>
        <p:spPr>
          <a:xfrm>
            <a:off x="2176272" y="19385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1</a:t>
            </a:r>
            <a:endParaRPr lang="en-US" sz="900" dirty="0"/>
          </a:p>
        </p:txBody>
      </p:sp>
      <p:sp>
        <p:nvSpPr>
          <p:cNvPr id="35" name="Text 27"/>
          <p:cNvSpPr txBox="1"/>
          <p:nvPr/>
        </p:nvSpPr>
        <p:spPr>
          <a:xfrm>
            <a:off x="2505456" y="1901952"/>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Picks a product, uploads documents</a:t>
            </a:r>
            <a:endParaRPr lang="en-US" sz="950" dirty="0"/>
          </a:p>
        </p:txBody>
      </p:sp>
      <p:sp>
        <p:nvSpPr>
          <p:cNvPr id="36" name="Shape 28"/>
          <p:cNvSpPr/>
          <p:nvPr/>
        </p:nvSpPr>
        <p:spPr>
          <a:xfrm>
            <a:off x="3108160" y="2980944"/>
            <a:ext cx="1499616" cy="768096"/>
          </a:xfrm>
          <a:prstGeom prst="roundRect">
            <a:avLst>
              <a:gd name="adj" fmla="val 9524"/>
            </a:avLst>
          </a:prstGeom>
          <a:solidFill>
            <a:srgbClr val="FFFFFF"/>
          </a:solidFill>
          <a:ln w="15875">
            <a:solidFill>
              <a:srgbClr val="E11D48"/>
            </a:solidFill>
            <a:prstDash val="solid"/>
          </a:ln>
          <a:effectLst>
            <a:outerShdw sx="100000" sy="100000" kx="0" ky="0" algn="bl" rotWithShape="0" blurRad="127000" dist="25400" dir="5400000">
              <a:srgbClr val="0F172A">
                <a:alpha val="12000"/>
              </a:srgbClr>
            </a:outerShdw>
          </a:effectLst>
        </p:spPr>
      </p:sp>
      <p:sp>
        <p:nvSpPr>
          <p:cNvPr id="37" name="Shape 29"/>
          <p:cNvSpPr/>
          <p:nvPr/>
        </p:nvSpPr>
        <p:spPr>
          <a:xfrm>
            <a:off x="3181312" y="3054096"/>
            <a:ext cx="256032" cy="256032"/>
          </a:xfrm>
          <a:prstGeom prst="roundRect">
            <a:avLst>
              <a:gd name="adj" fmla="val 50000"/>
            </a:avLst>
          </a:prstGeom>
          <a:solidFill>
            <a:srgbClr val="E11D48"/>
          </a:solidFill>
          <a:ln w="12700">
            <a:solidFill>
              <a:srgbClr val="E11D48"/>
            </a:solidFill>
            <a:prstDash val="solid"/>
          </a:ln>
        </p:spPr>
      </p:sp>
      <p:sp>
        <p:nvSpPr>
          <p:cNvPr id="38" name="Text 30"/>
          <p:cNvSpPr txBox="1"/>
          <p:nvPr/>
        </p:nvSpPr>
        <p:spPr>
          <a:xfrm>
            <a:off x="3181312" y="30540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2</a:t>
            </a:r>
            <a:endParaRPr lang="en-US" sz="900" dirty="0"/>
          </a:p>
        </p:txBody>
      </p:sp>
      <p:sp>
        <p:nvSpPr>
          <p:cNvPr id="39" name="Text 31"/>
          <p:cNvSpPr txBox="1"/>
          <p:nvPr/>
        </p:nvSpPr>
        <p:spPr>
          <a:xfrm>
            <a:off x="3510496" y="3017520"/>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Intake + masking read each file</a:t>
            </a:r>
            <a:endParaRPr lang="en-US" sz="950" dirty="0"/>
          </a:p>
        </p:txBody>
      </p:sp>
      <p:sp>
        <p:nvSpPr>
          <p:cNvPr id="40" name="Shape 32"/>
          <p:cNvSpPr/>
          <p:nvPr/>
        </p:nvSpPr>
        <p:spPr>
          <a:xfrm>
            <a:off x="4113200" y="1865376"/>
            <a:ext cx="1499616" cy="768096"/>
          </a:xfrm>
          <a:prstGeom prst="roundRect">
            <a:avLst>
              <a:gd name="adj" fmla="val 9524"/>
            </a:avLst>
          </a:prstGeom>
          <a:solidFill>
            <a:srgbClr val="FFFFFF"/>
          </a:solidFill>
          <a:ln w="15875">
            <a:solidFill>
              <a:srgbClr val="4F46E5"/>
            </a:solidFill>
            <a:prstDash val="solid"/>
          </a:ln>
          <a:effectLst>
            <a:outerShdw sx="100000" sy="100000" kx="0" ky="0" algn="bl" rotWithShape="0" blurRad="127000" dist="25400" dir="5400000">
              <a:srgbClr val="0F172A">
                <a:alpha val="12000"/>
              </a:srgbClr>
            </a:outerShdw>
          </a:effectLst>
        </p:spPr>
      </p:sp>
      <p:sp>
        <p:nvSpPr>
          <p:cNvPr id="41" name="Shape 33"/>
          <p:cNvSpPr/>
          <p:nvPr/>
        </p:nvSpPr>
        <p:spPr>
          <a:xfrm>
            <a:off x="4186352" y="1938528"/>
            <a:ext cx="256032" cy="256032"/>
          </a:xfrm>
          <a:prstGeom prst="roundRect">
            <a:avLst>
              <a:gd name="adj" fmla="val 50000"/>
            </a:avLst>
          </a:prstGeom>
          <a:solidFill>
            <a:srgbClr val="4F46E5"/>
          </a:solidFill>
          <a:ln w="12700">
            <a:solidFill>
              <a:srgbClr val="4F46E5"/>
            </a:solidFill>
            <a:prstDash val="solid"/>
          </a:ln>
        </p:spPr>
      </p:sp>
      <p:sp>
        <p:nvSpPr>
          <p:cNvPr id="42" name="Text 34"/>
          <p:cNvSpPr txBox="1"/>
          <p:nvPr/>
        </p:nvSpPr>
        <p:spPr>
          <a:xfrm>
            <a:off x="4186352" y="19385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3</a:t>
            </a:r>
            <a:endParaRPr lang="en-US" sz="900" dirty="0"/>
          </a:p>
        </p:txBody>
      </p:sp>
      <p:sp>
        <p:nvSpPr>
          <p:cNvPr id="43" name="Text 35"/>
          <p:cNvSpPr txBox="1"/>
          <p:nvPr/>
        </p:nvSpPr>
        <p:spPr>
          <a:xfrm>
            <a:off x="4515536" y="1901952"/>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Confirms fields, takes a selfie, submits</a:t>
            </a:r>
            <a:endParaRPr lang="en-US" sz="950" dirty="0"/>
          </a:p>
        </p:txBody>
      </p:sp>
      <p:sp>
        <p:nvSpPr>
          <p:cNvPr id="44" name="Shape 36"/>
          <p:cNvSpPr/>
          <p:nvPr/>
        </p:nvSpPr>
        <p:spPr>
          <a:xfrm>
            <a:off x="5118240" y="2980944"/>
            <a:ext cx="1499616" cy="768096"/>
          </a:xfrm>
          <a:prstGeom prst="roundRect">
            <a:avLst>
              <a:gd name="adj" fmla="val 9524"/>
            </a:avLst>
          </a:prstGeom>
          <a:solidFill>
            <a:srgbClr val="FFFFFF"/>
          </a:solidFill>
          <a:ln w="15875">
            <a:solidFill>
              <a:srgbClr val="E11D48"/>
            </a:solidFill>
            <a:prstDash val="solid"/>
          </a:ln>
          <a:effectLst>
            <a:outerShdw sx="100000" sy="100000" kx="0" ky="0" algn="bl" rotWithShape="0" blurRad="127000" dist="25400" dir="5400000">
              <a:srgbClr val="0F172A">
                <a:alpha val="12000"/>
              </a:srgbClr>
            </a:outerShdw>
          </a:effectLst>
        </p:spPr>
      </p:sp>
      <p:sp>
        <p:nvSpPr>
          <p:cNvPr id="45" name="Shape 37"/>
          <p:cNvSpPr/>
          <p:nvPr/>
        </p:nvSpPr>
        <p:spPr>
          <a:xfrm>
            <a:off x="5191392" y="3054096"/>
            <a:ext cx="256032" cy="256032"/>
          </a:xfrm>
          <a:prstGeom prst="roundRect">
            <a:avLst>
              <a:gd name="adj" fmla="val 50000"/>
            </a:avLst>
          </a:prstGeom>
          <a:solidFill>
            <a:srgbClr val="E11D48"/>
          </a:solidFill>
          <a:ln w="12700">
            <a:solidFill>
              <a:srgbClr val="E11D48"/>
            </a:solidFill>
            <a:prstDash val="solid"/>
          </a:ln>
        </p:spPr>
      </p:sp>
      <p:sp>
        <p:nvSpPr>
          <p:cNvPr id="46" name="Text 38"/>
          <p:cNvSpPr txBox="1"/>
          <p:nvPr/>
        </p:nvSpPr>
        <p:spPr>
          <a:xfrm>
            <a:off x="5191392" y="30540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4</a:t>
            </a:r>
            <a:endParaRPr lang="en-US" sz="900" dirty="0"/>
          </a:p>
        </p:txBody>
      </p:sp>
      <p:sp>
        <p:nvSpPr>
          <p:cNvPr id="47" name="Text 39"/>
          <p:cNvSpPr txBox="1"/>
          <p:nvPr/>
        </p:nvSpPr>
        <p:spPr>
          <a:xfrm>
            <a:off x="5520576" y="3017520"/>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Integrity, face, liveness, case assessment</a:t>
            </a:r>
            <a:endParaRPr lang="en-US" sz="950" dirty="0"/>
          </a:p>
        </p:txBody>
      </p:sp>
      <p:sp>
        <p:nvSpPr>
          <p:cNvPr id="48" name="Shape 40"/>
          <p:cNvSpPr/>
          <p:nvPr/>
        </p:nvSpPr>
        <p:spPr>
          <a:xfrm>
            <a:off x="6123280" y="4096512"/>
            <a:ext cx="1499616" cy="768096"/>
          </a:xfrm>
          <a:prstGeom prst="roundRect">
            <a:avLst>
              <a:gd name="adj" fmla="val 9524"/>
            </a:avLst>
          </a:prstGeom>
          <a:solidFill>
            <a:srgbClr val="FFFFFF"/>
          </a:solidFill>
          <a:ln w="15875">
            <a:solidFill>
              <a:srgbClr val="0F766E"/>
            </a:solidFill>
            <a:prstDash val="solid"/>
          </a:ln>
          <a:effectLst>
            <a:outerShdw sx="100000" sy="100000" kx="0" ky="0" algn="bl" rotWithShape="0" blurRad="127000" dist="25400" dir="5400000">
              <a:srgbClr val="0F172A">
                <a:alpha val="12000"/>
              </a:srgbClr>
            </a:outerShdw>
          </a:effectLst>
        </p:spPr>
      </p:sp>
      <p:sp>
        <p:nvSpPr>
          <p:cNvPr id="49" name="Shape 41"/>
          <p:cNvSpPr/>
          <p:nvPr/>
        </p:nvSpPr>
        <p:spPr>
          <a:xfrm>
            <a:off x="6196432" y="4169664"/>
            <a:ext cx="256032" cy="256032"/>
          </a:xfrm>
          <a:prstGeom prst="roundRect">
            <a:avLst>
              <a:gd name="adj" fmla="val 50000"/>
            </a:avLst>
          </a:prstGeom>
          <a:solidFill>
            <a:srgbClr val="0F766E"/>
          </a:solidFill>
          <a:ln w="12700">
            <a:solidFill>
              <a:srgbClr val="0F766E"/>
            </a:solidFill>
            <a:prstDash val="solid"/>
          </a:ln>
        </p:spPr>
      </p:sp>
      <p:sp>
        <p:nvSpPr>
          <p:cNvPr id="50" name="Text 42"/>
          <p:cNvSpPr txBox="1"/>
          <p:nvPr/>
        </p:nvSpPr>
        <p:spPr>
          <a:xfrm>
            <a:off x="6196432" y="41696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5</a:t>
            </a:r>
            <a:endParaRPr lang="en-US" sz="900" dirty="0"/>
          </a:p>
        </p:txBody>
      </p:sp>
      <p:sp>
        <p:nvSpPr>
          <p:cNvPr id="51" name="Text 43"/>
          <p:cNvSpPr txBox="1"/>
          <p:nvPr/>
        </p:nvSpPr>
        <p:spPr>
          <a:xfrm>
            <a:off x="6525616" y="4133088"/>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Reviews fraud report and policy check</a:t>
            </a:r>
            <a:endParaRPr lang="en-US" sz="950" dirty="0"/>
          </a:p>
        </p:txBody>
      </p:sp>
      <p:sp>
        <p:nvSpPr>
          <p:cNvPr id="52" name="Shape 44"/>
          <p:cNvSpPr/>
          <p:nvPr/>
        </p:nvSpPr>
        <p:spPr>
          <a:xfrm>
            <a:off x="7128319" y="2980944"/>
            <a:ext cx="1499616" cy="768096"/>
          </a:xfrm>
          <a:prstGeom prst="roundRect">
            <a:avLst>
              <a:gd name="adj" fmla="val 9524"/>
            </a:avLst>
          </a:prstGeom>
          <a:solidFill>
            <a:srgbClr val="FFFFFF"/>
          </a:solidFill>
          <a:ln w="15875">
            <a:solidFill>
              <a:srgbClr val="E11D48"/>
            </a:solidFill>
            <a:prstDash val="solid"/>
          </a:ln>
          <a:effectLst>
            <a:outerShdw sx="100000" sy="100000" kx="0" ky="0" algn="bl" rotWithShape="0" blurRad="127000" dist="25400" dir="5400000">
              <a:srgbClr val="0F172A">
                <a:alpha val="12000"/>
              </a:srgbClr>
            </a:outerShdw>
          </a:effectLst>
        </p:spPr>
      </p:sp>
      <p:sp>
        <p:nvSpPr>
          <p:cNvPr id="53" name="Shape 45"/>
          <p:cNvSpPr/>
          <p:nvPr/>
        </p:nvSpPr>
        <p:spPr>
          <a:xfrm>
            <a:off x="7201471" y="3054096"/>
            <a:ext cx="256032" cy="256032"/>
          </a:xfrm>
          <a:prstGeom prst="roundRect">
            <a:avLst>
              <a:gd name="adj" fmla="val 50000"/>
            </a:avLst>
          </a:prstGeom>
          <a:solidFill>
            <a:srgbClr val="E11D48"/>
          </a:solidFill>
          <a:ln w="12700">
            <a:solidFill>
              <a:srgbClr val="E11D48"/>
            </a:solidFill>
            <a:prstDash val="solid"/>
          </a:ln>
        </p:spPr>
      </p:sp>
      <p:sp>
        <p:nvSpPr>
          <p:cNvPr id="54" name="Text 46"/>
          <p:cNvSpPr txBox="1"/>
          <p:nvPr/>
        </p:nvSpPr>
        <p:spPr>
          <a:xfrm>
            <a:off x="7201471" y="30540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6</a:t>
            </a:r>
            <a:endParaRPr lang="en-US" sz="900" dirty="0"/>
          </a:p>
        </p:txBody>
      </p:sp>
      <p:sp>
        <p:nvSpPr>
          <p:cNvPr id="55" name="Text 47"/>
          <p:cNvSpPr txBox="1"/>
          <p:nvPr/>
        </p:nvSpPr>
        <p:spPr>
          <a:xfrm>
            <a:off x="7530655" y="3017520"/>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Underwriting crew drafts memo &amp; offer</a:t>
            </a:r>
            <a:endParaRPr lang="en-US" sz="950" dirty="0"/>
          </a:p>
        </p:txBody>
      </p:sp>
      <p:sp>
        <p:nvSpPr>
          <p:cNvPr id="56" name="Shape 48"/>
          <p:cNvSpPr/>
          <p:nvPr/>
        </p:nvSpPr>
        <p:spPr>
          <a:xfrm>
            <a:off x="8133359" y="4096512"/>
            <a:ext cx="1499616" cy="768096"/>
          </a:xfrm>
          <a:prstGeom prst="roundRect">
            <a:avLst>
              <a:gd name="adj" fmla="val 9524"/>
            </a:avLst>
          </a:prstGeom>
          <a:solidFill>
            <a:srgbClr val="FFFFFF"/>
          </a:solidFill>
          <a:ln w="15875">
            <a:solidFill>
              <a:srgbClr val="0F766E"/>
            </a:solidFill>
            <a:prstDash val="solid"/>
          </a:ln>
          <a:effectLst>
            <a:outerShdw sx="100000" sy="100000" kx="0" ky="0" algn="bl" rotWithShape="0" blurRad="127000" dist="25400" dir="5400000">
              <a:srgbClr val="0F172A">
                <a:alpha val="12000"/>
              </a:srgbClr>
            </a:outerShdw>
          </a:effectLst>
        </p:spPr>
      </p:sp>
      <p:sp>
        <p:nvSpPr>
          <p:cNvPr id="57" name="Shape 49"/>
          <p:cNvSpPr/>
          <p:nvPr/>
        </p:nvSpPr>
        <p:spPr>
          <a:xfrm>
            <a:off x="8206511" y="4169664"/>
            <a:ext cx="256032" cy="256032"/>
          </a:xfrm>
          <a:prstGeom prst="roundRect">
            <a:avLst>
              <a:gd name="adj" fmla="val 50000"/>
            </a:avLst>
          </a:prstGeom>
          <a:solidFill>
            <a:srgbClr val="0F766E"/>
          </a:solidFill>
          <a:ln w="12700">
            <a:solidFill>
              <a:srgbClr val="0F766E"/>
            </a:solidFill>
            <a:prstDash val="solid"/>
          </a:ln>
        </p:spPr>
      </p:sp>
      <p:sp>
        <p:nvSpPr>
          <p:cNvPr id="58" name="Text 50"/>
          <p:cNvSpPr txBox="1"/>
          <p:nvPr/>
        </p:nvSpPr>
        <p:spPr>
          <a:xfrm>
            <a:off x="8206511" y="41696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7</a:t>
            </a:r>
            <a:endParaRPr lang="en-US" sz="900" dirty="0"/>
          </a:p>
        </p:txBody>
      </p:sp>
      <p:sp>
        <p:nvSpPr>
          <p:cNvPr id="59" name="Text 51"/>
          <p:cNvSpPr txBox="1"/>
          <p:nvPr/>
        </p:nvSpPr>
        <p:spPr>
          <a:xfrm>
            <a:off x="8535695" y="4133088"/>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Recommends approve or reject</a:t>
            </a:r>
            <a:endParaRPr lang="en-US" sz="950" dirty="0"/>
          </a:p>
        </p:txBody>
      </p:sp>
      <p:sp>
        <p:nvSpPr>
          <p:cNvPr id="60" name="Shape 52"/>
          <p:cNvSpPr/>
          <p:nvPr/>
        </p:nvSpPr>
        <p:spPr>
          <a:xfrm>
            <a:off x="9138399" y="5212080"/>
            <a:ext cx="1499616" cy="768096"/>
          </a:xfrm>
          <a:prstGeom prst="roundRect">
            <a:avLst>
              <a:gd name="adj" fmla="val 9524"/>
            </a:avLst>
          </a:prstGeom>
          <a:solidFill>
            <a:srgbClr val="FFFFFF"/>
          </a:solidFill>
          <a:ln w="15875">
            <a:solidFill>
              <a:srgbClr val="D97706"/>
            </a:solidFill>
            <a:prstDash val="solid"/>
          </a:ln>
          <a:effectLst>
            <a:outerShdw sx="100000" sy="100000" kx="0" ky="0" algn="bl" rotWithShape="0" blurRad="127000" dist="25400" dir="5400000">
              <a:srgbClr val="0F172A">
                <a:alpha val="12000"/>
              </a:srgbClr>
            </a:outerShdw>
          </a:effectLst>
        </p:spPr>
      </p:sp>
      <p:sp>
        <p:nvSpPr>
          <p:cNvPr id="61" name="Shape 53"/>
          <p:cNvSpPr/>
          <p:nvPr/>
        </p:nvSpPr>
        <p:spPr>
          <a:xfrm>
            <a:off x="9211551" y="5285232"/>
            <a:ext cx="256032" cy="256032"/>
          </a:xfrm>
          <a:prstGeom prst="roundRect">
            <a:avLst>
              <a:gd name="adj" fmla="val 50000"/>
            </a:avLst>
          </a:prstGeom>
          <a:solidFill>
            <a:srgbClr val="D97706"/>
          </a:solidFill>
          <a:ln w="12700">
            <a:solidFill>
              <a:srgbClr val="D97706"/>
            </a:solidFill>
            <a:prstDash val="solid"/>
          </a:ln>
        </p:spPr>
      </p:sp>
      <p:sp>
        <p:nvSpPr>
          <p:cNvPr id="62" name="Text 54"/>
          <p:cNvSpPr txBox="1"/>
          <p:nvPr/>
        </p:nvSpPr>
        <p:spPr>
          <a:xfrm>
            <a:off x="9211551" y="52852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8</a:t>
            </a:r>
            <a:endParaRPr lang="en-US" sz="900" dirty="0"/>
          </a:p>
        </p:txBody>
      </p:sp>
      <p:sp>
        <p:nvSpPr>
          <p:cNvPr id="63" name="Text 55"/>
          <p:cNvSpPr txBox="1"/>
          <p:nvPr/>
        </p:nvSpPr>
        <p:spPr>
          <a:xfrm>
            <a:off x="9540735" y="5248656"/>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Approves above ₹5 lakh</a:t>
            </a:r>
            <a:endParaRPr lang="en-US" sz="950" dirty="0"/>
          </a:p>
        </p:txBody>
      </p:sp>
      <p:sp>
        <p:nvSpPr>
          <p:cNvPr id="64" name="Shape 56"/>
          <p:cNvSpPr/>
          <p:nvPr/>
        </p:nvSpPr>
        <p:spPr>
          <a:xfrm>
            <a:off x="10143439" y="1865376"/>
            <a:ext cx="1499616" cy="768096"/>
          </a:xfrm>
          <a:prstGeom prst="roundRect">
            <a:avLst>
              <a:gd name="adj" fmla="val 9524"/>
            </a:avLst>
          </a:prstGeom>
          <a:solidFill>
            <a:srgbClr val="FFFFFF"/>
          </a:solidFill>
          <a:ln w="15875">
            <a:solidFill>
              <a:srgbClr val="4F46E5"/>
            </a:solidFill>
            <a:prstDash val="solid"/>
          </a:ln>
          <a:effectLst>
            <a:outerShdw sx="100000" sy="100000" kx="0" ky="0" algn="bl" rotWithShape="0" blurRad="127000" dist="25400" dir="5400000">
              <a:srgbClr val="0F172A">
                <a:alpha val="12000"/>
              </a:srgbClr>
            </a:outerShdw>
          </a:effectLst>
        </p:spPr>
      </p:sp>
      <p:sp>
        <p:nvSpPr>
          <p:cNvPr id="65" name="Shape 57"/>
          <p:cNvSpPr/>
          <p:nvPr/>
        </p:nvSpPr>
        <p:spPr>
          <a:xfrm>
            <a:off x="10216591" y="1938528"/>
            <a:ext cx="256032" cy="256032"/>
          </a:xfrm>
          <a:prstGeom prst="roundRect">
            <a:avLst>
              <a:gd name="adj" fmla="val 50000"/>
            </a:avLst>
          </a:prstGeom>
          <a:solidFill>
            <a:srgbClr val="4F46E5"/>
          </a:solidFill>
          <a:ln w="12700">
            <a:solidFill>
              <a:srgbClr val="4F46E5"/>
            </a:solidFill>
            <a:prstDash val="solid"/>
          </a:ln>
        </p:spPr>
      </p:sp>
      <p:sp>
        <p:nvSpPr>
          <p:cNvPr id="66" name="Text 58"/>
          <p:cNvSpPr txBox="1"/>
          <p:nvPr/>
        </p:nvSpPr>
        <p:spPr>
          <a:xfrm>
            <a:off x="10216591" y="19385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Roboto" pitchFamily="34" charset="0"/>
                <a:ea typeface="Roboto" pitchFamily="34" charset="-122"/>
                <a:cs typeface="Roboto" pitchFamily="34" charset="-120"/>
              </a:rPr>
              <a:t>9</a:t>
            </a:r>
            <a:endParaRPr lang="en-US" sz="900" dirty="0"/>
          </a:p>
        </p:txBody>
      </p:sp>
      <p:sp>
        <p:nvSpPr>
          <p:cNvPr id="67" name="Text 59"/>
          <p:cNvSpPr txBox="1"/>
          <p:nvPr/>
        </p:nvSpPr>
        <p:spPr>
          <a:xfrm>
            <a:off x="10545775" y="1901952"/>
            <a:ext cx="1042416" cy="694944"/>
          </a:xfrm>
          <a:prstGeom prst="rect">
            <a:avLst/>
          </a:prstGeom>
          <a:noFill/>
          <a:ln/>
        </p:spPr>
        <p:txBody>
          <a:bodyPr wrap="square" lIns="0" tIns="0" rIns="0" bIns="0" rtlCol="0" anchor="ctr"/>
          <a:lstStyle/>
          <a:p>
            <a:pPr indent="0" marL="0">
              <a:buNone/>
            </a:pPr>
            <a:r>
              <a:rPr lang="en-US" sz="950" dirty="0">
                <a:solidFill>
                  <a:srgbClr val="0F172A"/>
                </a:solidFill>
                <a:latin typeface="Roboto" pitchFamily="34" charset="0"/>
                <a:ea typeface="Roboto" pitchFamily="34" charset="-122"/>
                <a:cs typeface="Roboto" pitchFamily="34" charset="-120"/>
              </a:rPr>
              <a:t>Receives and accepts the offer</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WORKFLOWS</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A real run through the wizard</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Captured from the app with a synthetic applicant (generated identity — no real personal data).</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26</a:t>
            </a:r>
            <a:endParaRPr lang="en-US" sz="900" dirty="0"/>
          </a:p>
        </p:txBody>
      </p:sp>
      <p:sp>
        <p:nvSpPr>
          <p:cNvPr id="8" name="Shape 4"/>
          <p:cNvSpPr/>
          <p:nvPr/>
        </p:nvSpPr>
        <p:spPr>
          <a:xfrm>
            <a:off x="1913839" y="1645920"/>
            <a:ext cx="292608" cy="292608"/>
          </a:xfrm>
          <a:prstGeom prst="roundRect">
            <a:avLst>
              <a:gd name="adj" fmla="val 50000"/>
            </a:avLst>
          </a:prstGeom>
          <a:solidFill>
            <a:srgbClr val="4F46E5"/>
          </a:solidFill>
          <a:ln w="12700">
            <a:solidFill>
              <a:srgbClr val="4F46E5"/>
            </a:solidFill>
            <a:prstDash val="solid"/>
          </a:ln>
        </p:spPr>
      </p:sp>
      <p:sp>
        <p:nvSpPr>
          <p:cNvPr id="9" name="Text 5"/>
          <p:cNvSpPr txBox="1"/>
          <p:nvPr/>
        </p:nvSpPr>
        <p:spPr>
          <a:xfrm>
            <a:off x="1913839" y="16459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1</a:t>
            </a:r>
            <a:endParaRPr lang="en-US" sz="1100" dirty="0"/>
          </a:p>
        </p:txBody>
      </p:sp>
      <p:sp>
        <p:nvSpPr>
          <p:cNvPr id="10" name="Text 6"/>
          <p:cNvSpPr txBox="1"/>
          <p:nvPr/>
        </p:nvSpPr>
        <p:spPr>
          <a:xfrm>
            <a:off x="2325319" y="1645920"/>
            <a:ext cx="4846320" cy="292608"/>
          </a:xfrm>
          <a:prstGeom prst="rect">
            <a:avLst/>
          </a:prstGeom>
          <a:noFill/>
          <a:ln/>
        </p:spPr>
        <p:txBody>
          <a:bodyPr wrap="square" lIns="0" tIns="0" rIns="0" bIns="0" rtlCol="0" anchor="ctr"/>
          <a:lstStyle/>
          <a:p>
            <a:pPr indent="0" marL="0">
              <a:buNone/>
            </a:pPr>
            <a:r>
              <a:rPr lang="en-US" sz="1250" b="1" dirty="0">
                <a:solidFill>
                  <a:srgbClr val="0F172A"/>
                </a:solidFill>
                <a:latin typeface="Roboto" pitchFamily="34" charset="0"/>
                <a:ea typeface="Roboto" pitchFamily="34" charset="-122"/>
                <a:cs typeface="Roboto" pitchFamily="34" charset="-120"/>
              </a:rPr>
              <a:t>Product checklist</a:t>
            </a:r>
            <a:endParaRPr lang="en-US" sz="1250" dirty="0"/>
          </a:p>
        </p:txBody>
      </p:sp>
      <p:sp>
        <p:nvSpPr>
          <p:cNvPr id="11" name="Shape 7"/>
          <p:cNvSpPr/>
          <p:nvPr/>
        </p:nvSpPr>
        <p:spPr>
          <a:xfrm>
            <a:off x="1913839" y="2011680"/>
            <a:ext cx="2710282" cy="1920240"/>
          </a:xfrm>
          <a:prstGeom prst="roundRect">
            <a:avLst>
              <a:gd name="adj" fmla="val 3333"/>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12" name="Shape 8"/>
          <p:cNvSpPr/>
          <p:nvPr/>
        </p:nvSpPr>
        <p:spPr>
          <a:xfrm>
            <a:off x="2032711" y="2089404"/>
            <a:ext cx="82296" cy="82296"/>
          </a:xfrm>
          <a:prstGeom prst="ellipse">
            <a:avLst/>
          </a:prstGeom>
          <a:solidFill>
            <a:srgbClr val="F87171"/>
          </a:solidFill>
          <a:ln w="12700">
            <a:solidFill>
              <a:srgbClr val="F87171"/>
            </a:solidFill>
            <a:prstDash val="solid"/>
          </a:ln>
        </p:spPr>
      </p:sp>
      <p:sp>
        <p:nvSpPr>
          <p:cNvPr id="13" name="Shape 9"/>
          <p:cNvSpPr/>
          <p:nvPr/>
        </p:nvSpPr>
        <p:spPr>
          <a:xfrm>
            <a:off x="2169871" y="2089404"/>
            <a:ext cx="82296" cy="82296"/>
          </a:xfrm>
          <a:prstGeom prst="ellipse">
            <a:avLst/>
          </a:prstGeom>
          <a:solidFill>
            <a:srgbClr val="FBBF24"/>
          </a:solidFill>
          <a:ln w="12700">
            <a:solidFill>
              <a:srgbClr val="FBBF24"/>
            </a:solidFill>
            <a:prstDash val="solid"/>
          </a:ln>
        </p:spPr>
      </p:sp>
      <p:sp>
        <p:nvSpPr>
          <p:cNvPr id="14" name="Shape 10"/>
          <p:cNvSpPr/>
          <p:nvPr/>
        </p:nvSpPr>
        <p:spPr>
          <a:xfrm>
            <a:off x="2307031" y="2089404"/>
            <a:ext cx="82296" cy="82296"/>
          </a:xfrm>
          <a:prstGeom prst="ellipse">
            <a:avLst/>
          </a:prstGeom>
          <a:solidFill>
            <a:srgbClr val="34D399"/>
          </a:solidFill>
          <a:ln w="12700">
            <a:solidFill>
              <a:srgbClr val="34D399"/>
            </a:solidFill>
            <a:prstDash val="solid"/>
          </a:ln>
        </p:spPr>
      </p:sp>
      <p:pic>
        <p:nvPicPr>
          <p:cNvPr id="15" name="Image 1" descr="C:\Users\shrey\AppData\Local\Temp\claude\D--novacinternship-finsight\87f4101b-bf26-4b28-976a-e637573d77e1\scratchpad\deck\img\wizard_required.png">    </p:cNvPr>
          <p:cNvPicPr>
            <a:picLocks noChangeAspect="1"/>
          </p:cNvPicPr>
          <p:nvPr/>
        </p:nvPicPr>
        <p:blipFill>
          <a:blip r:embed="rId2"/>
          <a:stretch>
            <a:fillRect/>
          </a:stretch>
        </p:blipFill>
        <p:spPr>
          <a:xfrm>
            <a:off x="1959559" y="2249424"/>
            <a:ext cx="2618842" cy="1636776"/>
          </a:xfrm>
          <a:prstGeom prst="rect">
            <a:avLst/>
          </a:prstGeom>
        </p:spPr>
      </p:pic>
      <p:sp>
        <p:nvSpPr>
          <p:cNvPr id="16" name="Shape 11"/>
          <p:cNvSpPr/>
          <p:nvPr/>
        </p:nvSpPr>
        <p:spPr>
          <a:xfrm>
            <a:off x="7091041" y="1645920"/>
            <a:ext cx="292608" cy="292608"/>
          </a:xfrm>
          <a:prstGeom prst="roundRect">
            <a:avLst>
              <a:gd name="adj" fmla="val 50000"/>
            </a:avLst>
          </a:prstGeom>
          <a:solidFill>
            <a:srgbClr val="4F46E5"/>
          </a:solidFill>
          <a:ln w="12700">
            <a:solidFill>
              <a:srgbClr val="4F46E5"/>
            </a:solidFill>
            <a:prstDash val="solid"/>
          </a:ln>
        </p:spPr>
      </p:sp>
      <p:sp>
        <p:nvSpPr>
          <p:cNvPr id="17" name="Text 12"/>
          <p:cNvSpPr txBox="1"/>
          <p:nvPr/>
        </p:nvSpPr>
        <p:spPr>
          <a:xfrm>
            <a:off x="7091041" y="16459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2</a:t>
            </a:r>
            <a:endParaRPr lang="en-US" sz="1100" dirty="0"/>
          </a:p>
        </p:txBody>
      </p:sp>
      <p:sp>
        <p:nvSpPr>
          <p:cNvPr id="18" name="Text 13"/>
          <p:cNvSpPr txBox="1"/>
          <p:nvPr/>
        </p:nvSpPr>
        <p:spPr>
          <a:xfrm>
            <a:off x="7502521" y="1645920"/>
            <a:ext cx="4846320" cy="292608"/>
          </a:xfrm>
          <a:prstGeom prst="rect">
            <a:avLst/>
          </a:prstGeom>
          <a:noFill/>
          <a:ln/>
        </p:spPr>
        <p:txBody>
          <a:bodyPr wrap="square" lIns="0" tIns="0" rIns="0" bIns="0" rtlCol="0" anchor="ctr"/>
          <a:lstStyle/>
          <a:p>
            <a:pPr indent="0" marL="0">
              <a:buNone/>
            </a:pPr>
            <a:r>
              <a:rPr lang="en-US" sz="1250" b="1" dirty="0">
                <a:solidFill>
                  <a:srgbClr val="0F172A"/>
                </a:solidFill>
                <a:latin typeface="Roboto" pitchFamily="34" charset="0"/>
                <a:ea typeface="Roboto" pitchFamily="34" charset="-122"/>
                <a:cs typeface="Roboto" pitchFamily="34" charset="-120"/>
              </a:rPr>
              <a:t>Fields read by the intake crew</a:t>
            </a:r>
            <a:endParaRPr lang="en-US" sz="1250" dirty="0"/>
          </a:p>
        </p:txBody>
      </p:sp>
      <p:sp>
        <p:nvSpPr>
          <p:cNvPr id="19" name="Shape 14"/>
          <p:cNvSpPr/>
          <p:nvPr/>
        </p:nvSpPr>
        <p:spPr>
          <a:xfrm>
            <a:off x="7091041" y="2011680"/>
            <a:ext cx="3602998" cy="1920240"/>
          </a:xfrm>
          <a:prstGeom prst="roundRect">
            <a:avLst>
              <a:gd name="adj" fmla="val 3333"/>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0" name="Shape 15"/>
          <p:cNvSpPr/>
          <p:nvPr/>
        </p:nvSpPr>
        <p:spPr>
          <a:xfrm>
            <a:off x="7209913" y="2089404"/>
            <a:ext cx="82296" cy="82296"/>
          </a:xfrm>
          <a:prstGeom prst="ellipse">
            <a:avLst/>
          </a:prstGeom>
          <a:solidFill>
            <a:srgbClr val="F87171"/>
          </a:solidFill>
          <a:ln w="12700">
            <a:solidFill>
              <a:srgbClr val="F87171"/>
            </a:solidFill>
            <a:prstDash val="solid"/>
          </a:ln>
        </p:spPr>
      </p:sp>
      <p:sp>
        <p:nvSpPr>
          <p:cNvPr id="21" name="Shape 16"/>
          <p:cNvSpPr/>
          <p:nvPr/>
        </p:nvSpPr>
        <p:spPr>
          <a:xfrm>
            <a:off x="7347073" y="2089404"/>
            <a:ext cx="82296" cy="82296"/>
          </a:xfrm>
          <a:prstGeom prst="ellipse">
            <a:avLst/>
          </a:prstGeom>
          <a:solidFill>
            <a:srgbClr val="FBBF24"/>
          </a:solidFill>
          <a:ln w="12700">
            <a:solidFill>
              <a:srgbClr val="FBBF24"/>
            </a:solidFill>
            <a:prstDash val="solid"/>
          </a:ln>
        </p:spPr>
      </p:sp>
      <p:sp>
        <p:nvSpPr>
          <p:cNvPr id="22" name="Shape 17"/>
          <p:cNvSpPr/>
          <p:nvPr/>
        </p:nvSpPr>
        <p:spPr>
          <a:xfrm>
            <a:off x="7484233" y="2089404"/>
            <a:ext cx="82296" cy="82296"/>
          </a:xfrm>
          <a:prstGeom prst="ellipse">
            <a:avLst/>
          </a:prstGeom>
          <a:solidFill>
            <a:srgbClr val="34D399"/>
          </a:solidFill>
          <a:ln w="12700">
            <a:solidFill>
              <a:srgbClr val="34D399"/>
            </a:solidFill>
            <a:prstDash val="solid"/>
          </a:ln>
        </p:spPr>
      </p:sp>
      <p:pic>
        <p:nvPicPr>
          <p:cNvPr id="23" name="Image 2" descr="C:\Users\shrey\AppData\Local\Temp\claude\D--novacinternship-finsight\87f4101b-bf26-4b28-976a-e637573d77e1\scratchpad\deck\img\wizard_extract.png">    </p:cNvPr>
          <p:cNvPicPr>
            <a:picLocks noChangeAspect="1"/>
          </p:cNvPicPr>
          <p:nvPr/>
        </p:nvPicPr>
        <p:blipFill>
          <a:blip r:embed="rId3"/>
          <a:stretch>
            <a:fillRect/>
          </a:stretch>
        </p:blipFill>
        <p:spPr>
          <a:xfrm>
            <a:off x="7136761" y="2249424"/>
            <a:ext cx="3511558" cy="1636776"/>
          </a:xfrm>
          <a:prstGeom prst="rect">
            <a:avLst/>
          </a:prstGeom>
        </p:spPr>
      </p:pic>
      <p:sp>
        <p:nvSpPr>
          <p:cNvPr id="24" name="Shape 18"/>
          <p:cNvSpPr/>
          <p:nvPr/>
        </p:nvSpPr>
        <p:spPr>
          <a:xfrm>
            <a:off x="899761" y="4023360"/>
            <a:ext cx="292608" cy="292608"/>
          </a:xfrm>
          <a:prstGeom prst="roundRect">
            <a:avLst>
              <a:gd name="adj" fmla="val 50000"/>
            </a:avLst>
          </a:prstGeom>
          <a:solidFill>
            <a:srgbClr val="4F46E5"/>
          </a:solidFill>
          <a:ln w="12700">
            <a:solidFill>
              <a:srgbClr val="4F46E5"/>
            </a:solidFill>
            <a:prstDash val="solid"/>
          </a:ln>
        </p:spPr>
      </p:sp>
      <p:sp>
        <p:nvSpPr>
          <p:cNvPr id="25" name="Text 19"/>
          <p:cNvSpPr txBox="1"/>
          <p:nvPr/>
        </p:nvSpPr>
        <p:spPr>
          <a:xfrm>
            <a:off x="899761" y="402336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3</a:t>
            </a:r>
            <a:endParaRPr lang="en-US" sz="1100" dirty="0"/>
          </a:p>
        </p:txBody>
      </p:sp>
      <p:sp>
        <p:nvSpPr>
          <p:cNvPr id="26" name="Text 20"/>
          <p:cNvSpPr txBox="1"/>
          <p:nvPr/>
        </p:nvSpPr>
        <p:spPr>
          <a:xfrm>
            <a:off x="1311241" y="4023360"/>
            <a:ext cx="4846320" cy="292608"/>
          </a:xfrm>
          <a:prstGeom prst="rect">
            <a:avLst/>
          </a:prstGeom>
          <a:noFill/>
          <a:ln/>
        </p:spPr>
        <p:txBody>
          <a:bodyPr wrap="square" lIns="0" tIns="0" rIns="0" bIns="0" rtlCol="0" anchor="ctr"/>
          <a:lstStyle/>
          <a:p>
            <a:pPr indent="0" marL="0">
              <a:buNone/>
            </a:pPr>
            <a:r>
              <a:rPr lang="en-US" sz="1250" b="1" dirty="0">
                <a:solidFill>
                  <a:srgbClr val="0F172A"/>
                </a:solidFill>
                <a:latin typeface="Roboto" pitchFamily="34" charset="0"/>
                <a:ea typeface="Roboto" pitchFamily="34" charset="-122"/>
                <a:cs typeface="Roboto" pitchFamily="34" charset="-120"/>
              </a:rPr>
              <a:t>Integrity: plain-language findings</a:t>
            </a:r>
            <a:endParaRPr lang="en-US" sz="1250" dirty="0"/>
          </a:p>
        </p:txBody>
      </p:sp>
      <p:sp>
        <p:nvSpPr>
          <p:cNvPr id="27" name="Shape 21"/>
          <p:cNvSpPr/>
          <p:nvPr/>
        </p:nvSpPr>
        <p:spPr>
          <a:xfrm>
            <a:off x="899761" y="4389120"/>
            <a:ext cx="4738438" cy="1920240"/>
          </a:xfrm>
          <a:prstGeom prst="roundRect">
            <a:avLst>
              <a:gd name="adj" fmla="val 3333"/>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8" name="Shape 22"/>
          <p:cNvSpPr/>
          <p:nvPr/>
        </p:nvSpPr>
        <p:spPr>
          <a:xfrm>
            <a:off x="1018633" y="4466844"/>
            <a:ext cx="82296" cy="82296"/>
          </a:xfrm>
          <a:prstGeom prst="ellipse">
            <a:avLst/>
          </a:prstGeom>
          <a:solidFill>
            <a:srgbClr val="F87171"/>
          </a:solidFill>
          <a:ln w="12700">
            <a:solidFill>
              <a:srgbClr val="F87171"/>
            </a:solidFill>
            <a:prstDash val="solid"/>
          </a:ln>
        </p:spPr>
      </p:sp>
      <p:sp>
        <p:nvSpPr>
          <p:cNvPr id="29" name="Shape 23"/>
          <p:cNvSpPr/>
          <p:nvPr/>
        </p:nvSpPr>
        <p:spPr>
          <a:xfrm>
            <a:off x="1155793" y="4466844"/>
            <a:ext cx="82296" cy="82296"/>
          </a:xfrm>
          <a:prstGeom prst="ellipse">
            <a:avLst/>
          </a:prstGeom>
          <a:solidFill>
            <a:srgbClr val="FBBF24"/>
          </a:solidFill>
          <a:ln w="12700">
            <a:solidFill>
              <a:srgbClr val="FBBF24"/>
            </a:solidFill>
            <a:prstDash val="solid"/>
          </a:ln>
        </p:spPr>
      </p:sp>
      <p:sp>
        <p:nvSpPr>
          <p:cNvPr id="30" name="Shape 24"/>
          <p:cNvSpPr/>
          <p:nvPr/>
        </p:nvSpPr>
        <p:spPr>
          <a:xfrm>
            <a:off x="1292953" y="4466844"/>
            <a:ext cx="82296" cy="82296"/>
          </a:xfrm>
          <a:prstGeom prst="ellipse">
            <a:avLst/>
          </a:prstGeom>
          <a:solidFill>
            <a:srgbClr val="34D399"/>
          </a:solidFill>
          <a:ln w="12700">
            <a:solidFill>
              <a:srgbClr val="34D399"/>
            </a:solidFill>
            <a:prstDash val="solid"/>
          </a:ln>
        </p:spPr>
      </p:sp>
      <p:pic>
        <p:nvPicPr>
          <p:cNvPr id="31" name="Image 3" descr="C:\Users\shrey\AppData\Local\Temp\claude\D--novacinternship-finsight\87f4101b-bf26-4b28-976a-e637573d77e1\scratchpad\deck\img\integrity_pan.png">    </p:cNvPr>
          <p:cNvPicPr>
            <a:picLocks noChangeAspect="1"/>
          </p:cNvPicPr>
          <p:nvPr/>
        </p:nvPicPr>
        <p:blipFill>
          <a:blip r:embed="rId4"/>
          <a:stretch>
            <a:fillRect/>
          </a:stretch>
        </p:blipFill>
        <p:spPr>
          <a:xfrm>
            <a:off x="945481" y="4626864"/>
            <a:ext cx="4646998" cy="1636776"/>
          </a:xfrm>
          <a:prstGeom prst="rect">
            <a:avLst/>
          </a:prstGeom>
        </p:spPr>
      </p:pic>
      <p:sp>
        <p:nvSpPr>
          <p:cNvPr id="32" name="Shape 25"/>
          <p:cNvSpPr/>
          <p:nvPr/>
        </p:nvSpPr>
        <p:spPr>
          <a:xfrm>
            <a:off x="6366856" y="4023360"/>
            <a:ext cx="292608" cy="292608"/>
          </a:xfrm>
          <a:prstGeom prst="roundRect">
            <a:avLst>
              <a:gd name="adj" fmla="val 50000"/>
            </a:avLst>
          </a:prstGeom>
          <a:solidFill>
            <a:srgbClr val="4F46E5"/>
          </a:solidFill>
          <a:ln w="12700">
            <a:solidFill>
              <a:srgbClr val="4F46E5"/>
            </a:solidFill>
            <a:prstDash val="solid"/>
          </a:ln>
        </p:spPr>
      </p:sp>
      <p:sp>
        <p:nvSpPr>
          <p:cNvPr id="33" name="Text 26"/>
          <p:cNvSpPr txBox="1"/>
          <p:nvPr/>
        </p:nvSpPr>
        <p:spPr>
          <a:xfrm>
            <a:off x="6366856" y="402336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4</a:t>
            </a:r>
            <a:endParaRPr lang="en-US" sz="1100" dirty="0"/>
          </a:p>
        </p:txBody>
      </p:sp>
      <p:sp>
        <p:nvSpPr>
          <p:cNvPr id="34" name="Text 27"/>
          <p:cNvSpPr txBox="1"/>
          <p:nvPr/>
        </p:nvSpPr>
        <p:spPr>
          <a:xfrm>
            <a:off x="6778336" y="4023360"/>
            <a:ext cx="4846320" cy="292608"/>
          </a:xfrm>
          <a:prstGeom prst="rect">
            <a:avLst/>
          </a:prstGeom>
          <a:noFill/>
          <a:ln/>
        </p:spPr>
        <p:txBody>
          <a:bodyPr wrap="square" lIns="0" tIns="0" rIns="0" bIns="0" rtlCol="0" anchor="ctr"/>
          <a:lstStyle/>
          <a:p>
            <a:pPr indent="0" marL="0">
              <a:buNone/>
            </a:pPr>
            <a:r>
              <a:rPr lang="en-US" sz="1250" b="1" dirty="0">
                <a:solidFill>
                  <a:srgbClr val="0F172A"/>
                </a:solidFill>
                <a:latin typeface="Roboto" pitchFamily="34" charset="0"/>
                <a:ea typeface="Roboto" pitchFamily="34" charset="-122"/>
                <a:cs typeface="Roboto" pitchFamily="34" charset="-120"/>
              </a:rPr>
              <a:t>Fraud &amp; policy assessment</a:t>
            </a:r>
            <a:endParaRPr lang="en-US" sz="1250" dirty="0"/>
          </a:p>
        </p:txBody>
      </p:sp>
      <p:sp>
        <p:nvSpPr>
          <p:cNvPr id="35" name="Shape 28"/>
          <p:cNvSpPr/>
          <p:nvPr/>
        </p:nvSpPr>
        <p:spPr>
          <a:xfrm>
            <a:off x="6366856" y="4389120"/>
            <a:ext cx="5051367" cy="1920240"/>
          </a:xfrm>
          <a:prstGeom prst="roundRect">
            <a:avLst>
              <a:gd name="adj" fmla="val 3333"/>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6" name="Shape 29"/>
          <p:cNvSpPr/>
          <p:nvPr/>
        </p:nvSpPr>
        <p:spPr>
          <a:xfrm>
            <a:off x="6485728" y="4466844"/>
            <a:ext cx="82296" cy="82296"/>
          </a:xfrm>
          <a:prstGeom prst="ellipse">
            <a:avLst/>
          </a:prstGeom>
          <a:solidFill>
            <a:srgbClr val="F87171"/>
          </a:solidFill>
          <a:ln w="12700">
            <a:solidFill>
              <a:srgbClr val="F87171"/>
            </a:solidFill>
            <a:prstDash val="solid"/>
          </a:ln>
        </p:spPr>
      </p:sp>
      <p:sp>
        <p:nvSpPr>
          <p:cNvPr id="37" name="Shape 30"/>
          <p:cNvSpPr/>
          <p:nvPr/>
        </p:nvSpPr>
        <p:spPr>
          <a:xfrm>
            <a:off x="6622888" y="4466844"/>
            <a:ext cx="82296" cy="82296"/>
          </a:xfrm>
          <a:prstGeom prst="ellipse">
            <a:avLst/>
          </a:prstGeom>
          <a:solidFill>
            <a:srgbClr val="FBBF24"/>
          </a:solidFill>
          <a:ln w="12700">
            <a:solidFill>
              <a:srgbClr val="FBBF24"/>
            </a:solidFill>
            <a:prstDash val="solid"/>
          </a:ln>
        </p:spPr>
      </p:sp>
      <p:sp>
        <p:nvSpPr>
          <p:cNvPr id="38" name="Shape 31"/>
          <p:cNvSpPr/>
          <p:nvPr/>
        </p:nvSpPr>
        <p:spPr>
          <a:xfrm>
            <a:off x="6760048" y="4466844"/>
            <a:ext cx="82296" cy="82296"/>
          </a:xfrm>
          <a:prstGeom prst="ellipse">
            <a:avLst/>
          </a:prstGeom>
          <a:solidFill>
            <a:srgbClr val="34D399"/>
          </a:solidFill>
          <a:ln w="12700">
            <a:solidFill>
              <a:srgbClr val="34D399"/>
            </a:solidFill>
            <a:prstDash val="solid"/>
          </a:ln>
        </p:spPr>
      </p:sp>
      <p:pic>
        <p:nvPicPr>
          <p:cNvPr id="39" name="Image 4" descr="C:\Users\shrey\AppData\Local\Temp\claude\D--novacinternship-finsight\87f4101b-bf26-4b28-976a-e637573d77e1\scratchpad\deck\img\assessment_top.png">    </p:cNvPr>
          <p:cNvPicPr>
            <a:picLocks noChangeAspect="1"/>
          </p:cNvPicPr>
          <p:nvPr/>
        </p:nvPicPr>
        <p:blipFill>
          <a:blip r:embed="rId5"/>
          <a:stretch>
            <a:fillRect/>
          </a:stretch>
        </p:blipFill>
        <p:spPr>
          <a:xfrm>
            <a:off x="6412576" y="4626864"/>
            <a:ext cx="4959927" cy="163677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04</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Trust &amp; control</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One gateway to every model, guardrails that are tested, and a trace of every step in SQL Server.</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1060704"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1060704"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LLM gateway</a:t>
            </a:r>
            <a:endParaRPr lang="en-US" sz="1200" dirty="0"/>
          </a:p>
        </p:txBody>
      </p:sp>
      <p:sp>
        <p:nvSpPr>
          <p:cNvPr id="8" name="Shape 6"/>
          <p:cNvSpPr/>
          <p:nvPr/>
        </p:nvSpPr>
        <p:spPr>
          <a:xfrm>
            <a:off x="1737360" y="5102352"/>
            <a:ext cx="987552"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737360" y="5102352"/>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Guardrails</a:t>
            </a:r>
            <a:endParaRPr lang="en-US" sz="1200" dirty="0"/>
          </a:p>
        </p:txBody>
      </p:sp>
      <p:sp>
        <p:nvSpPr>
          <p:cNvPr id="10" name="Shape 8"/>
          <p:cNvSpPr/>
          <p:nvPr/>
        </p:nvSpPr>
        <p:spPr>
          <a:xfrm>
            <a:off x="2852928" y="5102352"/>
            <a:ext cx="768096"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2852928" y="5102352"/>
            <a:ext cx="768096"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Tracing</a:t>
            </a:r>
            <a:endParaRPr lang="en-US" sz="1200" dirty="0"/>
          </a:p>
        </p:txBody>
      </p:sp>
      <p:sp>
        <p:nvSpPr>
          <p:cNvPr id="12" name="Shape 10"/>
          <p:cNvSpPr/>
          <p:nvPr/>
        </p:nvSpPr>
        <p:spPr>
          <a:xfrm>
            <a:off x="3749040" y="5102352"/>
            <a:ext cx="987552" cy="384048"/>
          </a:xfrm>
          <a:prstGeom prst="roundRect">
            <a:avLst>
              <a:gd name="adj" fmla="val 50000"/>
            </a:avLst>
          </a:prstGeom>
          <a:solidFill>
            <a:srgbClr val="1E293B"/>
          </a:solidFill>
          <a:ln w="12700">
            <a:solidFill>
              <a:srgbClr val="334155"/>
            </a:solidFill>
            <a:prstDash val="solid"/>
          </a:ln>
        </p:spPr>
      </p:sp>
      <p:sp>
        <p:nvSpPr>
          <p:cNvPr id="13" name="Text 11"/>
          <p:cNvSpPr txBox="1"/>
          <p:nvPr/>
        </p:nvSpPr>
        <p:spPr>
          <a:xfrm>
            <a:off x="3749040" y="5102352"/>
            <a:ext cx="987552"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Data model</a:t>
            </a:r>
            <a:endParaRPr lang="en-US" sz="1200" dirty="0"/>
          </a:p>
        </p:txBody>
      </p:sp>
      <p:sp>
        <p:nvSpPr>
          <p:cNvPr id="14" name="Shape 12"/>
          <p:cNvSpPr/>
          <p:nvPr/>
        </p:nvSpPr>
        <p:spPr>
          <a:xfrm>
            <a:off x="8549640" y="1600200"/>
            <a:ext cx="3108960" cy="3108960"/>
          </a:xfrm>
          <a:prstGeom prst="ellipse">
            <a:avLst/>
          </a:prstGeom>
          <a:solidFill>
            <a:srgbClr val="1E293B"/>
          </a:solidFill>
          <a:ln w="12700">
            <a:solidFill>
              <a:srgbClr val="334155"/>
            </a:solidFill>
            <a:prstDash val="solid"/>
          </a:ln>
        </p:spPr>
      </p:sp>
      <p:pic>
        <p:nvPicPr>
          <p:cNvPr id="15"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16"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17"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18" name="Text 1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TRUST &amp; CONTROL</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One gateway for every model call</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The Head Manager picks the model per agent, per lane or by default. The gateway enforces privacy and queues the calls.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28</a:t>
            </a:r>
            <a:endParaRPr lang="en-US" sz="900" dirty="0"/>
          </a:p>
        </p:txBody>
      </p:sp>
      <p:sp>
        <p:nvSpPr>
          <p:cNvPr id="8" name="Shape 4"/>
          <p:cNvSpPr/>
          <p:nvPr/>
        </p:nvSpPr>
        <p:spPr>
          <a:xfrm>
            <a:off x="548640" y="1783080"/>
            <a:ext cx="5029200" cy="731520"/>
          </a:xfrm>
          <a:prstGeom prst="roundRect">
            <a:avLst>
              <a:gd name="adj" fmla="val 10000"/>
            </a:avLst>
          </a:prstGeom>
          <a:solidFill>
            <a:srgbClr val="F8FAFC"/>
          </a:solidFill>
          <a:ln w="12700">
            <a:solidFill>
              <a:srgbClr val="E2E8F0"/>
            </a:solidFill>
            <a:prstDash val="solid"/>
          </a:ln>
        </p:spPr>
      </p:sp>
      <p:sp>
        <p:nvSpPr>
          <p:cNvPr id="9" name="Text 5"/>
          <p:cNvSpPr txBox="1"/>
          <p:nvPr/>
        </p:nvSpPr>
        <p:spPr>
          <a:xfrm>
            <a:off x="621792" y="1801368"/>
            <a:ext cx="4882896" cy="694944"/>
          </a:xfrm>
          <a:prstGeom prst="rect">
            <a:avLst/>
          </a:prstGeom>
          <a:noFill/>
          <a:ln/>
        </p:spPr>
        <p:txBody>
          <a:bodyPr wrap="square" lIns="0" tIns="0" rIns="0" bIns="0" rtlCol="0" anchor="ctr"/>
          <a:lstStyle/>
          <a:p>
            <a:pPr algn="ctr" indent="0" marL="0">
              <a:spcAft>
                <a:spcPts val="200"/>
              </a:spcAft>
              <a:buNone/>
            </a:pPr>
            <a:r>
              <a:rPr lang="en-US" sz="1200" b="1" dirty="0">
                <a:solidFill>
                  <a:srgbClr val="0F172A"/>
                </a:solidFill>
                <a:latin typeface="Roboto" pitchFamily="34" charset="0"/>
                <a:ea typeface="Roboto" pitchFamily="34" charset="-122"/>
                <a:cs typeface="Roboto" pitchFamily="34" charset="-120"/>
              </a:rPr>
              <a:t>Agent asks for a model</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gateway.chat(agent_id, …)</a:t>
            </a:r>
            <a:endParaRPr lang="en-US" sz="1200" dirty="0"/>
          </a:p>
        </p:txBody>
      </p:sp>
      <p:sp>
        <p:nvSpPr>
          <p:cNvPr id="10" name="Shape 6"/>
          <p:cNvSpPr/>
          <p:nvPr/>
        </p:nvSpPr>
        <p:spPr>
          <a:xfrm>
            <a:off x="3063240" y="2532888"/>
            <a:ext cx="0" cy="146304"/>
          </a:xfrm>
          <a:prstGeom prst="line">
            <a:avLst/>
          </a:prstGeom>
          <a:noFill/>
          <a:ln w="19050">
            <a:solidFill>
              <a:srgbClr val="94A3B8"/>
            </a:solidFill>
            <a:prstDash val="solid"/>
            <a:tailEnd type="triangle"/>
          </a:ln>
        </p:spPr>
      </p:sp>
      <p:sp>
        <p:nvSpPr>
          <p:cNvPr id="11" name="Shape 7"/>
          <p:cNvSpPr/>
          <p:nvPr/>
        </p:nvSpPr>
        <p:spPr>
          <a:xfrm>
            <a:off x="548640" y="2697480"/>
            <a:ext cx="5029200" cy="731520"/>
          </a:xfrm>
          <a:prstGeom prst="roundRect">
            <a:avLst>
              <a:gd name="adj" fmla="val 10000"/>
            </a:avLst>
          </a:prstGeom>
          <a:solidFill>
            <a:srgbClr val="FEF3C7"/>
          </a:solidFill>
          <a:ln w="12700">
            <a:solidFill>
              <a:srgbClr val="FCD34D"/>
            </a:solidFill>
            <a:prstDash val="solid"/>
          </a:ln>
        </p:spPr>
      </p:sp>
      <p:sp>
        <p:nvSpPr>
          <p:cNvPr id="12" name="Text 8"/>
          <p:cNvSpPr txBox="1"/>
          <p:nvPr/>
        </p:nvSpPr>
        <p:spPr>
          <a:xfrm>
            <a:off x="621792" y="2715768"/>
            <a:ext cx="4882896" cy="69494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1 · Resolve the model</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agent override → vision / text lane → default · snapshot per run</a:t>
            </a:r>
            <a:endParaRPr lang="en-US" sz="1200" dirty="0"/>
          </a:p>
        </p:txBody>
      </p:sp>
      <p:sp>
        <p:nvSpPr>
          <p:cNvPr id="13" name="Shape 9"/>
          <p:cNvSpPr/>
          <p:nvPr/>
        </p:nvSpPr>
        <p:spPr>
          <a:xfrm>
            <a:off x="3063240" y="3447288"/>
            <a:ext cx="0" cy="146304"/>
          </a:xfrm>
          <a:prstGeom prst="line">
            <a:avLst/>
          </a:prstGeom>
          <a:noFill/>
          <a:ln w="19050">
            <a:solidFill>
              <a:srgbClr val="94A3B8"/>
            </a:solidFill>
            <a:prstDash val="solid"/>
            <a:tailEnd type="triangle"/>
          </a:ln>
        </p:spPr>
      </p:sp>
      <p:sp>
        <p:nvSpPr>
          <p:cNvPr id="14" name="Shape 10"/>
          <p:cNvSpPr/>
          <p:nvPr/>
        </p:nvSpPr>
        <p:spPr>
          <a:xfrm>
            <a:off x="548640" y="3611880"/>
            <a:ext cx="5029200" cy="731520"/>
          </a:xfrm>
          <a:prstGeom prst="roundRect">
            <a:avLst>
              <a:gd name="adj" fmla="val 10000"/>
            </a:avLst>
          </a:prstGeom>
          <a:solidFill>
            <a:srgbClr val="FEF3C7"/>
          </a:solidFill>
          <a:ln w="12700">
            <a:solidFill>
              <a:srgbClr val="FCD34D"/>
            </a:solidFill>
            <a:prstDash val="solid"/>
          </a:ln>
        </p:spPr>
      </p:sp>
      <p:sp>
        <p:nvSpPr>
          <p:cNvPr id="15" name="Text 11"/>
          <p:cNvSpPr txBox="1"/>
          <p:nvPr/>
        </p:nvSpPr>
        <p:spPr>
          <a:xfrm>
            <a:off x="621792" y="3630168"/>
            <a:ext cx="4882896" cy="69494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2 · Privacy guard</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FORBID_HOSTED switch · Head acknowledgement · pseudonymised text for hosted</a:t>
            </a:r>
            <a:endParaRPr lang="en-US" sz="1200" dirty="0"/>
          </a:p>
        </p:txBody>
      </p:sp>
      <p:sp>
        <p:nvSpPr>
          <p:cNvPr id="16" name="Shape 12"/>
          <p:cNvSpPr/>
          <p:nvPr/>
        </p:nvSpPr>
        <p:spPr>
          <a:xfrm>
            <a:off x="3063240" y="4361688"/>
            <a:ext cx="0" cy="146304"/>
          </a:xfrm>
          <a:prstGeom prst="line">
            <a:avLst/>
          </a:prstGeom>
          <a:noFill/>
          <a:ln w="19050">
            <a:solidFill>
              <a:srgbClr val="94A3B8"/>
            </a:solidFill>
            <a:prstDash val="solid"/>
            <a:tailEnd type="triangle"/>
          </a:ln>
        </p:spPr>
      </p:sp>
      <p:sp>
        <p:nvSpPr>
          <p:cNvPr id="17" name="Shape 13"/>
          <p:cNvSpPr/>
          <p:nvPr/>
        </p:nvSpPr>
        <p:spPr>
          <a:xfrm>
            <a:off x="548640" y="4526280"/>
            <a:ext cx="5029200" cy="731520"/>
          </a:xfrm>
          <a:prstGeom prst="roundRect">
            <a:avLst>
              <a:gd name="adj" fmla="val 10000"/>
            </a:avLst>
          </a:prstGeom>
          <a:solidFill>
            <a:srgbClr val="FEF3C7"/>
          </a:solidFill>
          <a:ln w="12700">
            <a:solidFill>
              <a:srgbClr val="FCD34D"/>
            </a:solidFill>
            <a:prstDash val="solid"/>
          </a:ln>
        </p:spPr>
      </p:sp>
      <p:sp>
        <p:nvSpPr>
          <p:cNvPr id="18" name="Text 14"/>
          <p:cNvSpPr txBox="1"/>
          <p:nvPr/>
        </p:nvSpPr>
        <p:spPr>
          <a:xfrm>
            <a:off x="621792" y="4544568"/>
            <a:ext cx="4882896" cy="694944"/>
          </a:xfrm>
          <a:prstGeom prst="rect">
            <a:avLst/>
          </a:prstGeom>
          <a:noFill/>
          <a:ln/>
        </p:spPr>
        <p:txBody>
          <a:bodyPr wrap="square" lIns="0" tIns="0" rIns="0" bIns="0" rtlCol="0" anchor="ctr"/>
          <a:lstStyle/>
          <a:p>
            <a:pPr algn="ctr" indent="0" marL="0">
              <a:spcAft>
                <a:spcPts val="200"/>
              </a:spcAft>
              <a:buNone/>
            </a:pPr>
            <a:r>
              <a:rPr lang="en-US" sz="1200" b="1" dirty="0">
                <a:solidFill>
                  <a:srgbClr val="92400E"/>
                </a:solidFill>
                <a:latin typeface="Roboto" pitchFamily="34" charset="0"/>
                <a:ea typeface="Roboto" pitchFamily="34" charset="-122"/>
                <a:cs typeface="Roboto" pitchFamily="34" charset="-120"/>
              </a:rPr>
              <a:t>3 · LLM gate</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one slot per provider · priority queue · 180 s max wait</a:t>
            </a:r>
            <a:endParaRPr lang="en-US" sz="1200" dirty="0"/>
          </a:p>
        </p:txBody>
      </p:sp>
      <p:sp>
        <p:nvSpPr>
          <p:cNvPr id="19" name="Shape 15"/>
          <p:cNvSpPr/>
          <p:nvPr/>
        </p:nvSpPr>
        <p:spPr>
          <a:xfrm>
            <a:off x="3063240" y="5276088"/>
            <a:ext cx="0" cy="146304"/>
          </a:xfrm>
          <a:prstGeom prst="line">
            <a:avLst/>
          </a:prstGeom>
          <a:noFill/>
          <a:ln w="19050">
            <a:solidFill>
              <a:srgbClr val="94A3B8"/>
            </a:solidFill>
            <a:prstDash val="solid"/>
            <a:tailEnd type="triangle"/>
          </a:ln>
        </p:spPr>
      </p:sp>
      <p:sp>
        <p:nvSpPr>
          <p:cNvPr id="20" name="Shape 16"/>
          <p:cNvSpPr/>
          <p:nvPr/>
        </p:nvSpPr>
        <p:spPr>
          <a:xfrm flipH="1">
            <a:off x="1783080" y="5276088"/>
            <a:ext cx="1280160" cy="210312"/>
          </a:xfrm>
          <a:prstGeom prst="line">
            <a:avLst/>
          </a:prstGeom>
          <a:noFill/>
          <a:ln w="19050">
            <a:solidFill>
              <a:srgbClr val="94A3B8"/>
            </a:solidFill>
            <a:prstDash val="solid"/>
            <a:tailEnd type="triangle"/>
          </a:ln>
        </p:spPr>
      </p:sp>
      <p:sp>
        <p:nvSpPr>
          <p:cNvPr id="21" name="Shape 17"/>
          <p:cNvSpPr/>
          <p:nvPr/>
        </p:nvSpPr>
        <p:spPr>
          <a:xfrm>
            <a:off x="3063240" y="5276088"/>
            <a:ext cx="1280160" cy="210312"/>
          </a:xfrm>
          <a:prstGeom prst="line">
            <a:avLst/>
          </a:prstGeom>
          <a:noFill/>
          <a:ln w="19050">
            <a:solidFill>
              <a:srgbClr val="94A3B8"/>
            </a:solidFill>
            <a:prstDash val="solid"/>
            <a:tailEnd type="triangle"/>
          </a:ln>
        </p:spPr>
      </p:sp>
      <p:sp>
        <p:nvSpPr>
          <p:cNvPr id="22" name="Shape 18"/>
          <p:cNvSpPr/>
          <p:nvPr/>
        </p:nvSpPr>
        <p:spPr>
          <a:xfrm>
            <a:off x="548640" y="5504688"/>
            <a:ext cx="2423160" cy="822960"/>
          </a:xfrm>
          <a:prstGeom prst="roundRect">
            <a:avLst>
              <a:gd name="adj" fmla="val 8889"/>
            </a:avLst>
          </a:prstGeom>
          <a:solidFill>
            <a:srgbClr val="DCFCE7"/>
          </a:solidFill>
          <a:ln w="12700">
            <a:solidFill>
              <a:srgbClr val="86EFAC"/>
            </a:solidFill>
            <a:prstDash val="solid"/>
          </a:ln>
        </p:spPr>
      </p:sp>
      <p:sp>
        <p:nvSpPr>
          <p:cNvPr id="23" name="Text 19"/>
          <p:cNvSpPr txBox="1"/>
          <p:nvPr/>
        </p:nvSpPr>
        <p:spPr>
          <a:xfrm>
            <a:off x="621792" y="5522976"/>
            <a:ext cx="2276856" cy="786384"/>
          </a:xfrm>
          <a:prstGeom prst="rect">
            <a:avLst/>
          </a:prstGeom>
          <a:noFill/>
          <a:ln/>
        </p:spPr>
        <p:txBody>
          <a:bodyPr wrap="square" lIns="0" tIns="0" rIns="0" bIns="0" rtlCol="0" anchor="ctr"/>
          <a:lstStyle/>
          <a:p>
            <a:pPr algn="ctr" indent="0" marL="0">
              <a:spcAft>
                <a:spcPts val="200"/>
              </a:spcAft>
              <a:buNone/>
            </a:pPr>
            <a:r>
              <a:rPr lang="en-US" sz="1200" b="1" dirty="0">
                <a:solidFill>
                  <a:srgbClr val="166534"/>
                </a:solidFill>
                <a:latin typeface="Roboto" pitchFamily="34" charset="0"/>
                <a:ea typeface="Roboto" pitchFamily="34" charset="-122"/>
                <a:cs typeface="Roboto" pitchFamily="34" charset="-120"/>
              </a:rPr>
              <a:t>Ollama (local)</a:t>
            </a:r>
            <a:endParaRPr lang="en-US" sz="12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127.0.0.1 · pooled · images fitted to context</a:t>
            </a:r>
            <a:endParaRPr lang="en-US" sz="1200" dirty="0"/>
          </a:p>
        </p:txBody>
      </p:sp>
      <p:sp>
        <p:nvSpPr>
          <p:cNvPr id="24" name="Shape 20"/>
          <p:cNvSpPr/>
          <p:nvPr/>
        </p:nvSpPr>
        <p:spPr>
          <a:xfrm>
            <a:off x="3154680" y="5504688"/>
            <a:ext cx="2423160" cy="822960"/>
          </a:xfrm>
          <a:prstGeom prst="roundRect">
            <a:avLst>
              <a:gd name="adj" fmla="val 8889"/>
            </a:avLst>
          </a:prstGeom>
          <a:solidFill>
            <a:srgbClr val="F8FAFC"/>
          </a:solidFill>
          <a:ln w="12700">
            <a:solidFill>
              <a:srgbClr val="E2E8F0"/>
            </a:solidFill>
            <a:prstDash val="solid"/>
          </a:ln>
        </p:spPr>
      </p:sp>
      <p:sp>
        <p:nvSpPr>
          <p:cNvPr id="25" name="Text 21"/>
          <p:cNvSpPr txBox="1"/>
          <p:nvPr/>
        </p:nvSpPr>
        <p:spPr>
          <a:xfrm>
            <a:off x="3227832" y="5522976"/>
            <a:ext cx="2276856" cy="786384"/>
          </a:xfrm>
          <a:prstGeom prst="rect">
            <a:avLst/>
          </a:prstGeom>
          <a:noFill/>
          <a:ln/>
        </p:spPr>
        <p:txBody>
          <a:bodyPr wrap="square" lIns="0" tIns="0" rIns="0" bIns="0" rtlCol="0" anchor="ctr"/>
          <a:lstStyle/>
          <a:p>
            <a:pPr algn="ctr" indent="0" marL="0">
              <a:spcAft>
                <a:spcPts val="200"/>
              </a:spcAft>
              <a:buNone/>
            </a:pPr>
            <a:r>
              <a:rPr lang="en-US" sz="1200" b="1" dirty="0">
                <a:solidFill>
                  <a:srgbClr val="64748B"/>
                </a:solidFill>
                <a:latin typeface="Roboto" pitchFamily="34" charset="0"/>
                <a:ea typeface="Roboto" pitchFamily="34" charset="-122"/>
                <a:cs typeface="Roboto" pitchFamily="34" charset="-120"/>
              </a:rPr>
              <a:t>Anthropic Claude</a:t>
            </a:r>
            <a:endParaRPr lang="en-US" sz="12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optional · not configured today</a:t>
            </a:r>
            <a:endParaRPr lang="en-US" sz="1200" dirty="0"/>
          </a:p>
        </p:txBody>
      </p:sp>
      <p:sp>
        <p:nvSpPr>
          <p:cNvPr id="26" name="Shape 22"/>
          <p:cNvSpPr/>
          <p:nvPr/>
        </p:nvSpPr>
        <p:spPr>
          <a:xfrm>
            <a:off x="5897880" y="1783080"/>
            <a:ext cx="5742432" cy="3702314"/>
          </a:xfrm>
          <a:prstGeom prst="roundRect">
            <a:avLst>
              <a:gd name="adj" fmla="val 1729"/>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27" name="Shape 23"/>
          <p:cNvSpPr/>
          <p:nvPr/>
        </p:nvSpPr>
        <p:spPr>
          <a:xfrm>
            <a:off x="6016752" y="1860804"/>
            <a:ext cx="82296" cy="82296"/>
          </a:xfrm>
          <a:prstGeom prst="ellipse">
            <a:avLst/>
          </a:prstGeom>
          <a:solidFill>
            <a:srgbClr val="F87171"/>
          </a:solidFill>
          <a:ln w="12700">
            <a:solidFill>
              <a:srgbClr val="F87171"/>
            </a:solidFill>
            <a:prstDash val="solid"/>
          </a:ln>
        </p:spPr>
      </p:sp>
      <p:sp>
        <p:nvSpPr>
          <p:cNvPr id="28" name="Shape 24"/>
          <p:cNvSpPr/>
          <p:nvPr/>
        </p:nvSpPr>
        <p:spPr>
          <a:xfrm>
            <a:off x="6153912" y="1860804"/>
            <a:ext cx="82296" cy="82296"/>
          </a:xfrm>
          <a:prstGeom prst="ellipse">
            <a:avLst/>
          </a:prstGeom>
          <a:solidFill>
            <a:srgbClr val="FBBF24"/>
          </a:solidFill>
          <a:ln w="12700">
            <a:solidFill>
              <a:srgbClr val="FBBF24"/>
            </a:solidFill>
            <a:prstDash val="solid"/>
          </a:ln>
        </p:spPr>
      </p:sp>
      <p:sp>
        <p:nvSpPr>
          <p:cNvPr id="29" name="Shape 25"/>
          <p:cNvSpPr/>
          <p:nvPr/>
        </p:nvSpPr>
        <p:spPr>
          <a:xfrm>
            <a:off x="6291072" y="1860804"/>
            <a:ext cx="82296" cy="82296"/>
          </a:xfrm>
          <a:prstGeom prst="ellipse">
            <a:avLst/>
          </a:prstGeom>
          <a:solidFill>
            <a:srgbClr val="34D399"/>
          </a:solidFill>
          <a:ln w="12700">
            <a:solidFill>
              <a:srgbClr val="34D399"/>
            </a:solidFill>
            <a:prstDash val="solid"/>
          </a:ln>
        </p:spPr>
      </p:sp>
      <p:pic>
        <p:nvPicPr>
          <p:cNvPr id="30" name="Image 1" descr="C:\Users\shrey\AppData\Local\Temp\claude\D--novacinternship-finsight\87f4101b-bf26-4b28-976a-e637573d77e1\scratchpad\deck\img\settings_ai.png">    </p:cNvPr>
          <p:cNvPicPr>
            <a:picLocks noChangeAspect="1"/>
          </p:cNvPicPr>
          <p:nvPr/>
        </p:nvPicPr>
        <p:blipFill>
          <a:blip r:embed="rId2"/>
          <a:stretch>
            <a:fillRect/>
          </a:stretch>
        </p:blipFill>
        <p:spPr>
          <a:xfrm>
            <a:off x="5943600" y="2020824"/>
            <a:ext cx="5650992" cy="3418850"/>
          </a:xfrm>
          <a:prstGeom prst="rect">
            <a:avLst/>
          </a:prstGeom>
        </p:spPr>
      </p:pic>
      <p:sp>
        <p:nvSpPr>
          <p:cNvPr id="31" name="Text 26"/>
          <p:cNvSpPr txBox="1"/>
          <p:nvPr/>
        </p:nvSpPr>
        <p:spPr>
          <a:xfrm>
            <a:off x="5897880" y="5595122"/>
            <a:ext cx="5742432" cy="27432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System Settings › AI Models (Head only): default, lanes and a per-agent override table.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TRUST &amp; CONTROL</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Guardrails — each one pinned by a test</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The promises the design makes, and how each was verified.</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29</a:t>
            </a:r>
            <a:endParaRPr lang="en-US" sz="900" dirty="0"/>
          </a:p>
        </p:txBody>
      </p:sp>
      <p:sp>
        <p:nvSpPr>
          <p:cNvPr id="8" name="Shape 4"/>
          <p:cNvSpPr/>
          <p:nvPr/>
        </p:nvSpPr>
        <p:spPr>
          <a:xfrm>
            <a:off x="548640" y="1783080"/>
            <a:ext cx="2103120" cy="2103120"/>
          </a:xfrm>
          <a:prstGeom prst="roundRect">
            <a:avLst>
              <a:gd name="adj" fmla="val 4348"/>
            </a:avLst>
          </a:prstGeom>
          <a:solidFill>
            <a:srgbClr val="F8FAFC"/>
          </a:solidFill>
          <a:ln w="12700">
            <a:solidFill>
              <a:srgbClr val="E2E8F0"/>
            </a:solidFill>
            <a:prstDash val="solid"/>
          </a:ln>
        </p:spPr>
      </p:sp>
      <p:sp>
        <p:nvSpPr>
          <p:cNvPr id="9" name="Shape 5"/>
          <p:cNvSpPr/>
          <p:nvPr/>
        </p:nvSpPr>
        <p:spPr>
          <a:xfrm>
            <a:off x="731520" y="1965960"/>
            <a:ext cx="502920" cy="502920"/>
          </a:xfrm>
          <a:prstGeom prst="ellipse">
            <a:avLst/>
          </a:prstGeom>
          <a:solidFill>
            <a:srgbClr val="EEF2FF"/>
          </a:solidFill>
          <a:ln w="12700">
            <a:solidFill>
              <a:srgbClr val="EEF2FF"/>
            </a:solidFill>
            <a:prstDash val="solid"/>
          </a:ln>
        </p:spPr>
      </p:sp>
      <p:pic>
        <p:nvPicPr>
          <p:cNvPr id="10" name="Image 1" descr="preencoded.png">    </p:cNvPr>
          <p:cNvPicPr>
            <a:picLocks noChangeAspect="1"/>
          </p:cNvPicPr>
          <p:nvPr/>
        </p:nvPicPr>
        <p:blipFill>
          <a:blip r:embed="rId2"/>
          <a:stretch>
            <a:fillRect/>
          </a:stretch>
        </p:blipFill>
        <p:spPr>
          <a:xfrm>
            <a:off x="842162" y="2076602"/>
            <a:ext cx="281635" cy="281635"/>
          </a:xfrm>
          <a:prstGeom prst="rect">
            <a:avLst/>
          </a:prstGeom>
        </p:spPr>
      </p:pic>
      <p:sp>
        <p:nvSpPr>
          <p:cNvPr id="11" name="Text 6"/>
          <p:cNvSpPr txBox="1"/>
          <p:nvPr/>
        </p:nvSpPr>
        <p:spPr>
          <a:xfrm>
            <a:off x="731520" y="2560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LLM never sets a score</a:t>
            </a:r>
            <a:endParaRPr lang="en-US" sz="1250" dirty="0"/>
          </a:p>
        </p:txBody>
      </p:sp>
      <p:sp>
        <p:nvSpPr>
          <p:cNvPr id="12" name="Text 7"/>
          <p:cNvSpPr txBox="1"/>
          <p:nvPr/>
        </p:nvSpPr>
        <p:spPr>
          <a:xfrm>
            <a:off x="731520" y="2971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Scores, tiers and verdicts come from tools only.</a:t>
            </a:r>
            <a:endParaRPr lang="en-US" sz="1000" dirty="0"/>
          </a:p>
        </p:txBody>
      </p:sp>
      <p:pic>
        <p:nvPicPr>
          <p:cNvPr id="13" name="Image 2" descr="preencoded.png">    </p:cNvPr>
          <p:cNvPicPr>
            <a:picLocks noChangeAspect="1"/>
          </p:cNvPicPr>
          <p:nvPr/>
        </p:nvPicPr>
        <p:blipFill>
          <a:blip r:embed="rId3"/>
          <a:stretch>
            <a:fillRect/>
          </a:stretch>
        </p:blipFill>
        <p:spPr>
          <a:xfrm>
            <a:off x="731520" y="3557016"/>
            <a:ext cx="182880" cy="182880"/>
          </a:xfrm>
          <a:prstGeom prst="rect">
            <a:avLst/>
          </a:prstGeom>
        </p:spPr>
      </p:pic>
      <p:sp>
        <p:nvSpPr>
          <p:cNvPr id="14" name="Text 8"/>
          <p:cNvSpPr txBox="1"/>
          <p:nvPr/>
        </p:nvSpPr>
        <p:spPr>
          <a:xfrm>
            <a:off x="969264" y="3520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tier unchanged 40 / 40</a:t>
            </a:r>
            <a:endParaRPr lang="en-US" sz="950" dirty="0"/>
          </a:p>
        </p:txBody>
      </p:sp>
      <p:sp>
        <p:nvSpPr>
          <p:cNvPr id="15" name="Shape 9"/>
          <p:cNvSpPr/>
          <p:nvPr/>
        </p:nvSpPr>
        <p:spPr>
          <a:xfrm>
            <a:off x="2798064" y="1783080"/>
            <a:ext cx="2103120" cy="2103120"/>
          </a:xfrm>
          <a:prstGeom prst="roundRect">
            <a:avLst>
              <a:gd name="adj" fmla="val 4348"/>
            </a:avLst>
          </a:prstGeom>
          <a:solidFill>
            <a:srgbClr val="F8FAFC"/>
          </a:solidFill>
          <a:ln w="12700">
            <a:solidFill>
              <a:srgbClr val="E2E8F0"/>
            </a:solidFill>
            <a:prstDash val="solid"/>
          </a:ln>
        </p:spPr>
      </p:sp>
      <p:sp>
        <p:nvSpPr>
          <p:cNvPr id="16" name="Shape 10"/>
          <p:cNvSpPr/>
          <p:nvPr/>
        </p:nvSpPr>
        <p:spPr>
          <a:xfrm>
            <a:off x="2980944" y="1965960"/>
            <a:ext cx="502920" cy="502920"/>
          </a:xfrm>
          <a:prstGeom prst="ellipse">
            <a:avLst/>
          </a:prstGeom>
          <a:solidFill>
            <a:srgbClr val="EEF2FF"/>
          </a:solidFill>
          <a:ln w="12700">
            <a:solidFill>
              <a:srgbClr val="EEF2FF"/>
            </a:solidFill>
            <a:prstDash val="solid"/>
          </a:ln>
        </p:spPr>
      </p:sp>
      <p:pic>
        <p:nvPicPr>
          <p:cNvPr id="17" name="Image 3" descr="preencoded.png">    </p:cNvPr>
          <p:cNvPicPr>
            <a:picLocks noChangeAspect="1"/>
          </p:cNvPicPr>
          <p:nvPr/>
        </p:nvPicPr>
        <p:blipFill>
          <a:blip r:embed="rId4"/>
          <a:stretch>
            <a:fillRect/>
          </a:stretch>
        </p:blipFill>
        <p:spPr>
          <a:xfrm>
            <a:off x="3091586" y="2076602"/>
            <a:ext cx="281635" cy="281635"/>
          </a:xfrm>
          <a:prstGeom prst="rect">
            <a:avLst/>
          </a:prstGeom>
        </p:spPr>
      </p:pic>
      <p:sp>
        <p:nvSpPr>
          <p:cNvPr id="18" name="Text 11"/>
          <p:cNvSpPr txBox="1"/>
          <p:nvPr/>
        </p:nvSpPr>
        <p:spPr>
          <a:xfrm>
            <a:off x="2980944" y="2560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Grounding gate</a:t>
            </a:r>
            <a:endParaRPr lang="en-US" sz="1250" dirty="0"/>
          </a:p>
        </p:txBody>
      </p:sp>
      <p:sp>
        <p:nvSpPr>
          <p:cNvPr id="19" name="Text 12"/>
          <p:cNvSpPr txBox="1"/>
          <p:nvPr/>
        </p:nvSpPr>
        <p:spPr>
          <a:xfrm>
            <a:off x="2980944" y="2971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Every number ≥ 10 in model text must be in the evidence.</a:t>
            </a:r>
            <a:endParaRPr lang="en-US" sz="1000" dirty="0"/>
          </a:p>
        </p:txBody>
      </p:sp>
      <p:pic>
        <p:nvPicPr>
          <p:cNvPr id="20" name="Image 4" descr="preencoded.png">    </p:cNvPr>
          <p:cNvPicPr>
            <a:picLocks noChangeAspect="1"/>
          </p:cNvPicPr>
          <p:nvPr/>
        </p:nvPicPr>
        <p:blipFill>
          <a:blip r:embed="rId5"/>
          <a:stretch>
            <a:fillRect/>
          </a:stretch>
        </p:blipFill>
        <p:spPr>
          <a:xfrm>
            <a:off x="2980944" y="3557016"/>
            <a:ext cx="182880" cy="182880"/>
          </a:xfrm>
          <a:prstGeom prst="rect">
            <a:avLst/>
          </a:prstGeom>
        </p:spPr>
      </p:pic>
      <p:sp>
        <p:nvSpPr>
          <p:cNvPr id="21" name="Text 13"/>
          <p:cNvSpPr txBox="1"/>
          <p:nvPr/>
        </p:nvSpPr>
        <p:spPr>
          <a:xfrm>
            <a:off x="3218688" y="3520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ungrounded text dropped</a:t>
            </a:r>
            <a:endParaRPr lang="en-US" sz="950" dirty="0"/>
          </a:p>
        </p:txBody>
      </p:sp>
      <p:sp>
        <p:nvSpPr>
          <p:cNvPr id="22" name="Shape 14"/>
          <p:cNvSpPr/>
          <p:nvPr/>
        </p:nvSpPr>
        <p:spPr>
          <a:xfrm>
            <a:off x="5047488" y="1783080"/>
            <a:ext cx="2103120" cy="2103120"/>
          </a:xfrm>
          <a:prstGeom prst="roundRect">
            <a:avLst>
              <a:gd name="adj" fmla="val 4348"/>
            </a:avLst>
          </a:prstGeom>
          <a:solidFill>
            <a:srgbClr val="F8FAFC"/>
          </a:solidFill>
          <a:ln w="12700">
            <a:solidFill>
              <a:srgbClr val="E2E8F0"/>
            </a:solidFill>
            <a:prstDash val="solid"/>
          </a:ln>
        </p:spPr>
      </p:sp>
      <p:sp>
        <p:nvSpPr>
          <p:cNvPr id="23" name="Shape 15"/>
          <p:cNvSpPr/>
          <p:nvPr/>
        </p:nvSpPr>
        <p:spPr>
          <a:xfrm>
            <a:off x="5230368" y="1965960"/>
            <a:ext cx="502920" cy="502920"/>
          </a:xfrm>
          <a:prstGeom prst="ellipse">
            <a:avLst/>
          </a:prstGeom>
          <a:solidFill>
            <a:srgbClr val="EEF2FF"/>
          </a:solidFill>
          <a:ln w="12700">
            <a:solidFill>
              <a:srgbClr val="EEF2FF"/>
            </a:solidFill>
            <a:prstDash val="solid"/>
          </a:ln>
        </p:spPr>
      </p:sp>
      <p:pic>
        <p:nvPicPr>
          <p:cNvPr id="24" name="Image 5" descr="preencoded.png">    </p:cNvPr>
          <p:cNvPicPr>
            <a:picLocks noChangeAspect="1"/>
          </p:cNvPicPr>
          <p:nvPr/>
        </p:nvPicPr>
        <p:blipFill>
          <a:blip r:embed="rId6"/>
          <a:stretch>
            <a:fillRect/>
          </a:stretch>
        </p:blipFill>
        <p:spPr>
          <a:xfrm>
            <a:off x="5341010" y="2076602"/>
            <a:ext cx="281635" cy="281635"/>
          </a:xfrm>
          <a:prstGeom prst="rect">
            <a:avLst/>
          </a:prstGeom>
        </p:spPr>
      </p:pic>
      <p:sp>
        <p:nvSpPr>
          <p:cNvPr id="25" name="Text 16"/>
          <p:cNvSpPr txBox="1"/>
          <p:nvPr/>
        </p:nvSpPr>
        <p:spPr>
          <a:xfrm>
            <a:off x="5230368" y="2560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Tighten-only supervisor</a:t>
            </a:r>
            <a:endParaRPr lang="en-US" sz="1250" dirty="0"/>
          </a:p>
        </p:txBody>
      </p:sp>
      <p:sp>
        <p:nvSpPr>
          <p:cNvPr id="26" name="Text 17"/>
          <p:cNvSpPr txBox="1"/>
          <p:nvPr/>
        </p:nvSpPr>
        <p:spPr>
          <a:xfrm>
            <a:off x="5230368" y="2971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May make the next step stricter, never looser.</a:t>
            </a:r>
            <a:endParaRPr lang="en-US" sz="1000" dirty="0"/>
          </a:p>
        </p:txBody>
      </p:sp>
      <p:pic>
        <p:nvPicPr>
          <p:cNvPr id="27" name="Image 6" descr="preencoded.png">    </p:cNvPr>
          <p:cNvPicPr>
            <a:picLocks noChangeAspect="1"/>
          </p:cNvPicPr>
          <p:nvPr/>
        </p:nvPicPr>
        <p:blipFill>
          <a:blip r:embed="rId7"/>
          <a:stretch>
            <a:fillRect/>
          </a:stretch>
        </p:blipFill>
        <p:spPr>
          <a:xfrm>
            <a:off x="5230368" y="3557016"/>
            <a:ext cx="182880" cy="182880"/>
          </a:xfrm>
          <a:prstGeom prst="rect">
            <a:avLst/>
          </a:prstGeom>
        </p:spPr>
      </p:pic>
      <p:sp>
        <p:nvSpPr>
          <p:cNvPr id="28" name="Text 18"/>
          <p:cNvSpPr txBox="1"/>
          <p:nvPr/>
        </p:nvSpPr>
        <p:spPr>
          <a:xfrm>
            <a:off x="5468112" y="3520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1 loosening attempt blocked</a:t>
            </a:r>
            <a:endParaRPr lang="en-US" sz="950" dirty="0"/>
          </a:p>
        </p:txBody>
      </p:sp>
      <p:sp>
        <p:nvSpPr>
          <p:cNvPr id="29" name="Shape 19"/>
          <p:cNvSpPr/>
          <p:nvPr/>
        </p:nvSpPr>
        <p:spPr>
          <a:xfrm>
            <a:off x="7296912" y="1783080"/>
            <a:ext cx="2103120" cy="2103120"/>
          </a:xfrm>
          <a:prstGeom prst="roundRect">
            <a:avLst>
              <a:gd name="adj" fmla="val 4348"/>
            </a:avLst>
          </a:prstGeom>
          <a:solidFill>
            <a:srgbClr val="F8FAFC"/>
          </a:solidFill>
          <a:ln w="12700">
            <a:solidFill>
              <a:srgbClr val="E2E8F0"/>
            </a:solidFill>
            <a:prstDash val="solid"/>
          </a:ln>
        </p:spPr>
      </p:sp>
      <p:sp>
        <p:nvSpPr>
          <p:cNvPr id="30" name="Shape 20"/>
          <p:cNvSpPr/>
          <p:nvPr/>
        </p:nvSpPr>
        <p:spPr>
          <a:xfrm>
            <a:off x="7479792" y="1965960"/>
            <a:ext cx="502920" cy="502920"/>
          </a:xfrm>
          <a:prstGeom prst="ellipse">
            <a:avLst/>
          </a:prstGeom>
          <a:solidFill>
            <a:srgbClr val="EEF2FF"/>
          </a:solidFill>
          <a:ln w="12700">
            <a:solidFill>
              <a:srgbClr val="EEF2FF"/>
            </a:solidFill>
            <a:prstDash val="solid"/>
          </a:ln>
        </p:spPr>
      </p:sp>
      <p:pic>
        <p:nvPicPr>
          <p:cNvPr id="31" name="Image 7" descr="preencoded.png">    </p:cNvPr>
          <p:cNvPicPr>
            <a:picLocks noChangeAspect="1"/>
          </p:cNvPicPr>
          <p:nvPr/>
        </p:nvPicPr>
        <p:blipFill>
          <a:blip r:embed="rId8"/>
          <a:stretch>
            <a:fillRect/>
          </a:stretch>
        </p:blipFill>
        <p:spPr>
          <a:xfrm>
            <a:off x="7590434" y="2076602"/>
            <a:ext cx="281635" cy="281635"/>
          </a:xfrm>
          <a:prstGeom prst="rect">
            <a:avLst/>
          </a:prstGeom>
        </p:spPr>
      </p:pic>
      <p:sp>
        <p:nvSpPr>
          <p:cNvPr id="32" name="Text 21"/>
          <p:cNvSpPr txBox="1"/>
          <p:nvPr/>
        </p:nvSpPr>
        <p:spPr>
          <a:xfrm>
            <a:off x="7479792" y="2560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Nothing auto-rejects</a:t>
            </a:r>
            <a:endParaRPr lang="en-US" sz="1250" dirty="0"/>
          </a:p>
        </p:txBody>
      </p:sp>
      <p:sp>
        <p:nvSpPr>
          <p:cNvPr id="33" name="Text 22"/>
          <p:cNvSpPr txBox="1"/>
          <p:nvPr/>
        </p:nvSpPr>
        <p:spPr>
          <a:xfrm>
            <a:off x="7479792" y="2971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Advisory routes only; above ₹5 lakh needs the Head.</a:t>
            </a:r>
            <a:endParaRPr lang="en-US" sz="1000" dirty="0"/>
          </a:p>
        </p:txBody>
      </p:sp>
      <p:pic>
        <p:nvPicPr>
          <p:cNvPr id="34" name="Image 8" descr="preencoded.png">    </p:cNvPr>
          <p:cNvPicPr>
            <a:picLocks noChangeAspect="1"/>
          </p:cNvPicPr>
          <p:nvPr/>
        </p:nvPicPr>
        <p:blipFill>
          <a:blip r:embed="rId9"/>
          <a:stretch>
            <a:fillRect/>
          </a:stretch>
        </p:blipFill>
        <p:spPr>
          <a:xfrm>
            <a:off x="7479792" y="3557016"/>
            <a:ext cx="182880" cy="182880"/>
          </a:xfrm>
          <a:prstGeom prst="rect">
            <a:avLst/>
          </a:prstGeom>
        </p:spPr>
      </p:pic>
      <p:sp>
        <p:nvSpPr>
          <p:cNvPr id="35" name="Text 23"/>
          <p:cNvSpPr txBox="1"/>
          <p:nvPr/>
        </p:nvSpPr>
        <p:spPr>
          <a:xfrm>
            <a:off x="7717536" y="3520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router guard test</a:t>
            </a:r>
            <a:endParaRPr lang="en-US" sz="950" dirty="0"/>
          </a:p>
        </p:txBody>
      </p:sp>
      <p:sp>
        <p:nvSpPr>
          <p:cNvPr id="36" name="Shape 24"/>
          <p:cNvSpPr/>
          <p:nvPr/>
        </p:nvSpPr>
        <p:spPr>
          <a:xfrm>
            <a:off x="9546336" y="1783080"/>
            <a:ext cx="2103120" cy="2103120"/>
          </a:xfrm>
          <a:prstGeom prst="roundRect">
            <a:avLst>
              <a:gd name="adj" fmla="val 4348"/>
            </a:avLst>
          </a:prstGeom>
          <a:solidFill>
            <a:srgbClr val="F8FAFC"/>
          </a:solidFill>
          <a:ln w="12700">
            <a:solidFill>
              <a:srgbClr val="E2E8F0"/>
            </a:solidFill>
            <a:prstDash val="solid"/>
          </a:ln>
        </p:spPr>
      </p:sp>
      <p:sp>
        <p:nvSpPr>
          <p:cNvPr id="37" name="Shape 25"/>
          <p:cNvSpPr/>
          <p:nvPr/>
        </p:nvSpPr>
        <p:spPr>
          <a:xfrm>
            <a:off x="9729216" y="1965960"/>
            <a:ext cx="502920" cy="502920"/>
          </a:xfrm>
          <a:prstGeom prst="ellipse">
            <a:avLst/>
          </a:prstGeom>
          <a:solidFill>
            <a:srgbClr val="EEF2FF"/>
          </a:solidFill>
          <a:ln w="12700">
            <a:solidFill>
              <a:srgbClr val="EEF2FF"/>
            </a:solidFill>
            <a:prstDash val="solid"/>
          </a:ln>
        </p:spPr>
      </p:sp>
      <p:pic>
        <p:nvPicPr>
          <p:cNvPr id="38" name="Image 9" descr="preencoded.png">    </p:cNvPr>
          <p:cNvPicPr>
            <a:picLocks noChangeAspect="1"/>
          </p:cNvPicPr>
          <p:nvPr/>
        </p:nvPicPr>
        <p:blipFill>
          <a:blip r:embed="rId10"/>
          <a:stretch>
            <a:fillRect/>
          </a:stretch>
        </p:blipFill>
        <p:spPr>
          <a:xfrm>
            <a:off x="9839858" y="2076602"/>
            <a:ext cx="281635" cy="281635"/>
          </a:xfrm>
          <a:prstGeom prst="rect">
            <a:avLst/>
          </a:prstGeom>
        </p:spPr>
      </p:pic>
      <p:sp>
        <p:nvSpPr>
          <p:cNvPr id="39" name="Text 26"/>
          <p:cNvSpPr txBox="1"/>
          <p:nvPr/>
        </p:nvSpPr>
        <p:spPr>
          <a:xfrm>
            <a:off x="9729216" y="2560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No side-effect tools</a:t>
            </a:r>
            <a:endParaRPr lang="en-US" sz="1250" dirty="0"/>
          </a:p>
        </p:txBody>
      </p:sp>
      <p:sp>
        <p:nvSpPr>
          <p:cNvPr id="40" name="Text 27"/>
          <p:cNvSpPr txBox="1"/>
          <p:nvPr/>
        </p:nvSpPr>
        <p:spPr>
          <a:xfrm>
            <a:off x="9729216" y="2971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No agent can approve, reject, file, accept or send.</a:t>
            </a:r>
            <a:endParaRPr lang="en-US" sz="1000" dirty="0"/>
          </a:p>
        </p:txBody>
      </p:sp>
      <p:pic>
        <p:nvPicPr>
          <p:cNvPr id="41" name="Image 10" descr="preencoded.png">    </p:cNvPr>
          <p:cNvPicPr>
            <a:picLocks noChangeAspect="1"/>
          </p:cNvPicPr>
          <p:nvPr/>
        </p:nvPicPr>
        <p:blipFill>
          <a:blip r:embed="rId11"/>
          <a:stretch>
            <a:fillRect/>
          </a:stretch>
        </p:blipFill>
        <p:spPr>
          <a:xfrm>
            <a:off x="9729216" y="3557016"/>
            <a:ext cx="182880" cy="182880"/>
          </a:xfrm>
          <a:prstGeom prst="rect">
            <a:avLst/>
          </a:prstGeom>
        </p:spPr>
      </p:pic>
      <p:sp>
        <p:nvSpPr>
          <p:cNvPr id="42" name="Text 28"/>
          <p:cNvSpPr txBox="1"/>
          <p:nvPr/>
        </p:nvSpPr>
        <p:spPr>
          <a:xfrm>
            <a:off x="9966960" y="3520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checked on all 29</a:t>
            </a:r>
            <a:endParaRPr lang="en-US" sz="950" dirty="0"/>
          </a:p>
        </p:txBody>
      </p:sp>
      <p:sp>
        <p:nvSpPr>
          <p:cNvPr id="43" name="Shape 29"/>
          <p:cNvSpPr/>
          <p:nvPr/>
        </p:nvSpPr>
        <p:spPr>
          <a:xfrm>
            <a:off x="548640" y="4069080"/>
            <a:ext cx="2103120" cy="2103120"/>
          </a:xfrm>
          <a:prstGeom prst="roundRect">
            <a:avLst>
              <a:gd name="adj" fmla="val 4348"/>
            </a:avLst>
          </a:prstGeom>
          <a:solidFill>
            <a:srgbClr val="F8FAFC"/>
          </a:solidFill>
          <a:ln w="12700">
            <a:solidFill>
              <a:srgbClr val="E2E8F0"/>
            </a:solidFill>
            <a:prstDash val="solid"/>
          </a:ln>
        </p:spPr>
      </p:sp>
      <p:sp>
        <p:nvSpPr>
          <p:cNvPr id="44" name="Shape 30"/>
          <p:cNvSpPr/>
          <p:nvPr/>
        </p:nvSpPr>
        <p:spPr>
          <a:xfrm>
            <a:off x="731520" y="4251960"/>
            <a:ext cx="502920" cy="502920"/>
          </a:xfrm>
          <a:prstGeom prst="ellipse">
            <a:avLst/>
          </a:prstGeom>
          <a:solidFill>
            <a:srgbClr val="EEF2FF"/>
          </a:solidFill>
          <a:ln w="12700">
            <a:solidFill>
              <a:srgbClr val="EEF2FF"/>
            </a:solidFill>
            <a:prstDash val="solid"/>
          </a:ln>
        </p:spPr>
      </p:sp>
      <p:pic>
        <p:nvPicPr>
          <p:cNvPr id="45" name="Image 11" descr="preencoded.png">    </p:cNvPr>
          <p:cNvPicPr>
            <a:picLocks noChangeAspect="1"/>
          </p:cNvPicPr>
          <p:nvPr/>
        </p:nvPicPr>
        <p:blipFill>
          <a:blip r:embed="rId12"/>
          <a:stretch>
            <a:fillRect/>
          </a:stretch>
        </p:blipFill>
        <p:spPr>
          <a:xfrm>
            <a:off x="842162" y="4362602"/>
            <a:ext cx="281635" cy="281635"/>
          </a:xfrm>
          <a:prstGeom prst="rect">
            <a:avLst/>
          </a:prstGeom>
        </p:spPr>
      </p:pic>
      <p:sp>
        <p:nvSpPr>
          <p:cNvPr id="46" name="Text 31"/>
          <p:cNvSpPr txBox="1"/>
          <p:nvPr/>
        </p:nvSpPr>
        <p:spPr>
          <a:xfrm>
            <a:off x="731520" y="4846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LLM budget per path</a:t>
            </a:r>
            <a:endParaRPr lang="en-US" sz="1250" dirty="0"/>
          </a:p>
        </p:txBody>
      </p:sp>
      <p:sp>
        <p:nvSpPr>
          <p:cNvPr id="47" name="Text 32"/>
          <p:cNvSpPr txBox="1"/>
          <p:nvPr/>
        </p:nvSpPr>
        <p:spPr>
          <a:xfrm>
            <a:off x="731520" y="5257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/extract ≤ 1 call; masking, face and assessment 0.</a:t>
            </a:r>
            <a:endParaRPr lang="en-US" sz="1000" dirty="0"/>
          </a:p>
        </p:txBody>
      </p:sp>
      <p:pic>
        <p:nvPicPr>
          <p:cNvPr id="48" name="Image 12" descr="preencoded.png">    </p:cNvPr>
          <p:cNvPicPr>
            <a:picLocks noChangeAspect="1"/>
          </p:cNvPicPr>
          <p:nvPr/>
        </p:nvPicPr>
        <p:blipFill>
          <a:blip r:embed="rId13"/>
          <a:stretch>
            <a:fillRect/>
          </a:stretch>
        </p:blipFill>
        <p:spPr>
          <a:xfrm>
            <a:off x="731520" y="5843016"/>
            <a:ext cx="182880" cy="182880"/>
          </a:xfrm>
          <a:prstGeom prst="rect">
            <a:avLst/>
          </a:prstGeom>
        </p:spPr>
      </p:pic>
      <p:sp>
        <p:nvSpPr>
          <p:cNvPr id="49" name="Text 33"/>
          <p:cNvSpPr txBox="1"/>
          <p:nvPr/>
        </p:nvSpPr>
        <p:spPr>
          <a:xfrm>
            <a:off x="969264" y="5806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call-count test</a:t>
            </a:r>
            <a:endParaRPr lang="en-US" sz="950" dirty="0"/>
          </a:p>
        </p:txBody>
      </p:sp>
      <p:sp>
        <p:nvSpPr>
          <p:cNvPr id="50" name="Shape 34"/>
          <p:cNvSpPr/>
          <p:nvPr/>
        </p:nvSpPr>
        <p:spPr>
          <a:xfrm>
            <a:off x="2798064" y="4069080"/>
            <a:ext cx="2103120" cy="2103120"/>
          </a:xfrm>
          <a:prstGeom prst="roundRect">
            <a:avLst>
              <a:gd name="adj" fmla="val 4348"/>
            </a:avLst>
          </a:prstGeom>
          <a:solidFill>
            <a:srgbClr val="F8FAFC"/>
          </a:solidFill>
          <a:ln w="12700">
            <a:solidFill>
              <a:srgbClr val="E2E8F0"/>
            </a:solidFill>
            <a:prstDash val="solid"/>
          </a:ln>
        </p:spPr>
      </p:sp>
      <p:sp>
        <p:nvSpPr>
          <p:cNvPr id="51" name="Shape 35"/>
          <p:cNvSpPr/>
          <p:nvPr/>
        </p:nvSpPr>
        <p:spPr>
          <a:xfrm>
            <a:off x="2980944" y="4251960"/>
            <a:ext cx="502920" cy="502920"/>
          </a:xfrm>
          <a:prstGeom prst="ellipse">
            <a:avLst/>
          </a:prstGeom>
          <a:solidFill>
            <a:srgbClr val="EEF2FF"/>
          </a:solidFill>
          <a:ln w="12700">
            <a:solidFill>
              <a:srgbClr val="EEF2FF"/>
            </a:solidFill>
            <a:prstDash val="solid"/>
          </a:ln>
        </p:spPr>
      </p:sp>
      <p:pic>
        <p:nvPicPr>
          <p:cNvPr id="52" name="Image 13" descr="preencoded.png">    </p:cNvPr>
          <p:cNvPicPr>
            <a:picLocks noChangeAspect="1"/>
          </p:cNvPicPr>
          <p:nvPr/>
        </p:nvPicPr>
        <p:blipFill>
          <a:blip r:embed="rId14"/>
          <a:stretch>
            <a:fillRect/>
          </a:stretch>
        </p:blipFill>
        <p:spPr>
          <a:xfrm>
            <a:off x="3091586" y="4362602"/>
            <a:ext cx="281635" cy="281635"/>
          </a:xfrm>
          <a:prstGeom prst="rect">
            <a:avLst/>
          </a:prstGeom>
        </p:spPr>
      </p:pic>
      <p:sp>
        <p:nvSpPr>
          <p:cNvPr id="53" name="Text 36"/>
          <p:cNvSpPr txBox="1"/>
          <p:nvPr/>
        </p:nvSpPr>
        <p:spPr>
          <a:xfrm>
            <a:off x="2980944" y="4846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Authenticity capped</a:t>
            </a:r>
            <a:endParaRPr lang="en-US" sz="1250" dirty="0"/>
          </a:p>
        </p:txBody>
      </p:sp>
      <p:sp>
        <p:nvSpPr>
          <p:cNvPr id="54" name="Text 37"/>
          <p:cNvSpPr txBox="1"/>
          <p:nvPr/>
        </p:nvSpPr>
        <p:spPr>
          <a:xfrm>
            <a:off x="2980944" y="5257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The fabrication signal is capped at 0.60, never alone.</a:t>
            </a:r>
            <a:endParaRPr lang="en-US" sz="1000" dirty="0"/>
          </a:p>
        </p:txBody>
      </p:sp>
      <p:pic>
        <p:nvPicPr>
          <p:cNvPr id="55" name="Image 14" descr="preencoded.png">    </p:cNvPr>
          <p:cNvPicPr>
            <a:picLocks noChangeAspect="1"/>
          </p:cNvPicPr>
          <p:nvPr/>
        </p:nvPicPr>
        <p:blipFill>
          <a:blip r:embed="rId15"/>
          <a:stretch>
            <a:fillRect/>
          </a:stretch>
        </p:blipFill>
        <p:spPr>
          <a:xfrm>
            <a:off x="2980944" y="5843016"/>
            <a:ext cx="182880" cy="182880"/>
          </a:xfrm>
          <a:prstGeom prst="rect">
            <a:avLst/>
          </a:prstGeom>
        </p:spPr>
      </p:pic>
      <p:sp>
        <p:nvSpPr>
          <p:cNvPr id="56" name="Text 38"/>
          <p:cNvSpPr txBox="1"/>
          <p:nvPr/>
        </p:nvSpPr>
        <p:spPr>
          <a:xfrm>
            <a:off x="3218688" y="5806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0 lone decisions / 52</a:t>
            </a:r>
            <a:endParaRPr lang="en-US" sz="950" dirty="0"/>
          </a:p>
        </p:txBody>
      </p:sp>
      <p:sp>
        <p:nvSpPr>
          <p:cNvPr id="57" name="Shape 39"/>
          <p:cNvSpPr/>
          <p:nvPr/>
        </p:nvSpPr>
        <p:spPr>
          <a:xfrm>
            <a:off x="5047488" y="4069080"/>
            <a:ext cx="2103120" cy="2103120"/>
          </a:xfrm>
          <a:prstGeom prst="roundRect">
            <a:avLst>
              <a:gd name="adj" fmla="val 4348"/>
            </a:avLst>
          </a:prstGeom>
          <a:solidFill>
            <a:srgbClr val="F8FAFC"/>
          </a:solidFill>
          <a:ln w="12700">
            <a:solidFill>
              <a:srgbClr val="E2E8F0"/>
            </a:solidFill>
            <a:prstDash val="solid"/>
          </a:ln>
        </p:spPr>
      </p:sp>
      <p:sp>
        <p:nvSpPr>
          <p:cNvPr id="58" name="Shape 40"/>
          <p:cNvSpPr/>
          <p:nvPr/>
        </p:nvSpPr>
        <p:spPr>
          <a:xfrm>
            <a:off x="5230368" y="4251960"/>
            <a:ext cx="502920" cy="502920"/>
          </a:xfrm>
          <a:prstGeom prst="ellipse">
            <a:avLst/>
          </a:prstGeom>
          <a:solidFill>
            <a:srgbClr val="EEF2FF"/>
          </a:solidFill>
          <a:ln w="12700">
            <a:solidFill>
              <a:srgbClr val="EEF2FF"/>
            </a:solidFill>
            <a:prstDash val="solid"/>
          </a:ln>
        </p:spPr>
      </p:sp>
      <p:pic>
        <p:nvPicPr>
          <p:cNvPr id="59" name="Image 15" descr="preencoded.png">    </p:cNvPr>
          <p:cNvPicPr>
            <a:picLocks noChangeAspect="1"/>
          </p:cNvPicPr>
          <p:nvPr/>
        </p:nvPicPr>
        <p:blipFill>
          <a:blip r:embed="rId16"/>
          <a:stretch>
            <a:fillRect/>
          </a:stretch>
        </p:blipFill>
        <p:spPr>
          <a:xfrm>
            <a:off x="5341010" y="4362602"/>
            <a:ext cx="281635" cy="281635"/>
          </a:xfrm>
          <a:prstGeom prst="rect">
            <a:avLst/>
          </a:prstGeom>
        </p:spPr>
      </p:pic>
      <p:sp>
        <p:nvSpPr>
          <p:cNvPr id="60" name="Text 41"/>
          <p:cNvSpPr txBox="1"/>
          <p:nvPr/>
        </p:nvSpPr>
        <p:spPr>
          <a:xfrm>
            <a:off x="5230368" y="4846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Hosted models gated</a:t>
            </a:r>
            <a:endParaRPr lang="en-US" sz="1250" dirty="0"/>
          </a:p>
        </p:txBody>
      </p:sp>
      <p:sp>
        <p:nvSpPr>
          <p:cNvPr id="61" name="Text 42"/>
          <p:cNvSpPr txBox="1"/>
          <p:nvPr/>
        </p:nvSpPr>
        <p:spPr>
          <a:xfrm>
            <a:off x="5230368" y="5257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Head acknowledgement, kill switch, pseudonymised text.</a:t>
            </a:r>
            <a:endParaRPr lang="en-US" sz="1000" dirty="0"/>
          </a:p>
        </p:txBody>
      </p:sp>
      <p:pic>
        <p:nvPicPr>
          <p:cNvPr id="62" name="Image 16" descr="preencoded.png">    </p:cNvPr>
          <p:cNvPicPr>
            <a:picLocks noChangeAspect="1"/>
          </p:cNvPicPr>
          <p:nvPr/>
        </p:nvPicPr>
        <p:blipFill>
          <a:blip r:embed="rId17"/>
          <a:stretch>
            <a:fillRect/>
          </a:stretch>
        </p:blipFill>
        <p:spPr>
          <a:xfrm>
            <a:off x="5230368" y="5843016"/>
            <a:ext cx="182880" cy="182880"/>
          </a:xfrm>
          <a:prstGeom prst="rect">
            <a:avLst/>
          </a:prstGeom>
        </p:spPr>
      </p:pic>
      <p:sp>
        <p:nvSpPr>
          <p:cNvPr id="63" name="Text 43"/>
          <p:cNvSpPr txBox="1"/>
          <p:nvPr/>
        </p:nvSpPr>
        <p:spPr>
          <a:xfrm>
            <a:off x="5468112" y="5806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settings + gateway tests</a:t>
            </a:r>
            <a:endParaRPr lang="en-US" sz="950" dirty="0"/>
          </a:p>
        </p:txBody>
      </p:sp>
      <p:sp>
        <p:nvSpPr>
          <p:cNvPr id="64" name="Shape 44"/>
          <p:cNvSpPr/>
          <p:nvPr/>
        </p:nvSpPr>
        <p:spPr>
          <a:xfrm>
            <a:off x="7296912" y="4069080"/>
            <a:ext cx="2103120" cy="2103120"/>
          </a:xfrm>
          <a:prstGeom prst="roundRect">
            <a:avLst>
              <a:gd name="adj" fmla="val 4348"/>
            </a:avLst>
          </a:prstGeom>
          <a:solidFill>
            <a:srgbClr val="F8FAFC"/>
          </a:solidFill>
          <a:ln w="12700">
            <a:solidFill>
              <a:srgbClr val="E2E8F0"/>
            </a:solidFill>
            <a:prstDash val="solid"/>
          </a:ln>
        </p:spPr>
      </p:sp>
      <p:sp>
        <p:nvSpPr>
          <p:cNvPr id="65" name="Shape 45"/>
          <p:cNvSpPr/>
          <p:nvPr/>
        </p:nvSpPr>
        <p:spPr>
          <a:xfrm>
            <a:off x="7479792" y="4251960"/>
            <a:ext cx="502920" cy="502920"/>
          </a:xfrm>
          <a:prstGeom prst="ellipse">
            <a:avLst/>
          </a:prstGeom>
          <a:solidFill>
            <a:srgbClr val="EEF2FF"/>
          </a:solidFill>
          <a:ln w="12700">
            <a:solidFill>
              <a:srgbClr val="EEF2FF"/>
            </a:solidFill>
            <a:prstDash val="solid"/>
          </a:ln>
        </p:spPr>
      </p:sp>
      <p:pic>
        <p:nvPicPr>
          <p:cNvPr id="66" name="Image 17" descr="preencoded.png">    </p:cNvPr>
          <p:cNvPicPr>
            <a:picLocks noChangeAspect="1"/>
          </p:cNvPicPr>
          <p:nvPr/>
        </p:nvPicPr>
        <p:blipFill>
          <a:blip r:embed="rId18"/>
          <a:stretch>
            <a:fillRect/>
          </a:stretch>
        </p:blipFill>
        <p:spPr>
          <a:xfrm>
            <a:off x="7590434" y="4362602"/>
            <a:ext cx="281635" cy="281635"/>
          </a:xfrm>
          <a:prstGeom prst="rect">
            <a:avLst/>
          </a:prstGeom>
        </p:spPr>
      </p:pic>
      <p:sp>
        <p:nvSpPr>
          <p:cNvPr id="67" name="Text 46"/>
          <p:cNvSpPr txBox="1"/>
          <p:nvPr/>
        </p:nvSpPr>
        <p:spPr>
          <a:xfrm>
            <a:off x="7479792" y="4846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Identity keys hashed</a:t>
            </a:r>
            <a:endParaRPr lang="en-US" sz="1250" dirty="0"/>
          </a:p>
        </p:txBody>
      </p:sp>
      <p:sp>
        <p:nvSpPr>
          <p:cNvPr id="68" name="Text 47"/>
          <p:cNvSpPr txBox="1"/>
          <p:nvPr/>
        </p:nvSpPr>
        <p:spPr>
          <a:xfrm>
            <a:off x="7479792" y="5257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Dedupe stores HMAC digests, never raw PAN / Aadhaar.</a:t>
            </a:r>
            <a:endParaRPr lang="en-US" sz="1000" dirty="0"/>
          </a:p>
        </p:txBody>
      </p:sp>
      <p:pic>
        <p:nvPicPr>
          <p:cNvPr id="69" name="Image 18" descr="preencoded.png">    </p:cNvPr>
          <p:cNvPicPr>
            <a:picLocks noChangeAspect="1"/>
          </p:cNvPicPr>
          <p:nvPr/>
        </p:nvPicPr>
        <p:blipFill>
          <a:blip r:embed="rId19"/>
          <a:stretch>
            <a:fillRect/>
          </a:stretch>
        </p:blipFill>
        <p:spPr>
          <a:xfrm>
            <a:off x="7479792" y="5843016"/>
            <a:ext cx="182880" cy="182880"/>
          </a:xfrm>
          <a:prstGeom prst="rect">
            <a:avLst/>
          </a:prstGeom>
        </p:spPr>
      </p:pic>
      <p:sp>
        <p:nvSpPr>
          <p:cNvPr id="70" name="Text 48"/>
          <p:cNvSpPr txBox="1"/>
          <p:nvPr/>
        </p:nvSpPr>
        <p:spPr>
          <a:xfrm>
            <a:off x="7717536" y="5806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holds</a:t>
            </a:r>
            <a:endParaRPr lang="en-US" sz="950" dirty="0"/>
          </a:p>
        </p:txBody>
      </p:sp>
      <p:sp>
        <p:nvSpPr>
          <p:cNvPr id="71" name="Shape 49"/>
          <p:cNvSpPr/>
          <p:nvPr/>
        </p:nvSpPr>
        <p:spPr>
          <a:xfrm>
            <a:off x="9546336" y="4069080"/>
            <a:ext cx="2103120" cy="2103120"/>
          </a:xfrm>
          <a:prstGeom prst="roundRect">
            <a:avLst>
              <a:gd name="adj" fmla="val 4348"/>
            </a:avLst>
          </a:prstGeom>
          <a:solidFill>
            <a:srgbClr val="F8FAFC"/>
          </a:solidFill>
          <a:ln w="12700">
            <a:solidFill>
              <a:srgbClr val="E2E8F0"/>
            </a:solidFill>
            <a:prstDash val="solid"/>
          </a:ln>
        </p:spPr>
      </p:sp>
      <p:sp>
        <p:nvSpPr>
          <p:cNvPr id="72" name="Shape 50"/>
          <p:cNvSpPr/>
          <p:nvPr/>
        </p:nvSpPr>
        <p:spPr>
          <a:xfrm>
            <a:off x="9729216" y="4251960"/>
            <a:ext cx="502920" cy="502920"/>
          </a:xfrm>
          <a:prstGeom prst="ellipse">
            <a:avLst/>
          </a:prstGeom>
          <a:solidFill>
            <a:srgbClr val="EEF2FF"/>
          </a:solidFill>
          <a:ln w="12700">
            <a:solidFill>
              <a:srgbClr val="EEF2FF"/>
            </a:solidFill>
            <a:prstDash val="solid"/>
          </a:ln>
        </p:spPr>
      </p:sp>
      <p:pic>
        <p:nvPicPr>
          <p:cNvPr id="73" name="Image 19" descr="preencoded.png">    </p:cNvPr>
          <p:cNvPicPr>
            <a:picLocks noChangeAspect="1"/>
          </p:cNvPicPr>
          <p:nvPr/>
        </p:nvPicPr>
        <p:blipFill>
          <a:blip r:embed="rId20"/>
          <a:stretch>
            <a:fillRect/>
          </a:stretch>
        </p:blipFill>
        <p:spPr>
          <a:xfrm>
            <a:off x="9839858" y="4362602"/>
            <a:ext cx="281635" cy="281635"/>
          </a:xfrm>
          <a:prstGeom prst="rect">
            <a:avLst/>
          </a:prstGeom>
        </p:spPr>
      </p:pic>
      <p:sp>
        <p:nvSpPr>
          <p:cNvPr id="74" name="Text 51"/>
          <p:cNvSpPr txBox="1"/>
          <p:nvPr/>
        </p:nvSpPr>
        <p:spPr>
          <a:xfrm>
            <a:off x="9729216" y="4846320"/>
            <a:ext cx="1783080" cy="457200"/>
          </a:xfrm>
          <a:prstGeom prst="rect">
            <a:avLst/>
          </a:prstGeom>
          <a:noFill/>
          <a:ln/>
        </p:spPr>
        <p:txBody>
          <a:bodyPr wrap="square" lIns="0" tIns="0" rIns="0" bIns="0" rtlCol="0" anchor="t"/>
          <a:lstStyle/>
          <a:p>
            <a:pPr indent="0" marL="0">
              <a:buNone/>
            </a:pPr>
            <a:r>
              <a:rPr lang="en-US" sz="1250" b="1" dirty="0">
                <a:solidFill>
                  <a:srgbClr val="0F172A"/>
                </a:solidFill>
                <a:latin typeface="Roboto" pitchFamily="34" charset="0"/>
                <a:ea typeface="Roboto" pitchFamily="34" charset="-122"/>
                <a:cs typeface="Roboto" pitchFamily="34" charset="-120"/>
              </a:rPr>
              <a:t>Contracts unchanged</a:t>
            </a:r>
            <a:endParaRPr lang="en-US" sz="1250" dirty="0"/>
          </a:p>
        </p:txBody>
      </p:sp>
      <p:sp>
        <p:nvSpPr>
          <p:cNvPr id="75" name="Text 52"/>
          <p:cNvSpPr txBox="1"/>
          <p:nvPr/>
        </p:nvSpPr>
        <p:spPr>
          <a:xfrm>
            <a:off x="9729216" y="5257800"/>
            <a:ext cx="1783080" cy="548640"/>
          </a:xfrm>
          <a:prstGeom prst="rect">
            <a:avLst/>
          </a:prstGeom>
          <a:noFill/>
          <a:ln/>
        </p:spPr>
        <p:txBody>
          <a:bodyPr wrap="square" lIns="0" tIns="0" rIns="0" bIns="0" rtlCol="0" anchor="t"/>
          <a:lstStyle/>
          <a:p>
            <a:pPr indent="0" marL="0">
              <a:buNone/>
            </a:pPr>
            <a:r>
              <a:rPr lang="en-US" sz="1000" dirty="0">
                <a:solidFill>
                  <a:srgbClr val="64748B"/>
                </a:solidFill>
                <a:latin typeface="Roboto" pitchFamily="34" charset="0"/>
                <a:ea typeface="Roboto" pitchFamily="34" charset="-122"/>
                <a:cs typeface="Roboto" pitchFamily="34" charset="-120"/>
              </a:rPr>
              <a:t>Pre-agent endpoints answer exactly as before.</a:t>
            </a:r>
            <a:endParaRPr lang="en-US" sz="1000" dirty="0"/>
          </a:p>
        </p:txBody>
      </p:sp>
      <p:pic>
        <p:nvPicPr>
          <p:cNvPr id="76" name="Image 20" descr="preencoded.png">    </p:cNvPr>
          <p:cNvPicPr>
            <a:picLocks noChangeAspect="1"/>
          </p:cNvPicPr>
          <p:nvPr/>
        </p:nvPicPr>
        <p:blipFill>
          <a:blip r:embed="rId21"/>
          <a:stretch>
            <a:fillRect/>
          </a:stretch>
        </p:blipFill>
        <p:spPr>
          <a:xfrm>
            <a:off x="9729216" y="5843016"/>
            <a:ext cx="182880" cy="182880"/>
          </a:xfrm>
          <a:prstGeom prst="rect">
            <a:avLst/>
          </a:prstGeom>
        </p:spPr>
      </p:pic>
      <p:sp>
        <p:nvSpPr>
          <p:cNvPr id="77" name="Text 53"/>
          <p:cNvSpPr txBox="1"/>
          <p:nvPr/>
        </p:nvSpPr>
        <p:spPr>
          <a:xfrm>
            <a:off x="9966960" y="5806440"/>
            <a:ext cx="1645920" cy="274320"/>
          </a:xfrm>
          <a:prstGeom prst="rect">
            <a:avLst/>
          </a:prstGeom>
          <a:noFill/>
          <a:ln/>
        </p:spPr>
        <p:txBody>
          <a:bodyPr wrap="square" lIns="0" tIns="0" rIns="0" bIns="0" rtlCol="0" anchor="ctr"/>
          <a:lstStyle/>
          <a:p>
            <a:pPr indent="0" marL="0">
              <a:buNone/>
            </a:pPr>
            <a:r>
              <a:rPr lang="en-US" sz="950" b="1" dirty="0">
                <a:solidFill>
                  <a:srgbClr val="16A34A"/>
                </a:solidFill>
                <a:latin typeface="Roboto" pitchFamily="34" charset="0"/>
                <a:ea typeface="Roboto" pitchFamily="34" charset="-122"/>
                <a:cs typeface="Roboto" pitchFamily="34" charset="-120"/>
              </a:rPr>
              <a:t>24 / 24 contract tests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TRUST &amp; CONTROL</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Every step is traced — and becomes process-mining data</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Runs and steps go to memory, JSON files and SQL Server. A database outage never fails a request.</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30</a:t>
            </a:r>
            <a:endParaRPr lang="en-US" sz="900" dirty="0"/>
          </a:p>
        </p:txBody>
      </p:sp>
      <p:sp>
        <p:nvSpPr>
          <p:cNvPr id="8" name="Shape 4"/>
          <p:cNvSpPr/>
          <p:nvPr/>
        </p:nvSpPr>
        <p:spPr>
          <a:xfrm>
            <a:off x="548640" y="1828800"/>
            <a:ext cx="1554480" cy="822960"/>
          </a:xfrm>
          <a:prstGeom prst="roundRect">
            <a:avLst>
              <a:gd name="adj" fmla="val 8889"/>
            </a:avLst>
          </a:prstGeom>
          <a:solidFill>
            <a:srgbClr val="F8FAFC"/>
          </a:solidFill>
          <a:ln w="12700">
            <a:solidFill>
              <a:srgbClr val="E2E8F0"/>
            </a:solidFill>
            <a:prstDash val="solid"/>
          </a:ln>
        </p:spPr>
      </p:sp>
      <p:sp>
        <p:nvSpPr>
          <p:cNvPr id="9" name="Text 5"/>
          <p:cNvSpPr txBox="1"/>
          <p:nvPr/>
        </p:nvSpPr>
        <p:spPr>
          <a:xfrm>
            <a:off x="621792" y="1847088"/>
            <a:ext cx="1408176" cy="786384"/>
          </a:xfrm>
          <a:prstGeom prst="rect">
            <a:avLst/>
          </a:prstGeom>
          <a:noFill/>
          <a:ln/>
        </p:spPr>
        <p:txBody>
          <a:bodyPr wrap="square" lIns="0" tIns="0" rIns="0" bIns="0" rtlCol="0" anchor="ctr"/>
          <a:lstStyle/>
          <a:p>
            <a:pPr algn="ctr" indent="0" marL="0">
              <a:spcAft>
                <a:spcPts val="200"/>
              </a:spcAft>
              <a:buNone/>
            </a:pPr>
            <a:r>
              <a:rPr lang="en-US" sz="1200" b="1" dirty="0">
                <a:solidFill>
                  <a:srgbClr val="0F172A"/>
                </a:solidFill>
                <a:latin typeface="Roboto" pitchFamily="34" charset="0"/>
                <a:ea typeface="Roboto" pitchFamily="34" charset="-122"/>
                <a:cs typeface="Roboto" pitchFamily="34" charset="-120"/>
              </a:rPr>
              <a:t>Agent step</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run · step · tool call</a:t>
            </a:r>
            <a:endParaRPr lang="en-US" sz="1200" dirty="0"/>
          </a:p>
        </p:txBody>
      </p:sp>
      <p:sp>
        <p:nvSpPr>
          <p:cNvPr id="10" name="Shape 6"/>
          <p:cNvSpPr/>
          <p:nvPr/>
        </p:nvSpPr>
        <p:spPr>
          <a:xfrm>
            <a:off x="2121408" y="2240280"/>
            <a:ext cx="237744" cy="0"/>
          </a:xfrm>
          <a:prstGeom prst="line">
            <a:avLst/>
          </a:prstGeom>
          <a:noFill/>
          <a:ln w="19050">
            <a:solidFill>
              <a:srgbClr val="94A3B8"/>
            </a:solidFill>
            <a:prstDash val="solid"/>
            <a:tailEnd type="triangle"/>
          </a:ln>
        </p:spPr>
      </p:sp>
      <p:sp>
        <p:nvSpPr>
          <p:cNvPr id="11" name="Shape 7"/>
          <p:cNvSpPr/>
          <p:nvPr/>
        </p:nvSpPr>
        <p:spPr>
          <a:xfrm>
            <a:off x="2377440" y="1828800"/>
            <a:ext cx="1371600" cy="822960"/>
          </a:xfrm>
          <a:prstGeom prst="roundRect">
            <a:avLst>
              <a:gd name="adj" fmla="val 8889"/>
            </a:avLst>
          </a:prstGeom>
          <a:solidFill>
            <a:srgbClr val="EEF2FF"/>
          </a:solidFill>
          <a:ln w="12700">
            <a:solidFill>
              <a:srgbClr val="C7D2FE"/>
            </a:solidFill>
            <a:prstDash val="solid"/>
          </a:ln>
        </p:spPr>
      </p:sp>
      <p:sp>
        <p:nvSpPr>
          <p:cNvPr id="12" name="Text 8"/>
          <p:cNvSpPr txBox="1"/>
          <p:nvPr/>
        </p:nvSpPr>
        <p:spPr>
          <a:xfrm>
            <a:off x="2450592" y="1847088"/>
            <a:ext cx="1225296" cy="786384"/>
          </a:xfrm>
          <a:prstGeom prst="rect">
            <a:avLst/>
          </a:prstGeom>
          <a:noFill/>
          <a:ln/>
        </p:spPr>
        <p:txBody>
          <a:bodyPr wrap="square" lIns="0" tIns="0" rIns="0" bIns="0" rtlCol="0" anchor="ctr"/>
          <a:lstStyle/>
          <a:p>
            <a:pPr algn="ctr" indent="0" marL="0">
              <a:spcAft>
                <a:spcPts val="200"/>
              </a:spcAft>
              <a:buNone/>
            </a:pPr>
            <a:r>
              <a:rPr lang="en-US" sz="1200" b="1" dirty="0">
                <a:solidFill>
                  <a:srgbClr val="3730A3"/>
                </a:solidFill>
                <a:latin typeface="Roboto" pitchFamily="34" charset="0"/>
                <a:ea typeface="Roboto" pitchFamily="34" charset="-122"/>
                <a:cs typeface="Roboto" pitchFamily="34" charset="-120"/>
              </a:rPr>
              <a:t>Tracer</a:t>
            </a:r>
            <a:endParaRPr lang="en-US" sz="1200" dirty="0"/>
          </a:p>
          <a:p>
            <a:pPr algn="ctr" indent="0" marL="0">
              <a:spcAft>
                <a:spcPts val="200"/>
              </a:spcAft>
              <a:buNone/>
            </a:pPr>
            <a:r>
              <a:rPr lang="en-US" sz="1000" dirty="0">
                <a:solidFill>
                  <a:srgbClr val="64748B"/>
                </a:solidFill>
                <a:latin typeface="Roboto" pitchFamily="34" charset="0"/>
                <a:ea typeface="Roboto" pitchFamily="34" charset="-122"/>
                <a:cs typeface="Roboto" pitchFamily="34" charset="-120"/>
              </a:rPr>
              <a:t>timing · model · outcome</a:t>
            </a:r>
            <a:endParaRPr lang="en-US" sz="1200" dirty="0"/>
          </a:p>
        </p:txBody>
      </p:sp>
      <p:sp>
        <p:nvSpPr>
          <p:cNvPr id="13" name="Shape 9"/>
          <p:cNvSpPr/>
          <p:nvPr/>
        </p:nvSpPr>
        <p:spPr>
          <a:xfrm flipV="1">
            <a:off x="3767328" y="1920240"/>
            <a:ext cx="283464" cy="320040"/>
          </a:xfrm>
          <a:prstGeom prst="line">
            <a:avLst/>
          </a:prstGeom>
          <a:noFill/>
          <a:ln w="19050">
            <a:solidFill>
              <a:srgbClr val="94A3B8"/>
            </a:solidFill>
            <a:prstDash val="solid"/>
            <a:tailEnd type="triangle"/>
          </a:ln>
        </p:spPr>
      </p:sp>
      <p:sp>
        <p:nvSpPr>
          <p:cNvPr id="14" name="Shape 10"/>
          <p:cNvSpPr/>
          <p:nvPr/>
        </p:nvSpPr>
        <p:spPr>
          <a:xfrm>
            <a:off x="4069080" y="1554480"/>
            <a:ext cx="1874520" cy="731520"/>
          </a:xfrm>
          <a:prstGeom prst="roundRect">
            <a:avLst>
              <a:gd name="adj" fmla="val 10000"/>
            </a:avLst>
          </a:prstGeom>
          <a:solidFill>
            <a:srgbClr val="FFFFFF"/>
          </a:solidFill>
          <a:ln w="12700">
            <a:solidFill>
              <a:srgbClr val="E2E8F0"/>
            </a:solidFill>
            <a:prstDash val="solid"/>
          </a:ln>
        </p:spPr>
      </p:sp>
      <p:sp>
        <p:nvSpPr>
          <p:cNvPr id="15" name="Text 11"/>
          <p:cNvSpPr txBox="1"/>
          <p:nvPr/>
        </p:nvSpPr>
        <p:spPr>
          <a:xfrm>
            <a:off x="4142232" y="1572768"/>
            <a:ext cx="1728216" cy="694944"/>
          </a:xfrm>
          <a:prstGeom prst="rect">
            <a:avLst/>
          </a:prstGeom>
          <a:noFill/>
          <a:ln/>
        </p:spPr>
        <p:txBody>
          <a:bodyPr wrap="square" lIns="0" tIns="0" rIns="0" bIns="0" rtlCol="0" anchor="ctr"/>
          <a:lstStyle/>
          <a:p>
            <a:pPr algn="ctr" indent="0" marL="0">
              <a:spcAft>
                <a:spcPts val="200"/>
              </a:spcAft>
              <a:buNone/>
            </a:pPr>
            <a:r>
              <a:rPr lang="en-US" sz="1100" b="1" dirty="0">
                <a:solidFill>
                  <a:srgbClr val="0F172A"/>
                </a:solidFill>
                <a:latin typeface="Roboto" pitchFamily="34" charset="0"/>
                <a:ea typeface="Roboto" pitchFamily="34" charset="-122"/>
                <a:cs typeface="Roboto" pitchFamily="34" charset="-120"/>
              </a:rPr>
              <a:t>In memory</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/agents/stats → live p50 / p95</a:t>
            </a:r>
            <a:endParaRPr lang="en-US" sz="1100" dirty="0"/>
          </a:p>
        </p:txBody>
      </p:sp>
      <p:sp>
        <p:nvSpPr>
          <p:cNvPr id="16" name="Shape 12"/>
          <p:cNvSpPr/>
          <p:nvPr/>
        </p:nvSpPr>
        <p:spPr>
          <a:xfrm>
            <a:off x="3767328" y="2240280"/>
            <a:ext cx="283464" cy="612648"/>
          </a:xfrm>
          <a:prstGeom prst="line">
            <a:avLst/>
          </a:prstGeom>
          <a:noFill/>
          <a:ln w="19050">
            <a:solidFill>
              <a:srgbClr val="94A3B8"/>
            </a:solidFill>
            <a:prstDash val="solid"/>
            <a:tailEnd type="triangle"/>
          </a:ln>
        </p:spPr>
      </p:sp>
      <p:sp>
        <p:nvSpPr>
          <p:cNvPr id="17" name="Shape 13"/>
          <p:cNvSpPr/>
          <p:nvPr/>
        </p:nvSpPr>
        <p:spPr>
          <a:xfrm>
            <a:off x="4069080" y="2487168"/>
            <a:ext cx="1874520" cy="731520"/>
          </a:xfrm>
          <a:prstGeom prst="roundRect">
            <a:avLst>
              <a:gd name="adj" fmla="val 10000"/>
            </a:avLst>
          </a:prstGeom>
          <a:solidFill>
            <a:srgbClr val="FFFFFF"/>
          </a:solidFill>
          <a:ln w="12700">
            <a:solidFill>
              <a:srgbClr val="E2E8F0"/>
            </a:solidFill>
            <a:prstDash val="solid"/>
          </a:ln>
        </p:spPr>
      </p:sp>
      <p:sp>
        <p:nvSpPr>
          <p:cNvPr id="18" name="Text 14"/>
          <p:cNvSpPr txBox="1"/>
          <p:nvPr/>
        </p:nvSpPr>
        <p:spPr>
          <a:xfrm>
            <a:off x="4142232" y="2505456"/>
            <a:ext cx="1728216" cy="694944"/>
          </a:xfrm>
          <a:prstGeom prst="rect">
            <a:avLst/>
          </a:prstGeom>
          <a:noFill/>
          <a:ln/>
        </p:spPr>
        <p:txBody>
          <a:bodyPr wrap="square" lIns="0" tIns="0" rIns="0" bIns="0" rtlCol="0" anchor="ctr"/>
          <a:lstStyle/>
          <a:p>
            <a:pPr algn="ctr" indent="0" marL="0">
              <a:spcAft>
                <a:spcPts val="200"/>
              </a:spcAft>
              <a:buNone/>
            </a:pPr>
            <a:r>
              <a:rPr lang="en-US" sz="1100" b="1" dirty="0">
                <a:solidFill>
                  <a:srgbClr val="0F172A"/>
                </a:solidFill>
                <a:latin typeface="Roboto" pitchFamily="34" charset="0"/>
                <a:ea typeface="Roboto" pitchFamily="34" charset="-122"/>
                <a:cs typeface="Roboto" pitchFamily="34" charset="-120"/>
              </a:rPr>
              <a:t>JSON files</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storage/agent_traces/</a:t>
            </a:r>
            <a:endParaRPr lang="en-US" sz="1100" dirty="0"/>
          </a:p>
        </p:txBody>
      </p:sp>
      <p:sp>
        <p:nvSpPr>
          <p:cNvPr id="19" name="Shape 15"/>
          <p:cNvSpPr/>
          <p:nvPr/>
        </p:nvSpPr>
        <p:spPr>
          <a:xfrm>
            <a:off x="3767328" y="2240280"/>
            <a:ext cx="283464" cy="1545336"/>
          </a:xfrm>
          <a:prstGeom prst="line">
            <a:avLst/>
          </a:prstGeom>
          <a:noFill/>
          <a:ln w="19050">
            <a:solidFill>
              <a:srgbClr val="94A3B8"/>
            </a:solidFill>
            <a:prstDash val="solid"/>
            <a:tailEnd type="triangle"/>
          </a:ln>
        </p:spPr>
      </p:sp>
      <p:sp>
        <p:nvSpPr>
          <p:cNvPr id="20" name="Shape 16"/>
          <p:cNvSpPr/>
          <p:nvPr/>
        </p:nvSpPr>
        <p:spPr>
          <a:xfrm>
            <a:off x="4069080" y="3419856"/>
            <a:ext cx="1874520" cy="731520"/>
          </a:xfrm>
          <a:prstGeom prst="roundRect">
            <a:avLst>
              <a:gd name="adj" fmla="val 10000"/>
            </a:avLst>
          </a:prstGeom>
          <a:solidFill>
            <a:srgbClr val="FFFFFF"/>
          </a:solidFill>
          <a:ln w="12700">
            <a:solidFill>
              <a:srgbClr val="E2E8F0"/>
            </a:solidFill>
            <a:prstDash val="solid"/>
          </a:ln>
        </p:spPr>
      </p:sp>
      <p:sp>
        <p:nvSpPr>
          <p:cNvPr id="21" name="Text 17"/>
          <p:cNvSpPr txBox="1"/>
          <p:nvPr/>
        </p:nvSpPr>
        <p:spPr>
          <a:xfrm>
            <a:off x="4142232" y="3438144"/>
            <a:ext cx="1728216" cy="694944"/>
          </a:xfrm>
          <a:prstGeom prst="rect">
            <a:avLst/>
          </a:prstGeom>
          <a:noFill/>
          <a:ln/>
        </p:spPr>
        <p:txBody>
          <a:bodyPr wrap="square" lIns="0" tIns="0" rIns="0" bIns="0" rtlCol="0" anchor="ctr"/>
          <a:lstStyle/>
          <a:p>
            <a:pPr algn="ctr" indent="0" marL="0">
              <a:spcAft>
                <a:spcPts val="200"/>
              </a:spcAft>
              <a:buNone/>
            </a:pPr>
            <a:r>
              <a:rPr lang="en-US" sz="1100" b="1" dirty="0">
                <a:solidFill>
                  <a:srgbClr val="0F172A"/>
                </a:solidFill>
                <a:latin typeface="Roboto" pitchFamily="34" charset="0"/>
                <a:ea typeface="Roboto" pitchFamily="34" charset="-122"/>
                <a:cs typeface="Roboto" pitchFamily="34" charset="-120"/>
              </a:rPr>
              <a:t>SQL sink</a:t>
            </a:r>
            <a:endParaRPr lang="en-US" sz="11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agent.run · step · tool_call</a:t>
            </a:r>
            <a:endParaRPr lang="en-US" sz="1100" dirty="0"/>
          </a:p>
        </p:txBody>
      </p:sp>
      <p:sp>
        <p:nvSpPr>
          <p:cNvPr id="22" name="Shape 18"/>
          <p:cNvSpPr/>
          <p:nvPr/>
        </p:nvSpPr>
        <p:spPr>
          <a:xfrm>
            <a:off x="5001768" y="4169664"/>
            <a:ext cx="0" cy="274320"/>
          </a:xfrm>
          <a:prstGeom prst="line">
            <a:avLst/>
          </a:prstGeom>
          <a:noFill/>
          <a:ln w="19050">
            <a:solidFill>
              <a:srgbClr val="94A3B8"/>
            </a:solidFill>
            <a:prstDash val="solid"/>
            <a:tailEnd type="triangle"/>
          </a:ln>
        </p:spPr>
      </p:sp>
      <p:sp>
        <p:nvSpPr>
          <p:cNvPr id="23" name="Shape 19"/>
          <p:cNvSpPr/>
          <p:nvPr/>
        </p:nvSpPr>
        <p:spPr>
          <a:xfrm>
            <a:off x="2377440" y="4462272"/>
            <a:ext cx="3566160" cy="731520"/>
          </a:xfrm>
          <a:prstGeom prst="roundRect">
            <a:avLst>
              <a:gd name="adj" fmla="val 10000"/>
            </a:avLst>
          </a:prstGeom>
          <a:solidFill>
            <a:srgbClr val="F5F3FF"/>
          </a:solidFill>
          <a:ln w="12700">
            <a:solidFill>
              <a:srgbClr val="DDD6FE"/>
            </a:solidFill>
            <a:prstDash val="solid"/>
          </a:ln>
        </p:spPr>
      </p:sp>
      <p:sp>
        <p:nvSpPr>
          <p:cNvPr id="24" name="Text 20"/>
          <p:cNvSpPr txBox="1"/>
          <p:nvPr/>
        </p:nvSpPr>
        <p:spPr>
          <a:xfrm>
            <a:off x="2450592" y="4480560"/>
            <a:ext cx="3419856" cy="694944"/>
          </a:xfrm>
          <a:prstGeom prst="rect">
            <a:avLst/>
          </a:prstGeom>
          <a:noFill/>
          <a:ln/>
        </p:spPr>
        <p:txBody>
          <a:bodyPr wrap="square" lIns="0" tIns="0" rIns="0" bIns="0" rtlCol="0" anchor="ctr"/>
          <a:lstStyle/>
          <a:p>
            <a:pPr algn="ctr" indent="0" marL="0">
              <a:spcAft>
                <a:spcPts val="200"/>
              </a:spcAft>
              <a:buNone/>
            </a:pPr>
            <a:r>
              <a:rPr lang="en-US" sz="1200" b="1" dirty="0">
                <a:solidFill>
                  <a:srgbClr val="7C3AED"/>
                </a:solidFill>
                <a:latin typeface="Roboto" pitchFamily="34" charset="0"/>
                <a:ea typeface="Roboto" pitchFamily="34" charset="-122"/>
                <a:cs typeface="Roboto" pitchFamily="34" charset="-120"/>
              </a:rPr>
              <a:t>pm.usp_log_event → pm.event_log</a:t>
            </a:r>
            <a:endParaRPr lang="en-US" sz="1200" dirty="0"/>
          </a:p>
          <a:p>
            <a:pPr algn="ctr" indent="0" marL="0">
              <a:spcAft>
                <a:spcPts val="200"/>
              </a:spcAft>
              <a:buNone/>
            </a:pPr>
            <a:r>
              <a:rPr lang="en-US" sz="900" dirty="0">
                <a:solidFill>
                  <a:srgbClr val="64748B"/>
                </a:solidFill>
                <a:latin typeface="Roboto" pitchFamily="34" charset="0"/>
                <a:ea typeface="Roboto" pitchFamily="34" charset="-122"/>
                <a:cs typeface="Roboto" pitchFamily="34" charset="-120"/>
              </a:rPr>
              <a:t>spool to disk + replay if SQL Server is down</a:t>
            </a:r>
            <a:endParaRPr lang="en-US" sz="1200" dirty="0"/>
          </a:p>
        </p:txBody>
      </p:sp>
      <p:sp>
        <p:nvSpPr>
          <p:cNvPr id="25" name="Shape 21"/>
          <p:cNvSpPr/>
          <p:nvPr/>
        </p:nvSpPr>
        <p:spPr>
          <a:xfrm>
            <a:off x="4160520" y="5212080"/>
            <a:ext cx="0" cy="228600"/>
          </a:xfrm>
          <a:prstGeom prst="line">
            <a:avLst/>
          </a:prstGeom>
          <a:noFill/>
          <a:ln w="19050">
            <a:solidFill>
              <a:srgbClr val="94A3B8"/>
            </a:solidFill>
            <a:prstDash val="solid"/>
            <a:tailEnd type="triangle"/>
          </a:ln>
        </p:spPr>
      </p:sp>
      <p:sp>
        <p:nvSpPr>
          <p:cNvPr id="26" name="Shape 22"/>
          <p:cNvSpPr/>
          <p:nvPr/>
        </p:nvSpPr>
        <p:spPr>
          <a:xfrm>
            <a:off x="2377440" y="5458968"/>
            <a:ext cx="3566160" cy="822960"/>
          </a:xfrm>
          <a:prstGeom prst="roundRect">
            <a:avLst>
              <a:gd name="adj" fmla="val 8889"/>
            </a:avLst>
          </a:prstGeom>
          <a:solidFill>
            <a:srgbClr val="F5F3FF"/>
          </a:solidFill>
          <a:ln w="12700">
            <a:solidFill>
              <a:srgbClr val="DDD6FE"/>
            </a:solidFill>
            <a:prstDash val="solid"/>
          </a:ln>
        </p:spPr>
      </p:sp>
      <p:sp>
        <p:nvSpPr>
          <p:cNvPr id="27" name="Text 23"/>
          <p:cNvSpPr txBox="1"/>
          <p:nvPr/>
        </p:nvSpPr>
        <p:spPr>
          <a:xfrm>
            <a:off x="2450592" y="5477256"/>
            <a:ext cx="3419856" cy="786384"/>
          </a:xfrm>
          <a:prstGeom prst="rect">
            <a:avLst/>
          </a:prstGeom>
          <a:noFill/>
          <a:ln/>
        </p:spPr>
        <p:txBody>
          <a:bodyPr wrap="square" lIns="0" tIns="0" rIns="0" bIns="0" rtlCol="0" anchor="ctr"/>
          <a:lstStyle/>
          <a:p>
            <a:pPr algn="ctr" indent="0" marL="0">
              <a:spcAft>
                <a:spcPts val="200"/>
              </a:spcAft>
              <a:buNone/>
            </a:pPr>
            <a:r>
              <a:rPr lang="en-US" sz="1200" b="1" dirty="0">
                <a:solidFill>
                  <a:srgbClr val="7C3AED"/>
                </a:solidFill>
                <a:latin typeface="Roboto" pitchFamily="34" charset="0"/>
                <a:ea typeface="Roboto" pitchFamily="34" charset="-122"/>
                <a:cs typeface="Roboto" pitchFamily="34" charset="-120"/>
              </a:rPr>
              <a:t>pm.vw_* views</a:t>
            </a:r>
            <a:endParaRPr lang="en-US" sz="1200" dirty="0"/>
          </a:p>
          <a:p>
            <a:pPr algn="ctr" indent="0" marL="0">
              <a:spcAft>
                <a:spcPts val="200"/>
              </a:spcAft>
              <a:buNone/>
            </a:pPr>
            <a:r>
              <a:rPr lang="en-US" sz="950" dirty="0">
                <a:solidFill>
                  <a:srgbClr val="64748B"/>
                </a:solidFill>
                <a:latin typeface="Roboto" pitchFamily="34" charset="0"/>
                <a:ea typeface="Roboto" pitchFamily="34" charset="-122"/>
                <a:cs typeface="Roboto" pitchFamily="34" charset="-120"/>
              </a:rPr>
              <a:t>→ Process-Mining Analyst · Agent Activity page</a:t>
            </a:r>
            <a:endParaRPr lang="en-US" sz="1200" dirty="0"/>
          </a:p>
        </p:txBody>
      </p:sp>
      <p:sp>
        <p:nvSpPr>
          <p:cNvPr id="28" name="Text 24"/>
          <p:cNvSpPr txBox="1"/>
          <p:nvPr/>
        </p:nvSpPr>
        <p:spPr>
          <a:xfrm>
            <a:off x="548640" y="2971800"/>
            <a:ext cx="1691640" cy="1097280"/>
          </a:xfrm>
          <a:prstGeom prst="rect">
            <a:avLst/>
          </a:prstGeom>
          <a:noFill/>
          <a:ln/>
        </p:spPr>
        <p:txBody>
          <a:bodyPr wrap="square" lIns="0" tIns="0" rIns="0" bIns="0" rtlCol="0" anchor="t"/>
          <a:lstStyle/>
          <a:p>
            <a:pPr indent="0" marL="0">
              <a:buNone/>
            </a:pPr>
            <a:r>
              <a:rPr lang="en-US" sz="950" i="1" dirty="0">
                <a:solidFill>
                  <a:srgbClr val="64748B"/>
                </a:solidFill>
                <a:latin typeface="Roboto" pitchFamily="34" charset="0"/>
                <a:ea typeface="Roboto" pitchFamily="34" charset="-122"/>
                <a:cs typeface="Roboto" pitchFamily="34" charset="-120"/>
              </a:rPr>
              <a:t>Kill switch: AGENTS_ENABLED=false runs the same tools directly, untraced.</a:t>
            </a:r>
            <a:endParaRPr lang="en-US" sz="950" dirty="0"/>
          </a:p>
        </p:txBody>
      </p:sp>
      <p:sp>
        <p:nvSpPr>
          <p:cNvPr id="29" name="Shape 25"/>
          <p:cNvSpPr/>
          <p:nvPr/>
        </p:nvSpPr>
        <p:spPr>
          <a:xfrm>
            <a:off x="6172200" y="1737360"/>
            <a:ext cx="5468112" cy="4118823"/>
          </a:xfrm>
          <a:prstGeom prst="roundRect">
            <a:avLst>
              <a:gd name="adj" fmla="val 1554"/>
            </a:avLst>
          </a:prstGeom>
          <a:solidFill>
            <a:srgbClr val="1E293B"/>
          </a:solidFill>
          <a:ln w="12700">
            <a:solidFill>
              <a:srgbClr val="1E293B"/>
            </a:solidFill>
            <a:prstDash val="solid"/>
          </a:ln>
          <a:effectLst>
            <a:outerShdw sx="100000" sy="100000" kx="0" ky="0" algn="bl" rotWithShape="0" blurRad="127000" dist="25400" dir="5400000">
              <a:srgbClr val="0F172A">
                <a:alpha val="12000"/>
              </a:srgbClr>
            </a:outerShdw>
          </a:effectLst>
        </p:spPr>
      </p:sp>
      <p:sp>
        <p:nvSpPr>
          <p:cNvPr id="30" name="Shape 26"/>
          <p:cNvSpPr/>
          <p:nvPr/>
        </p:nvSpPr>
        <p:spPr>
          <a:xfrm>
            <a:off x="6291072" y="1815084"/>
            <a:ext cx="82296" cy="82296"/>
          </a:xfrm>
          <a:prstGeom prst="ellipse">
            <a:avLst/>
          </a:prstGeom>
          <a:solidFill>
            <a:srgbClr val="F87171"/>
          </a:solidFill>
          <a:ln w="12700">
            <a:solidFill>
              <a:srgbClr val="F87171"/>
            </a:solidFill>
            <a:prstDash val="solid"/>
          </a:ln>
        </p:spPr>
      </p:sp>
      <p:sp>
        <p:nvSpPr>
          <p:cNvPr id="31" name="Shape 27"/>
          <p:cNvSpPr/>
          <p:nvPr/>
        </p:nvSpPr>
        <p:spPr>
          <a:xfrm>
            <a:off x="6428232" y="1815084"/>
            <a:ext cx="82296" cy="82296"/>
          </a:xfrm>
          <a:prstGeom prst="ellipse">
            <a:avLst/>
          </a:prstGeom>
          <a:solidFill>
            <a:srgbClr val="FBBF24"/>
          </a:solidFill>
          <a:ln w="12700">
            <a:solidFill>
              <a:srgbClr val="FBBF24"/>
            </a:solidFill>
            <a:prstDash val="solid"/>
          </a:ln>
        </p:spPr>
      </p:sp>
      <p:sp>
        <p:nvSpPr>
          <p:cNvPr id="32" name="Shape 28"/>
          <p:cNvSpPr/>
          <p:nvPr/>
        </p:nvSpPr>
        <p:spPr>
          <a:xfrm>
            <a:off x="6565392" y="1815084"/>
            <a:ext cx="82296" cy="82296"/>
          </a:xfrm>
          <a:prstGeom prst="ellipse">
            <a:avLst/>
          </a:prstGeom>
          <a:solidFill>
            <a:srgbClr val="34D399"/>
          </a:solidFill>
          <a:ln w="12700">
            <a:solidFill>
              <a:srgbClr val="34D399"/>
            </a:solidFill>
            <a:prstDash val="solid"/>
          </a:ln>
        </p:spPr>
      </p:sp>
      <p:pic>
        <p:nvPicPr>
          <p:cNvPr id="33" name="Image 1" descr="C:\Users\shrey\AppData\Local\Temp\claude\D--novacinternship-finsight\87f4101b-bf26-4b28-976a-e637573d77e1\scratchpad\deck\img\agents_tab.png">    </p:cNvPr>
          <p:cNvPicPr>
            <a:picLocks noChangeAspect="1"/>
          </p:cNvPicPr>
          <p:nvPr/>
        </p:nvPicPr>
        <p:blipFill>
          <a:blip r:embed="rId2"/>
          <a:stretch>
            <a:fillRect/>
          </a:stretch>
        </p:blipFill>
        <p:spPr>
          <a:xfrm>
            <a:off x="6217920" y="1975104"/>
            <a:ext cx="5376672" cy="3835359"/>
          </a:xfrm>
          <a:prstGeom prst="rect">
            <a:avLst/>
          </a:prstGeom>
        </p:spPr>
      </p:pic>
      <p:sp>
        <p:nvSpPr>
          <p:cNvPr id="34" name="Text 29"/>
          <p:cNvSpPr txBox="1"/>
          <p:nvPr/>
        </p:nvSpPr>
        <p:spPr>
          <a:xfrm>
            <a:off x="6172200" y="5947623"/>
            <a:ext cx="5468112" cy="274320"/>
          </a:xfrm>
          <a:prstGeom prst="rect">
            <a:avLst/>
          </a:prstGeom>
          <a:noFill/>
          <a:ln/>
        </p:spPr>
        <p:txBody>
          <a:bodyPr wrap="square" lIns="0" tIns="0" rIns="0" bIns="0" rtlCol="0" anchor="ctr"/>
          <a:lstStyle/>
          <a:p>
            <a:pPr indent="0" marL="0">
              <a:buNone/>
            </a:pPr>
            <a:r>
              <a:rPr lang="en-US" sz="1050" i="1" dirty="0">
                <a:solidFill>
                  <a:srgbClr val="64748B"/>
                </a:solidFill>
                <a:latin typeface="Roboto" pitchFamily="34" charset="0"/>
                <a:ea typeface="Roboto" pitchFamily="34" charset="-122"/>
                <a:cs typeface="Roboto" pitchFamily="34" charset="-120"/>
              </a:rPr>
              <a:t>Agent Activity › Agents: each agent's kind, model, runs, p50 / p95 and flags.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TRUST &amp; CONTROL</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The database: SQL Server 'FinSight'</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9 schemas · 82 tables · 17 views. Migrations live in docs/mssql/ — 08-agentic-layer.sql adds the agent tables.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31</a:t>
            </a:r>
            <a:endParaRPr lang="en-US" sz="900" dirty="0"/>
          </a:p>
        </p:txBody>
      </p:sp>
      <p:sp>
        <p:nvSpPr>
          <p:cNvPr id="8" name="Shape 4"/>
          <p:cNvSpPr/>
          <p:nvPr/>
        </p:nvSpPr>
        <p:spPr>
          <a:xfrm>
            <a:off x="548640" y="1783080"/>
            <a:ext cx="3566160" cy="1371600"/>
          </a:xfrm>
          <a:prstGeom prst="roundRect">
            <a:avLst>
              <a:gd name="adj" fmla="val 6667"/>
            </a:avLst>
          </a:prstGeom>
          <a:solidFill>
            <a:srgbClr val="F8FAFC"/>
          </a:solidFill>
          <a:ln w="12700">
            <a:solidFill>
              <a:srgbClr val="E2E8F0"/>
            </a:solidFill>
            <a:prstDash val="solid"/>
          </a:ln>
        </p:spPr>
      </p:sp>
      <p:sp>
        <p:nvSpPr>
          <p:cNvPr id="9" name="Text 5"/>
          <p:cNvSpPr txBox="1"/>
          <p:nvPr/>
        </p:nvSpPr>
        <p:spPr>
          <a:xfrm>
            <a:off x="749808" y="1920240"/>
            <a:ext cx="1828800" cy="411480"/>
          </a:xfrm>
          <a:prstGeom prst="rect">
            <a:avLst/>
          </a:prstGeom>
          <a:noFill/>
          <a:ln/>
        </p:spPr>
        <p:txBody>
          <a:bodyPr wrap="square" lIns="0" tIns="0" rIns="0" bIns="0" rtlCol="0" anchor="ctr"/>
          <a:lstStyle/>
          <a:p>
            <a:pPr indent="0" marL="0">
              <a:buNone/>
            </a:pPr>
            <a:r>
              <a:rPr lang="en-US" sz="1800" b="1" dirty="0">
                <a:solidFill>
                  <a:srgbClr val="4F46E5"/>
                </a:solidFill>
                <a:latin typeface="Consolas" pitchFamily="34" charset="0"/>
                <a:ea typeface="Consolas" pitchFamily="34" charset="-122"/>
                <a:cs typeface="Consolas" pitchFamily="34" charset="-120"/>
              </a:rPr>
              <a:t>core</a:t>
            </a:r>
            <a:endParaRPr lang="en-US" sz="1800" dirty="0"/>
          </a:p>
        </p:txBody>
      </p:sp>
      <p:sp>
        <p:nvSpPr>
          <p:cNvPr id="10" name="Shape 6"/>
          <p:cNvSpPr/>
          <p:nvPr/>
        </p:nvSpPr>
        <p:spPr>
          <a:xfrm>
            <a:off x="2926080" y="1965960"/>
            <a:ext cx="1005840" cy="292608"/>
          </a:xfrm>
          <a:prstGeom prst="roundRect">
            <a:avLst>
              <a:gd name="adj" fmla="val 50000"/>
            </a:avLst>
          </a:prstGeom>
          <a:solidFill>
            <a:srgbClr val="FFFFFF"/>
          </a:solidFill>
          <a:ln w="12700">
            <a:solidFill>
              <a:srgbClr val="E2E8F0"/>
            </a:solidFill>
            <a:prstDash val="solid"/>
          </a:ln>
        </p:spPr>
      </p:sp>
      <p:sp>
        <p:nvSpPr>
          <p:cNvPr id="11" name="Text 7"/>
          <p:cNvSpPr txBox="1"/>
          <p:nvPr/>
        </p:nvSpPr>
        <p:spPr>
          <a:xfrm>
            <a:off x="2926080" y="1965960"/>
            <a:ext cx="1005840" cy="292608"/>
          </a:xfrm>
          <a:prstGeom prst="rect">
            <a:avLst/>
          </a:prstGeom>
          <a:noFill/>
          <a:ln/>
        </p:spPr>
        <p:txBody>
          <a:bodyPr wrap="square" lIns="0" tIns="0" rIns="0" bIns="0" rtlCol="0" anchor="ctr"/>
          <a:lstStyle/>
          <a:p>
            <a:pPr algn="ctr" indent="0" marL="0">
              <a:buNone/>
            </a:pPr>
            <a:r>
              <a:rPr lang="en-US" sz="950" b="1" dirty="0">
                <a:solidFill>
                  <a:srgbClr val="4F46E5"/>
                </a:solidFill>
                <a:latin typeface="Roboto" pitchFamily="34" charset="0"/>
                <a:ea typeface="Roboto" pitchFamily="34" charset="-122"/>
                <a:cs typeface="Roboto" pitchFamily="34" charset="-120"/>
              </a:rPr>
              <a:t>9 tables</a:t>
            </a:r>
            <a:endParaRPr lang="en-US" sz="950" dirty="0"/>
          </a:p>
        </p:txBody>
      </p:sp>
      <p:sp>
        <p:nvSpPr>
          <p:cNvPr id="12" name="Text 8"/>
          <p:cNvSpPr txBox="1"/>
          <p:nvPr/>
        </p:nvSpPr>
        <p:spPr>
          <a:xfrm>
            <a:off x="749808" y="2377440"/>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customers · loan_applications · uploaded_documents · document_extraction_results · loan_offers</a:t>
            </a:r>
            <a:endParaRPr lang="en-US" sz="1000" dirty="0"/>
          </a:p>
        </p:txBody>
      </p:sp>
      <p:sp>
        <p:nvSpPr>
          <p:cNvPr id="13" name="Shape 9"/>
          <p:cNvSpPr/>
          <p:nvPr/>
        </p:nvSpPr>
        <p:spPr>
          <a:xfrm>
            <a:off x="4297680" y="1783080"/>
            <a:ext cx="3566160" cy="1371600"/>
          </a:xfrm>
          <a:prstGeom prst="roundRect">
            <a:avLst>
              <a:gd name="adj" fmla="val 6667"/>
            </a:avLst>
          </a:prstGeom>
          <a:solidFill>
            <a:srgbClr val="F8FAFC"/>
          </a:solidFill>
          <a:ln w="12700">
            <a:solidFill>
              <a:srgbClr val="E2E8F0"/>
            </a:solidFill>
            <a:prstDash val="solid"/>
          </a:ln>
        </p:spPr>
      </p:sp>
      <p:sp>
        <p:nvSpPr>
          <p:cNvPr id="14" name="Text 10"/>
          <p:cNvSpPr txBox="1"/>
          <p:nvPr/>
        </p:nvSpPr>
        <p:spPr>
          <a:xfrm>
            <a:off x="4498848" y="1920240"/>
            <a:ext cx="1828800" cy="411480"/>
          </a:xfrm>
          <a:prstGeom prst="rect">
            <a:avLst/>
          </a:prstGeom>
          <a:noFill/>
          <a:ln/>
        </p:spPr>
        <p:txBody>
          <a:bodyPr wrap="square" lIns="0" tIns="0" rIns="0" bIns="0" rtlCol="0" anchor="ctr"/>
          <a:lstStyle/>
          <a:p>
            <a:pPr indent="0" marL="0">
              <a:buNone/>
            </a:pPr>
            <a:r>
              <a:rPr lang="en-US" sz="1800" b="1" dirty="0">
                <a:solidFill>
                  <a:srgbClr val="E11D48"/>
                </a:solidFill>
                <a:latin typeface="Consolas" pitchFamily="34" charset="0"/>
                <a:ea typeface="Consolas" pitchFamily="34" charset="-122"/>
                <a:cs typeface="Consolas" pitchFamily="34" charset="-120"/>
              </a:rPr>
              <a:t>fraud</a:t>
            </a:r>
            <a:endParaRPr lang="en-US" sz="1800" dirty="0"/>
          </a:p>
        </p:txBody>
      </p:sp>
      <p:sp>
        <p:nvSpPr>
          <p:cNvPr id="15" name="Shape 11"/>
          <p:cNvSpPr/>
          <p:nvPr/>
        </p:nvSpPr>
        <p:spPr>
          <a:xfrm>
            <a:off x="6675120" y="1965960"/>
            <a:ext cx="1005840" cy="292608"/>
          </a:xfrm>
          <a:prstGeom prst="roundRect">
            <a:avLst>
              <a:gd name="adj" fmla="val 50000"/>
            </a:avLst>
          </a:prstGeom>
          <a:solidFill>
            <a:srgbClr val="FFFFFF"/>
          </a:solidFill>
          <a:ln w="12700">
            <a:solidFill>
              <a:srgbClr val="E2E8F0"/>
            </a:solidFill>
            <a:prstDash val="solid"/>
          </a:ln>
        </p:spPr>
      </p:sp>
      <p:sp>
        <p:nvSpPr>
          <p:cNvPr id="16" name="Text 12"/>
          <p:cNvSpPr txBox="1"/>
          <p:nvPr/>
        </p:nvSpPr>
        <p:spPr>
          <a:xfrm>
            <a:off x="6675120" y="1965960"/>
            <a:ext cx="1005840" cy="292608"/>
          </a:xfrm>
          <a:prstGeom prst="rect">
            <a:avLst/>
          </a:prstGeom>
          <a:noFill/>
          <a:ln/>
        </p:spPr>
        <p:txBody>
          <a:bodyPr wrap="square" lIns="0" tIns="0" rIns="0" bIns="0" rtlCol="0" anchor="ctr"/>
          <a:lstStyle/>
          <a:p>
            <a:pPr algn="ctr" indent="0" marL="0">
              <a:buNone/>
            </a:pPr>
            <a:r>
              <a:rPr lang="en-US" sz="950" b="1" dirty="0">
                <a:solidFill>
                  <a:srgbClr val="E11D48"/>
                </a:solidFill>
                <a:latin typeface="Roboto" pitchFamily="34" charset="0"/>
                <a:ea typeface="Roboto" pitchFamily="34" charset="-122"/>
                <a:cs typeface="Roboto" pitchFamily="34" charset="-120"/>
              </a:rPr>
              <a:t>9 tables</a:t>
            </a:r>
            <a:endParaRPr lang="en-US" sz="950" dirty="0"/>
          </a:p>
        </p:txBody>
      </p:sp>
      <p:sp>
        <p:nvSpPr>
          <p:cNvPr id="17" name="Text 13"/>
          <p:cNvSpPr txBox="1"/>
          <p:nvPr/>
        </p:nvSpPr>
        <p:spPr>
          <a:xfrm>
            <a:off x="4498848" y="2377440"/>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fraud_assessments · fraud_cases · fraud_rings · identity_keys · fraud_weight_sets</a:t>
            </a:r>
            <a:endParaRPr lang="en-US" sz="1000" dirty="0"/>
          </a:p>
        </p:txBody>
      </p:sp>
      <p:sp>
        <p:nvSpPr>
          <p:cNvPr id="18" name="Shape 14"/>
          <p:cNvSpPr/>
          <p:nvPr/>
        </p:nvSpPr>
        <p:spPr>
          <a:xfrm>
            <a:off x="8046720" y="1783080"/>
            <a:ext cx="3566160" cy="1371600"/>
          </a:xfrm>
          <a:prstGeom prst="roundRect">
            <a:avLst>
              <a:gd name="adj" fmla="val 6667"/>
            </a:avLst>
          </a:prstGeom>
          <a:solidFill>
            <a:srgbClr val="F8FAFC"/>
          </a:solidFill>
          <a:ln w="12700">
            <a:solidFill>
              <a:srgbClr val="E2E8F0"/>
            </a:solidFill>
            <a:prstDash val="solid"/>
          </a:ln>
        </p:spPr>
      </p:sp>
      <p:sp>
        <p:nvSpPr>
          <p:cNvPr id="19" name="Text 15"/>
          <p:cNvSpPr txBox="1"/>
          <p:nvPr/>
        </p:nvSpPr>
        <p:spPr>
          <a:xfrm>
            <a:off x="8247888" y="1920240"/>
            <a:ext cx="1828800" cy="411480"/>
          </a:xfrm>
          <a:prstGeom prst="rect">
            <a:avLst/>
          </a:prstGeom>
          <a:noFill/>
          <a:ln/>
        </p:spPr>
        <p:txBody>
          <a:bodyPr wrap="square" lIns="0" tIns="0" rIns="0" bIns="0" rtlCol="0" anchor="ctr"/>
          <a:lstStyle/>
          <a:p>
            <a:pPr indent="0" marL="0">
              <a:buNone/>
            </a:pPr>
            <a:r>
              <a:rPr lang="en-US" sz="1800" b="1" dirty="0">
                <a:solidFill>
                  <a:srgbClr val="059669"/>
                </a:solidFill>
                <a:latin typeface="Consolas" pitchFamily="34" charset="0"/>
                <a:ea typeface="Consolas" pitchFamily="34" charset="-122"/>
                <a:cs typeface="Consolas" pitchFamily="34" charset="-120"/>
              </a:rPr>
              <a:t>comp</a:t>
            </a:r>
            <a:endParaRPr lang="en-US" sz="1800" dirty="0"/>
          </a:p>
        </p:txBody>
      </p:sp>
      <p:sp>
        <p:nvSpPr>
          <p:cNvPr id="20" name="Shape 16"/>
          <p:cNvSpPr/>
          <p:nvPr/>
        </p:nvSpPr>
        <p:spPr>
          <a:xfrm>
            <a:off x="10424160" y="1965960"/>
            <a:ext cx="1005840" cy="292608"/>
          </a:xfrm>
          <a:prstGeom prst="roundRect">
            <a:avLst>
              <a:gd name="adj" fmla="val 50000"/>
            </a:avLst>
          </a:prstGeom>
          <a:solidFill>
            <a:srgbClr val="FFFFFF"/>
          </a:solidFill>
          <a:ln w="12700">
            <a:solidFill>
              <a:srgbClr val="E2E8F0"/>
            </a:solidFill>
            <a:prstDash val="solid"/>
          </a:ln>
        </p:spPr>
      </p:sp>
      <p:sp>
        <p:nvSpPr>
          <p:cNvPr id="21" name="Text 17"/>
          <p:cNvSpPr txBox="1"/>
          <p:nvPr/>
        </p:nvSpPr>
        <p:spPr>
          <a:xfrm>
            <a:off x="10424160" y="1965960"/>
            <a:ext cx="1005840" cy="292608"/>
          </a:xfrm>
          <a:prstGeom prst="rect">
            <a:avLst/>
          </a:prstGeom>
          <a:noFill/>
          <a:ln/>
        </p:spPr>
        <p:txBody>
          <a:bodyPr wrap="square" lIns="0" tIns="0" rIns="0" bIns="0" rtlCol="0" anchor="ctr"/>
          <a:lstStyle/>
          <a:p>
            <a:pPr algn="ctr" indent="0" marL="0">
              <a:buNone/>
            </a:pPr>
            <a:r>
              <a:rPr lang="en-US" sz="950" b="1" dirty="0">
                <a:solidFill>
                  <a:srgbClr val="059669"/>
                </a:solidFill>
                <a:latin typeface="Roboto" pitchFamily="34" charset="0"/>
                <a:ea typeface="Roboto" pitchFamily="34" charset="-122"/>
                <a:cs typeface="Roboto" pitchFamily="34" charset="-120"/>
              </a:rPr>
              <a:t>5 tables</a:t>
            </a:r>
            <a:endParaRPr lang="en-US" sz="950" dirty="0"/>
          </a:p>
        </p:txBody>
      </p:sp>
      <p:sp>
        <p:nvSpPr>
          <p:cNvPr id="22" name="Text 18"/>
          <p:cNvSpPr txBox="1"/>
          <p:nvPr/>
        </p:nvSpPr>
        <p:spPr>
          <a:xfrm>
            <a:off x="8247888" y="2377440"/>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compliance_documents · document_chunks · rules · rule_candidates · check_results</a:t>
            </a:r>
            <a:endParaRPr lang="en-US" sz="1000" dirty="0"/>
          </a:p>
        </p:txBody>
      </p:sp>
      <p:sp>
        <p:nvSpPr>
          <p:cNvPr id="23" name="Shape 19"/>
          <p:cNvSpPr/>
          <p:nvPr/>
        </p:nvSpPr>
        <p:spPr>
          <a:xfrm>
            <a:off x="548640" y="3319272"/>
            <a:ext cx="3566160" cy="1371600"/>
          </a:xfrm>
          <a:prstGeom prst="roundRect">
            <a:avLst>
              <a:gd name="adj" fmla="val 6667"/>
            </a:avLst>
          </a:prstGeom>
          <a:solidFill>
            <a:srgbClr val="F8FAFC"/>
          </a:solidFill>
          <a:ln w="12700">
            <a:solidFill>
              <a:srgbClr val="E2E8F0"/>
            </a:solidFill>
            <a:prstDash val="solid"/>
          </a:ln>
        </p:spPr>
      </p:sp>
      <p:sp>
        <p:nvSpPr>
          <p:cNvPr id="24" name="Text 20"/>
          <p:cNvSpPr txBox="1"/>
          <p:nvPr/>
        </p:nvSpPr>
        <p:spPr>
          <a:xfrm>
            <a:off x="749808" y="3456432"/>
            <a:ext cx="1828800" cy="411480"/>
          </a:xfrm>
          <a:prstGeom prst="rect">
            <a:avLst/>
          </a:prstGeom>
          <a:noFill/>
          <a:ln/>
        </p:spPr>
        <p:txBody>
          <a:bodyPr wrap="square" lIns="0" tIns="0" rIns="0" bIns="0" rtlCol="0" anchor="ctr"/>
          <a:lstStyle/>
          <a:p>
            <a:pPr indent="0" marL="0">
              <a:buNone/>
            </a:pPr>
            <a:r>
              <a:rPr lang="en-US" sz="1800" b="1" dirty="0">
                <a:solidFill>
                  <a:srgbClr val="D97706"/>
                </a:solidFill>
                <a:latin typeface="Consolas" pitchFamily="34" charset="0"/>
                <a:ea typeface="Consolas" pitchFamily="34" charset="-122"/>
                <a:cs typeface="Consolas" pitchFamily="34" charset="-120"/>
              </a:rPr>
              <a:t>risk</a:t>
            </a:r>
            <a:endParaRPr lang="en-US" sz="1800" dirty="0"/>
          </a:p>
        </p:txBody>
      </p:sp>
      <p:sp>
        <p:nvSpPr>
          <p:cNvPr id="25" name="Shape 21"/>
          <p:cNvSpPr/>
          <p:nvPr/>
        </p:nvSpPr>
        <p:spPr>
          <a:xfrm>
            <a:off x="2926080" y="3502152"/>
            <a:ext cx="1005840" cy="292608"/>
          </a:xfrm>
          <a:prstGeom prst="roundRect">
            <a:avLst>
              <a:gd name="adj" fmla="val 50000"/>
            </a:avLst>
          </a:prstGeom>
          <a:solidFill>
            <a:srgbClr val="FFFFFF"/>
          </a:solidFill>
          <a:ln w="12700">
            <a:solidFill>
              <a:srgbClr val="E2E8F0"/>
            </a:solidFill>
            <a:prstDash val="solid"/>
          </a:ln>
        </p:spPr>
      </p:sp>
      <p:sp>
        <p:nvSpPr>
          <p:cNvPr id="26" name="Text 22"/>
          <p:cNvSpPr txBox="1"/>
          <p:nvPr/>
        </p:nvSpPr>
        <p:spPr>
          <a:xfrm>
            <a:off x="2926080" y="3502152"/>
            <a:ext cx="1005840" cy="292608"/>
          </a:xfrm>
          <a:prstGeom prst="rect">
            <a:avLst/>
          </a:prstGeom>
          <a:noFill/>
          <a:ln/>
        </p:spPr>
        <p:txBody>
          <a:bodyPr wrap="square" lIns="0" tIns="0" rIns="0" bIns="0" rtlCol="0" anchor="ctr"/>
          <a:lstStyle/>
          <a:p>
            <a:pPr algn="ctr" indent="0" marL="0">
              <a:buNone/>
            </a:pPr>
            <a:r>
              <a:rPr lang="en-US" sz="950" b="1" dirty="0">
                <a:solidFill>
                  <a:srgbClr val="D97706"/>
                </a:solidFill>
                <a:latin typeface="Roboto" pitchFamily="34" charset="0"/>
                <a:ea typeface="Roboto" pitchFamily="34" charset="-122"/>
                <a:cs typeface="Roboto" pitchFamily="34" charset="-120"/>
              </a:rPr>
              <a:t>3 tables</a:t>
            </a:r>
            <a:endParaRPr lang="en-US" sz="950" dirty="0"/>
          </a:p>
        </p:txBody>
      </p:sp>
      <p:sp>
        <p:nvSpPr>
          <p:cNvPr id="27" name="Text 23"/>
          <p:cNvSpPr txBox="1"/>
          <p:nvPr/>
        </p:nvSpPr>
        <p:spPr>
          <a:xfrm>
            <a:off x="749808" y="3913632"/>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risk_assessments · pricing_models · risk_thresholds</a:t>
            </a:r>
            <a:endParaRPr lang="en-US" sz="1000" dirty="0"/>
          </a:p>
        </p:txBody>
      </p:sp>
      <p:sp>
        <p:nvSpPr>
          <p:cNvPr id="28" name="Shape 24"/>
          <p:cNvSpPr/>
          <p:nvPr/>
        </p:nvSpPr>
        <p:spPr>
          <a:xfrm>
            <a:off x="4297680" y="3319272"/>
            <a:ext cx="3566160" cy="1371600"/>
          </a:xfrm>
          <a:prstGeom prst="roundRect">
            <a:avLst>
              <a:gd name="adj" fmla="val 6667"/>
            </a:avLst>
          </a:prstGeom>
          <a:solidFill>
            <a:srgbClr val="F8FAFC"/>
          </a:solidFill>
          <a:ln w="12700">
            <a:solidFill>
              <a:srgbClr val="E2E8F0"/>
            </a:solidFill>
            <a:prstDash val="solid"/>
          </a:ln>
        </p:spPr>
      </p:sp>
      <p:sp>
        <p:nvSpPr>
          <p:cNvPr id="29" name="Text 25"/>
          <p:cNvSpPr txBox="1"/>
          <p:nvPr/>
        </p:nvSpPr>
        <p:spPr>
          <a:xfrm>
            <a:off x="4498848" y="3456432"/>
            <a:ext cx="1828800" cy="411480"/>
          </a:xfrm>
          <a:prstGeom prst="rect">
            <a:avLst/>
          </a:prstGeom>
          <a:noFill/>
          <a:ln/>
        </p:spPr>
        <p:txBody>
          <a:bodyPr wrap="square" lIns="0" tIns="0" rIns="0" bIns="0" rtlCol="0" anchor="ctr"/>
          <a:lstStyle/>
          <a:p>
            <a:pPr indent="0" marL="0">
              <a:buNone/>
            </a:pPr>
            <a:r>
              <a:rPr lang="en-US" sz="1800" b="1" dirty="0">
                <a:solidFill>
                  <a:srgbClr val="BE123C"/>
                </a:solidFill>
                <a:latin typeface="Consolas" pitchFamily="34" charset="0"/>
                <a:ea typeface="Consolas" pitchFamily="34" charset="-122"/>
                <a:cs typeface="Consolas" pitchFamily="34" charset="-120"/>
              </a:rPr>
              <a:t>agent</a:t>
            </a:r>
            <a:endParaRPr lang="en-US" sz="1800" dirty="0"/>
          </a:p>
        </p:txBody>
      </p:sp>
      <p:sp>
        <p:nvSpPr>
          <p:cNvPr id="30" name="Shape 26"/>
          <p:cNvSpPr/>
          <p:nvPr/>
        </p:nvSpPr>
        <p:spPr>
          <a:xfrm>
            <a:off x="6675120" y="3502152"/>
            <a:ext cx="1005840" cy="292608"/>
          </a:xfrm>
          <a:prstGeom prst="roundRect">
            <a:avLst>
              <a:gd name="adj" fmla="val 50000"/>
            </a:avLst>
          </a:prstGeom>
          <a:solidFill>
            <a:srgbClr val="FFFFFF"/>
          </a:solidFill>
          <a:ln w="12700">
            <a:solidFill>
              <a:srgbClr val="E2E8F0"/>
            </a:solidFill>
            <a:prstDash val="solid"/>
          </a:ln>
        </p:spPr>
      </p:sp>
      <p:sp>
        <p:nvSpPr>
          <p:cNvPr id="31" name="Text 27"/>
          <p:cNvSpPr txBox="1"/>
          <p:nvPr/>
        </p:nvSpPr>
        <p:spPr>
          <a:xfrm>
            <a:off x="6675120" y="3502152"/>
            <a:ext cx="1005840" cy="292608"/>
          </a:xfrm>
          <a:prstGeom prst="rect">
            <a:avLst/>
          </a:prstGeom>
          <a:noFill/>
          <a:ln/>
        </p:spPr>
        <p:txBody>
          <a:bodyPr wrap="square" lIns="0" tIns="0" rIns="0" bIns="0" rtlCol="0" anchor="ctr"/>
          <a:lstStyle/>
          <a:p>
            <a:pPr algn="ctr" indent="0" marL="0">
              <a:buNone/>
            </a:pPr>
            <a:r>
              <a:rPr lang="en-US" sz="950" b="1" dirty="0">
                <a:solidFill>
                  <a:srgbClr val="BE123C"/>
                </a:solidFill>
                <a:latin typeface="Roboto" pitchFamily="34" charset="0"/>
                <a:ea typeface="Roboto" pitchFamily="34" charset="-122"/>
                <a:cs typeface="Roboto" pitchFamily="34" charset="-120"/>
              </a:rPr>
              <a:t>4 tables</a:t>
            </a:r>
            <a:endParaRPr lang="en-US" sz="950" dirty="0"/>
          </a:p>
        </p:txBody>
      </p:sp>
      <p:sp>
        <p:nvSpPr>
          <p:cNvPr id="32" name="Text 28"/>
          <p:cNvSpPr txBox="1"/>
          <p:nvPr/>
        </p:nvSpPr>
        <p:spPr>
          <a:xfrm>
            <a:off x="4498848" y="3913632"/>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run · step · tool_call · llm_setting_audit</a:t>
            </a:r>
            <a:endParaRPr lang="en-US" sz="1000" dirty="0"/>
          </a:p>
        </p:txBody>
      </p:sp>
      <p:sp>
        <p:nvSpPr>
          <p:cNvPr id="33" name="Shape 29"/>
          <p:cNvSpPr/>
          <p:nvPr/>
        </p:nvSpPr>
        <p:spPr>
          <a:xfrm>
            <a:off x="8046720" y="3319272"/>
            <a:ext cx="3566160" cy="1371600"/>
          </a:xfrm>
          <a:prstGeom prst="roundRect">
            <a:avLst>
              <a:gd name="adj" fmla="val 6667"/>
            </a:avLst>
          </a:prstGeom>
          <a:solidFill>
            <a:srgbClr val="F8FAFC"/>
          </a:solidFill>
          <a:ln w="12700">
            <a:solidFill>
              <a:srgbClr val="E2E8F0"/>
            </a:solidFill>
            <a:prstDash val="solid"/>
          </a:ln>
        </p:spPr>
      </p:sp>
      <p:sp>
        <p:nvSpPr>
          <p:cNvPr id="34" name="Text 30"/>
          <p:cNvSpPr txBox="1"/>
          <p:nvPr/>
        </p:nvSpPr>
        <p:spPr>
          <a:xfrm>
            <a:off x="8247888" y="3456432"/>
            <a:ext cx="1828800" cy="411480"/>
          </a:xfrm>
          <a:prstGeom prst="rect">
            <a:avLst/>
          </a:prstGeom>
          <a:noFill/>
          <a:ln/>
        </p:spPr>
        <p:txBody>
          <a:bodyPr wrap="square" lIns="0" tIns="0" rIns="0" bIns="0" rtlCol="0" anchor="ctr"/>
          <a:lstStyle/>
          <a:p>
            <a:pPr indent="0" marL="0">
              <a:buNone/>
            </a:pPr>
            <a:r>
              <a:rPr lang="en-US" sz="1800" b="1" dirty="0">
                <a:solidFill>
                  <a:srgbClr val="7C3AED"/>
                </a:solidFill>
                <a:latin typeface="Consolas" pitchFamily="34" charset="0"/>
                <a:ea typeface="Consolas" pitchFamily="34" charset="-122"/>
                <a:cs typeface="Consolas" pitchFamily="34" charset="-120"/>
              </a:rPr>
              <a:t>pm</a:t>
            </a:r>
            <a:endParaRPr lang="en-US" sz="1800" dirty="0"/>
          </a:p>
        </p:txBody>
      </p:sp>
      <p:sp>
        <p:nvSpPr>
          <p:cNvPr id="35" name="Shape 31"/>
          <p:cNvSpPr/>
          <p:nvPr/>
        </p:nvSpPr>
        <p:spPr>
          <a:xfrm>
            <a:off x="10424160" y="3502152"/>
            <a:ext cx="1005840" cy="292608"/>
          </a:xfrm>
          <a:prstGeom prst="roundRect">
            <a:avLst>
              <a:gd name="adj" fmla="val 50000"/>
            </a:avLst>
          </a:prstGeom>
          <a:solidFill>
            <a:srgbClr val="FFFFFF"/>
          </a:solidFill>
          <a:ln w="12700">
            <a:solidFill>
              <a:srgbClr val="E2E8F0"/>
            </a:solidFill>
            <a:prstDash val="solid"/>
          </a:ln>
        </p:spPr>
      </p:sp>
      <p:sp>
        <p:nvSpPr>
          <p:cNvPr id="36" name="Text 32"/>
          <p:cNvSpPr txBox="1"/>
          <p:nvPr/>
        </p:nvSpPr>
        <p:spPr>
          <a:xfrm>
            <a:off x="10424160" y="3502152"/>
            <a:ext cx="1005840" cy="292608"/>
          </a:xfrm>
          <a:prstGeom prst="rect">
            <a:avLst/>
          </a:prstGeom>
          <a:noFill/>
          <a:ln/>
        </p:spPr>
        <p:txBody>
          <a:bodyPr wrap="square" lIns="0" tIns="0" rIns="0" bIns="0" rtlCol="0" anchor="ctr"/>
          <a:lstStyle/>
          <a:p>
            <a:pPr algn="ctr" indent="0" marL="0">
              <a:buNone/>
            </a:pPr>
            <a:r>
              <a:rPr lang="en-US" sz="950" b="1" dirty="0">
                <a:solidFill>
                  <a:srgbClr val="7C3AED"/>
                </a:solidFill>
                <a:latin typeface="Roboto" pitchFamily="34" charset="0"/>
                <a:ea typeface="Roboto" pitchFamily="34" charset="-122"/>
                <a:cs typeface="Roboto" pitchFamily="34" charset="-120"/>
              </a:rPr>
              <a:t>20 tables</a:t>
            </a:r>
            <a:endParaRPr lang="en-US" sz="950" dirty="0"/>
          </a:p>
        </p:txBody>
      </p:sp>
      <p:sp>
        <p:nvSpPr>
          <p:cNvPr id="37" name="Text 33"/>
          <p:cNvSpPr txBox="1"/>
          <p:nvPr/>
        </p:nvSpPr>
        <p:spPr>
          <a:xfrm>
            <a:off x="8247888" y="3913632"/>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event_log · activity · case_metrics · case_variant · conformance_result · deviation</a:t>
            </a:r>
            <a:endParaRPr lang="en-US" sz="1000" dirty="0"/>
          </a:p>
        </p:txBody>
      </p:sp>
      <p:sp>
        <p:nvSpPr>
          <p:cNvPr id="38" name="Shape 34"/>
          <p:cNvSpPr/>
          <p:nvPr/>
        </p:nvSpPr>
        <p:spPr>
          <a:xfrm>
            <a:off x="548640" y="4855464"/>
            <a:ext cx="3566160" cy="1371600"/>
          </a:xfrm>
          <a:prstGeom prst="roundRect">
            <a:avLst>
              <a:gd name="adj" fmla="val 6667"/>
            </a:avLst>
          </a:prstGeom>
          <a:solidFill>
            <a:srgbClr val="F8FAFC"/>
          </a:solidFill>
          <a:ln w="12700">
            <a:solidFill>
              <a:srgbClr val="E2E8F0"/>
            </a:solidFill>
            <a:prstDash val="solid"/>
          </a:ln>
        </p:spPr>
      </p:sp>
      <p:sp>
        <p:nvSpPr>
          <p:cNvPr id="39" name="Text 35"/>
          <p:cNvSpPr txBox="1"/>
          <p:nvPr/>
        </p:nvSpPr>
        <p:spPr>
          <a:xfrm>
            <a:off x="749808" y="4992624"/>
            <a:ext cx="1828800" cy="411480"/>
          </a:xfrm>
          <a:prstGeom prst="rect">
            <a:avLst/>
          </a:prstGeom>
          <a:noFill/>
          <a:ln/>
        </p:spPr>
        <p:txBody>
          <a:bodyPr wrap="square" lIns="0" tIns="0" rIns="0" bIns="0" rtlCol="0" anchor="ctr"/>
          <a:lstStyle/>
          <a:p>
            <a:pPr indent="0" marL="0">
              <a:buNone/>
            </a:pPr>
            <a:r>
              <a:rPr lang="en-US" sz="1800" b="1" dirty="0">
                <a:solidFill>
                  <a:srgbClr val="0891B2"/>
                </a:solidFill>
                <a:latin typeface="Consolas" pitchFamily="34" charset="0"/>
                <a:ea typeface="Consolas" pitchFamily="34" charset="-122"/>
                <a:cs typeface="Consolas" pitchFamily="34" charset="-120"/>
              </a:rPr>
              <a:t>ops</a:t>
            </a:r>
            <a:endParaRPr lang="en-US" sz="1800" dirty="0"/>
          </a:p>
        </p:txBody>
      </p:sp>
      <p:sp>
        <p:nvSpPr>
          <p:cNvPr id="40" name="Shape 36"/>
          <p:cNvSpPr/>
          <p:nvPr/>
        </p:nvSpPr>
        <p:spPr>
          <a:xfrm>
            <a:off x="2926080" y="5038344"/>
            <a:ext cx="1005840" cy="292608"/>
          </a:xfrm>
          <a:prstGeom prst="roundRect">
            <a:avLst>
              <a:gd name="adj" fmla="val 50000"/>
            </a:avLst>
          </a:prstGeom>
          <a:solidFill>
            <a:srgbClr val="FFFFFF"/>
          </a:solidFill>
          <a:ln w="12700">
            <a:solidFill>
              <a:srgbClr val="E2E8F0"/>
            </a:solidFill>
            <a:prstDash val="solid"/>
          </a:ln>
        </p:spPr>
      </p:sp>
      <p:sp>
        <p:nvSpPr>
          <p:cNvPr id="41" name="Text 37"/>
          <p:cNvSpPr txBox="1"/>
          <p:nvPr/>
        </p:nvSpPr>
        <p:spPr>
          <a:xfrm>
            <a:off x="2926080" y="5038344"/>
            <a:ext cx="1005840" cy="292608"/>
          </a:xfrm>
          <a:prstGeom prst="rect">
            <a:avLst/>
          </a:prstGeom>
          <a:noFill/>
          <a:ln/>
        </p:spPr>
        <p:txBody>
          <a:bodyPr wrap="square" lIns="0" tIns="0" rIns="0" bIns="0" rtlCol="0" anchor="ctr"/>
          <a:lstStyle/>
          <a:p>
            <a:pPr algn="ctr" indent="0" marL="0">
              <a:buNone/>
            </a:pPr>
            <a:r>
              <a:rPr lang="en-US" sz="950" b="1" dirty="0">
                <a:solidFill>
                  <a:srgbClr val="0891B2"/>
                </a:solidFill>
                <a:latin typeface="Roboto" pitchFamily="34" charset="0"/>
                <a:ea typeface="Roboto" pitchFamily="34" charset="-122"/>
                <a:cs typeface="Roboto" pitchFamily="34" charset="-120"/>
              </a:rPr>
              <a:t>8 tables</a:t>
            </a:r>
            <a:endParaRPr lang="en-US" sz="950" dirty="0"/>
          </a:p>
        </p:txBody>
      </p:sp>
      <p:sp>
        <p:nvSpPr>
          <p:cNvPr id="42" name="Text 38"/>
          <p:cNvSpPr txBox="1"/>
          <p:nvPr/>
        </p:nvSpPr>
        <p:spPr>
          <a:xfrm>
            <a:off x="749808" y="5449824"/>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users · notifications · notification_templates · loan_products</a:t>
            </a:r>
            <a:endParaRPr lang="en-US" sz="1000" dirty="0"/>
          </a:p>
        </p:txBody>
      </p:sp>
      <p:sp>
        <p:nvSpPr>
          <p:cNvPr id="43" name="Shape 39"/>
          <p:cNvSpPr/>
          <p:nvPr/>
        </p:nvSpPr>
        <p:spPr>
          <a:xfrm>
            <a:off x="4297680" y="4855464"/>
            <a:ext cx="3566160" cy="1371600"/>
          </a:xfrm>
          <a:prstGeom prst="roundRect">
            <a:avLst>
              <a:gd name="adj" fmla="val 6667"/>
            </a:avLst>
          </a:prstGeom>
          <a:solidFill>
            <a:srgbClr val="F8FAFC"/>
          </a:solidFill>
          <a:ln w="12700">
            <a:solidFill>
              <a:srgbClr val="E2E8F0"/>
            </a:solidFill>
            <a:prstDash val="solid"/>
          </a:ln>
        </p:spPr>
      </p:sp>
      <p:sp>
        <p:nvSpPr>
          <p:cNvPr id="44" name="Text 40"/>
          <p:cNvSpPr txBox="1"/>
          <p:nvPr/>
        </p:nvSpPr>
        <p:spPr>
          <a:xfrm>
            <a:off x="4498848" y="4992624"/>
            <a:ext cx="1828800" cy="411480"/>
          </a:xfrm>
          <a:prstGeom prst="rect">
            <a:avLst/>
          </a:prstGeom>
          <a:noFill/>
          <a:ln/>
        </p:spPr>
        <p:txBody>
          <a:bodyPr wrap="square" lIns="0" tIns="0" rIns="0" bIns="0" rtlCol="0" anchor="ctr"/>
          <a:lstStyle/>
          <a:p>
            <a:pPr indent="0" marL="0">
              <a:buNone/>
            </a:pPr>
            <a:r>
              <a:rPr lang="en-US" sz="1800" b="1" dirty="0">
                <a:solidFill>
                  <a:srgbClr val="64748B"/>
                </a:solidFill>
                <a:latin typeface="Consolas" pitchFamily="34" charset="0"/>
                <a:ea typeface="Consolas" pitchFamily="34" charset="-122"/>
                <a:cs typeface="Consolas" pitchFamily="34" charset="-120"/>
              </a:rPr>
              <a:t>audit</a:t>
            </a:r>
            <a:endParaRPr lang="en-US" sz="1800" dirty="0"/>
          </a:p>
        </p:txBody>
      </p:sp>
      <p:sp>
        <p:nvSpPr>
          <p:cNvPr id="45" name="Shape 41"/>
          <p:cNvSpPr/>
          <p:nvPr/>
        </p:nvSpPr>
        <p:spPr>
          <a:xfrm>
            <a:off x="6675120" y="5038344"/>
            <a:ext cx="1005840" cy="292608"/>
          </a:xfrm>
          <a:prstGeom prst="roundRect">
            <a:avLst>
              <a:gd name="adj" fmla="val 50000"/>
            </a:avLst>
          </a:prstGeom>
          <a:solidFill>
            <a:srgbClr val="FFFFFF"/>
          </a:solidFill>
          <a:ln w="12700">
            <a:solidFill>
              <a:srgbClr val="E2E8F0"/>
            </a:solidFill>
            <a:prstDash val="solid"/>
          </a:ln>
        </p:spPr>
      </p:sp>
      <p:sp>
        <p:nvSpPr>
          <p:cNvPr id="46" name="Text 42"/>
          <p:cNvSpPr txBox="1"/>
          <p:nvPr/>
        </p:nvSpPr>
        <p:spPr>
          <a:xfrm>
            <a:off x="6675120" y="5038344"/>
            <a:ext cx="1005840" cy="292608"/>
          </a:xfrm>
          <a:prstGeom prst="rect">
            <a:avLst/>
          </a:prstGeom>
          <a:noFill/>
          <a:ln/>
        </p:spPr>
        <p:txBody>
          <a:bodyPr wrap="square" lIns="0" tIns="0" rIns="0" bIns="0" rtlCol="0" anchor="ctr"/>
          <a:lstStyle/>
          <a:p>
            <a:pPr algn="ctr" indent="0" marL="0">
              <a:buNone/>
            </a:pPr>
            <a:r>
              <a:rPr lang="en-US" sz="950" b="1" dirty="0">
                <a:solidFill>
                  <a:srgbClr val="64748B"/>
                </a:solidFill>
                <a:latin typeface="Roboto" pitchFamily="34" charset="0"/>
                <a:ea typeface="Roboto" pitchFamily="34" charset="-122"/>
                <a:cs typeface="Roboto" pitchFamily="34" charset="-120"/>
              </a:rPr>
              <a:t>3 tables</a:t>
            </a:r>
            <a:endParaRPr lang="en-US" sz="950" dirty="0"/>
          </a:p>
        </p:txBody>
      </p:sp>
      <p:sp>
        <p:nvSpPr>
          <p:cNvPr id="47" name="Text 43"/>
          <p:cNvSpPr txBox="1"/>
          <p:nvPr/>
        </p:nvSpPr>
        <p:spPr>
          <a:xfrm>
            <a:off x="4498848" y="5449824"/>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audit_log · audit_log_details · business_events</a:t>
            </a:r>
            <a:endParaRPr lang="en-US" sz="1000" dirty="0"/>
          </a:p>
        </p:txBody>
      </p:sp>
      <p:sp>
        <p:nvSpPr>
          <p:cNvPr id="48" name="Shape 44"/>
          <p:cNvSpPr/>
          <p:nvPr/>
        </p:nvSpPr>
        <p:spPr>
          <a:xfrm>
            <a:off x="8046720" y="4855464"/>
            <a:ext cx="3566160" cy="1371600"/>
          </a:xfrm>
          <a:prstGeom prst="roundRect">
            <a:avLst>
              <a:gd name="adj" fmla="val 6667"/>
            </a:avLst>
          </a:prstGeom>
          <a:solidFill>
            <a:srgbClr val="F8FAFC"/>
          </a:solidFill>
          <a:ln w="12700">
            <a:solidFill>
              <a:srgbClr val="E2E8F0"/>
            </a:solidFill>
            <a:prstDash val="solid"/>
          </a:ln>
        </p:spPr>
      </p:sp>
      <p:sp>
        <p:nvSpPr>
          <p:cNvPr id="49" name="Text 45"/>
          <p:cNvSpPr txBox="1"/>
          <p:nvPr/>
        </p:nvSpPr>
        <p:spPr>
          <a:xfrm>
            <a:off x="8247888" y="4992624"/>
            <a:ext cx="1828800" cy="411480"/>
          </a:xfrm>
          <a:prstGeom prst="rect">
            <a:avLst/>
          </a:prstGeom>
          <a:noFill/>
          <a:ln/>
        </p:spPr>
        <p:txBody>
          <a:bodyPr wrap="square" lIns="0" tIns="0" rIns="0" bIns="0" rtlCol="0" anchor="ctr"/>
          <a:lstStyle/>
          <a:p>
            <a:pPr indent="0" marL="0">
              <a:buNone/>
            </a:pPr>
            <a:r>
              <a:rPr lang="en-US" sz="1800" b="1" dirty="0">
                <a:solidFill>
                  <a:srgbClr val="64748B"/>
                </a:solidFill>
                <a:latin typeface="Consolas" pitchFamily="34" charset="0"/>
                <a:ea typeface="Consolas" pitchFamily="34" charset="-122"/>
                <a:cs typeface="Consolas" pitchFamily="34" charset="-120"/>
              </a:rPr>
              <a:t>ref</a:t>
            </a:r>
            <a:endParaRPr lang="en-US" sz="1800" dirty="0"/>
          </a:p>
        </p:txBody>
      </p:sp>
      <p:sp>
        <p:nvSpPr>
          <p:cNvPr id="50" name="Shape 46"/>
          <p:cNvSpPr/>
          <p:nvPr/>
        </p:nvSpPr>
        <p:spPr>
          <a:xfrm>
            <a:off x="10424160" y="5038344"/>
            <a:ext cx="1005840" cy="292608"/>
          </a:xfrm>
          <a:prstGeom prst="roundRect">
            <a:avLst>
              <a:gd name="adj" fmla="val 50000"/>
            </a:avLst>
          </a:prstGeom>
          <a:solidFill>
            <a:srgbClr val="FFFFFF"/>
          </a:solidFill>
          <a:ln w="12700">
            <a:solidFill>
              <a:srgbClr val="E2E8F0"/>
            </a:solidFill>
            <a:prstDash val="solid"/>
          </a:ln>
        </p:spPr>
      </p:sp>
      <p:sp>
        <p:nvSpPr>
          <p:cNvPr id="51" name="Text 47"/>
          <p:cNvSpPr txBox="1"/>
          <p:nvPr/>
        </p:nvSpPr>
        <p:spPr>
          <a:xfrm>
            <a:off x="10424160" y="5038344"/>
            <a:ext cx="1005840" cy="292608"/>
          </a:xfrm>
          <a:prstGeom prst="rect">
            <a:avLst/>
          </a:prstGeom>
          <a:noFill/>
          <a:ln/>
        </p:spPr>
        <p:txBody>
          <a:bodyPr wrap="square" lIns="0" tIns="0" rIns="0" bIns="0" rtlCol="0" anchor="ctr"/>
          <a:lstStyle/>
          <a:p>
            <a:pPr algn="ctr" indent="0" marL="0">
              <a:buNone/>
            </a:pPr>
            <a:r>
              <a:rPr lang="en-US" sz="950" b="1" dirty="0">
                <a:solidFill>
                  <a:srgbClr val="64748B"/>
                </a:solidFill>
                <a:latin typeface="Roboto" pitchFamily="34" charset="0"/>
                <a:ea typeface="Roboto" pitchFamily="34" charset="-122"/>
                <a:cs typeface="Roboto" pitchFamily="34" charset="-120"/>
              </a:rPr>
              <a:t>21 tables</a:t>
            </a:r>
            <a:endParaRPr lang="en-US" sz="950" dirty="0"/>
          </a:p>
        </p:txBody>
      </p:sp>
      <p:sp>
        <p:nvSpPr>
          <p:cNvPr id="52" name="Text 48"/>
          <p:cNvSpPr txBox="1"/>
          <p:nvPr/>
        </p:nvSpPr>
        <p:spPr>
          <a:xfrm>
            <a:off x="8247888" y="5449824"/>
            <a:ext cx="3200400" cy="685800"/>
          </a:xfrm>
          <a:prstGeom prst="rect">
            <a:avLst/>
          </a:prstGeom>
          <a:noFill/>
          <a:ln/>
        </p:spPr>
        <p:txBody>
          <a:bodyPr wrap="square" lIns="0" tIns="0" rIns="0" bIns="0" rtlCol="0" anchor="t"/>
          <a:lstStyle/>
          <a:p>
            <a:pPr indent="0" marL="0">
              <a:buNone/>
            </a:pPr>
            <a:r>
              <a:rPr lang="en-US" sz="1000" dirty="0">
                <a:solidFill>
                  <a:srgbClr val="334155"/>
                </a:solidFill>
                <a:latin typeface="Consolas" pitchFamily="34" charset="0"/>
                <a:ea typeface="Consolas" pitchFamily="34" charset="-122"/>
                <a:cs typeface="Consolas" pitchFamily="34" charset="-120"/>
              </a:rPr>
              <a:t>application_status · lifecycle_transition · document_type · fraud_severity …</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1417320"/>
            <a:ext cx="3657600" cy="1188720"/>
          </a:xfrm>
          <a:prstGeom prst="rect">
            <a:avLst/>
          </a:prstGeom>
          <a:noFill/>
          <a:ln/>
        </p:spPr>
        <p:txBody>
          <a:bodyPr wrap="square" lIns="0" tIns="0" rIns="0" bIns="0" rtlCol="0" anchor="ctr"/>
          <a:lstStyle/>
          <a:p>
            <a:pPr indent="0" marL="0">
              <a:buNone/>
            </a:pPr>
            <a:r>
              <a:rPr lang="en-US" sz="8800" b="1" dirty="0">
                <a:solidFill>
                  <a:srgbClr val="818CF8"/>
                </a:solidFill>
                <a:latin typeface="Roboto" pitchFamily="34" charset="0"/>
                <a:ea typeface="Roboto" pitchFamily="34" charset="-122"/>
                <a:cs typeface="Roboto" pitchFamily="34" charset="-120"/>
              </a:rPr>
              <a:t>05</a:t>
            </a:r>
            <a:endParaRPr lang="en-US" sz="8800" dirty="0"/>
          </a:p>
        </p:txBody>
      </p:sp>
      <p:sp>
        <p:nvSpPr>
          <p:cNvPr id="3" name="Text 1"/>
          <p:cNvSpPr txBox="1"/>
          <p:nvPr/>
        </p:nvSpPr>
        <p:spPr>
          <a:xfrm>
            <a:off x="548640" y="269748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Roboto" pitchFamily="34" charset="0"/>
                <a:ea typeface="Roboto" pitchFamily="34" charset="-122"/>
                <a:cs typeface="Roboto" pitchFamily="34" charset="-120"/>
              </a:rPr>
              <a:t>Evaluation</a:t>
            </a:r>
            <a:endParaRPr lang="en-US" sz="40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700" dirty="0">
                <a:solidFill>
                  <a:srgbClr val="CBD5E1"/>
                </a:solidFill>
                <a:latin typeface="Roboto" pitchFamily="34" charset="0"/>
                <a:ea typeface="Roboto" pitchFamily="34" charset="-122"/>
                <a:cs typeface="Roboto" pitchFamily="34" charset="-120"/>
              </a:rPr>
              <a:t>Every agent was tested as soon as it was built, against a pass mark written down before the run.</a:t>
            </a:r>
            <a:endParaRPr lang="en-US" sz="1700" dirty="0"/>
          </a:p>
        </p:txBody>
      </p:sp>
      <p:sp>
        <p:nvSpPr>
          <p:cNvPr id="5" name="Text 3"/>
          <p:cNvSpPr txBox="1"/>
          <p:nvPr/>
        </p:nvSpPr>
        <p:spPr>
          <a:xfrm>
            <a:off x="548640" y="4754880"/>
            <a:ext cx="3657600" cy="274320"/>
          </a:xfrm>
          <a:prstGeom prst="rect">
            <a:avLst/>
          </a:prstGeom>
          <a:noFill/>
          <a:ln/>
        </p:spPr>
        <p:txBody>
          <a:bodyPr wrap="square" lIns="0" tIns="0" rIns="0" bIns="0" rtlCol="0" anchor="ctr"/>
          <a:lstStyle/>
          <a:p>
            <a:pPr indent="0" marL="0">
              <a:buNone/>
            </a:pPr>
            <a:r>
              <a:rPr lang="en-US" sz="1050" b="1" spc="200" kern="0" dirty="0">
                <a:solidFill>
                  <a:srgbClr val="94A3B8"/>
                </a:solidFill>
                <a:latin typeface="Roboto" pitchFamily="34" charset="0"/>
                <a:ea typeface="Roboto" pitchFamily="34" charset="-122"/>
                <a:cs typeface="Roboto" pitchFamily="34" charset="-120"/>
              </a:rPr>
              <a:t>IN THIS SECTION</a:t>
            </a:r>
            <a:endParaRPr lang="en-US" sz="1050" dirty="0"/>
          </a:p>
        </p:txBody>
      </p:sp>
      <p:sp>
        <p:nvSpPr>
          <p:cNvPr id="6" name="Shape 4"/>
          <p:cNvSpPr/>
          <p:nvPr/>
        </p:nvSpPr>
        <p:spPr>
          <a:xfrm>
            <a:off x="548640" y="5102352"/>
            <a:ext cx="694944" cy="384048"/>
          </a:xfrm>
          <a:prstGeom prst="roundRect">
            <a:avLst>
              <a:gd name="adj" fmla="val 50000"/>
            </a:avLst>
          </a:prstGeom>
          <a:solidFill>
            <a:srgbClr val="1E293B"/>
          </a:solidFill>
          <a:ln w="12700">
            <a:solidFill>
              <a:srgbClr val="334155"/>
            </a:solidFill>
            <a:prstDash val="solid"/>
          </a:ln>
        </p:spPr>
      </p:sp>
      <p:sp>
        <p:nvSpPr>
          <p:cNvPr id="7" name="Text 5"/>
          <p:cNvSpPr txBox="1"/>
          <p:nvPr/>
        </p:nvSpPr>
        <p:spPr>
          <a:xfrm>
            <a:off x="548640" y="5102352"/>
            <a:ext cx="694944"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Method</a:t>
            </a:r>
            <a:endParaRPr lang="en-US" sz="1200" dirty="0"/>
          </a:p>
        </p:txBody>
      </p:sp>
      <p:sp>
        <p:nvSpPr>
          <p:cNvPr id="8" name="Shape 6"/>
          <p:cNvSpPr/>
          <p:nvPr/>
        </p:nvSpPr>
        <p:spPr>
          <a:xfrm>
            <a:off x="1371600" y="5102352"/>
            <a:ext cx="914400" cy="384048"/>
          </a:xfrm>
          <a:prstGeom prst="roundRect">
            <a:avLst>
              <a:gd name="adj" fmla="val 50000"/>
            </a:avLst>
          </a:prstGeom>
          <a:solidFill>
            <a:srgbClr val="1E293B"/>
          </a:solidFill>
          <a:ln w="12700">
            <a:solidFill>
              <a:srgbClr val="334155"/>
            </a:solidFill>
            <a:prstDash val="solid"/>
          </a:ln>
        </p:spPr>
      </p:sp>
      <p:sp>
        <p:nvSpPr>
          <p:cNvPr id="9" name="Text 7"/>
          <p:cNvSpPr txBox="1"/>
          <p:nvPr/>
        </p:nvSpPr>
        <p:spPr>
          <a:xfrm>
            <a:off x="1371600" y="5102352"/>
            <a:ext cx="91440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Scorecard</a:t>
            </a:r>
            <a:endParaRPr lang="en-US" sz="1200" dirty="0"/>
          </a:p>
        </p:txBody>
      </p:sp>
      <p:sp>
        <p:nvSpPr>
          <p:cNvPr id="10" name="Shape 8"/>
          <p:cNvSpPr/>
          <p:nvPr/>
        </p:nvSpPr>
        <p:spPr>
          <a:xfrm>
            <a:off x="2414016" y="5102352"/>
            <a:ext cx="1207008" cy="384048"/>
          </a:xfrm>
          <a:prstGeom prst="roundRect">
            <a:avLst>
              <a:gd name="adj" fmla="val 50000"/>
            </a:avLst>
          </a:prstGeom>
          <a:solidFill>
            <a:srgbClr val="1E293B"/>
          </a:solidFill>
          <a:ln w="12700">
            <a:solidFill>
              <a:srgbClr val="334155"/>
            </a:solidFill>
            <a:prstDash val="solid"/>
          </a:ln>
        </p:spPr>
      </p:sp>
      <p:sp>
        <p:nvSpPr>
          <p:cNvPr id="11" name="Text 9"/>
          <p:cNvSpPr txBox="1"/>
          <p:nvPr/>
        </p:nvSpPr>
        <p:spPr>
          <a:xfrm>
            <a:off x="2414016" y="5102352"/>
            <a:ext cx="1207008"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Defects fixed</a:t>
            </a:r>
            <a:endParaRPr lang="en-US" sz="1200" dirty="0"/>
          </a:p>
        </p:txBody>
      </p:sp>
      <p:sp>
        <p:nvSpPr>
          <p:cNvPr id="12" name="Shape 10"/>
          <p:cNvSpPr/>
          <p:nvPr/>
        </p:nvSpPr>
        <p:spPr>
          <a:xfrm>
            <a:off x="3749040" y="5102352"/>
            <a:ext cx="768096" cy="384048"/>
          </a:xfrm>
          <a:prstGeom prst="roundRect">
            <a:avLst>
              <a:gd name="adj" fmla="val 50000"/>
            </a:avLst>
          </a:prstGeom>
          <a:solidFill>
            <a:srgbClr val="1E293B"/>
          </a:solidFill>
          <a:ln w="12700">
            <a:solidFill>
              <a:srgbClr val="334155"/>
            </a:solidFill>
            <a:prstDash val="solid"/>
          </a:ln>
        </p:spPr>
      </p:sp>
      <p:sp>
        <p:nvSpPr>
          <p:cNvPr id="13" name="Text 11"/>
          <p:cNvSpPr txBox="1"/>
          <p:nvPr/>
        </p:nvSpPr>
        <p:spPr>
          <a:xfrm>
            <a:off x="3749040" y="5102352"/>
            <a:ext cx="768096"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Latency</a:t>
            </a:r>
            <a:endParaRPr lang="en-US" sz="1200" dirty="0"/>
          </a:p>
        </p:txBody>
      </p:sp>
      <p:sp>
        <p:nvSpPr>
          <p:cNvPr id="14" name="Shape 12"/>
          <p:cNvSpPr/>
          <p:nvPr/>
        </p:nvSpPr>
        <p:spPr>
          <a:xfrm>
            <a:off x="4645152" y="5102352"/>
            <a:ext cx="1645920" cy="384048"/>
          </a:xfrm>
          <a:prstGeom prst="roundRect">
            <a:avLst>
              <a:gd name="adj" fmla="val 50000"/>
            </a:avLst>
          </a:prstGeom>
          <a:solidFill>
            <a:srgbClr val="1E293B"/>
          </a:solidFill>
          <a:ln w="12700">
            <a:solidFill>
              <a:srgbClr val="334155"/>
            </a:solidFill>
            <a:prstDash val="solid"/>
          </a:ln>
        </p:spPr>
      </p:sp>
      <p:sp>
        <p:nvSpPr>
          <p:cNvPr id="15" name="Text 13"/>
          <p:cNvSpPr txBox="1"/>
          <p:nvPr/>
        </p:nvSpPr>
        <p:spPr>
          <a:xfrm>
            <a:off x="4645152" y="5102352"/>
            <a:ext cx="1645920" cy="384048"/>
          </a:xfrm>
          <a:prstGeom prst="rect">
            <a:avLst/>
          </a:prstGeom>
          <a:noFill/>
          <a:ln/>
        </p:spPr>
        <p:txBody>
          <a:bodyPr wrap="square" lIns="0" tIns="0" rIns="0" bIns="0" rtlCol="0" anchor="ctr"/>
          <a:lstStyle/>
          <a:p>
            <a:pPr algn="ctr" indent="0" marL="0">
              <a:buNone/>
            </a:pPr>
            <a:r>
              <a:rPr lang="en-US" sz="1200" dirty="0">
                <a:solidFill>
                  <a:srgbClr val="E2E8F0"/>
                </a:solidFill>
                <a:latin typeface="Roboto" pitchFamily="34" charset="0"/>
                <a:ea typeface="Roboto" pitchFamily="34" charset="-122"/>
                <a:cs typeface="Roboto" pitchFamily="34" charset="-120"/>
              </a:rPr>
              <a:t>Limits &amp; next steps</a:t>
            </a:r>
            <a:endParaRPr lang="en-US" sz="1200" dirty="0"/>
          </a:p>
        </p:txBody>
      </p:sp>
      <p:sp>
        <p:nvSpPr>
          <p:cNvPr id="16" name="Shape 14"/>
          <p:cNvSpPr/>
          <p:nvPr/>
        </p:nvSpPr>
        <p:spPr>
          <a:xfrm>
            <a:off x="8549640" y="1600200"/>
            <a:ext cx="3108960" cy="3108960"/>
          </a:xfrm>
          <a:prstGeom prst="ellipse">
            <a:avLst/>
          </a:prstGeom>
          <a:solidFill>
            <a:srgbClr val="1E293B"/>
          </a:solidFill>
          <a:ln w="12700">
            <a:solidFill>
              <a:srgbClr val="334155"/>
            </a:solidFill>
            <a:prstDash val="solid"/>
          </a:ln>
        </p:spPr>
      </p:sp>
      <p:pic>
        <p:nvPicPr>
          <p:cNvPr id="17" name="Image 0" descr="preencoded.png">    </p:cNvPr>
          <p:cNvPicPr>
            <a:picLocks noChangeAspect="1"/>
          </p:cNvPicPr>
          <p:nvPr/>
        </p:nvPicPr>
        <p:blipFill>
          <a:blip r:embed="rId1"/>
          <a:stretch>
            <a:fillRect/>
          </a:stretch>
        </p:blipFill>
        <p:spPr>
          <a:xfrm>
            <a:off x="9326880" y="2377440"/>
            <a:ext cx="1554480" cy="1554480"/>
          </a:xfrm>
          <a:prstGeom prst="rect">
            <a:avLst/>
          </a:prstGeom>
        </p:spPr>
      </p:pic>
      <p:pic>
        <p:nvPicPr>
          <p:cNvPr id="18" name="Image 1" descr="C:\Users\shrey\AppData\Local\Temp\claude\D--novacinternship-finsight\87f4101b-bf26-4b28-976a-e637573d77e1\scratchpad\deck\img\logo_mark_light.png">    </p:cNvPr>
          <p:cNvPicPr>
            <a:picLocks noChangeAspect="1"/>
          </p:cNvPicPr>
          <p:nvPr/>
        </p:nvPicPr>
        <p:blipFill>
          <a:blip r:embed="rId2"/>
          <a:stretch>
            <a:fillRect/>
          </a:stretch>
        </p:blipFill>
        <p:spPr>
          <a:xfrm>
            <a:off x="548640" y="502920"/>
            <a:ext cx="354509" cy="457200"/>
          </a:xfrm>
          <a:prstGeom prst="rect">
            <a:avLst/>
          </a:prstGeom>
        </p:spPr>
      </p:pic>
      <p:pic>
        <p:nvPicPr>
          <p:cNvPr id="19" name="Image 2" descr="C:\Users\shrey\AppData\Local\Temp\claude\D--novacinternship-finsight\87f4101b-bf26-4b28-976a-e637573d77e1\scratchpad\deck\img\logo_lockup_light.png">    </p:cNvPr>
          <p:cNvPicPr>
            <a:picLocks noChangeAspect="1"/>
          </p:cNvPicPr>
          <p:nvPr/>
        </p:nvPicPr>
        <p:blipFill>
          <a:blip r:embed="rId3"/>
          <a:stretch>
            <a:fillRect/>
          </a:stretch>
        </p:blipFill>
        <p:spPr>
          <a:xfrm>
            <a:off x="10360152" y="6464808"/>
            <a:ext cx="843991" cy="237744"/>
          </a:xfrm>
          <a:prstGeom prst="rect">
            <a:avLst/>
          </a:prstGeom>
        </p:spPr>
      </p:pic>
      <p:sp>
        <p:nvSpPr>
          <p:cNvPr id="20" name="Text 15"/>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64748B"/>
                </a:solidFill>
                <a:latin typeface="Roboto" pitchFamily="34" charset="0"/>
                <a:ea typeface="Roboto" pitchFamily="34" charset="-122"/>
                <a:cs typeface="Roboto"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EVALUATION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How every agent was tested</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Build → fix the target → run → record → write it up → next agent. A weak result is reported as it is.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33</a:t>
            </a:r>
            <a:endParaRPr lang="en-US" sz="900" dirty="0"/>
          </a:p>
        </p:txBody>
      </p:sp>
      <p:sp>
        <p:nvSpPr>
          <p:cNvPr id="8" name="Shape 4"/>
          <p:cNvSpPr/>
          <p:nvPr/>
        </p:nvSpPr>
        <p:spPr>
          <a:xfrm>
            <a:off x="548640" y="1783080"/>
            <a:ext cx="2194560" cy="777240"/>
          </a:xfrm>
          <a:prstGeom prst="chevron">
            <a:avLst/>
          </a:prstGeom>
          <a:solidFill>
            <a:srgbClr val="E0E7FF"/>
          </a:solidFill>
          <a:ln w="12700">
            <a:solidFill>
              <a:srgbClr val="C7D2FE"/>
            </a:solidFill>
            <a:prstDash val="solid"/>
          </a:ln>
        </p:spPr>
      </p:sp>
      <p:sp>
        <p:nvSpPr>
          <p:cNvPr id="9" name="Text 5"/>
          <p:cNvSpPr txBox="1"/>
          <p:nvPr/>
        </p:nvSpPr>
        <p:spPr>
          <a:xfrm>
            <a:off x="868680" y="1783080"/>
            <a:ext cx="1645920" cy="777240"/>
          </a:xfrm>
          <a:prstGeom prst="rect">
            <a:avLst/>
          </a:prstGeom>
          <a:noFill/>
          <a:ln/>
        </p:spPr>
        <p:txBody>
          <a:bodyPr wrap="square" lIns="0" tIns="0" rIns="0" bIns="0" rtlCol="0" anchor="ctr"/>
          <a:lstStyle/>
          <a:p>
            <a:pPr algn="ctr" indent="0" marL="0">
              <a:buNone/>
            </a:pPr>
            <a:r>
              <a:rPr lang="en-US" sz="1150" b="1" dirty="0">
                <a:solidFill>
                  <a:srgbClr val="3730A3"/>
                </a:solidFill>
                <a:latin typeface="Roboto" pitchFamily="34" charset="0"/>
                <a:ea typeface="Roboto" pitchFamily="34" charset="-122"/>
                <a:cs typeface="Roboto" pitchFamily="34" charset="-120"/>
              </a:rPr>
              <a:t>Build the agent</a:t>
            </a:r>
            <a:endParaRPr lang="en-US" sz="1150" dirty="0"/>
          </a:p>
        </p:txBody>
      </p:sp>
      <p:sp>
        <p:nvSpPr>
          <p:cNvPr id="10" name="Shape 6"/>
          <p:cNvSpPr/>
          <p:nvPr/>
        </p:nvSpPr>
        <p:spPr>
          <a:xfrm>
            <a:off x="2770632" y="1783080"/>
            <a:ext cx="2194560" cy="777240"/>
          </a:xfrm>
          <a:prstGeom prst="chevron">
            <a:avLst/>
          </a:prstGeom>
          <a:solidFill>
            <a:srgbClr val="EEF2FF"/>
          </a:solidFill>
          <a:ln w="12700">
            <a:solidFill>
              <a:srgbClr val="C7D2FE"/>
            </a:solidFill>
            <a:prstDash val="solid"/>
          </a:ln>
        </p:spPr>
      </p:sp>
      <p:sp>
        <p:nvSpPr>
          <p:cNvPr id="11" name="Text 7"/>
          <p:cNvSpPr txBox="1"/>
          <p:nvPr/>
        </p:nvSpPr>
        <p:spPr>
          <a:xfrm>
            <a:off x="3090672" y="1783080"/>
            <a:ext cx="1645920" cy="777240"/>
          </a:xfrm>
          <a:prstGeom prst="rect">
            <a:avLst/>
          </a:prstGeom>
          <a:noFill/>
          <a:ln/>
        </p:spPr>
        <p:txBody>
          <a:bodyPr wrap="square" lIns="0" tIns="0" rIns="0" bIns="0" rtlCol="0" anchor="ctr"/>
          <a:lstStyle/>
          <a:p>
            <a:pPr algn="ctr" indent="0" marL="0">
              <a:buNone/>
            </a:pPr>
            <a:r>
              <a:rPr lang="en-US" sz="1150" b="1" dirty="0">
                <a:solidFill>
                  <a:srgbClr val="3730A3"/>
                </a:solidFill>
                <a:latin typeface="Roboto" pitchFamily="34" charset="0"/>
                <a:ea typeface="Roboto" pitchFamily="34" charset="-122"/>
                <a:cs typeface="Roboto" pitchFamily="34" charset="-120"/>
              </a:rPr>
              <a:t>Fix its target</a:t>
            </a:r>
            <a:endParaRPr lang="en-US" sz="1150" dirty="0"/>
          </a:p>
          <a:p>
            <a:pPr algn="ctr" indent="0" marL="0">
              <a:buNone/>
            </a:pPr>
            <a:r>
              <a:rPr lang="en-US" sz="900" dirty="0">
                <a:solidFill>
                  <a:srgbClr val="64748B"/>
                </a:solidFill>
                <a:latin typeface="Consolas" pitchFamily="34" charset="0"/>
                <a:ea typeface="Consolas" pitchFamily="34" charset="-122"/>
                <a:cs typeface="Consolas" pitchFamily="34" charset="-120"/>
              </a:rPr>
              <a:t>targets.yaml</a:t>
            </a:r>
            <a:endParaRPr lang="en-US" sz="1150" dirty="0"/>
          </a:p>
        </p:txBody>
      </p:sp>
      <p:sp>
        <p:nvSpPr>
          <p:cNvPr id="12" name="Shape 8"/>
          <p:cNvSpPr/>
          <p:nvPr/>
        </p:nvSpPr>
        <p:spPr>
          <a:xfrm>
            <a:off x="4992624" y="1783080"/>
            <a:ext cx="2194560" cy="777240"/>
          </a:xfrm>
          <a:prstGeom prst="chevron">
            <a:avLst/>
          </a:prstGeom>
          <a:solidFill>
            <a:srgbClr val="E0E7FF"/>
          </a:solidFill>
          <a:ln w="12700">
            <a:solidFill>
              <a:srgbClr val="C7D2FE"/>
            </a:solidFill>
            <a:prstDash val="solid"/>
          </a:ln>
        </p:spPr>
      </p:sp>
      <p:sp>
        <p:nvSpPr>
          <p:cNvPr id="13" name="Text 9"/>
          <p:cNvSpPr txBox="1"/>
          <p:nvPr/>
        </p:nvSpPr>
        <p:spPr>
          <a:xfrm>
            <a:off x="5312664" y="1783080"/>
            <a:ext cx="1645920" cy="777240"/>
          </a:xfrm>
          <a:prstGeom prst="rect">
            <a:avLst/>
          </a:prstGeom>
          <a:noFill/>
          <a:ln/>
        </p:spPr>
        <p:txBody>
          <a:bodyPr wrap="square" lIns="0" tIns="0" rIns="0" bIns="0" rtlCol="0" anchor="ctr"/>
          <a:lstStyle/>
          <a:p>
            <a:pPr algn="ctr" indent="0" marL="0">
              <a:buNone/>
            </a:pPr>
            <a:r>
              <a:rPr lang="en-US" sz="1150" b="1" dirty="0">
                <a:solidFill>
                  <a:srgbClr val="3730A3"/>
                </a:solidFill>
                <a:latin typeface="Roboto" pitchFamily="34" charset="0"/>
                <a:ea typeface="Roboto" pitchFamily="34" charset="-122"/>
                <a:cs typeface="Roboto" pitchFamily="34" charset="-120"/>
              </a:rPr>
              <a:t>Run the eval</a:t>
            </a:r>
            <a:endParaRPr lang="en-US" sz="1150" dirty="0"/>
          </a:p>
          <a:p>
            <a:pPr algn="ctr" indent="0" marL="0">
              <a:buNone/>
            </a:pPr>
            <a:r>
              <a:rPr lang="en-US" sz="900" dirty="0">
                <a:solidFill>
                  <a:srgbClr val="64748B"/>
                </a:solidFill>
                <a:latin typeface="Consolas" pitchFamily="34" charset="0"/>
                <a:ea typeface="Consolas" pitchFamily="34" charset="-122"/>
                <a:cs typeface="Consolas" pitchFamily="34" charset="-120"/>
              </a:rPr>
              <a:t>run_eval --agent</a:t>
            </a:r>
            <a:endParaRPr lang="en-US" sz="1150" dirty="0"/>
          </a:p>
        </p:txBody>
      </p:sp>
      <p:sp>
        <p:nvSpPr>
          <p:cNvPr id="14" name="Shape 10"/>
          <p:cNvSpPr/>
          <p:nvPr/>
        </p:nvSpPr>
        <p:spPr>
          <a:xfrm>
            <a:off x="7214616" y="1783080"/>
            <a:ext cx="2194560" cy="777240"/>
          </a:xfrm>
          <a:prstGeom prst="chevron">
            <a:avLst/>
          </a:prstGeom>
          <a:solidFill>
            <a:srgbClr val="EEF2FF"/>
          </a:solidFill>
          <a:ln w="12700">
            <a:solidFill>
              <a:srgbClr val="C7D2FE"/>
            </a:solidFill>
            <a:prstDash val="solid"/>
          </a:ln>
        </p:spPr>
      </p:sp>
      <p:sp>
        <p:nvSpPr>
          <p:cNvPr id="15" name="Text 11"/>
          <p:cNvSpPr txBox="1"/>
          <p:nvPr/>
        </p:nvSpPr>
        <p:spPr>
          <a:xfrm>
            <a:off x="7534656" y="1783080"/>
            <a:ext cx="1645920" cy="777240"/>
          </a:xfrm>
          <a:prstGeom prst="rect">
            <a:avLst/>
          </a:prstGeom>
          <a:noFill/>
          <a:ln/>
        </p:spPr>
        <p:txBody>
          <a:bodyPr wrap="square" lIns="0" tIns="0" rIns="0" bIns="0" rtlCol="0" anchor="ctr"/>
          <a:lstStyle/>
          <a:p>
            <a:pPr algn="ctr" indent="0" marL="0">
              <a:buNone/>
            </a:pPr>
            <a:r>
              <a:rPr lang="en-US" sz="1150" b="1" dirty="0">
                <a:solidFill>
                  <a:srgbClr val="3730A3"/>
                </a:solidFill>
                <a:latin typeface="Roboto" pitchFamily="34" charset="0"/>
                <a:ea typeface="Roboto" pitchFamily="34" charset="-122"/>
                <a:cs typeface="Roboto" pitchFamily="34" charset="-120"/>
              </a:rPr>
              <a:t>Save results</a:t>
            </a:r>
            <a:endParaRPr lang="en-US" sz="1150" dirty="0"/>
          </a:p>
          <a:p>
            <a:pPr algn="ctr" indent="0" marL="0">
              <a:buNone/>
            </a:pPr>
            <a:r>
              <a:rPr lang="en-US" sz="900" dirty="0">
                <a:solidFill>
                  <a:srgbClr val="64748B"/>
                </a:solidFill>
                <a:latin typeface="Consolas" pitchFamily="34" charset="0"/>
                <a:ea typeface="Consolas" pitchFamily="34" charset="-122"/>
                <a:cs typeface="Consolas" pitchFamily="34" charset="-120"/>
              </a:rPr>
              <a:t>results/&lt;agent&gt;.json</a:t>
            </a:r>
            <a:endParaRPr lang="en-US" sz="1150" dirty="0"/>
          </a:p>
        </p:txBody>
      </p:sp>
      <p:sp>
        <p:nvSpPr>
          <p:cNvPr id="16" name="Shape 12"/>
          <p:cNvSpPr/>
          <p:nvPr/>
        </p:nvSpPr>
        <p:spPr>
          <a:xfrm>
            <a:off x="9436608" y="1783080"/>
            <a:ext cx="2194560" cy="777240"/>
          </a:xfrm>
          <a:prstGeom prst="chevron">
            <a:avLst/>
          </a:prstGeom>
          <a:solidFill>
            <a:srgbClr val="E0E7FF"/>
          </a:solidFill>
          <a:ln w="12700">
            <a:solidFill>
              <a:srgbClr val="C7D2FE"/>
            </a:solidFill>
            <a:prstDash val="solid"/>
          </a:ln>
        </p:spPr>
      </p:sp>
      <p:sp>
        <p:nvSpPr>
          <p:cNvPr id="17" name="Text 13"/>
          <p:cNvSpPr txBox="1"/>
          <p:nvPr/>
        </p:nvSpPr>
        <p:spPr>
          <a:xfrm>
            <a:off x="9756648" y="1783080"/>
            <a:ext cx="1645920" cy="777240"/>
          </a:xfrm>
          <a:prstGeom prst="rect">
            <a:avLst/>
          </a:prstGeom>
          <a:noFill/>
          <a:ln/>
        </p:spPr>
        <p:txBody>
          <a:bodyPr wrap="square" lIns="0" tIns="0" rIns="0" bIns="0" rtlCol="0" anchor="ctr"/>
          <a:lstStyle/>
          <a:p>
            <a:pPr algn="ctr" indent="0" marL="0">
              <a:buNone/>
            </a:pPr>
            <a:r>
              <a:rPr lang="en-US" sz="1150" b="1" dirty="0">
                <a:solidFill>
                  <a:srgbClr val="3730A3"/>
                </a:solidFill>
                <a:latin typeface="Roboto" pitchFamily="34" charset="0"/>
                <a:ea typeface="Roboto" pitchFamily="34" charset="-122"/>
                <a:cs typeface="Roboto" pitchFamily="34" charset="-120"/>
              </a:rPr>
              <a:t>Write the section</a:t>
            </a:r>
            <a:endParaRPr lang="en-US" sz="1150" dirty="0"/>
          </a:p>
          <a:p>
            <a:pPr algn="ctr" indent="0" marL="0">
              <a:buNone/>
            </a:pPr>
            <a:r>
              <a:rPr lang="en-US" sz="900" dirty="0">
                <a:solidFill>
                  <a:srgbClr val="64748B"/>
                </a:solidFill>
                <a:latin typeface="Consolas" pitchFamily="34" charset="0"/>
                <a:ea typeface="Consolas" pitchFamily="34" charset="-122"/>
                <a:cs typeface="Consolas" pitchFamily="34" charset="-120"/>
              </a:rPr>
              <a:t>report doc</a:t>
            </a:r>
            <a:endParaRPr lang="en-US" sz="1150" dirty="0"/>
          </a:p>
        </p:txBody>
      </p:sp>
      <p:sp>
        <p:nvSpPr>
          <p:cNvPr id="18" name="Text 14"/>
          <p:cNvSpPr txBox="1"/>
          <p:nvPr/>
        </p:nvSpPr>
        <p:spPr>
          <a:xfrm>
            <a:off x="548640" y="2743200"/>
            <a:ext cx="3657600" cy="256032"/>
          </a:xfrm>
          <a:prstGeom prst="rect">
            <a:avLst/>
          </a:prstGeom>
          <a:noFill/>
          <a:ln/>
        </p:spPr>
        <p:txBody>
          <a:bodyPr wrap="square" lIns="0" tIns="0" rIns="0" bIns="0" rtlCol="0" anchor="ctr"/>
          <a:lstStyle/>
          <a:p>
            <a:pPr indent="0" marL="0">
              <a:buNone/>
            </a:pPr>
            <a:r>
              <a:rPr lang="en-US" sz="1050" b="1" spc="200" kern="0" dirty="0">
                <a:solidFill>
                  <a:srgbClr val="64748B"/>
                </a:solidFill>
                <a:latin typeface="Roboto" pitchFamily="34" charset="0"/>
                <a:ea typeface="Roboto" pitchFamily="34" charset="-122"/>
                <a:cs typeface="Roboto" pitchFamily="34" charset="-120"/>
              </a:rPr>
              <a:t>EVERY RUN RECORDS</a:t>
            </a:r>
            <a:endParaRPr lang="en-US" sz="1050" dirty="0"/>
          </a:p>
        </p:txBody>
      </p:sp>
      <p:sp>
        <p:nvSpPr>
          <p:cNvPr id="19" name="Shape 15"/>
          <p:cNvSpPr/>
          <p:nvPr/>
        </p:nvSpPr>
        <p:spPr>
          <a:xfrm>
            <a:off x="548640" y="3044952"/>
            <a:ext cx="1865376" cy="329184"/>
          </a:xfrm>
          <a:prstGeom prst="roundRect">
            <a:avLst>
              <a:gd name="adj" fmla="val 50000"/>
            </a:avLst>
          </a:prstGeom>
          <a:solidFill>
            <a:srgbClr val="EEF2FF"/>
          </a:solidFill>
          <a:ln w="12700">
            <a:solidFill>
              <a:srgbClr val="EEF2FF"/>
            </a:solidFill>
            <a:prstDash val="solid"/>
          </a:ln>
        </p:spPr>
      </p:sp>
      <p:sp>
        <p:nvSpPr>
          <p:cNvPr id="20" name="Text 16"/>
          <p:cNvSpPr txBox="1"/>
          <p:nvPr/>
        </p:nvSpPr>
        <p:spPr>
          <a:xfrm>
            <a:off x="548640" y="3044952"/>
            <a:ext cx="1865376" cy="329184"/>
          </a:xfrm>
          <a:prstGeom prst="rect">
            <a:avLst/>
          </a:prstGeom>
          <a:noFill/>
          <a:ln/>
        </p:spPr>
        <p:txBody>
          <a:bodyPr wrap="square" lIns="0" tIns="0" rIns="0" bIns="0" rtlCol="0" anchor="ctr"/>
          <a:lstStyle/>
          <a:p>
            <a:pPr algn="ctr" indent="0" marL="0">
              <a:buNone/>
            </a:pPr>
            <a:r>
              <a:rPr lang="en-US" sz="1100" b="1" dirty="0">
                <a:solidFill>
                  <a:srgbClr val="3730A3"/>
                </a:solidFill>
                <a:latin typeface="Roboto" pitchFamily="34" charset="0"/>
                <a:ea typeface="Roboto" pitchFamily="34" charset="-122"/>
                <a:cs typeface="Roboto" pitchFamily="34" charset="-120"/>
              </a:rPr>
              <a:t>quality metric vs target</a:t>
            </a:r>
            <a:endParaRPr lang="en-US" sz="1100" dirty="0"/>
          </a:p>
        </p:txBody>
      </p:sp>
      <p:sp>
        <p:nvSpPr>
          <p:cNvPr id="21" name="Shape 17"/>
          <p:cNvSpPr/>
          <p:nvPr/>
        </p:nvSpPr>
        <p:spPr>
          <a:xfrm>
            <a:off x="2505456" y="3044952"/>
            <a:ext cx="1395984" cy="329184"/>
          </a:xfrm>
          <a:prstGeom prst="roundRect">
            <a:avLst>
              <a:gd name="adj" fmla="val 50000"/>
            </a:avLst>
          </a:prstGeom>
          <a:solidFill>
            <a:srgbClr val="EEF2FF"/>
          </a:solidFill>
          <a:ln w="12700">
            <a:solidFill>
              <a:srgbClr val="EEF2FF"/>
            </a:solidFill>
            <a:prstDash val="solid"/>
          </a:ln>
        </p:spPr>
      </p:sp>
      <p:sp>
        <p:nvSpPr>
          <p:cNvPr id="22" name="Text 18"/>
          <p:cNvSpPr txBox="1"/>
          <p:nvPr/>
        </p:nvSpPr>
        <p:spPr>
          <a:xfrm>
            <a:off x="2505456" y="3044952"/>
            <a:ext cx="1395984" cy="329184"/>
          </a:xfrm>
          <a:prstGeom prst="rect">
            <a:avLst/>
          </a:prstGeom>
          <a:noFill/>
          <a:ln/>
        </p:spPr>
        <p:txBody>
          <a:bodyPr wrap="square" lIns="0" tIns="0" rIns="0" bIns="0" rtlCol="0" anchor="ctr"/>
          <a:lstStyle/>
          <a:p>
            <a:pPr algn="ctr" indent="0" marL="0">
              <a:buNone/>
            </a:pPr>
            <a:r>
              <a:rPr lang="en-US" sz="1100" b="1" dirty="0">
                <a:solidFill>
                  <a:srgbClr val="3730A3"/>
                </a:solidFill>
                <a:latin typeface="Roboto" pitchFamily="34" charset="0"/>
                <a:ea typeface="Roboto" pitchFamily="34" charset="-122"/>
                <a:cs typeface="Roboto" pitchFamily="34" charset="-120"/>
              </a:rPr>
              <a:t>p50 / p95 latency</a:t>
            </a:r>
            <a:endParaRPr lang="en-US" sz="1100" dirty="0"/>
          </a:p>
        </p:txBody>
      </p:sp>
      <p:sp>
        <p:nvSpPr>
          <p:cNvPr id="23" name="Shape 19"/>
          <p:cNvSpPr/>
          <p:nvPr/>
        </p:nvSpPr>
        <p:spPr>
          <a:xfrm>
            <a:off x="3992880" y="3044952"/>
            <a:ext cx="1194816" cy="329184"/>
          </a:xfrm>
          <a:prstGeom prst="roundRect">
            <a:avLst>
              <a:gd name="adj" fmla="val 50000"/>
            </a:avLst>
          </a:prstGeom>
          <a:solidFill>
            <a:srgbClr val="EEF2FF"/>
          </a:solidFill>
          <a:ln w="12700">
            <a:solidFill>
              <a:srgbClr val="EEF2FF"/>
            </a:solidFill>
            <a:prstDash val="solid"/>
          </a:ln>
        </p:spPr>
      </p:sp>
      <p:sp>
        <p:nvSpPr>
          <p:cNvPr id="24" name="Text 20"/>
          <p:cNvSpPr txBox="1"/>
          <p:nvPr/>
        </p:nvSpPr>
        <p:spPr>
          <a:xfrm>
            <a:off x="3992880" y="3044952"/>
            <a:ext cx="1194816" cy="329184"/>
          </a:xfrm>
          <a:prstGeom prst="rect">
            <a:avLst/>
          </a:prstGeom>
          <a:noFill/>
          <a:ln/>
        </p:spPr>
        <p:txBody>
          <a:bodyPr wrap="square" lIns="0" tIns="0" rIns="0" bIns="0" rtlCol="0" anchor="ctr"/>
          <a:lstStyle/>
          <a:p>
            <a:pPr algn="ctr" indent="0" marL="0">
              <a:buNone/>
            </a:pPr>
            <a:r>
              <a:rPr lang="en-US" sz="1100" b="1" dirty="0">
                <a:solidFill>
                  <a:srgbClr val="3730A3"/>
                </a:solidFill>
                <a:latin typeface="Roboto" pitchFamily="34" charset="0"/>
                <a:ea typeface="Roboto" pitchFamily="34" charset="-122"/>
                <a:cs typeface="Roboto" pitchFamily="34" charset="-120"/>
              </a:rPr>
              <a:t>LLM calls made</a:t>
            </a:r>
            <a:endParaRPr lang="en-US" sz="1100" dirty="0"/>
          </a:p>
        </p:txBody>
      </p:sp>
      <p:sp>
        <p:nvSpPr>
          <p:cNvPr id="25" name="Shape 21"/>
          <p:cNvSpPr/>
          <p:nvPr/>
        </p:nvSpPr>
        <p:spPr>
          <a:xfrm>
            <a:off x="5279136" y="3044952"/>
            <a:ext cx="1865376" cy="329184"/>
          </a:xfrm>
          <a:prstGeom prst="roundRect">
            <a:avLst>
              <a:gd name="adj" fmla="val 50000"/>
            </a:avLst>
          </a:prstGeom>
          <a:solidFill>
            <a:srgbClr val="EEF2FF"/>
          </a:solidFill>
          <a:ln w="12700">
            <a:solidFill>
              <a:srgbClr val="EEF2FF"/>
            </a:solidFill>
            <a:prstDash val="solid"/>
          </a:ln>
        </p:spPr>
      </p:sp>
      <p:sp>
        <p:nvSpPr>
          <p:cNvPr id="26" name="Text 22"/>
          <p:cNvSpPr txBox="1"/>
          <p:nvPr/>
        </p:nvSpPr>
        <p:spPr>
          <a:xfrm>
            <a:off x="5279136" y="3044952"/>
            <a:ext cx="1865376" cy="329184"/>
          </a:xfrm>
          <a:prstGeom prst="rect">
            <a:avLst/>
          </a:prstGeom>
          <a:noFill/>
          <a:ln/>
        </p:spPr>
        <p:txBody>
          <a:bodyPr wrap="square" lIns="0" tIns="0" rIns="0" bIns="0" rtlCol="0" anchor="ctr"/>
          <a:lstStyle/>
          <a:p>
            <a:pPr algn="ctr" indent="0" marL="0">
              <a:buNone/>
            </a:pPr>
            <a:r>
              <a:rPr lang="en-US" sz="1100" b="1" dirty="0">
                <a:solidFill>
                  <a:srgbClr val="3730A3"/>
                </a:solidFill>
                <a:latin typeface="Roboto" pitchFamily="34" charset="0"/>
                <a:ea typeface="Roboto" pitchFamily="34" charset="-122"/>
                <a:cs typeface="Roboto" pitchFamily="34" charset="-120"/>
              </a:rPr>
              <a:t>degraded / fallback rate</a:t>
            </a:r>
            <a:endParaRPr lang="en-US" sz="1100" dirty="0"/>
          </a:p>
        </p:txBody>
      </p:sp>
      <p:sp>
        <p:nvSpPr>
          <p:cNvPr id="27" name="Shape 23"/>
          <p:cNvSpPr/>
          <p:nvPr/>
        </p:nvSpPr>
        <p:spPr>
          <a:xfrm>
            <a:off x="7235952" y="3044952"/>
            <a:ext cx="2871216" cy="329184"/>
          </a:xfrm>
          <a:prstGeom prst="roundRect">
            <a:avLst>
              <a:gd name="adj" fmla="val 50000"/>
            </a:avLst>
          </a:prstGeom>
          <a:solidFill>
            <a:srgbClr val="EEF2FF"/>
          </a:solidFill>
          <a:ln w="12700">
            <a:solidFill>
              <a:srgbClr val="EEF2FF"/>
            </a:solidFill>
            <a:prstDash val="solid"/>
          </a:ln>
        </p:spPr>
      </p:sp>
      <p:sp>
        <p:nvSpPr>
          <p:cNvPr id="28" name="Text 24"/>
          <p:cNvSpPr txBox="1"/>
          <p:nvPr/>
        </p:nvSpPr>
        <p:spPr>
          <a:xfrm>
            <a:off x="7235952" y="3044952"/>
            <a:ext cx="2871216" cy="329184"/>
          </a:xfrm>
          <a:prstGeom prst="rect">
            <a:avLst/>
          </a:prstGeom>
          <a:noFill/>
          <a:ln/>
        </p:spPr>
        <p:txBody>
          <a:bodyPr wrap="square" lIns="0" tIns="0" rIns="0" bIns="0" rtlCol="0" anchor="ctr"/>
          <a:lstStyle/>
          <a:p>
            <a:pPr algn="ctr" indent="0" marL="0">
              <a:buNone/>
            </a:pPr>
            <a:r>
              <a:rPr lang="en-US" sz="1100" b="1" dirty="0">
                <a:solidFill>
                  <a:srgbClr val="3730A3"/>
                </a:solidFill>
                <a:latin typeface="Roboto" pitchFamily="34" charset="0"/>
                <a:ea typeface="Roboto" pitchFamily="34" charset="-122"/>
                <a:cs typeface="Roboto" pitchFamily="34" charset="-120"/>
              </a:rPr>
              <a:t>failure examples, personal data removed</a:t>
            </a:r>
            <a:endParaRPr lang="en-US" sz="1100" dirty="0"/>
          </a:p>
        </p:txBody>
      </p:sp>
      <p:sp>
        <p:nvSpPr>
          <p:cNvPr id="29" name="Text 25"/>
          <p:cNvSpPr txBox="1"/>
          <p:nvPr/>
        </p:nvSpPr>
        <p:spPr>
          <a:xfrm>
            <a:off x="548640" y="3611880"/>
            <a:ext cx="3657600" cy="256032"/>
          </a:xfrm>
          <a:prstGeom prst="rect">
            <a:avLst/>
          </a:prstGeom>
          <a:noFill/>
          <a:ln/>
        </p:spPr>
        <p:txBody>
          <a:bodyPr wrap="square" lIns="0" tIns="0" rIns="0" bIns="0" rtlCol="0" anchor="ctr"/>
          <a:lstStyle/>
          <a:p>
            <a:pPr indent="0" marL="0">
              <a:buNone/>
            </a:pPr>
            <a:r>
              <a:rPr lang="en-US" sz="1050" b="1" spc="200" kern="0" dirty="0">
                <a:solidFill>
                  <a:srgbClr val="64748B"/>
                </a:solidFill>
                <a:latin typeface="Roboto" pitchFamily="34" charset="0"/>
                <a:ea typeface="Roboto" pitchFamily="34" charset="-122"/>
                <a:cs typeface="Roboto" pitchFamily="34" charset="-120"/>
              </a:rPr>
              <a:t>DATA USED</a:t>
            </a:r>
            <a:endParaRPr lang="en-US" sz="1050" dirty="0"/>
          </a:p>
        </p:txBody>
      </p:sp>
      <p:sp>
        <p:nvSpPr>
          <p:cNvPr id="30" name="Shape 26"/>
          <p:cNvSpPr/>
          <p:nvPr/>
        </p:nvSpPr>
        <p:spPr>
          <a:xfrm>
            <a:off x="548640" y="3931920"/>
            <a:ext cx="3566160" cy="1078992"/>
          </a:xfrm>
          <a:prstGeom prst="roundRect">
            <a:avLst>
              <a:gd name="adj" fmla="val 8475"/>
            </a:avLst>
          </a:prstGeom>
          <a:solidFill>
            <a:srgbClr val="F8FAFC"/>
          </a:solidFill>
          <a:ln w="12700">
            <a:solidFill>
              <a:srgbClr val="E2E8F0"/>
            </a:solidFill>
            <a:prstDash val="solid"/>
          </a:ln>
        </p:spPr>
      </p:sp>
      <p:sp>
        <p:nvSpPr>
          <p:cNvPr id="31" name="Shape 27"/>
          <p:cNvSpPr/>
          <p:nvPr/>
        </p:nvSpPr>
        <p:spPr>
          <a:xfrm>
            <a:off x="713232" y="4114800"/>
            <a:ext cx="457200" cy="457200"/>
          </a:xfrm>
          <a:prstGeom prst="ellipse">
            <a:avLst/>
          </a:prstGeom>
          <a:solidFill>
            <a:srgbClr val="EEF2FF"/>
          </a:solidFill>
          <a:ln w="12700">
            <a:solidFill>
              <a:srgbClr val="EEF2FF"/>
            </a:solidFill>
            <a:prstDash val="solid"/>
          </a:ln>
        </p:spPr>
      </p:sp>
      <p:pic>
        <p:nvPicPr>
          <p:cNvPr id="32" name="Image 1" descr="preencoded.png">    </p:cNvPr>
          <p:cNvPicPr>
            <a:picLocks noChangeAspect="1"/>
          </p:cNvPicPr>
          <p:nvPr/>
        </p:nvPicPr>
        <p:blipFill>
          <a:blip r:embed="rId2"/>
          <a:stretch>
            <a:fillRect/>
          </a:stretch>
        </p:blipFill>
        <p:spPr>
          <a:xfrm>
            <a:off x="813816" y="4215384"/>
            <a:ext cx="256032" cy="256032"/>
          </a:xfrm>
          <a:prstGeom prst="rect">
            <a:avLst/>
          </a:prstGeom>
        </p:spPr>
      </p:pic>
      <p:sp>
        <p:nvSpPr>
          <p:cNvPr id="33" name="Text 28"/>
          <p:cNvSpPr txBox="1"/>
          <p:nvPr/>
        </p:nvSpPr>
        <p:spPr>
          <a:xfrm>
            <a:off x="1298448" y="3986784"/>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Synthetic generator</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Ground-truth PAN, Aadhaar, payslips, statements, ITR, GST; forgeries; 54 fraud-pattern statements. The only data allowed to reach a hosted model.</a:t>
            </a:r>
            <a:endParaRPr lang="en-US" sz="1200" dirty="0"/>
          </a:p>
        </p:txBody>
      </p:sp>
      <p:sp>
        <p:nvSpPr>
          <p:cNvPr id="34" name="Shape 29"/>
          <p:cNvSpPr/>
          <p:nvPr/>
        </p:nvSpPr>
        <p:spPr>
          <a:xfrm>
            <a:off x="4297680" y="3931920"/>
            <a:ext cx="3566160" cy="1078992"/>
          </a:xfrm>
          <a:prstGeom prst="roundRect">
            <a:avLst>
              <a:gd name="adj" fmla="val 8475"/>
            </a:avLst>
          </a:prstGeom>
          <a:solidFill>
            <a:srgbClr val="F8FAFC"/>
          </a:solidFill>
          <a:ln w="12700">
            <a:solidFill>
              <a:srgbClr val="E2E8F0"/>
            </a:solidFill>
            <a:prstDash val="solid"/>
          </a:ln>
        </p:spPr>
      </p:sp>
      <p:sp>
        <p:nvSpPr>
          <p:cNvPr id="35" name="Shape 30"/>
          <p:cNvSpPr/>
          <p:nvPr/>
        </p:nvSpPr>
        <p:spPr>
          <a:xfrm>
            <a:off x="4462272" y="4114800"/>
            <a:ext cx="457200" cy="457200"/>
          </a:xfrm>
          <a:prstGeom prst="ellipse">
            <a:avLst/>
          </a:prstGeom>
          <a:solidFill>
            <a:srgbClr val="EEF2FF"/>
          </a:solidFill>
          <a:ln w="12700">
            <a:solidFill>
              <a:srgbClr val="EEF2FF"/>
            </a:solidFill>
            <a:prstDash val="solid"/>
          </a:ln>
        </p:spPr>
      </p:sp>
      <p:pic>
        <p:nvPicPr>
          <p:cNvPr id="36" name="Image 2" descr="preencoded.png">    </p:cNvPr>
          <p:cNvPicPr>
            <a:picLocks noChangeAspect="1"/>
          </p:cNvPicPr>
          <p:nvPr/>
        </p:nvPicPr>
        <p:blipFill>
          <a:blip r:embed="rId3"/>
          <a:stretch>
            <a:fillRect/>
          </a:stretch>
        </p:blipFill>
        <p:spPr>
          <a:xfrm>
            <a:off x="4562856" y="4215384"/>
            <a:ext cx="256032" cy="256032"/>
          </a:xfrm>
          <a:prstGeom prst="rect">
            <a:avLst/>
          </a:prstGeom>
        </p:spPr>
      </p:pic>
      <p:sp>
        <p:nvSpPr>
          <p:cNvPr id="37" name="Text 31"/>
          <p:cNvSpPr txBox="1"/>
          <p:nvPr/>
        </p:nvSpPr>
        <p:spPr>
          <a:xfrm>
            <a:off x="5047488" y="3986784"/>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16 real documents</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Local model only; reported as aggregates. 9 genuine, 3 fabricated, 4 excluded.</a:t>
            </a:r>
            <a:endParaRPr lang="en-US" sz="1200" dirty="0"/>
          </a:p>
        </p:txBody>
      </p:sp>
      <p:sp>
        <p:nvSpPr>
          <p:cNvPr id="38" name="Shape 32"/>
          <p:cNvSpPr/>
          <p:nvPr/>
        </p:nvSpPr>
        <p:spPr>
          <a:xfrm>
            <a:off x="8046720" y="3931920"/>
            <a:ext cx="3566160" cy="1078992"/>
          </a:xfrm>
          <a:prstGeom prst="roundRect">
            <a:avLst>
              <a:gd name="adj" fmla="val 8475"/>
            </a:avLst>
          </a:prstGeom>
          <a:solidFill>
            <a:srgbClr val="F8FAFC"/>
          </a:solidFill>
          <a:ln w="12700">
            <a:solidFill>
              <a:srgbClr val="E2E8F0"/>
            </a:solidFill>
            <a:prstDash val="solid"/>
          </a:ln>
        </p:spPr>
      </p:sp>
      <p:sp>
        <p:nvSpPr>
          <p:cNvPr id="39" name="Shape 33"/>
          <p:cNvSpPr/>
          <p:nvPr/>
        </p:nvSpPr>
        <p:spPr>
          <a:xfrm>
            <a:off x="8211312" y="4114800"/>
            <a:ext cx="457200" cy="457200"/>
          </a:xfrm>
          <a:prstGeom prst="ellipse">
            <a:avLst/>
          </a:prstGeom>
          <a:solidFill>
            <a:srgbClr val="EEF2FF"/>
          </a:solidFill>
          <a:ln w="12700">
            <a:solidFill>
              <a:srgbClr val="EEF2FF"/>
            </a:solidFill>
            <a:prstDash val="solid"/>
          </a:ln>
        </p:spPr>
      </p:sp>
      <p:pic>
        <p:nvPicPr>
          <p:cNvPr id="40" name="Image 3" descr="preencoded.png">    </p:cNvPr>
          <p:cNvPicPr>
            <a:picLocks noChangeAspect="1"/>
          </p:cNvPicPr>
          <p:nvPr/>
        </p:nvPicPr>
        <p:blipFill>
          <a:blip r:embed="rId4"/>
          <a:stretch>
            <a:fillRect/>
          </a:stretch>
        </p:blipFill>
        <p:spPr>
          <a:xfrm>
            <a:off x="8311896" y="4215384"/>
            <a:ext cx="256032" cy="256032"/>
          </a:xfrm>
          <a:prstGeom prst="rect">
            <a:avLst/>
          </a:prstGeom>
        </p:spPr>
      </p:pic>
      <p:sp>
        <p:nvSpPr>
          <p:cNvPr id="41" name="Text 34"/>
          <p:cNvSpPr txBox="1"/>
          <p:nvPr/>
        </p:nvSpPr>
        <p:spPr>
          <a:xfrm>
            <a:off x="8796528" y="3986784"/>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45 public edited pairs</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Original vs edited paystubs and statements — tampering on unfamiliar documents.</a:t>
            </a:r>
            <a:endParaRPr lang="en-US" sz="1200" dirty="0"/>
          </a:p>
        </p:txBody>
      </p:sp>
      <p:sp>
        <p:nvSpPr>
          <p:cNvPr id="42" name="Shape 35"/>
          <p:cNvSpPr/>
          <p:nvPr/>
        </p:nvSpPr>
        <p:spPr>
          <a:xfrm>
            <a:off x="548640" y="5138928"/>
            <a:ext cx="3566160" cy="1078992"/>
          </a:xfrm>
          <a:prstGeom prst="roundRect">
            <a:avLst>
              <a:gd name="adj" fmla="val 8475"/>
            </a:avLst>
          </a:prstGeom>
          <a:solidFill>
            <a:srgbClr val="F8FAFC"/>
          </a:solidFill>
          <a:ln w="12700">
            <a:solidFill>
              <a:srgbClr val="E2E8F0"/>
            </a:solidFill>
            <a:prstDash val="solid"/>
          </a:ln>
        </p:spPr>
      </p:sp>
      <p:sp>
        <p:nvSpPr>
          <p:cNvPr id="43" name="Shape 36"/>
          <p:cNvSpPr/>
          <p:nvPr/>
        </p:nvSpPr>
        <p:spPr>
          <a:xfrm>
            <a:off x="713232" y="5321808"/>
            <a:ext cx="457200" cy="457200"/>
          </a:xfrm>
          <a:prstGeom prst="ellipse">
            <a:avLst/>
          </a:prstGeom>
          <a:solidFill>
            <a:srgbClr val="EEF2FF"/>
          </a:solidFill>
          <a:ln w="12700">
            <a:solidFill>
              <a:srgbClr val="EEF2FF"/>
            </a:solidFill>
            <a:prstDash val="solid"/>
          </a:ln>
        </p:spPr>
      </p:sp>
      <p:pic>
        <p:nvPicPr>
          <p:cNvPr id="44" name="Image 4" descr="preencoded.png">    </p:cNvPr>
          <p:cNvPicPr>
            <a:picLocks noChangeAspect="1"/>
          </p:cNvPicPr>
          <p:nvPr/>
        </p:nvPicPr>
        <p:blipFill>
          <a:blip r:embed="rId5"/>
          <a:stretch>
            <a:fillRect/>
          </a:stretch>
        </p:blipFill>
        <p:spPr>
          <a:xfrm>
            <a:off x="813816" y="5422392"/>
            <a:ext cx="256032" cy="256032"/>
          </a:xfrm>
          <a:prstGeom prst="rect">
            <a:avLst/>
          </a:prstGeom>
        </p:spPr>
      </p:pic>
      <p:sp>
        <p:nvSpPr>
          <p:cNvPr id="45" name="Text 37"/>
          <p:cNvSpPr txBox="1"/>
          <p:nvPr/>
        </p:nvSpPr>
        <p:spPr>
          <a:xfrm>
            <a:off x="1298448" y="5193792"/>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LFW public faces</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Face verification, triage identities, liveness captures and simulated attacks.</a:t>
            </a:r>
            <a:endParaRPr lang="en-US" sz="1200" dirty="0"/>
          </a:p>
        </p:txBody>
      </p:sp>
      <p:sp>
        <p:nvSpPr>
          <p:cNvPr id="46" name="Shape 38"/>
          <p:cNvSpPr/>
          <p:nvPr/>
        </p:nvSpPr>
        <p:spPr>
          <a:xfrm>
            <a:off x="4297680" y="5138928"/>
            <a:ext cx="3566160" cy="1078992"/>
          </a:xfrm>
          <a:prstGeom prst="roundRect">
            <a:avLst>
              <a:gd name="adj" fmla="val 8475"/>
            </a:avLst>
          </a:prstGeom>
          <a:solidFill>
            <a:srgbClr val="F8FAFC"/>
          </a:solidFill>
          <a:ln w="12700">
            <a:solidFill>
              <a:srgbClr val="E2E8F0"/>
            </a:solidFill>
            <a:prstDash val="solid"/>
          </a:ln>
        </p:spPr>
      </p:sp>
      <p:sp>
        <p:nvSpPr>
          <p:cNvPr id="47" name="Shape 39"/>
          <p:cNvSpPr/>
          <p:nvPr/>
        </p:nvSpPr>
        <p:spPr>
          <a:xfrm>
            <a:off x="4462272" y="5321808"/>
            <a:ext cx="457200" cy="457200"/>
          </a:xfrm>
          <a:prstGeom prst="ellipse">
            <a:avLst/>
          </a:prstGeom>
          <a:solidFill>
            <a:srgbClr val="EEF2FF"/>
          </a:solidFill>
          <a:ln w="12700">
            <a:solidFill>
              <a:srgbClr val="EEF2FF"/>
            </a:solidFill>
            <a:prstDash val="solid"/>
          </a:ln>
        </p:spPr>
      </p:sp>
      <p:pic>
        <p:nvPicPr>
          <p:cNvPr id="48" name="Image 5" descr="preencoded.png">    </p:cNvPr>
          <p:cNvPicPr>
            <a:picLocks noChangeAspect="1"/>
          </p:cNvPicPr>
          <p:nvPr/>
        </p:nvPicPr>
        <p:blipFill>
          <a:blip r:embed="rId6"/>
          <a:stretch>
            <a:fillRect/>
          </a:stretch>
        </p:blipFill>
        <p:spPr>
          <a:xfrm>
            <a:off x="4562856" y="5422392"/>
            <a:ext cx="256032" cy="256032"/>
          </a:xfrm>
          <a:prstGeom prst="rect">
            <a:avLst/>
          </a:prstGeom>
        </p:spPr>
      </p:pic>
      <p:sp>
        <p:nvSpPr>
          <p:cNvPr id="49" name="Text 40"/>
          <p:cNvSpPr txBox="1"/>
          <p:nvPr/>
        </p:nvSpPr>
        <p:spPr>
          <a:xfrm>
            <a:off x="5047488" y="5193792"/>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50,000-loan NBFC book</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Risk scoring on the held-out 20% only (anonymised).</a:t>
            </a:r>
            <a:endParaRPr lang="en-US" sz="1200" dirty="0"/>
          </a:p>
        </p:txBody>
      </p:sp>
      <p:sp>
        <p:nvSpPr>
          <p:cNvPr id="50" name="Shape 41"/>
          <p:cNvSpPr/>
          <p:nvPr/>
        </p:nvSpPr>
        <p:spPr>
          <a:xfrm>
            <a:off x="8046720" y="5138928"/>
            <a:ext cx="3566160" cy="1078992"/>
          </a:xfrm>
          <a:prstGeom prst="roundRect">
            <a:avLst>
              <a:gd name="adj" fmla="val 8475"/>
            </a:avLst>
          </a:prstGeom>
          <a:solidFill>
            <a:srgbClr val="F8FAFC"/>
          </a:solidFill>
          <a:ln w="12700">
            <a:solidFill>
              <a:srgbClr val="E2E8F0"/>
            </a:solidFill>
            <a:prstDash val="solid"/>
          </a:ln>
        </p:spPr>
      </p:sp>
      <p:sp>
        <p:nvSpPr>
          <p:cNvPr id="51" name="Shape 42"/>
          <p:cNvSpPr/>
          <p:nvPr/>
        </p:nvSpPr>
        <p:spPr>
          <a:xfrm>
            <a:off x="8211312" y="5321808"/>
            <a:ext cx="457200" cy="457200"/>
          </a:xfrm>
          <a:prstGeom prst="ellipse">
            <a:avLst/>
          </a:prstGeom>
          <a:solidFill>
            <a:srgbClr val="EEF2FF"/>
          </a:solidFill>
          <a:ln w="12700">
            <a:solidFill>
              <a:srgbClr val="EEF2FF"/>
            </a:solidFill>
            <a:prstDash val="solid"/>
          </a:ln>
        </p:spPr>
      </p:sp>
      <p:pic>
        <p:nvPicPr>
          <p:cNvPr id="52" name="Image 6" descr="preencoded.png">    </p:cNvPr>
          <p:cNvPicPr>
            <a:picLocks noChangeAspect="1"/>
          </p:cNvPicPr>
          <p:nvPr/>
        </p:nvPicPr>
        <p:blipFill>
          <a:blip r:embed="rId7"/>
          <a:stretch>
            <a:fillRect/>
          </a:stretch>
        </p:blipFill>
        <p:spPr>
          <a:xfrm>
            <a:off x="8311896" y="5422392"/>
            <a:ext cx="256032" cy="256032"/>
          </a:xfrm>
          <a:prstGeom prst="rect">
            <a:avLst/>
          </a:prstGeom>
        </p:spPr>
      </p:pic>
      <p:sp>
        <p:nvSpPr>
          <p:cNvPr id="53" name="Text 43"/>
          <p:cNvSpPr txBox="1"/>
          <p:nvPr/>
        </p:nvSpPr>
        <p:spPr>
          <a:xfrm>
            <a:off x="8796528" y="5193792"/>
            <a:ext cx="2724912" cy="969264"/>
          </a:xfrm>
          <a:prstGeom prst="rect">
            <a:avLst/>
          </a:prstGeom>
          <a:noFill/>
          <a:ln/>
        </p:spPr>
        <p:txBody>
          <a:bodyPr wrap="square" lIns="0" tIns="0" rIns="0" bIns="0" rtlCol="0" anchor="ctr"/>
          <a:lstStyle/>
          <a:p>
            <a:pPr indent="0" marL="0">
              <a:spcAft>
                <a:spcPts val="200"/>
              </a:spcAft>
              <a:buNone/>
            </a:pPr>
            <a:r>
              <a:rPr lang="en-US" sz="1200" b="1" dirty="0">
                <a:solidFill>
                  <a:srgbClr val="0F172A"/>
                </a:solidFill>
                <a:latin typeface="Roboto" pitchFamily="34" charset="0"/>
                <a:ea typeface="Roboto" pitchFamily="34" charset="-122"/>
                <a:cs typeface="Roboto" pitchFamily="34" charset="-120"/>
              </a:rPr>
              <a:t>RBI regulations + gold sets</a:t>
            </a:r>
            <a:endParaRPr lang="en-US" sz="1200" dirty="0"/>
          </a:p>
          <a:p>
            <a:pPr indent="0" marL="0">
              <a:spcAft>
                <a:spcPts val="200"/>
              </a:spcAft>
              <a:buNone/>
            </a:pPr>
            <a:r>
              <a:rPr lang="en-US" sz="950" dirty="0">
                <a:solidFill>
                  <a:srgbClr val="64748B"/>
                </a:solidFill>
                <a:latin typeface="Roboto" pitchFamily="34" charset="0"/>
                <a:ea typeface="Roboto" pitchFamily="34" charset="-122"/>
                <a:cs typeface="Roboto" pitchFamily="34" charset="-120"/>
              </a:rPr>
              <a:t>40- and 12-question sets for knowledge base, rules, Q&amp;A and policy.</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EVALUATION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Scorecard: 26 of 29 agents meet their target</a:t>
            </a:r>
            <a:endParaRPr lang="en-US" sz="2800" dirty="0"/>
          </a:p>
        </p:txBody>
      </p:sp>
      <p:pic>
        <p:nvPicPr>
          <p:cNvPr id="4"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5" name="Text 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34</a:t>
            </a:r>
            <a:endParaRPr lang="en-US" sz="900" dirty="0"/>
          </a:p>
        </p:txBody>
      </p:sp>
      <p:graphicFrame>
        <p:nvGraphicFramePr>
          <p:cNvPr id="7" name="Chart 0" descr=""/>
          <p:cNvGraphicFramePr/>
          <p:nvPr/>
        </p:nvGraphicFramePr>
        <p:xfrm>
          <a:off x="457200" y="1325880"/>
          <a:ext cx="3474720" cy="310896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1234440" y="2423160"/>
            <a:ext cx="1828800" cy="914400"/>
          </a:xfrm>
          <a:prstGeom prst="rect">
            <a:avLst/>
          </a:prstGeom>
          <a:noFill/>
          <a:ln/>
        </p:spPr>
        <p:txBody>
          <a:bodyPr wrap="square" lIns="0" tIns="0" rIns="0" bIns="0" rtlCol="0" anchor="ctr"/>
          <a:lstStyle/>
          <a:p>
            <a:pPr algn="ctr" indent="0" marL="0">
              <a:buNone/>
            </a:pPr>
            <a:r>
              <a:rPr lang="en-US" sz="3400" b="1" dirty="0">
                <a:solidFill>
                  <a:srgbClr val="0F172A"/>
                </a:solidFill>
                <a:latin typeface="Roboto" pitchFamily="34" charset="0"/>
                <a:ea typeface="Roboto" pitchFamily="34" charset="-122"/>
                <a:cs typeface="Roboto" pitchFamily="34" charset="-120"/>
              </a:rPr>
              <a:t>29</a:t>
            </a:r>
            <a:endParaRPr lang="en-US" sz="3400" dirty="0"/>
          </a:p>
          <a:p>
            <a:pPr algn="ctr" indent="0" marL="0">
              <a:buNone/>
            </a:pPr>
            <a:r>
              <a:rPr lang="en-US" sz="1100" dirty="0">
                <a:solidFill>
                  <a:srgbClr val="64748B"/>
                </a:solidFill>
                <a:latin typeface="Roboto" pitchFamily="34" charset="0"/>
                <a:ea typeface="Roboto" pitchFamily="34" charset="-122"/>
                <a:cs typeface="Roboto" pitchFamily="34" charset="-120"/>
              </a:rPr>
              <a:t>agents</a:t>
            </a:r>
            <a:endParaRPr lang="en-US" sz="3400" dirty="0"/>
          </a:p>
        </p:txBody>
      </p:sp>
      <p:sp>
        <p:nvSpPr>
          <p:cNvPr id="9" name="Shape 4"/>
          <p:cNvSpPr/>
          <p:nvPr/>
        </p:nvSpPr>
        <p:spPr>
          <a:xfrm>
            <a:off x="548640" y="4572000"/>
            <a:ext cx="3108960" cy="475488"/>
          </a:xfrm>
          <a:prstGeom prst="roundRect">
            <a:avLst>
              <a:gd name="adj" fmla="val 15385"/>
            </a:avLst>
          </a:prstGeom>
          <a:solidFill>
            <a:srgbClr val="F8FAFC"/>
          </a:solidFill>
          <a:ln w="12700">
            <a:solidFill>
              <a:srgbClr val="E2E8F0"/>
            </a:solidFill>
            <a:prstDash val="solid"/>
          </a:ln>
        </p:spPr>
      </p:sp>
      <p:sp>
        <p:nvSpPr>
          <p:cNvPr id="10" name="Text 5"/>
          <p:cNvSpPr txBox="1"/>
          <p:nvPr/>
        </p:nvSpPr>
        <p:spPr>
          <a:xfrm>
            <a:off x="685800" y="4572000"/>
            <a:ext cx="548640" cy="475488"/>
          </a:xfrm>
          <a:prstGeom prst="rect">
            <a:avLst/>
          </a:prstGeom>
          <a:noFill/>
          <a:ln/>
        </p:spPr>
        <p:txBody>
          <a:bodyPr wrap="square" lIns="0" tIns="0" rIns="0" bIns="0" rtlCol="0" anchor="ctr"/>
          <a:lstStyle/>
          <a:p>
            <a:pPr indent="0" marL="0">
              <a:buNone/>
            </a:pPr>
            <a:r>
              <a:rPr lang="en-US" sz="1800" b="1" dirty="0">
                <a:solidFill>
                  <a:srgbClr val="16A34A"/>
                </a:solidFill>
                <a:latin typeface="Roboto" pitchFamily="34" charset="0"/>
                <a:ea typeface="Roboto" pitchFamily="34" charset="-122"/>
                <a:cs typeface="Roboto" pitchFamily="34" charset="-120"/>
              </a:rPr>
              <a:t>26</a:t>
            </a:r>
            <a:endParaRPr lang="en-US" sz="1800" dirty="0"/>
          </a:p>
        </p:txBody>
      </p:sp>
      <p:sp>
        <p:nvSpPr>
          <p:cNvPr id="11" name="Text 6"/>
          <p:cNvSpPr txBox="1"/>
          <p:nvPr/>
        </p:nvSpPr>
        <p:spPr>
          <a:xfrm>
            <a:off x="1280160" y="4572000"/>
            <a:ext cx="2286000" cy="475488"/>
          </a:xfrm>
          <a:prstGeom prst="rect">
            <a:avLst/>
          </a:prstGeom>
          <a:noFill/>
          <a:ln/>
        </p:spPr>
        <p:txBody>
          <a:bodyPr wrap="square" lIns="0" tIns="0" rIns="0" bIns="0" rtlCol="0" anchor="ctr"/>
          <a:lstStyle/>
          <a:p>
            <a:pPr indent="0" marL="0">
              <a:buNone/>
            </a:pPr>
            <a:r>
              <a:rPr lang="en-US" sz="1250" dirty="0">
                <a:solidFill>
                  <a:srgbClr val="0F172A"/>
                </a:solidFill>
                <a:latin typeface="Roboto" pitchFamily="34" charset="0"/>
                <a:ea typeface="Roboto" pitchFamily="34" charset="-122"/>
                <a:cs typeface="Roboto" pitchFamily="34" charset="-120"/>
              </a:rPr>
              <a:t>Strong</a:t>
            </a:r>
            <a:endParaRPr lang="en-US" sz="1250" dirty="0"/>
          </a:p>
        </p:txBody>
      </p:sp>
      <p:sp>
        <p:nvSpPr>
          <p:cNvPr id="12" name="Shape 7"/>
          <p:cNvSpPr/>
          <p:nvPr/>
        </p:nvSpPr>
        <p:spPr>
          <a:xfrm>
            <a:off x="548640" y="5138928"/>
            <a:ext cx="3108960" cy="475488"/>
          </a:xfrm>
          <a:prstGeom prst="roundRect">
            <a:avLst>
              <a:gd name="adj" fmla="val 15385"/>
            </a:avLst>
          </a:prstGeom>
          <a:solidFill>
            <a:srgbClr val="F8FAFC"/>
          </a:solidFill>
          <a:ln w="12700">
            <a:solidFill>
              <a:srgbClr val="E2E8F0"/>
            </a:solidFill>
            <a:prstDash val="solid"/>
          </a:ln>
        </p:spPr>
      </p:sp>
      <p:sp>
        <p:nvSpPr>
          <p:cNvPr id="13" name="Text 8"/>
          <p:cNvSpPr txBox="1"/>
          <p:nvPr/>
        </p:nvSpPr>
        <p:spPr>
          <a:xfrm>
            <a:off x="685800" y="5138928"/>
            <a:ext cx="548640" cy="475488"/>
          </a:xfrm>
          <a:prstGeom prst="rect">
            <a:avLst/>
          </a:prstGeom>
          <a:noFill/>
          <a:ln/>
        </p:spPr>
        <p:txBody>
          <a:bodyPr wrap="square" lIns="0" tIns="0" rIns="0" bIns="0" rtlCol="0" anchor="ctr"/>
          <a:lstStyle/>
          <a:p>
            <a:pPr indent="0" marL="0">
              <a:buNone/>
            </a:pPr>
            <a:r>
              <a:rPr lang="en-US" sz="1800" b="1" dirty="0">
                <a:solidFill>
                  <a:srgbClr val="D97706"/>
                </a:solidFill>
                <a:latin typeface="Roboto" pitchFamily="34" charset="0"/>
                <a:ea typeface="Roboto" pitchFamily="34" charset="-122"/>
                <a:cs typeface="Roboto" pitchFamily="34" charset="-120"/>
              </a:rPr>
              <a:t>1</a:t>
            </a:r>
            <a:endParaRPr lang="en-US" sz="1800" dirty="0"/>
          </a:p>
        </p:txBody>
      </p:sp>
      <p:sp>
        <p:nvSpPr>
          <p:cNvPr id="14" name="Text 9"/>
          <p:cNvSpPr txBox="1"/>
          <p:nvPr/>
        </p:nvSpPr>
        <p:spPr>
          <a:xfrm>
            <a:off x="1280160" y="5138928"/>
            <a:ext cx="2286000" cy="475488"/>
          </a:xfrm>
          <a:prstGeom prst="rect">
            <a:avLst/>
          </a:prstGeom>
          <a:noFill/>
          <a:ln/>
        </p:spPr>
        <p:txBody>
          <a:bodyPr wrap="square" lIns="0" tIns="0" rIns="0" bIns="0" rtlCol="0" anchor="ctr"/>
          <a:lstStyle/>
          <a:p>
            <a:pPr indent="0" marL="0">
              <a:buNone/>
            </a:pPr>
            <a:r>
              <a:rPr lang="en-US" sz="1250" dirty="0">
                <a:solidFill>
                  <a:srgbClr val="0F172A"/>
                </a:solidFill>
                <a:latin typeface="Roboto" pitchFamily="34" charset="0"/>
                <a:ea typeface="Roboto" pitchFamily="34" charset="-122"/>
                <a:cs typeface="Roboto" pitchFamily="34" charset="-120"/>
              </a:rPr>
              <a:t>Acceptable</a:t>
            </a:r>
            <a:endParaRPr lang="en-US" sz="1250" dirty="0"/>
          </a:p>
        </p:txBody>
      </p:sp>
      <p:sp>
        <p:nvSpPr>
          <p:cNvPr id="15" name="Shape 10"/>
          <p:cNvSpPr/>
          <p:nvPr/>
        </p:nvSpPr>
        <p:spPr>
          <a:xfrm>
            <a:off x="548640" y="5705856"/>
            <a:ext cx="3108960" cy="475488"/>
          </a:xfrm>
          <a:prstGeom prst="roundRect">
            <a:avLst>
              <a:gd name="adj" fmla="val 15385"/>
            </a:avLst>
          </a:prstGeom>
          <a:solidFill>
            <a:srgbClr val="F8FAFC"/>
          </a:solidFill>
          <a:ln w="12700">
            <a:solidFill>
              <a:srgbClr val="E2E8F0"/>
            </a:solidFill>
            <a:prstDash val="solid"/>
          </a:ln>
        </p:spPr>
      </p:sp>
      <p:sp>
        <p:nvSpPr>
          <p:cNvPr id="16" name="Text 11"/>
          <p:cNvSpPr txBox="1"/>
          <p:nvPr/>
        </p:nvSpPr>
        <p:spPr>
          <a:xfrm>
            <a:off x="685800" y="5705856"/>
            <a:ext cx="548640" cy="475488"/>
          </a:xfrm>
          <a:prstGeom prst="rect">
            <a:avLst/>
          </a:prstGeom>
          <a:noFill/>
          <a:ln/>
        </p:spPr>
        <p:txBody>
          <a:bodyPr wrap="square" lIns="0" tIns="0" rIns="0" bIns="0" rtlCol="0" anchor="ctr"/>
          <a:lstStyle/>
          <a:p>
            <a:pPr indent="0" marL="0">
              <a:buNone/>
            </a:pPr>
            <a:r>
              <a:rPr lang="en-US" sz="1800" b="1" dirty="0">
                <a:solidFill>
                  <a:srgbClr val="DC2626"/>
                </a:solidFill>
                <a:latin typeface="Roboto" pitchFamily="34" charset="0"/>
                <a:ea typeface="Roboto" pitchFamily="34" charset="-122"/>
                <a:cs typeface="Roboto" pitchFamily="34" charset="-120"/>
              </a:rPr>
              <a:t>2</a:t>
            </a:r>
            <a:endParaRPr lang="en-US" sz="1800" dirty="0"/>
          </a:p>
        </p:txBody>
      </p:sp>
      <p:sp>
        <p:nvSpPr>
          <p:cNvPr id="17" name="Text 12"/>
          <p:cNvSpPr txBox="1"/>
          <p:nvPr/>
        </p:nvSpPr>
        <p:spPr>
          <a:xfrm>
            <a:off x="1280160" y="5705856"/>
            <a:ext cx="2286000" cy="475488"/>
          </a:xfrm>
          <a:prstGeom prst="rect">
            <a:avLst/>
          </a:prstGeom>
          <a:noFill/>
          <a:ln/>
        </p:spPr>
        <p:txBody>
          <a:bodyPr wrap="square" lIns="0" tIns="0" rIns="0" bIns="0" rtlCol="0" anchor="ctr"/>
          <a:lstStyle/>
          <a:p>
            <a:pPr indent="0" marL="0">
              <a:buNone/>
            </a:pPr>
            <a:r>
              <a:rPr lang="en-US" sz="1250" dirty="0">
                <a:solidFill>
                  <a:srgbClr val="0F172A"/>
                </a:solidFill>
                <a:latin typeface="Roboto" pitchFamily="34" charset="0"/>
                <a:ea typeface="Roboto" pitchFamily="34" charset="-122"/>
                <a:cs typeface="Roboto" pitchFamily="34" charset="-120"/>
              </a:rPr>
              <a:t>Weak</a:t>
            </a:r>
            <a:endParaRPr lang="en-US" sz="1250" dirty="0"/>
          </a:p>
        </p:txBody>
      </p:sp>
      <p:sp>
        <p:nvSpPr>
          <p:cNvPr id="18" name="Shape 13"/>
          <p:cNvSpPr/>
          <p:nvPr/>
        </p:nvSpPr>
        <p:spPr>
          <a:xfrm>
            <a:off x="3931920" y="1371600"/>
            <a:ext cx="1463040" cy="768096"/>
          </a:xfrm>
          <a:prstGeom prst="roundRect">
            <a:avLst>
              <a:gd name="adj" fmla="val 8333"/>
            </a:avLst>
          </a:prstGeom>
          <a:solidFill>
            <a:srgbClr val="F0FDF4"/>
          </a:solidFill>
          <a:ln w="12700">
            <a:solidFill>
              <a:srgbClr val="BBF7D0"/>
            </a:solidFill>
            <a:prstDash val="solid"/>
          </a:ln>
        </p:spPr>
      </p:sp>
      <p:sp>
        <p:nvSpPr>
          <p:cNvPr id="19" name="Text 14"/>
          <p:cNvSpPr txBox="1"/>
          <p:nvPr/>
        </p:nvSpPr>
        <p:spPr>
          <a:xfrm>
            <a:off x="4005072" y="138988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  Preprocessing</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99.6%</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85%</a:t>
            </a:r>
            <a:endParaRPr lang="en-US" sz="850" dirty="0"/>
          </a:p>
        </p:txBody>
      </p:sp>
      <p:sp>
        <p:nvSpPr>
          <p:cNvPr id="20" name="Shape 15"/>
          <p:cNvSpPr/>
          <p:nvPr/>
        </p:nvSpPr>
        <p:spPr>
          <a:xfrm>
            <a:off x="5468112" y="1371600"/>
            <a:ext cx="1463040" cy="768096"/>
          </a:xfrm>
          <a:prstGeom prst="roundRect">
            <a:avLst>
              <a:gd name="adj" fmla="val 8333"/>
            </a:avLst>
          </a:prstGeom>
          <a:solidFill>
            <a:srgbClr val="F0FDF4"/>
          </a:solidFill>
          <a:ln w="12700">
            <a:solidFill>
              <a:srgbClr val="BBF7D0"/>
            </a:solidFill>
            <a:prstDash val="solid"/>
          </a:ln>
        </p:spPr>
      </p:sp>
      <p:sp>
        <p:nvSpPr>
          <p:cNvPr id="21" name="Text 16"/>
          <p:cNvSpPr txBox="1"/>
          <p:nvPr/>
        </p:nvSpPr>
        <p:spPr>
          <a:xfrm>
            <a:off x="5541264" y="138988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  Extraction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97.2%</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90%</a:t>
            </a:r>
            <a:endParaRPr lang="en-US" sz="850" dirty="0"/>
          </a:p>
        </p:txBody>
      </p:sp>
      <p:sp>
        <p:nvSpPr>
          <p:cNvPr id="22" name="Shape 17"/>
          <p:cNvSpPr/>
          <p:nvPr/>
        </p:nvSpPr>
        <p:spPr>
          <a:xfrm>
            <a:off x="7004304" y="1371600"/>
            <a:ext cx="1463040" cy="768096"/>
          </a:xfrm>
          <a:prstGeom prst="roundRect">
            <a:avLst>
              <a:gd name="adj" fmla="val 8333"/>
            </a:avLst>
          </a:prstGeom>
          <a:solidFill>
            <a:srgbClr val="F0FDF4"/>
          </a:solidFill>
          <a:ln w="12700">
            <a:solidFill>
              <a:srgbClr val="BBF7D0"/>
            </a:solidFill>
            <a:prstDash val="solid"/>
          </a:ln>
        </p:spPr>
      </p:sp>
      <p:sp>
        <p:nvSpPr>
          <p:cNvPr id="23" name="Text 18"/>
          <p:cNvSpPr txBox="1"/>
          <p:nvPr/>
        </p:nvSpPr>
        <p:spPr>
          <a:xfrm>
            <a:off x="7077456" y="138988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3  Validation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24" name="Shape 19"/>
          <p:cNvSpPr/>
          <p:nvPr/>
        </p:nvSpPr>
        <p:spPr>
          <a:xfrm>
            <a:off x="8540496" y="1371600"/>
            <a:ext cx="1463040" cy="768096"/>
          </a:xfrm>
          <a:prstGeom prst="roundRect">
            <a:avLst>
              <a:gd name="adj" fmla="val 8333"/>
            </a:avLst>
          </a:prstGeom>
          <a:solidFill>
            <a:srgbClr val="F0FDF4"/>
          </a:solidFill>
          <a:ln w="12700">
            <a:solidFill>
              <a:srgbClr val="BBF7D0"/>
            </a:solidFill>
            <a:prstDash val="solid"/>
          </a:ln>
        </p:spPr>
      </p:sp>
      <p:sp>
        <p:nvSpPr>
          <p:cNvPr id="25" name="Text 20"/>
          <p:cNvSpPr txBox="1"/>
          <p:nvPr/>
        </p:nvSpPr>
        <p:spPr>
          <a:xfrm>
            <a:off x="8613648" y="138988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4  Document Identity</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90%</a:t>
            </a:r>
            <a:endParaRPr lang="en-US" sz="850" dirty="0"/>
          </a:p>
        </p:txBody>
      </p:sp>
      <p:sp>
        <p:nvSpPr>
          <p:cNvPr id="26" name="Shape 21"/>
          <p:cNvSpPr/>
          <p:nvPr/>
        </p:nvSpPr>
        <p:spPr>
          <a:xfrm>
            <a:off x="10076688" y="1371600"/>
            <a:ext cx="1463040" cy="768096"/>
          </a:xfrm>
          <a:prstGeom prst="roundRect">
            <a:avLst>
              <a:gd name="adj" fmla="val 8333"/>
            </a:avLst>
          </a:prstGeom>
          <a:solidFill>
            <a:srgbClr val="F0FDF4"/>
          </a:solidFill>
          <a:ln w="12700">
            <a:solidFill>
              <a:srgbClr val="BBF7D0"/>
            </a:solidFill>
            <a:prstDash val="solid"/>
          </a:ln>
        </p:spPr>
      </p:sp>
      <p:sp>
        <p:nvSpPr>
          <p:cNvPr id="27" name="Text 22"/>
          <p:cNvSpPr txBox="1"/>
          <p:nvPr/>
        </p:nvSpPr>
        <p:spPr>
          <a:xfrm>
            <a:off x="10149840" y="138988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5  PII Masking</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28" name="Shape 23"/>
          <p:cNvSpPr/>
          <p:nvPr/>
        </p:nvSpPr>
        <p:spPr>
          <a:xfrm>
            <a:off x="3931920" y="2212848"/>
            <a:ext cx="1463040" cy="768096"/>
          </a:xfrm>
          <a:prstGeom prst="roundRect">
            <a:avLst>
              <a:gd name="adj" fmla="val 8333"/>
            </a:avLst>
          </a:prstGeom>
          <a:solidFill>
            <a:srgbClr val="F0FDF4"/>
          </a:solidFill>
          <a:ln w="12700">
            <a:solidFill>
              <a:srgbClr val="BBF7D0"/>
            </a:solidFill>
            <a:prstDash val="solid"/>
          </a:ln>
        </p:spPr>
      </p:sp>
      <p:sp>
        <p:nvSpPr>
          <p:cNvPr id="29" name="Text 24"/>
          <p:cNvSpPr txBox="1"/>
          <p:nvPr/>
        </p:nvSpPr>
        <p:spPr>
          <a:xfrm>
            <a:off x="4005072" y="2231136"/>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6  Face Verification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99.4%</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90%</a:t>
            </a:r>
            <a:endParaRPr lang="en-US" sz="850" dirty="0"/>
          </a:p>
        </p:txBody>
      </p:sp>
      <p:sp>
        <p:nvSpPr>
          <p:cNvPr id="30" name="Shape 25"/>
          <p:cNvSpPr/>
          <p:nvPr/>
        </p:nvSpPr>
        <p:spPr>
          <a:xfrm>
            <a:off x="5468112" y="2212848"/>
            <a:ext cx="1463040" cy="768096"/>
          </a:xfrm>
          <a:prstGeom prst="roundRect">
            <a:avLst>
              <a:gd name="adj" fmla="val 8333"/>
            </a:avLst>
          </a:prstGeom>
          <a:solidFill>
            <a:srgbClr val="F0FDF4"/>
          </a:solidFill>
          <a:ln w="12700">
            <a:solidFill>
              <a:srgbClr val="BBF7D0"/>
            </a:solidFill>
            <a:prstDash val="solid"/>
          </a:ln>
        </p:spPr>
      </p:sp>
      <p:sp>
        <p:nvSpPr>
          <p:cNvPr id="31" name="Text 26"/>
          <p:cNvSpPr txBox="1"/>
          <p:nvPr/>
        </p:nvSpPr>
        <p:spPr>
          <a:xfrm>
            <a:off x="5541264" y="2231136"/>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7  Tampering Forensics</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85%</a:t>
            </a:r>
            <a:endParaRPr lang="en-US" sz="850" dirty="0"/>
          </a:p>
        </p:txBody>
      </p:sp>
      <p:sp>
        <p:nvSpPr>
          <p:cNvPr id="32" name="Shape 27"/>
          <p:cNvSpPr/>
          <p:nvPr/>
        </p:nvSpPr>
        <p:spPr>
          <a:xfrm>
            <a:off x="7004304" y="2212848"/>
            <a:ext cx="1463040" cy="768096"/>
          </a:xfrm>
          <a:prstGeom prst="roundRect">
            <a:avLst>
              <a:gd name="adj" fmla="val 8333"/>
            </a:avLst>
          </a:prstGeom>
          <a:solidFill>
            <a:srgbClr val="F0FDF4"/>
          </a:solidFill>
          <a:ln w="12700">
            <a:solidFill>
              <a:srgbClr val="BBF7D0"/>
            </a:solidFill>
            <a:prstDash val="solid"/>
          </a:ln>
        </p:spPr>
      </p:sp>
      <p:sp>
        <p:nvSpPr>
          <p:cNvPr id="33" name="Text 28"/>
          <p:cNvSpPr txBox="1"/>
          <p:nvPr/>
        </p:nvSpPr>
        <p:spPr>
          <a:xfrm>
            <a:off x="7077456" y="2231136"/>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8  Authenticity</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89.5%</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70%</a:t>
            </a:r>
            <a:endParaRPr lang="en-US" sz="850" dirty="0"/>
          </a:p>
        </p:txBody>
      </p:sp>
      <p:sp>
        <p:nvSpPr>
          <p:cNvPr id="34" name="Shape 29"/>
          <p:cNvSpPr/>
          <p:nvPr/>
        </p:nvSpPr>
        <p:spPr>
          <a:xfrm>
            <a:off x="8540496" y="2212848"/>
            <a:ext cx="1463040" cy="768096"/>
          </a:xfrm>
          <a:prstGeom prst="roundRect">
            <a:avLst>
              <a:gd name="adj" fmla="val 8333"/>
            </a:avLst>
          </a:prstGeom>
          <a:solidFill>
            <a:srgbClr val="FFFBEB"/>
          </a:solidFill>
          <a:ln w="12700">
            <a:solidFill>
              <a:srgbClr val="FDE68A"/>
            </a:solidFill>
            <a:prstDash val="solid"/>
          </a:ln>
        </p:spPr>
      </p:sp>
      <p:sp>
        <p:nvSpPr>
          <p:cNvPr id="35" name="Text 30"/>
          <p:cNvSpPr txBox="1"/>
          <p:nvPr/>
        </p:nvSpPr>
        <p:spPr>
          <a:xfrm>
            <a:off x="8613648" y="2231136"/>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9  Tamper Explainer</a:t>
            </a:r>
            <a:endParaRPr lang="en-US" sz="850" dirty="0"/>
          </a:p>
          <a:p>
            <a:pPr indent="0" marL="0">
              <a:buNone/>
            </a:pPr>
            <a:r>
              <a:rPr lang="en-US" sz="1300" b="1" dirty="0">
                <a:solidFill>
                  <a:srgbClr val="D97706"/>
                </a:solidFill>
                <a:latin typeface="Roboto" pitchFamily="34" charset="0"/>
                <a:ea typeface="Roboto" pitchFamily="34" charset="-122"/>
                <a:cs typeface="Roboto" pitchFamily="34" charset="-120"/>
              </a:rPr>
              <a:t>90%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95%</a:t>
            </a:r>
            <a:endParaRPr lang="en-US" sz="850" dirty="0"/>
          </a:p>
        </p:txBody>
      </p:sp>
      <p:sp>
        <p:nvSpPr>
          <p:cNvPr id="36" name="Shape 31"/>
          <p:cNvSpPr/>
          <p:nvPr/>
        </p:nvSpPr>
        <p:spPr>
          <a:xfrm>
            <a:off x="10076688" y="2212848"/>
            <a:ext cx="1463040" cy="768096"/>
          </a:xfrm>
          <a:prstGeom prst="roundRect">
            <a:avLst>
              <a:gd name="adj" fmla="val 8333"/>
            </a:avLst>
          </a:prstGeom>
          <a:solidFill>
            <a:srgbClr val="FEF2F2"/>
          </a:solidFill>
          <a:ln w="12700">
            <a:solidFill>
              <a:srgbClr val="FECACA"/>
            </a:solidFill>
            <a:prstDash val="solid"/>
          </a:ln>
        </p:spPr>
      </p:sp>
      <p:sp>
        <p:nvSpPr>
          <p:cNvPr id="37" name="Text 32"/>
          <p:cNvSpPr txBox="1"/>
          <p:nvPr/>
        </p:nvSpPr>
        <p:spPr>
          <a:xfrm>
            <a:off x="10149840" y="2231136"/>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10  Tamper Locator</a:t>
            </a:r>
            <a:endParaRPr lang="en-US" sz="850" dirty="0"/>
          </a:p>
          <a:p>
            <a:pPr indent="0" marL="0">
              <a:buNone/>
            </a:pPr>
            <a:r>
              <a:rPr lang="en-US" sz="1300" b="1" dirty="0">
                <a:solidFill>
                  <a:srgbClr val="DC2626"/>
                </a:solidFill>
                <a:latin typeface="Roboto" pitchFamily="34" charset="0"/>
                <a:ea typeface="Roboto" pitchFamily="34" charset="-122"/>
                <a:cs typeface="Roboto" pitchFamily="34" charset="-120"/>
              </a:rPr>
              <a:t>33.3%</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80%</a:t>
            </a:r>
            <a:endParaRPr lang="en-US" sz="850" dirty="0"/>
          </a:p>
        </p:txBody>
      </p:sp>
      <p:sp>
        <p:nvSpPr>
          <p:cNvPr id="38" name="Shape 33"/>
          <p:cNvSpPr/>
          <p:nvPr/>
        </p:nvSpPr>
        <p:spPr>
          <a:xfrm>
            <a:off x="3931920" y="3054096"/>
            <a:ext cx="1463040" cy="768096"/>
          </a:xfrm>
          <a:prstGeom prst="roundRect">
            <a:avLst>
              <a:gd name="adj" fmla="val 8333"/>
            </a:avLst>
          </a:prstGeom>
          <a:solidFill>
            <a:srgbClr val="F0FDF4"/>
          </a:solidFill>
          <a:ln w="12700">
            <a:solidFill>
              <a:srgbClr val="BBF7D0"/>
            </a:solidFill>
            <a:prstDash val="solid"/>
          </a:ln>
        </p:spPr>
      </p:sp>
      <p:sp>
        <p:nvSpPr>
          <p:cNvPr id="39" name="Text 34"/>
          <p:cNvSpPr txBox="1"/>
          <p:nvPr/>
        </p:nvSpPr>
        <p:spPr>
          <a:xfrm>
            <a:off x="4005072" y="3072384"/>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11  Cross-Doc Verification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40" name="Shape 35"/>
          <p:cNvSpPr/>
          <p:nvPr/>
        </p:nvSpPr>
        <p:spPr>
          <a:xfrm>
            <a:off x="5468112" y="3054096"/>
            <a:ext cx="1463040" cy="768096"/>
          </a:xfrm>
          <a:prstGeom prst="roundRect">
            <a:avLst>
              <a:gd name="adj" fmla="val 8333"/>
            </a:avLst>
          </a:prstGeom>
          <a:solidFill>
            <a:srgbClr val="F0FDF4"/>
          </a:solidFill>
          <a:ln w="12700">
            <a:solidFill>
              <a:srgbClr val="BBF7D0"/>
            </a:solidFill>
            <a:prstDash val="solid"/>
          </a:ln>
        </p:spPr>
      </p:sp>
      <p:sp>
        <p:nvSpPr>
          <p:cNvPr id="41" name="Text 36"/>
          <p:cNvSpPr txBox="1"/>
          <p:nvPr/>
        </p:nvSpPr>
        <p:spPr>
          <a:xfrm>
            <a:off x="5541264" y="3072384"/>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12  Dedupe</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95%</a:t>
            </a:r>
            <a:endParaRPr lang="en-US" sz="850" dirty="0"/>
          </a:p>
        </p:txBody>
      </p:sp>
      <p:sp>
        <p:nvSpPr>
          <p:cNvPr id="42" name="Shape 37"/>
          <p:cNvSpPr/>
          <p:nvPr/>
        </p:nvSpPr>
        <p:spPr>
          <a:xfrm>
            <a:off x="7004304" y="3054096"/>
            <a:ext cx="1463040" cy="768096"/>
          </a:xfrm>
          <a:prstGeom prst="roundRect">
            <a:avLst>
              <a:gd name="adj" fmla="val 8333"/>
            </a:avLst>
          </a:prstGeom>
          <a:solidFill>
            <a:srgbClr val="F0FDF4"/>
          </a:solidFill>
          <a:ln w="12700">
            <a:solidFill>
              <a:srgbClr val="BBF7D0"/>
            </a:solidFill>
            <a:prstDash val="solid"/>
          </a:ln>
        </p:spPr>
      </p:sp>
      <p:sp>
        <p:nvSpPr>
          <p:cNvPr id="43" name="Text 38"/>
          <p:cNvSpPr txBox="1"/>
          <p:nvPr/>
        </p:nvSpPr>
        <p:spPr>
          <a:xfrm>
            <a:off x="7077456" y="3072384"/>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13  Fraud Fusion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93%</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90%</a:t>
            </a:r>
            <a:endParaRPr lang="en-US" sz="850" dirty="0"/>
          </a:p>
        </p:txBody>
      </p:sp>
      <p:sp>
        <p:nvSpPr>
          <p:cNvPr id="44" name="Shape 39"/>
          <p:cNvSpPr/>
          <p:nvPr/>
        </p:nvSpPr>
        <p:spPr>
          <a:xfrm>
            <a:off x="8540496" y="3054096"/>
            <a:ext cx="1463040" cy="768096"/>
          </a:xfrm>
          <a:prstGeom prst="roundRect">
            <a:avLst>
              <a:gd name="adj" fmla="val 8333"/>
            </a:avLst>
          </a:prstGeom>
          <a:solidFill>
            <a:srgbClr val="F0FDF4"/>
          </a:solidFill>
          <a:ln w="12700">
            <a:solidFill>
              <a:srgbClr val="BBF7D0"/>
            </a:solidFill>
            <a:prstDash val="solid"/>
          </a:ln>
        </p:spPr>
      </p:sp>
      <p:sp>
        <p:nvSpPr>
          <p:cNvPr id="45" name="Text 40"/>
          <p:cNvSpPr txBox="1"/>
          <p:nvPr/>
        </p:nvSpPr>
        <p:spPr>
          <a:xfrm>
            <a:off x="8613648" y="3072384"/>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14  Fraud Patterns</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F1 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0.85</a:t>
            </a:r>
            <a:endParaRPr lang="en-US" sz="850" dirty="0"/>
          </a:p>
        </p:txBody>
      </p:sp>
      <p:sp>
        <p:nvSpPr>
          <p:cNvPr id="46" name="Shape 41"/>
          <p:cNvSpPr/>
          <p:nvPr/>
        </p:nvSpPr>
        <p:spPr>
          <a:xfrm>
            <a:off x="10076688" y="3054096"/>
            <a:ext cx="1463040" cy="768096"/>
          </a:xfrm>
          <a:prstGeom prst="roundRect">
            <a:avLst>
              <a:gd name="adj" fmla="val 8333"/>
            </a:avLst>
          </a:prstGeom>
          <a:solidFill>
            <a:srgbClr val="F0FDF4"/>
          </a:solidFill>
          <a:ln w="12700">
            <a:solidFill>
              <a:srgbClr val="BBF7D0"/>
            </a:solidFill>
            <a:prstDash val="solid"/>
          </a:ln>
        </p:spPr>
      </p:sp>
      <p:sp>
        <p:nvSpPr>
          <p:cNvPr id="47" name="Text 42"/>
          <p:cNvSpPr txBox="1"/>
          <p:nvPr/>
        </p:nvSpPr>
        <p:spPr>
          <a:xfrm>
            <a:off x="10149840" y="3072384"/>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15  Fraud Triage</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80%</a:t>
            </a:r>
            <a:endParaRPr lang="en-US" sz="850" dirty="0"/>
          </a:p>
        </p:txBody>
      </p:sp>
      <p:sp>
        <p:nvSpPr>
          <p:cNvPr id="48" name="Shape 43"/>
          <p:cNvSpPr/>
          <p:nvPr/>
        </p:nvSpPr>
        <p:spPr>
          <a:xfrm>
            <a:off x="3931920" y="3895344"/>
            <a:ext cx="1463040" cy="768096"/>
          </a:xfrm>
          <a:prstGeom prst="roundRect">
            <a:avLst>
              <a:gd name="adj" fmla="val 8333"/>
            </a:avLst>
          </a:prstGeom>
          <a:solidFill>
            <a:srgbClr val="F0FDF4"/>
          </a:solidFill>
          <a:ln w="12700">
            <a:solidFill>
              <a:srgbClr val="BBF7D0"/>
            </a:solidFill>
            <a:prstDash val="solid"/>
          </a:ln>
        </p:spPr>
      </p:sp>
      <p:sp>
        <p:nvSpPr>
          <p:cNvPr id="49" name="Text 44"/>
          <p:cNvSpPr txBox="1"/>
          <p:nvPr/>
        </p:nvSpPr>
        <p:spPr>
          <a:xfrm>
            <a:off x="4005072" y="3913632"/>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16  KB Ingestion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91.7%</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85%</a:t>
            </a:r>
            <a:endParaRPr lang="en-US" sz="850" dirty="0"/>
          </a:p>
        </p:txBody>
      </p:sp>
      <p:sp>
        <p:nvSpPr>
          <p:cNvPr id="50" name="Shape 45"/>
          <p:cNvSpPr/>
          <p:nvPr/>
        </p:nvSpPr>
        <p:spPr>
          <a:xfrm>
            <a:off x="5468112" y="3895344"/>
            <a:ext cx="1463040" cy="768096"/>
          </a:xfrm>
          <a:prstGeom prst="roundRect">
            <a:avLst>
              <a:gd name="adj" fmla="val 8333"/>
            </a:avLst>
          </a:prstGeom>
          <a:solidFill>
            <a:srgbClr val="F0FDF4"/>
          </a:solidFill>
          <a:ln w="12700">
            <a:solidFill>
              <a:srgbClr val="BBF7D0"/>
            </a:solidFill>
            <a:prstDash val="solid"/>
          </a:ln>
        </p:spPr>
      </p:sp>
      <p:sp>
        <p:nvSpPr>
          <p:cNvPr id="51" name="Text 46"/>
          <p:cNvSpPr txBox="1"/>
          <p:nvPr/>
        </p:nvSpPr>
        <p:spPr>
          <a:xfrm>
            <a:off x="5541264" y="3913632"/>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17  Rule Authoring</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88.9%</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70%</a:t>
            </a:r>
            <a:endParaRPr lang="en-US" sz="850" dirty="0"/>
          </a:p>
        </p:txBody>
      </p:sp>
      <p:sp>
        <p:nvSpPr>
          <p:cNvPr id="52" name="Shape 47"/>
          <p:cNvSpPr/>
          <p:nvPr/>
        </p:nvSpPr>
        <p:spPr>
          <a:xfrm>
            <a:off x="7004304" y="3895344"/>
            <a:ext cx="1463040" cy="768096"/>
          </a:xfrm>
          <a:prstGeom prst="roundRect">
            <a:avLst>
              <a:gd name="adj" fmla="val 8333"/>
            </a:avLst>
          </a:prstGeom>
          <a:solidFill>
            <a:srgbClr val="F0FDF4"/>
          </a:solidFill>
          <a:ln w="12700">
            <a:solidFill>
              <a:srgbClr val="BBF7D0"/>
            </a:solidFill>
            <a:prstDash val="solid"/>
          </a:ln>
        </p:spPr>
      </p:sp>
      <p:sp>
        <p:nvSpPr>
          <p:cNvPr id="53" name="Text 48"/>
          <p:cNvSpPr txBox="1"/>
          <p:nvPr/>
        </p:nvSpPr>
        <p:spPr>
          <a:xfrm>
            <a:off x="7077456" y="3913632"/>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18  Regulatory Q&amp;A</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85%</a:t>
            </a:r>
            <a:endParaRPr lang="en-US" sz="850" dirty="0"/>
          </a:p>
        </p:txBody>
      </p:sp>
      <p:sp>
        <p:nvSpPr>
          <p:cNvPr id="54" name="Shape 49"/>
          <p:cNvSpPr/>
          <p:nvPr/>
        </p:nvSpPr>
        <p:spPr>
          <a:xfrm>
            <a:off x="8540496" y="3895344"/>
            <a:ext cx="1463040" cy="768096"/>
          </a:xfrm>
          <a:prstGeom prst="roundRect">
            <a:avLst>
              <a:gd name="adj" fmla="val 8333"/>
            </a:avLst>
          </a:prstGeom>
          <a:solidFill>
            <a:srgbClr val="F0FDF4"/>
          </a:solidFill>
          <a:ln w="12700">
            <a:solidFill>
              <a:srgbClr val="BBF7D0"/>
            </a:solidFill>
            <a:prstDash val="solid"/>
          </a:ln>
        </p:spPr>
      </p:sp>
      <p:sp>
        <p:nvSpPr>
          <p:cNvPr id="55" name="Text 50"/>
          <p:cNvSpPr txBox="1"/>
          <p:nvPr/>
        </p:nvSpPr>
        <p:spPr>
          <a:xfrm>
            <a:off x="8613648" y="3913632"/>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19  Policy Check</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56" name="Shape 51"/>
          <p:cNvSpPr/>
          <p:nvPr/>
        </p:nvSpPr>
        <p:spPr>
          <a:xfrm>
            <a:off x="10076688" y="3895344"/>
            <a:ext cx="1463040" cy="768096"/>
          </a:xfrm>
          <a:prstGeom prst="roundRect">
            <a:avLst>
              <a:gd name="adj" fmla="val 8333"/>
            </a:avLst>
          </a:prstGeom>
          <a:solidFill>
            <a:srgbClr val="F0FDF4"/>
          </a:solidFill>
          <a:ln w="12700">
            <a:solidFill>
              <a:srgbClr val="BBF7D0"/>
            </a:solidFill>
            <a:prstDash val="solid"/>
          </a:ln>
        </p:spPr>
      </p:sp>
      <p:sp>
        <p:nvSpPr>
          <p:cNvPr id="57" name="Text 52"/>
          <p:cNvSpPr txBox="1"/>
          <p:nvPr/>
        </p:nvSpPr>
        <p:spPr>
          <a:xfrm>
            <a:off x="10149840" y="3913632"/>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20  Income Analysis</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F1 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0.90</a:t>
            </a:r>
            <a:endParaRPr lang="en-US" sz="850" dirty="0"/>
          </a:p>
        </p:txBody>
      </p:sp>
      <p:sp>
        <p:nvSpPr>
          <p:cNvPr id="58" name="Shape 53"/>
          <p:cNvSpPr/>
          <p:nvPr/>
        </p:nvSpPr>
        <p:spPr>
          <a:xfrm>
            <a:off x="3931920" y="4736592"/>
            <a:ext cx="1463040" cy="768096"/>
          </a:xfrm>
          <a:prstGeom prst="roundRect">
            <a:avLst>
              <a:gd name="adj" fmla="val 8333"/>
            </a:avLst>
          </a:prstGeom>
          <a:solidFill>
            <a:srgbClr val="F0FDF4"/>
          </a:solidFill>
          <a:ln w="12700">
            <a:solidFill>
              <a:srgbClr val="BBF7D0"/>
            </a:solidFill>
            <a:prstDash val="solid"/>
          </a:ln>
        </p:spPr>
      </p:sp>
      <p:sp>
        <p:nvSpPr>
          <p:cNvPr id="59" name="Text 54"/>
          <p:cNvSpPr txBox="1"/>
          <p:nvPr/>
        </p:nvSpPr>
        <p:spPr>
          <a:xfrm>
            <a:off x="4005072" y="4754880"/>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21  Risk Scoring</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AUC 0.771</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0.75</a:t>
            </a:r>
            <a:endParaRPr lang="en-US" sz="850" dirty="0"/>
          </a:p>
        </p:txBody>
      </p:sp>
      <p:sp>
        <p:nvSpPr>
          <p:cNvPr id="60" name="Shape 55"/>
          <p:cNvSpPr/>
          <p:nvPr/>
        </p:nvSpPr>
        <p:spPr>
          <a:xfrm>
            <a:off x="5468112" y="4736592"/>
            <a:ext cx="1463040" cy="768096"/>
          </a:xfrm>
          <a:prstGeom prst="roundRect">
            <a:avLst>
              <a:gd name="adj" fmla="val 8333"/>
            </a:avLst>
          </a:prstGeom>
          <a:solidFill>
            <a:srgbClr val="F0FDF4"/>
          </a:solidFill>
          <a:ln w="12700">
            <a:solidFill>
              <a:srgbClr val="BBF7D0"/>
            </a:solidFill>
            <a:prstDash val="solid"/>
          </a:ln>
        </p:spPr>
      </p:sp>
      <p:sp>
        <p:nvSpPr>
          <p:cNvPr id="61" name="Text 56"/>
          <p:cNvSpPr txBox="1"/>
          <p:nvPr/>
        </p:nvSpPr>
        <p:spPr>
          <a:xfrm>
            <a:off x="5541264" y="4754880"/>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22  Credit Memo</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95%</a:t>
            </a:r>
            <a:endParaRPr lang="en-US" sz="850" dirty="0"/>
          </a:p>
        </p:txBody>
      </p:sp>
      <p:sp>
        <p:nvSpPr>
          <p:cNvPr id="62" name="Shape 57"/>
          <p:cNvSpPr/>
          <p:nvPr/>
        </p:nvSpPr>
        <p:spPr>
          <a:xfrm>
            <a:off x="7004304" y="4736592"/>
            <a:ext cx="1463040" cy="768096"/>
          </a:xfrm>
          <a:prstGeom prst="roundRect">
            <a:avLst>
              <a:gd name="adj" fmla="val 8333"/>
            </a:avLst>
          </a:prstGeom>
          <a:solidFill>
            <a:srgbClr val="F0FDF4"/>
          </a:solidFill>
          <a:ln w="12700">
            <a:solidFill>
              <a:srgbClr val="BBF7D0"/>
            </a:solidFill>
            <a:prstDash val="solid"/>
          </a:ln>
        </p:spPr>
      </p:sp>
      <p:sp>
        <p:nvSpPr>
          <p:cNvPr id="63" name="Text 58"/>
          <p:cNvSpPr txBox="1"/>
          <p:nvPr/>
        </p:nvSpPr>
        <p:spPr>
          <a:xfrm>
            <a:off x="7077456" y="4754880"/>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23  UW Supervisor</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85%</a:t>
            </a:r>
            <a:endParaRPr lang="en-US" sz="850" dirty="0"/>
          </a:p>
        </p:txBody>
      </p:sp>
      <p:sp>
        <p:nvSpPr>
          <p:cNvPr id="64" name="Shape 59"/>
          <p:cNvSpPr/>
          <p:nvPr/>
        </p:nvSpPr>
        <p:spPr>
          <a:xfrm>
            <a:off x="8540496" y="4736592"/>
            <a:ext cx="1463040" cy="768096"/>
          </a:xfrm>
          <a:prstGeom prst="roundRect">
            <a:avLst>
              <a:gd name="adj" fmla="val 8333"/>
            </a:avLst>
          </a:prstGeom>
          <a:solidFill>
            <a:srgbClr val="F0FDF4"/>
          </a:solidFill>
          <a:ln w="12700">
            <a:solidFill>
              <a:srgbClr val="BBF7D0"/>
            </a:solidFill>
            <a:prstDash val="solid"/>
          </a:ln>
        </p:spPr>
      </p:sp>
      <p:sp>
        <p:nvSpPr>
          <p:cNvPr id="65" name="Text 60"/>
          <p:cNvSpPr txBox="1"/>
          <p:nvPr/>
        </p:nvSpPr>
        <p:spPr>
          <a:xfrm>
            <a:off x="8613648" y="4754880"/>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24  Offer Generation</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66" name="Shape 61"/>
          <p:cNvSpPr/>
          <p:nvPr/>
        </p:nvSpPr>
        <p:spPr>
          <a:xfrm>
            <a:off x="10076688" y="4736592"/>
            <a:ext cx="1463040" cy="768096"/>
          </a:xfrm>
          <a:prstGeom prst="roundRect">
            <a:avLst>
              <a:gd name="adj" fmla="val 8333"/>
            </a:avLst>
          </a:prstGeom>
          <a:solidFill>
            <a:srgbClr val="F0FDF4"/>
          </a:solidFill>
          <a:ln w="12700">
            <a:solidFill>
              <a:srgbClr val="BBF7D0"/>
            </a:solidFill>
            <a:prstDash val="solid"/>
          </a:ln>
        </p:spPr>
      </p:sp>
      <p:sp>
        <p:nvSpPr>
          <p:cNvPr id="67" name="Text 62"/>
          <p:cNvSpPr txBox="1"/>
          <p:nvPr/>
        </p:nvSpPr>
        <p:spPr>
          <a:xfrm>
            <a:off x="10149840" y="4754880"/>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25  Workflow Router</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68" name="Shape 63"/>
          <p:cNvSpPr/>
          <p:nvPr/>
        </p:nvSpPr>
        <p:spPr>
          <a:xfrm>
            <a:off x="3931920" y="5577840"/>
            <a:ext cx="1463040" cy="768096"/>
          </a:xfrm>
          <a:prstGeom prst="roundRect">
            <a:avLst>
              <a:gd name="adj" fmla="val 8333"/>
            </a:avLst>
          </a:prstGeom>
          <a:solidFill>
            <a:srgbClr val="F0FDF4"/>
          </a:solidFill>
          <a:ln w="12700">
            <a:solidFill>
              <a:srgbClr val="BBF7D0"/>
            </a:solidFill>
            <a:prstDash val="solid"/>
          </a:ln>
        </p:spPr>
      </p:sp>
      <p:sp>
        <p:nvSpPr>
          <p:cNvPr id="69" name="Text 64"/>
          <p:cNvSpPr txBox="1"/>
          <p:nvPr/>
        </p:nvSpPr>
        <p:spPr>
          <a:xfrm>
            <a:off x="4005072" y="559612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26  Notifier</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70" name="Shape 65"/>
          <p:cNvSpPr/>
          <p:nvPr/>
        </p:nvSpPr>
        <p:spPr>
          <a:xfrm>
            <a:off x="5468112" y="5577840"/>
            <a:ext cx="1463040" cy="768096"/>
          </a:xfrm>
          <a:prstGeom prst="roundRect">
            <a:avLst>
              <a:gd name="adj" fmla="val 8333"/>
            </a:avLst>
          </a:prstGeom>
          <a:solidFill>
            <a:srgbClr val="F0FDF4"/>
          </a:solidFill>
          <a:ln w="12700">
            <a:solidFill>
              <a:srgbClr val="BBF7D0"/>
            </a:solidFill>
            <a:prstDash val="solid"/>
          </a:ln>
        </p:spPr>
      </p:sp>
      <p:sp>
        <p:nvSpPr>
          <p:cNvPr id="71" name="Text 66"/>
          <p:cNvSpPr txBox="1"/>
          <p:nvPr/>
        </p:nvSpPr>
        <p:spPr>
          <a:xfrm>
            <a:off x="5541264" y="559612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27  Audit / Storage</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72" name="Shape 67"/>
          <p:cNvSpPr/>
          <p:nvPr/>
        </p:nvSpPr>
        <p:spPr>
          <a:xfrm>
            <a:off x="7004304" y="5577840"/>
            <a:ext cx="1463040" cy="768096"/>
          </a:xfrm>
          <a:prstGeom prst="roundRect">
            <a:avLst>
              <a:gd name="adj" fmla="val 8333"/>
            </a:avLst>
          </a:prstGeom>
          <a:solidFill>
            <a:srgbClr val="F0FDF4"/>
          </a:solidFill>
          <a:ln w="12700">
            <a:solidFill>
              <a:srgbClr val="BBF7D0"/>
            </a:solidFill>
            <a:prstDash val="solid"/>
          </a:ln>
        </p:spPr>
      </p:sp>
      <p:sp>
        <p:nvSpPr>
          <p:cNvPr id="73" name="Text 68"/>
          <p:cNvSpPr txBox="1"/>
          <p:nvPr/>
        </p:nvSpPr>
        <p:spPr>
          <a:xfrm>
            <a:off x="7077456" y="559612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28  Process Mining</a:t>
            </a:r>
            <a:endParaRPr lang="en-US" sz="850" dirty="0"/>
          </a:p>
          <a:p>
            <a:pPr indent="0" marL="0">
              <a:buNone/>
            </a:pPr>
            <a:r>
              <a:rPr lang="en-US" sz="1300" b="1" dirty="0">
                <a:solidFill>
                  <a:srgbClr val="16A34A"/>
                </a:solidFill>
                <a:latin typeface="Roboto" pitchFamily="34" charset="0"/>
                <a:ea typeface="Roboto" pitchFamily="34" charset="-122"/>
                <a:cs typeface="Roboto" pitchFamily="34" charset="-120"/>
              </a:rPr>
              <a:t>100%</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100%</a:t>
            </a:r>
            <a:endParaRPr lang="en-US" sz="850" dirty="0"/>
          </a:p>
        </p:txBody>
      </p:sp>
      <p:sp>
        <p:nvSpPr>
          <p:cNvPr id="74" name="Shape 69"/>
          <p:cNvSpPr/>
          <p:nvPr/>
        </p:nvSpPr>
        <p:spPr>
          <a:xfrm>
            <a:off x="8540496" y="5577840"/>
            <a:ext cx="1463040" cy="768096"/>
          </a:xfrm>
          <a:prstGeom prst="roundRect">
            <a:avLst>
              <a:gd name="adj" fmla="val 8333"/>
            </a:avLst>
          </a:prstGeom>
          <a:solidFill>
            <a:srgbClr val="FEF2F2"/>
          </a:solidFill>
          <a:ln w="12700">
            <a:solidFill>
              <a:srgbClr val="FECACA"/>
            </a:solidFill>
            <a:prstDash val="solid"/>
          </a:ln>
        </p:spPr>
      </p:sp>
      <p:sp>
        <p:nvSpPr>
          <p:cNvPr id="75" name="Text 70"/>
          <p:cNvSpPr txBox="1"/>
          <p:nvPr/>
        </p:nvSpPr>
        <p:spPr>
          <a:xfrm>
            <a:off x="8613648" y="5596128"/>
            <a:ext cx="1353312" cy="731520"/>
          </a:xfrm>
          <a:prstGeom prst="rect">
            <a:avLst/>
          </a:prstGeom>
          <a:noFill/>
          <a:ln/>
        </p:spPr>
        <p:txBody>
          <a:bodyPr wrap="square" lIns="0" tIns="0" rIns="0" bIns="0" rtlCol="0" anchor="ctr"/>
          <a:lstStyle/>
          <a:p>
            <a:pPr indent="0" marL="0">
              <a:buNone/>
            </a:pPr>
            <a:r>
              <a:rPr lang="en-US" sz="850" b="1" dirty="0">
                <a:solidFill>
                  <a:srgbClr val="0F172A"/>
                </a:solidFill>
                <a:latin typeface="Roboto" pitchFamily="34" charset="0"/>
                <a:ea typeface="Roboto" pitchFamily="34" charset="-122"/>
                <a:cs typeface="Roboto" pitchFamily="34" charset="-120"/>
              </a:rPr>
              <a:t>29  Liveness</a:t>
            </a:r>
            <a:endParaRPr lang="en-US" sz="850" dirty="0"/>
          </a:p>
          <a:p>
            <a:pPr indent="0" marL="0">
              <a:buNone/>
            </a:pPr>
            <a:r>
              <a:rPr lang="en-US" sz="1300" b="1" dirty="0">
                <a:solidFill>
                  <a:srgbClr val="DC2626"/>
                </a:solidFill>
                <a:latin typeface="Roboto" pitchFamily="34" charset="0"/>
                <a:ea typeface="Roboto" pitchFamily="34" charset="-122"/>
                <a:cs typeface="Roboto" pitchFamily="34" charset="-120"/>
              </a:rPr>
              <a:t>ACER 22.2%</a:t>
            </a:r>
            <a:endParaRPr lang="en-US" sz="850" dirty="0"/>
          </a:p>
          <a:p>
            <a:pPr indent="0" marL="0">
              <a:buNone/>
            </a:pPr>
            <a:r>
              <a:rPr lang="en-US" sz="800" dirty="0">
                <a:solidFill>
                  <a:srgbClr val="64748B"/>
                </a:solidFill>
                <a:latin typeface="Roboto" pitchFamily="34" charset="0"/>
                <a:ea typeface="Roboto" pitchFamily="34" charset="-122"/>
                <a:cs typeface="Roboto" pitchFamily="34" charset="-120"/>
              </a:rPr>
              <a:t>target ≤ 10%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EVALUATION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Testing found — and fixed — 17 real defects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The eight that mattered most. Each was caught by an agent's evaluation or the latency benchmark, not by users.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35</a:t>
            </a:r>
            <a:endParaRPr lang="en-US" sz="900" dirty="0"/>
          </a:p>
        </p:txBody>
      </p:sp>
      <p:sp>
        <p:nvSpPr>
          <p:cNvPr id="8" name="Shape 4"/>
          <p:cNvSpPr/>
          <p:nvPr/>
        </p:nvSpPr>
        <p:spPr>
          <a:xfrm>
            <a:off x="548640" y="1783080"/>
            <a:ext cx="2651760" cy="1993392"/>
          </a:xfrm>
          <a:prstGeom prst="roundRect">
            <a:avLst>
              <a:gd name="adj" fmla="val 4587"/>
            </a:avLst>
          </a:prstGeom>
          <a:solidFill>
            <a:srgbClr val="F8FAFC"/>
          </a:solidFill>
          <a:ln w="12700">
            <a:solidFill>
              <a:srgbClr val="E2E8F0"/>
            </a:solidFill>
            <a:prstDash val="solid"/>
          </a:ln>
        </p:spPr>
      </p:sp>
      <p:sp>
        <p:nvSpPr>
          <p:cNvPr id="9" name="Shape 5"/>
          <p:cNvSpPr/>
          <p:nvPr/>
        </p:nvSpPr>
        <p:spPr>
          <a:xfrm>
            <a:off x="685800" y="1920240"/>
            <a:ext cx="1143000" cy="292608"/>
          </a:xfrm>
          <a:prstGeom prst="roundRect">
            <a:avLst>
              <a:gd name="adj" fmla="val 50000"/>
            </a:avLst>
          </a:prstGeom>
          <a:solidFill>
            <a:srgbClr val="FEE2E2"/>
          </a:solidFill>
          <a:ln w="12700">
            <a:solidFill>
              <a:srgbClr val="FEE2E2"/>
            </a:solidFill>
            <a:prstDash val="solid"/>
          </a:ln>
        </p:spPr>
      </p:sp>
      <p:sp>
        <p:nvSpPr>
          <p:cNvPr id="10" name="Text 6"/>
          <p:cNvSpPr txBox="1"/>
          <p:nvPr/>
        </p:nvSpPr>
        <p:spPr>
          <a:xfrm>
            <a:off x="685800" y="1920240"/>
            <a:ext cx="114300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PDF handling</a:t>
            </a:r>
            <a:endParaRPr lang="en-US" sz="950" dirty="0"/>
          </a:p>
        </p:txBody>
      </p:sp>
      <p:sp>
        <p:nvSpPr>
          <p:cNvPr id="11" name="Text 7"/>
          <p:cNvSpPr txBox="1"/>
          <p:nvPr/>
        </p:nvSpPr>
        <p:spPr>
          <a:xfrm>
            <a:off x="713232" y="231343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Two threads inside PDFium at once crashed the whole server — with no error logged.</a:t>
            </a:r>
            <a:endParaRPr lang="en-US" sz="1050" dirty="0"/>
          </a:p>
        </p:txBody>
      </p:sp>
      <p:sp>
        <p:nvSpPr>
          <p:cNvPr id="12" name="Text 8"/>
          <p:cNvSpPr txBox="1"/>
          <p:nvPr/>
        </p:nvSpPr>
        <p:spPr>
          <a:xfrm>
            <a:off x="713232" y="320040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One process-wide PDFium lock.</a:t>
            </a:r>
            <a:endParaRPr lang="en-US" sz="1050" dirty="0"/>
          </a:p>
        </p:txBody>
      </p:sp>
      <p:sp>
        <p:nvSpPr>
          <p:cNvPr id="13" name="Shape 9"/>
          <p:cNvSpPr/>
          <p:nvPr/>
        </p:nvSpPr>
        <p:spPr>
          <a:xfrm>
            <a:off x="3355848" y="1783080"/>
            <a:ext cx="2651760" cy="1993392"/>
          </a:xfrm>
          <a:prstGeom prst="roundRect">
            <a:avLst>
              <a:gd name="adj" fmla="val 4587"/>
            </a:avLst>
          </a:prstGeom>
          <a:solidFill>
            <a:srgbClr val="F8FAFC"/>
          </a:solidFill>
          <a:ln w="12700">
            <a:solidFill>
              <a:srgbClr val="E2E8F0"/>
            </a:solidFill>
            <a:prstDash val="solid"/>
          </a:ln>
        </p:spPr>
      </p:sp>
      <p:sp>
        <p:nvSpPr>
          <p:cNvPr id="14" name="Shape 10"/>
          <p:cNvSpPr/>
          <p:nvPr/>
        </p:nvSpPr>
        <p:spPr>
          <a:xfrm>
            <a:off x="3493008" y="1920240"/>
            <a:ext cx="1074420" cy="292608"/>
          </a:xfrm>
          <a:prstGeom prst="roundRect">
            <a:avLst>
              <a:gd name="adj" fmla="val 50000"/>
            </a:avLst>
          </a:prstGeom>
          <a:solidFill>
            <a:srgbClr val="FEE2E2"/>
          </a:solidFill>
          <a:ln w="12700">
            <a:solidFill>
              <a:srgbClr val="FEE2E2"/>
            </a:solidFill>
            <a:prstDash val="solid"/>
          </a:ln>
        </p:spPr>
      </p:sp>
      <p:sp>
        <p:nvSpPr>
          <p:cNvPr id="15" name="Text 11"/>
          <p:cNvSpPr txBox="1"/>
          <p:nvPr/>
        </p:nvSpPr>
        <p:spPr>
          <a:xfrm>
            <a:off x="3493008" y="1920240"/>
            <a:ext cx="107442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PII Masking</a:t>
            </a:r>
            <a:endParaRPr lang="en-US" sz="950" dirty="0"/>
          </a:p>
        </p:txBody>
      </p:sp>
      <p:sp>
        <p:nvSpPr>
          <p:cNvPr id="16" name="Text 12"/>
          <p:cNvSpPr txBox="1"/>
          <p:nvPr/>
        </p:nvSpPr>
        <p:spPr>
          <a:xfrm>
            <a:off x="3520440" y="231343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Sideways cards split the wrong way; one real PAN photo leaked in full.</a:t>
            </a:r>
            <a:endParaRPr lang="en-US" sz="1050" dirty="0"/>
          </a:p>
        </p:txBody>
      </p:sp>
      <p:sp>
        <p:nvSpPr>
          <p:cNvPr id="17" name="Text 13"/>
          <p:cNvSpPr txBox="1"/>
          <p:nvPr/>
        </p:nvSpPr>
        <p:spPr>
          <a:xfrm>
            <a:off x="3520440" y="320040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Upright rotation first: 0 leaks.</a:t>
            </a:r>
            <a:endParaRPr lang="en-US" sz="1050" dirty="0"/>
          </a:p>
        </p:txBody>
      </p:sp>
      <p:sp>
        <p:nvSpPr>
          <p:cNvPr id="18" name="Shape 14"/>
          <p:cNvSpPr/>
          <p:nvPr/>
        </p:nvSpPr>
        <p:spPr>
          <a:xfrm>
            <a:off x="6163056" y="1783080"/>
            <a:ext cx="2651760" cy="1993392"/>
          </a:xfrm>
          <a:prstGeom prst="roundRect">
            <a:avLst>
              <a:gd name="adj" fmla="val 4587"/>
            </a:avLst>
          </a:prstGeom>
          <a:solidFill>
            <a:srgbClr val="F8FAFC"/>
          </a:solidFill>
          <a:ln w="12700">
            <a:solidFill>
              <a:srgbClr val="E2E8F0"/>
            </a:solidFill>
            <a:prstDash val="solid"/>
          </a:ln>
        </p:spPr>
      </p:sp>
      <p:sp>
        <p:nvSpPr>
          <p:cNvPr id="19" name="Shape 15"/>
          <p:cNvSpPr/>
          <p:nvPr/>
        </p:nvSpPr>
        <p:spPr>
          <a:xfrm>
            <a:off x="6300216" y="1920240"/>
            <a:ext cx="1485900" cy="292608"/>
          </a:xfrm>
          <a:prstGeom prst="roundRect">
            <a:avLst>
              <a:gd name="adj" fmla="val 50000"/>
            </a:avLst>
          </a:prstGeom>
          <a:solidFill>
            <a:srgbClr val="FEE2E2"/>
          </a:solidFill>
          <a:ln w="12700">
            <a:solidFill>
              <a:srgbClr val="FEE2E2"/>
            </a:solidFill>
            <a:prstDash val="solid"/>
          </a:ln>
        </p:spPr>
      </p:sp>
      <p:sp>
        <p:nvSpPr>
          <p:cNvPr id="20" name="Text 16"/>
          <p:cNvSpPr txBox="1"/>
          <p:nvPr/>
        </p:nvSpPr>
        <p:spPr>
          <a:xfrm>
            <a:off x="6300216" y="1920240"/>
            <a:ext cx="148590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Document Identity</a:t>
            </a:r>
            <a:endParaRPr lang="en-US" sz="950" dirty="0"/>
          </a:p>
        </p:txBody>
      </p:sp>
      <p:sp>
        <p:nvSpPr>
          <p:cNvPr id="21" name="Text 17"/>
          <p:cNvSpPr txBox="1"/>
          <p:nvPr/>
        </p:nvSpPr>
        <p:spPr>
          <a:xfrm>
            <a:off x="6327648" y="231343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A payslip showing a PAN passed as a PAN — 54% of wrong uploads caught.</a:t>
            </a:r>
            <a:endParaRPr lang="en-US" sz="1050" dirty="0"/>
          </a:p>
        </p:txBody>
      </p:sp>
      <p:sp>
        <p:nvSpPr>
          <p:cNvPr id="22" name="Text 18"/>
          <p:cNvSpPr txBox="1"/>
          <p:nvPr/>
        </p:nvSpPr>
        <p:spPr>
          <a:xfrm>
            <a:off x="6327648" y="320040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Also reads the page's own words: 100%.</a:t>
            </a:r>
            <a:endParaRPr lang="en-US" sz="1050" dirty="0"/>
          </a:p>
        </p:txBody>
      </p:sp>
      <p:sp>
        <p:nvSpPr>
          <p:cNvPr id="23" name="Shape 19"/>
          <p:cNvSpPr/>
          <p:nvPr/>
        </p:nvSpPr>
        <p:spPr>
          <a:xfrm>
            <a:off x="8970264" y="1783080"/>
            <a:ext cx="2651760" cy="1993392"/>
          </a:xfrm>
          <a:prstGeom prst="roundRect">
            <a:avLst>
              <a:gd name="adj" fmla="val 4587"/>
            </a:avLst>
          </a:prstGeom>
          <a:solidFill>
            <a:srgbClr val="F8FAFC"/>
          </a:solidFill>
          <a:ln w="12700">
            <a:solidFill>
              <a:srgbClr val="E2E8F0"/>
            </a:solidFill>
            <a:prstDash val="solid"/>
          </a:ln>
        </p:spPr>
      </p:sp>
      <p:sp>
        <p:nvSpPr>
          <p:cNvPr id="24" name="Shape 20"/>
          <p:cNvSpPr/>
          <p:nvPr/>
        </p:nvSpPr>
        <p:spPr>
          <a:xfrm>
            <a:off x="9107424" y="1920240"/>
            <a:ext cx="1074420" cy="292608"/>
          </a:xfrm>
          <a:prstGeom prst="roundRect">
            <a:avLst>
              <a:gd name="adj" fmla="val 50000"/>
            </a:avLst>
          </a:prstGeom>
          <a:solidFill>
            <a:srgbClr val="FEE2E2"/>
          </a:solidFill>
          <a:ln w="12700">
            <a:solidFill>
              <a:srgbClr val="FEE2E2"/>
            </a:solidFill>
            <a:prstDash val="solid"/>
          </a:ln>
        </p:spPr>
      </p:sp>
      <p:sp>
        <p:nvSpPr>
          <p:cNvPr id="25" name="Text 21"/>
          <p:cNvSpPr txBox="1"/>
          <p:nvPr/>
        </p:nvSpPr>
        <p:spPr>
          <a:xfrm>
            <a:off x="9107424" y="1920240"/>
            <a:ext cx="107442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LLM gateway</a:t>
            </a:r>
            <a:endParaRPr lang="en-US" sz="950" dirty="0"/>
          </a:p>
        </p:txBody>
      </p:sp>
      <p:sp>
        <p:nvSpPr>
          <p:cNvPr id="26" name="Text 22"/>
          <p:cNvSpPr txBox="1"/>
          <p:nvPr/>
        </p:nvSpPr>
        <p:spPr>
          <a:xfrm>
            <a:off x="9134856" y="231343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'localhost' tried IPv6 first on Windows: +2 s on every model call.</a:t>
            </a:r>
            <a:endParaRPr lang="en-US" sz="1050" dirty="0"/>
          </a:p>
        </p:txBody>
      </p:sp>
      <p:sp>
        <p:nvSpPr>
          <p:cNvPr id="27" name="Text 23"/>
          <p:cNvSpPr txBox="1"/>
          <p:nvPr/>
        </p:nvSpPr>
        <p:spPr>
          <a:xfrm>
            <a:off x="9134856" y="320040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127.0.0.1 and one pooled connection.</a:t>
            </a:r>
            <a:endParaRPr lang="en-US" sz="1050" dirty="0"/>
          </a:p>
        </p:txBody>
      </p:sp>
      <p:sp>
        <p:nvSpPr>
          <p:cNvPr id="28" name="Shape 24"/>
          <p:cNvSpPr/>
          <p:nvPr/>
        </p:nvSpPr>
        <p:spPr>
          <a:xfrm>
            <a:off x="548640" y="3931920"/>
            <a:ext cx="2651760" cy="1993392"/>
          </a:xfrm>
          <a:prstGeom prst="roundRect">
            <a:avLst>
              <a:gd name="adj" fmla="val 4587"/>
            </a:avLst>
          </a:prstGeom>
          <a:solidFill>
            <a:srgbClr val="F8FAFC"/>
          </a:solidFill>
          <a:ln w="12700">
            <a:solidFill>
              <a:srgbClr val="E2E8F0"/>
            </a:solidFill>
            <a:prstDash val="solid"/>
          </a:ln>
        </p:spPr>
      </p:sp>
      <p:sp>
        <p:nvSpPr>
          <p:cNvPr id="29" name="Shape 25"/>
          <p:cNvSpPr/>
          <p:nvPr/>
        </p:nvSpPr>
        <p:spPr>
          <a:xfrm>
            <a:off x="685800" y="4069080"/>
            <a:ext cx="1143000" cy="292608"/>
          </a:xfrm>
          <a:prstGeom prst="roundRect">
            <a:avLst>
              <a:gd name="adj" fmla="val 50000"/>
            </a:avLst>
          </a:prstGeom>
          <a:solidFill>
            <a:srgbClr val="FEE2E2"/>
          </a:solidFill>
          <a:ln w="12700">
            <a:solidFill>
              <a:srgbClr val="FEE2E2"/>
            </a:solidFill>
            <a:prstDash val="solid"/>
          </a:ln>
        </p:spPr>
      </p:sp>
      <p:sp>
        <p:nvSpPr>
          <p:cNvPr id="30" name="Text 26"/>
          <p:cNvSpPr txBox="1"/>
          <p:nvPr/>
        </p:nvSpPr>
        <p:spPr>
          <a:xfrm>
            <a:off x="685800" y="4069080"/>
            <a:ext cx="114300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Risk Scoring</a:t>
            </a:r>
            <a:endParaRPr lang="en-US" sz="950" dirty="0"/>
          </a:p>
        </p:txBody>
      </p:sp>
      <p:sp>
        <p:nvSpPr>
          <p:cNvPr id="31" name="Text 27"/>
          <p:cNvSpPr txBox="1"/>
          <p:nvPr/>
        </p:nvSpPr>
        <p:spPr>
          <a:xfrm>
            <a:off x="713232" y="446227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ML features built unlike training: held-out AUC 0.669.</a:t>
            </a:r>
            <a:endParaRPr lang="en-US" sz="1050" dirty="0"/>
          </a:p>
        </p:txBody>
      </p:sp>
      <p:sp>
        <p:nvSpPr>
          <p:cNvPr id="32" name="Text 28"/>
          <p:cNvSpPr txBox="1"/>
          <p:nvPr/>
        </p:nvSpPr>
        <p:spPr>
          <a:xfrm>
            <a:off x="713232" y="534924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Training feature builder reused: 0.771.</a:t>
            </a:r>
            <a:endParaRPr lang="en-US" sz="1050" dirty="0"/>
          </a:p>
        </p:txBody>
      </p:sp>
      <p:sp>
        <p:nvSpPr>
          <p:cNvPr id="33" name="Shape 29"/>
          <p:cNvSpPr/>
          <p:nvPr/>
        </p:nvSpPr>
        <p:spPr>
          <a:xfrm>
            <a:off x="3355848" y="3931920"/>
            <a:ext cx="2651760" cy="1993392"/>
          </a:xfrm>
          <a:prstGeom prst="roundRect">
            <a:avLst>
              <a:gd name="adj" fmla="val 4587"/>
            </a:avLst>
          </a:prstGeom>
          <a:solidFill>
            <a:srgbClr val="F8FAFC"/>
          </a:solidFill>
          <a:ln w="12700">
            <a:solidFill>
              <a:srgbClr val="E2E8F0"/>
            </a:solidFill>
            <a:prstDash val="solid"/>
          </a:ln>
        </p:spPr>
      </p:sp>
      <p:sp>
        <p:nvSpPr>
          <p:cNvPr id="34" name="Shape 30"/>
          <p:cNvSpPr/>
          <p:nvPr/>
        </p:nvSpPr>
        <p:spPr>
          <a:xfrm>
            <a:off x="3493008" y="4069080"/>
            <a:ext cx="1143000" cy="292608"/>
          </a:xfrm>
          <a:prstGeom prst="roundRect">
            <a:avLst>
              <a:gd name="adj" fmla="val 50000"/>
            </a:avLst>
          </a:prstGeom>
          <a:solidFill>
            <a:srgbClr val="FEE2E2"/>
          </a:solidFill>
          <a:ln w="12700">
            <a:solidFill>
              <a:srgbClr val="FEE2E2"/>
            </a:solidFill>
            <a:prstDash val="solid"/>
          </a:ln>
        </p:spPr>
      </p:sp>
      <p:sp>
        <p:nvSpPr>
          <p:cNvPr id="35" name="Text 31"/>
          <p:cNvSpPr txBox="1"/>
          <p:nvPr/>
        </p:nvSpPr>
        <p:spPr>
          <a:xfrm>
            <a:off x="3493008" y="4069080"/>
            <a:ext cx="114300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Policy Check</a:t>
            </a:r>
            <a:endParaRPr lang="en-US" sz="950" dirty="0"/>
          </a:p>
        </p:txBody>
      </p:sp>
      <p:sp>
        <p:nvSpPr>
          <p:cNvPr id="36" name="Text 32"/>
          <p:cNvSpPr txBox="1"/>
          <p:nvPr/>
        </p:nvSpPr>
        <p:spPr>
          <a:xfrm>
            <a:off x="3520440" y="446227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Face rule used another model's 0.62 scale: every genuine match failed.</a:t>
            </a:r>
            <a:endParaRPr lang="en-US" sz="1050" dirty="0"/>
          </a:p>
        </p:txBody>
      </p:sp>
      <p:sp>
        <p:nvSpPr>
          <p:cNvPr id="37" name="Text 33"/>
          <p:cNvSpPr txBox="1"/>
          <p:nvPr/>
        </p:nvSpPr>
        <p:spPr>
          <a:xfrm>
            <a:off x="3520440" y="534924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SFace threshold 0.363.</a:t>
            </a:r>
            <a:endParaRPr lang="en-US" sz="1050" dirty="0"/>
          </a:p>
        </p:txBody>
      </p:sp>
      <p:sp>
        <p:nvSpPr>
          <p:cNvPr id="38" name="Shape 34"/>
          <p:cNvSpPr/>
          <p:nvPr/>
        </p:nvSpPr>
        <p:spPr>
          <a:xfrm>
            <a:off x="6163056" y="3931920"/>
            <a:ext cx="2651760" cy="1993392"/>
          </a:xfrm>
          <a:prstGeom prst="roundRect">
            <a:avLst>
              <a:gd name="adj" fmla="val 4587"/>
            </a:avLst>
          </a:prstGeom>
          <a:solidFill>
            <a:srgbClr val="F8FAFC"/>
          </a:solidFill>
          <a:ln w="12700">
            <a:solidFill>
              <a:srgbClr val="E2E8F0"/>
            </a:solidFill>
            <a:prstDash val="solid"/>
          </a:ln>
        </p:spPr>
      </p:sp>
      <p:sp>
        <p:nvSpPr>
          <p:cNvPr id="39" name="Shape 35"/>
          <p:cNvSpPr/>
          <p:nvPr/>
        </p:nvSpPr>
        <p:spPr>
          <a:xfrm>
            <a:off x="6300216" y="4069080"/>
            <a:ext cx="1691640" cy="292608"/>
          </a:xfrm>
          <a:prstGeom prst="roundRect">
            <a:avLst>
              <a:gd name="adj" fmla="val 50000"/>
            </a:avLst>
          </a:prstGeom>
          <a:solidFill>
            <a:srgbClr val="FEE2E2"/>
          </a:solidFill>
          <a:ln w="12700">
            <a:solidFill>
              <a:srgbClr val="FEE2E2"/>
            </a:solidFill>
            <a:prstDash val="solid"/>
          </a:ln>
        </p:spPr>
      </p:sp>
      <p:sp>
        <p:nvSpPr>
          <p:cNvPr id="40" name="Text 36"/>
          <p:cNvSpPr txBox="1"/>
          <p:nvPr/>
        </p:nvSpPr>
        <p:spPr>
          <a:xfrm>
            <a:off x="6300216" y="4069080"/>
            <a:ext cx="169164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Structured LLM calls</a:t>
            </a:r>
            <a:endParaRPr lang="en-US" sz="950" dirty="0"/>
          </a:p>
        </p:txBody>
      </p:sp>
      <p:sp>
        <p:nvSpPr>
          <p:cNvPr id="41" name="Text 37"/>
          <p:cNvSpPr txBox="1"/>
          <p:nvPr/>
        </p:nvSpPr>
        <p:spPr>
          <a:xfrm>
            <a:off x="6327648" y="446227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The model echoed the schema: 92% of written Q&amp;A answers discarded.</a:t>
            </a:r>
            <a:endParaRPr lang="en-US" sz="1050" dirty="0"/>
          </a:p>
        </p:txBody>
      </p:sp>
      <p:sp>
        <p:nvSpPr>
          <p:cNvPr id="42" name="Text 38"/>
          <p:cNvSpPr txBox="1"/>
          <p:nvPr/>
        </p:nvSpPr>
        <p:spPr>
          <a:xfrm>
            <a:off x="6327648" y="534924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Schema-enforced JSON output.</a:t>
            </a:r>
            <a:endParaRPr lang="en-US" sz="1050" dirty="0"/>
          </a:p>
        </p:txBody>
      </p:sp>
      <p:sp>
        <p:nvSpPr>
          <p:cNvPr id="43" name="Shape 39"/>
          <p:cNvSpPr/>
          <p:nvPr/>
        </p:nvSpPr>
        <p:spPr>
          <a:xfrm>
            <a:off x="8970264" y="3931920"/>
            <a:ext cx="2651760" cy="1993392"/>
          </a:xfrm>
          <a:prstGeom prst="roundRect">
            <a:avLst>
              <a:gd name="adj" fmla="val 4587"/>
            </a:avLst>
          </a:prstGeom>
          <a:solidFill>
            <a:srgbClr val="F8FAFC"/>
          </a:solidFill>
          <a:ln w="12700">
            <a:solidFill>
              <a:srgbClr val="E2E8F0"/>
            </a:solidFill>
            <a:prstDash val="solid"/>
          </a:ln>
        </p:spPr>
      </p:sp>
      <p:sp>
        <p:nvSpPr>
          <p:cNvPr id="44" name="Shape 40"/>
          <p:cNvSpPr/>
          <p:nvPr/>
        </p:nvSpPr>
        <p:spPr>
          <a:xfrm>
            <a:off x="9107424" y="4069080"/>
            <a:ext cx="1828800" cy="292608"/>
          </a:xfrm>
          <a:prstGeom prst="roundRect">
            <a:avLst>
              <a:gd name="adj" fmla="val 50000"/>
            </a:avLst>
          </a:prstGeom>
          <a:solidFill>
            <a:srgbClr val="FEE2E2"/>
          </a:solidFill>
          <a:ln w="12700">
            <a:solidFill>
              <a:srgbClr val="FEE2E2"/>
            </a:solidFill>
            <a:prstDash val="solid"/>
          </a:ln>
        </p:spPr>
      </p:sp>
      <p:sp>
        <p:nvSpPr>
          <p:cNvPr id="45" name="Text 41"/>
          <p:cNvSpPr txBox="1"/>
          <p:nvPr/>
        </p:nvSpPr>
        <p:spPr>
          <a:xfrm>
            <a:off x="9107424" y="4069080"/>
            <a:ext cx="1828800" cy="292608"/>
          </a:xfrm>
          <a:prstGeom prst="rect">
            <a:avLst/>
          </a:prstGeom>
          <a:noFill/>
          <a:ln/>
        </p:spPr>
        <p:txBody>
          <a:bodyPr wrap="square" lIns="0" tIns="0" rIns="0" bIns="0" rtlCol="0" anchor="ctr"/>
          <a:lstStyle/>
          <a:p>
            <a:pPr algn="ctr" indent="0" marL="0">
              <a:buNone/>
            </a:pPr>
            <a:r>
              <a:rPr lang="en-US" sz="950" b="1" dirty="0">
                <a:solidFill>
                  <a:srgbClr val="991B1B"/>
                </a:solidFill>
                <a:latin typeface="Roboto" pitchFamily="34" charset="0"/>
                <a:ea typeface="Roboto" pitchFamily="34" charset="-122"/>
                <a:cs typeface="Roboto" pitchFamily="34" charset="-120"/>
              </a:rPr>
              <a:t>Cross-Doc Verification</a:t>
            </a:r>
            <a:endParaRPr lang="en-US" sz="950" dirty="0"/>
          </a:p>
        </p:txBody>
      </p:sp>
      <p:sp>
        <p:nvSpPr>
          <p:cNvPr id="46" name="Text 42"/>
          <p:cNvSpPr txBox="1"/>
          <p:nvPr/>
        </p:nvSpPr>
        <p:spPr>
          <a:xfrm>
            <a:off x="9134856" y="4462272"/>
            <a:ext cx="2359152" cy="868680"/>
          </a:xfrm>
          <a:prstGeom prst="rect">
            <a:avLst/>
          </a:prstGeom>
          <a:noFill/>
          <a:ln/>
        </p:spPr>
        <p:txBody>
          <a:bodyPr wrap="square" lIns="0" tIns="0" rIns="0" bIns="0" rtlCol="0" anchor="t"/>
          <a:lstStyle/>
          <a:p>
            <a:pPr indent="0" marL="0">
              <a:buNone/>
            </a:pPr>
            <a:r>
              <a:rPr lang="en-US" sz="1050" dirty="0">
                <a:solidFill>
                  <a:srgbClr val="334155"/>
                </a:solidFill>
                <a:latin typeface="Roboto" pitchFamily="34" charset="0"/>
                <a:ea typeface="Roboto" pitchFamily="34" charset="-122"/>
                <a:cs typeface="Roboto" pitchFamily="34" charset="-120"/>
              </a:rPr>
              <a:t>A shared surname alone counted as a name match — family members looked like one person.</a:t>
            </a:r>
            <a:endParaRPr lang="en-US" sz="1050" dirty="0"/>
          </a:p>
        </p:txBody>
      </p:sp>
      <p:sp>
        <p:nvSpPr>
          <p:cNvPr id="47" name="Text 43"/>
          <p:cNvSpPr txBox="1"/>
          <p:nvPr/>
        </p:nvSpPr>
        <p:spPr>
          <a:xfrm>
            <a:off x="9134856" y="5349240"/>
            <a:ext cx="2359152" cy="502920"/>
          </a:xfrm>
          <a:prstGeom prst="rect">
            <a:avLst/>
          </a:prstGeom>
          <a:noFill/>
          <a:ln/>
        </p:spPr>
        <p:txBody>
          <a:bodyPr wrap="square" lIns="0" tIns="0" rIns="0" bIns="0" rtlCol="0" anchor="t"/>
          <a:lstStyle/>
          <a:p>
            <a:pPr indent="0" marL="0">
              <a:buNone/>
            </a:pPr>
            <a:r>
              <a:rPr lang="en-US" sz="1050" b="1" dirty="0">
                <a:solidFill>
                  <a:srgbClr val="16A34A"/>
                </a:solidFill>
                <a:latin typeface="Roboto" pitchFamily="34" charset="0"/>
                <a:ea typeface="Roboto" pitchFamily="34" charset="-122"/>
                <a:cs typeface="Roboto" pitchFamily="34" charset="-120"/>
              </a:rPr>
              <a:t>Fix  </a:t>
            </a:r>
            <a:pPr indent="0" marL="0">
              <a:buNone/>
            </a:pPr>
            <a:r>
              <a:rPr lang="en-US" sz="1050" dirty="0">
                <a:solidFill>
                  <a:srgbClr val="0F172A"/>
                </a:solidFill>
                <a:latin typeface="Roboto" pitchFamily="34" charset="0"/>
                <a:ea typeface="Roboto" pitchFamily="34" charset="-122"/>
                <a:cs typeface="Roboto" pitchFamily="34" charset="-120"/>
              </a:rPr>
              <a:t>Fixed in the browser and Python logic.</a:t>
            </a:r>
            <a:endParaRPr lang="en-US" sz="1050" dirty="0"/>
          </a:p>
        </p:txBody>
      </p:sp>
      <p:sp>
        <p:nvSpPr>
          <p:cNvPr id="48" name="Text 44"/>
          <p:cNvSpPr txBox="1"/>
          <p:nvPr/>
        </p:nvSpPr>
        <p:spPr>
          <a:xfrm>
            <a:off x="548640" y="6089904"/>
            <a:ext cx="11094415" cy="347472"/>
          </a:xfrm>
          <a:prstGeom prst="rect">
            <a:avLst/>
          </a:prstGeom>
          <a:noFill/>
          <a:ln/>
        </p:spPr>
        <p:txBody>
          <a:bodyPr wrap="square" lIns="0" tIns="0" rIns="0" bIns="0" rtlCol="0" anchor="ctr"/>
          <a:lstStyle/>
          <a:p>
            <a:pPr indent="0" marL="0">
              <a:buNone/>
            </a:pPr>
            <a:r>
              <a:rPr lang="en-US" sz="950" i="1" dirty="0">
                <a:solidFill>
                  <a:srgbClr val="64748B"/>
                </a:solidFill>
                <a:latin typeface="Roboto" pitchFamily="34" charset="0"/>
                <a:ea typeface="Roboto" pitchFamily="34" charset="-122"/>
                <a:cs typeface="Roboto" pitchFamily="34" charset="-120"/>
              </a:rPr>
              <a:t>+ 9 more: card rules applied to full pages · images overflowing the model context · regulation titles ignored by grounding · unreadable photo rows treated as real · SQL inserts refused on tables with triggers · a parser error result · review statuses in the router · a stale Agent Activity tab · PDFs rasterised needlessly</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EVALUATION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Faster than before the agents</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The two uploads that use the local model got 9–11% faster; everything else added at most 56 ms.</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36</a:t>
            </a:r>
            <a:endParaRPr lang="en-US" sz="900" dirty="0"/>
          </a:p>
        </p:txBody>
      </p:sp>
      <p:graphicFrame>
        <p:nvGraphicFramePr>
          <p:cNvPr id="8" name="Chart 0" descr=""/>
          <p:cNvGraphicFramePr/>
          <p:nvPr/>
        </p:nvGraphicFramePr>
        <p:xfrm>
          <a:off x="548640" y="1737360"/>
          <a:ext cx="5577840" cy="3108960"/>
        </p:xfrm>
        <a:graphic xmlns:a="http://schemas.openxmlformats.org/drawingml/2006/main">
          <a:graphicData uri="http://schemas.openxmlformats.org/drawingml/2006/chart">
            <c:chart xmlns:c="http://schemas.openxmlformats.org/drawingml/2006/chart" r:id="rId2"/>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46520" y="1783080"/>
          <a:ext cx="5193792" cy="914400"/>
        </p:xfrm>
        <a:graphic>
          <a:graphicData uri="http://schemas.openxmlformats.org/drawingml/2006/table">
            <a:tbl>
              <a:tblPr/>
              <a:tblGrid>
                <a:gridCol w="2404872"/>
                <a:gridCol w="868680"/>
                <a:gridCol w="868680"/>
                <a:gridCol w="1051560"/>
              </a:tblGrid>
              <a:tr h="384048">
                <a:tc>
                  <a:txBody>
                    <a:bodyPr/>
                    <a:lstStyle/>
                    <a:p>
                      <a:pPr algn="l" indent="0" marL="0">
                        <a:buNone/>
                      </a:pPr>
                      <a:r>
                        <a:rPr lang="en-US" sz="1050" b="1" dirty="0">
                          <a:solidFill>
                            <a:srgbClr val="FFFFFF"/>
                          </a:solidFill>
                          <a:latin typeface="Roboto" pitchFamily="34" charset="0"/>
                          <a:ea typeface="Roboto" pitchFamily="34" charset="-122"/>
                          <a:cs typeface="Roboto" pitchFamily="34" charset="-120"/>
                        </a:rPr>
                        <a:t>Endpoint (model mocked)</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r" indent="0" marL="0">
                        <a:buNone/>
                      </a:pPr>
                      <a:r>
                        <a:rPr lang="en-US" sz="1050" b="1" dirty="0">
                          <a:solidFill>
                            <a:srgbClr val="FFFFFF"/>
                          </a:solidFill>
                          <a:latin typeface="Roboto" pitchFamily="34" charset="0"/>
                          <a:ea typeface="Roboto" pitchFamily="34" charset="-122"/>
                          <a:cs typeface="Roboto" pitchFamily="34" charset="-120"/>
                        </a:rPr>
                        <a:t>Before</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r" indent="0" marL="0">
                        <a:buNone/>
                      </a:pPr>
                      <a:r>
                        <a:rPr lang="en-US" sz="1050" b="1" dirty="0">
                          <a:solidFill>
                            <a:srgbClr val="FFFFFF"/>
                          </a:solidFill>
                          <a:latin typeface="Roboto" pitchFamily="34" charset="0"/>
                          <a:ea typeface="Roboto" pitchFamily="34" charset="-122"/>
                          <a:cs typeface="Roboto" pitchFamily="34" charset="-120"/>
                        </a:rPr>
                        <a:t>After</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r" indent="0" marL="0">
                        <a:buNone/>
                      </a:pPr>
                      <a:r>
                        <a:rPr lang="en-US" sz="1050" b="1" dirty="0">
                          <a:solidFill>
                            <a:srgbClr val="FFFFFF"/>
                          </a:solidFill>
                          <a:latin typeface="Roboto" pitchFamily="34" charset="0"/>
                          <a:ea typeface="Roboto" pitchFamily="34" charset="-122"/>
                          <a:cs typeface="Roboto" pitchFamily="34" charset="-120"/>
                        </a:rPr>
                        <a:t>Change</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/extract · PAN photo</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4.33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4.13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A34A"/>
                          </a:solidFill>
                          <a:latin typeface="Roboto" pitchFamily="34" charset="0"/>
                          <a:ea typeface="Roboto" pitchFamily="34" charset="-122"/>
                          <a:cs typeface="Roboto" pitchFamily="34" charset="-120"/>
                        </a:rPr>
                        <a:t>−202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/extract · statement PDF</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11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33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b="1" dirty="0">
                          <a:solidFill>
                            <a:srgbClr val="334155"/>
                          </a:solidFill>
                          <a:latin typeface="Roboto" pitchFamily="34" charset="0"/>
                          <a:ea typeface="Roboto" pitchFamily="34" charset="-122"/>
                          <a:cs typeface="Roboto" pitchFamily="34" charset="-120"/>
                        </a:rPr>
                        <a:t>+22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/document/integrity · PDF</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62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70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334155"/>
                          </a:solidFill>
                          <a:latin typeface="Roboto" pitchFamily="34" charset="0"/>
                          <a:ea typeface="Roboto" pitchFamily="34" charset="-122"/>
                          <a:cs typeface="Roboto" pitchFamily="34" charset="-120"/>
                        </a:rPr>
                        <a:t>+8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/document/integrity · photo</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1.14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1.19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b="1" dirty="0">
                          <a:solidFill>
                            <a:srgbClr val="334155"/>
                          </a:solidFill>
                          <a:latin typeface="Roboto" pitchFamily="34" charset="0"/>
                          <a:ea typeface="Roboto" pitchFamily="34" charset="-122"/>
                          <a:cs typeface="Roboto" pitchFamily="34" charset="-120"/>
                        </a:rPr>
                        <a:t>+56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/document/mask · PAN</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1.29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0.85 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6A34A"/>
                          </a:solidFill>
                          <a:latin typeface="Roboto" pitchFamily="34" charset="0"/>
                          <a:ea typeface="Roboto" pitchFamily="34" charset="-122"/>
                          <a:cs typeface="Roboto" pitchFamily="34" charset="-120"/>
                        </a:rPr>
                        <a:t>−441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0F172A"/>
                          </a:solidFill>
                          <a:latin typeface="Consolas" pitchFamily="34" charset="0"/>
                          <a:ea typeface="Consolas" pitchFamily="34" charset="-122"/>
                          <a:cs typeface="Consolas" pitchFamily="34" charset="-120"/>
                        </a:rPr>
                        <a:t>/face/verify · two cards</a:t>
                      </a:r>
                      <a:endParaRPr lang="en-US" sz="1050" dirty="0">
                        <a:latin typeface="Consolas" charset="0"/>
                        <a:ea typeface="Consolas" charset="0"/>
                        <a:cs typeface="Consolas"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631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dirty="0">
                          <a:solidFill>
                            <a:srgbClr val="0F172A"/>
                          </a:solidFill>
                          <a:latin typeface="Roboto" pitchFamily="34" charset="0"/>
                          <a:ea typeface="Roboto" pitchFamily="34" charset="-122"/>
                          <a:cs typeface="Roboto" pitchFamily="34" charset="-120"/>
                        </a:rPr>
                        <a:t>641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r" indent="0" marL="0">
                        <a:buNone/>
                      </a:pPr>
                      <a:r>
                        <a:rPr lang="en-US" sz="1050" b="1" dirty="0">
                          <a:solidFill>
                            <a:srgbClr val="334155"/>
                          </a:solidFill>
                          <a:latin typeface="Roboto" pitchFamily="34" charset="0"/>
                          <a:ea typeface="Roboto" pitchFamily="34" charset="-122"/>
                          <a:cs typeface="Roboto" pitchFamily="34" charset="-120"/>
                        </a:rPr>
                        <a:t>+10 ms</a:t>
                      </a:r>
                      <a:endParaRPr lang="en-US" sz="1050" dirty="0">
                        <a:latin typeface="Roboto" charset="0"/>
                        <a:ea typeface="Roboto" charset="0"/>
                        <a:cs typeface="Roboto" charset="0"/>
                      </a:endParaRPr>
                    </a:p>
                  </a:txBody>
                  <a:tcPr marL="91440" marR="91440"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10" name="Shape 4"/>
          <p:cNvSpPr/>
          <p:nvPr/>
        </p:nvSpPr>
        <p:spPr>
          <a:xfrm>
            <a:off x="548640" y="5074920"/>
            <a:ext cx="3566160" cy="1188720"/>
          </a:xfrm>
          <a:prstGeom prst="roundRect">
            <a:avLst>
              <a:gd name="adj" fmla="val 7692"/>
            </a:avLst>
          </a:prstGeom>
          <a:solidFill>
            <a:srgbClr val="F8FAFC"/>
          </a:solidFill>
          <a:ln w="12700">
            <a:solidFill>
              <a:srgbClr val="E2E8F0"/>
            </a:solidFill>
            <a:prstDash val="solid"/>
          </a:ln>
        </p:spPr>
      </p:sp>
      <p:sp>
        <p:nvSpPr>
          <p:cNvPr id="11" name="Text 5"/>
          <p:cNvSpPr txBox="1"/>
          <p:nvPr/>
        </p:nvSpPr>
        <p:spPr>
          <a:xfrm>
            <a:off x="731520" y="5120640"/>
            <a:ext cx="3246120" cy="1097280"/>
          </a:xfrm>
          <a:prstGeom prst="rect">
            <a:avLst/>
          </a:prstGeom>
          <a:noFill/>
          <a:ln/>
        </p:spPr>
        <p:txBody>
          <a:bodyPr wrap="square" lIns="0" tIns="0" rIns="0" bIns="0" rtlCol="0" anchor="ctr"/>
          <a:lstStyle/>
          <a:p>
            <a:pPr indent="0" marL="0">
              <a:spcAft>
                <a:spcPts val="300"/>
              </a:spcAft>
              <a:buNone/>
            </a:pPr>
            <a:r>
              <a:rPr lang="en-US" sz="1250" b="1" dirty="0">
                <a:solidFill>
                  <a:srgbClr val="0F172A"/>
                </a:solidFill>
                <a:latin typeface="Roboto" pitchFamily="34" charset="0"/>
                <a:ea typeface="Roboto" pitchFamily="34" charset="-122"/>
                <a:cs typeface="Roboto" pitchFamily="34" charset="-120"/>
              </a:rPr>
              <a:t>2 s per model call</a:t>
            </a:r>
            <a:endParaRPr lang="en-US" sz="1250" dirty="0"/>
          </a:p>
          <a:p>
            <a:pPr indent="0" marL="0">
              <a:spcAft>
                <a:spcPts val="300"/>
              </a:spcAft>
              <a:buNone/>
            </a:pPr>
            <a:r>
              <a:rPr lang="en-US" sz="1050" dirty="0">
                <a:solidFill>
                  <a:srgbClr val="64748B"/>
                </a:solidFill>
                <a:latin typeface="Roboto" pitchFamily="34" charset="0"/>
                <a:ea typeface="Roboto" pitchFamily="34" charset="-122"/>
                <a:cs typeface="Roboto" pitchFamily="34" charset="-120"/>
              </a:rPr>
              <a:t>Windows tried IPv6 for 'localhost' first — now 127.0.0.1, pooled.</a:t>
            </a:r>
            <a:endParaRPr lang="en-US" sz="1250" dirty="0"/>
          </a:p>
        </p:txBody>
      </p:sp>
      <p:sp>
        <p:nvSpPr>
          <p:cNvPr id="12" name="Shape 6"/>
          <p:cNvSpPr/>
          <p:nvPr/>
        </p:nvSpPr>
        <p:spPr>
          <a:xfrm>
            <a:off x="4297680" y="5074920"/>
            <a:ext cx="3566160" cy="1188720"/>
          </a:xfrm>
          <a:prstGeom prst="roundRect">
            <a:avLst>
              <a:gd name="adj" fmla="val 7692"/>
            </a:avLst>
          </a:prstGeom>
          <a:solidFill>
            <a:srgbClr val="F8FAFC"/>
          </a:solidFill>
          <a:ln w="12700">
            <a:solidFill>
              <a:srgbClr val="E2E8F0"/>
            </a:solidFill>
            <a:prstDash val="solid"/>
          </a:ln>
        </p:spPr>
      </p:sp>
      <p:sp>
        <p:nvSpPr>
          <p:cNvPr id="13" name="Text 7"/>
          <p:cNvSpPr txBox="1"/>
          <p:nvPr/>
        </p:nvSpPr>
        <p:spPr>
          <a:xfrm>
            <a:off x="4480560" y="5120640"/>
            <a:ext cx="3246120" cy="1097280"/>
          </a:xfrm>
          <a:prstGeom prst="rect">
            <a:avLst/>
          </a:prstGeom>
          <a:noFill/>
          <a:ln/>
        </p:spPr>
        <p:txBody>
          <a:bodyPr wrap="square" lIns="0" tIns="0" rIns="0" bIns="0" rtlCol="0" anchor="ctr"/>
          <a:lstStyle/>
          <a:p>
            <a:pPr indent="0" marL="0">
              <a:spcAft>
                <a:spcPts val="300"/>
              </a:spcAft>
              <a:buNone/>
            </a:pPr>
            <a:r>
              <a:rPr lang="en-US" sz="1250" b="1" dirty="0">
                <a:solidFill>
                  <a:srgbClr val="0F172A"/>
                </a:solidFill>
                <a:latin typeface="Roboto" pitchFamily="34" charset="0"/>
                <a:ea typeface="Roboto" pitchFamily="34" charset="-122"/>
                <a:cs typeface="Roboto" pitchFamily="34" charset="-120"/>
              </a:rPr>
              <a:t>Photos 19% slower</a:t>
            </a:r>
            <a:endParaRPr lang="en-US" sz="1250" dirty="0"/>
          </a:p>
          <a:p>
            <a:pPr indent="0" marL="0">
              <a:spcAft>
                <a:spcPts val="300"/>
              </a:spcAft>
              <a:buNone/>
            </a:pPr>
            <a:r>
              <a:rPr lang="en-US" sz="1050" dirty="0">
                <a:solidFill>
                  <a:srgbClr val="64748B"/>
                </a:solidFill>
                <a:latin typeface="Roboto" pitchFamily="34" charset="0"/>
                <a:ea typeface="Roboto" pitchFamily="34" charset="-122"/>
                <a:cs typeface="Roboto" pitchFamily="34" charset="-120"/>
              </a:rPr>
              <a:t>A second OCR pass on ID cards — now reuses preprocessing's words.</a:t>
            </a:r>
            <a:endParaRPr lang="en-US" sz="1250" dirty="0"/>
          </a:p>
        </p:txBody>
      </p:sp>
      <p:sp>
        <p:nvSpPr>
          <p:cNvPr id="14" name="Shape 8"/>
          <p:cNvSpPr/>
          <p:nvPr/>
        </p:nvSpPr>
        <p:spPr>
          <a:xfrm>
            <a:off x="8046720" y="5074920"/>
            <a:ext cx="3566160" cy="1188720"/>
          </a:xfrm>
          <a:prstGeom prst="roundRect">
            <a:avLst>
              <a:gd name="adj" fmla="val 7692"/>
            </a:avLst>
          </a:prstGeom>
          <a:solidFill>
            <a:srgbClr val="F8FAFC"/>
          </a:solidFill>
          <a:ln w="12700">
            <a:solidFill>
              <a:srgbClr val="E2E8F0"/>
            </a:solidFill>
            <a:prstDash val="solid"/>
          </a:ln>
        </p:spPr>
      </p:sp>
      <p:sp>
        <p:nvSpPr>
          <p:cNvPr id="15" name="Text 9"/>
          <p:cNvSpPr txBox="1"/>
          <p:nvPr/>
        </p:nvSpPr>
        <p:spPr>
          <a:xfrm>
            <a:off x="8229600" y="5120640"/>
            <a:ext cx="3246120" cy="1097280"/>
          </a:xfrm>
          <a:prstGeom prst="rect">
            <a:avLst/>
          </a:prstGeom>
          <a:noFill/>
          <a:ln/>
        </p:spPr>
        <p:txBody>
          <a:bodyPr wrap="square" lIns="0" tIns="0" rIns="0" bIns="0" rtlCol="0" anchor="ctr"/>
          <a:lstStyle/>
          <a:p>
            <a:pPr indent="0" marL="0">
              <a:spcAft>
                <a:spcPts val="300"/>
              </a:spcAft>
              <a:buNone/>
            </a:pPr>
            <a:r>
              <a:rPr lang="en-US" sz="1250" b="1" dirty="0">
                <a:solidFill>
                  <a:srgbClr val="0F172A"/>
                </a:solidFill>
                <a:latin typeface="Roboto" pitchFamily="34" charset="0"/>
                <a:ea typeface="Roboto" pitchFamily="34" charset="-122"/>
                <a:cs typeface="Roboto" pitchFamily="34" charset="-120"/>
              </a:rPr>
              <a:t>Statement photos ~23 s</a:t>
            </a:r>
            <a:endParaRPr lang="en-US" sz="1250" dirty="0"/>
          </a:p>
          <a:p>
            <a:pPr indent="0" marL="0">
              <a:spcAft>
                <a:spcPts val="300"/>
              </a:spcAft>
              <a:buNone/>
            </a:pPr>
            <a:r>
              <a:rPr lang="en-US" sz="1050" dirty="0">
                <a:solidFill>
                  <a:srgbClr val="64748B"/>
                </a:solidFill>
                <a:latin typeface="Roboto" pitchFamily="34" charset="0"/>
                <a:ea typeface="Roboto" pitchFamily="34" charset="-122"/>
                <a:cs typeface="Roboto" pitchFamily="34" charset="-120"/>
              </a:rPr>
              <a:t>Their rows are now parsed in the background after the upload.</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EVALUATION</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Known limits and what comes next</a:t>
            </a:r>
            <a:endParaRPr lang="en-US" sz="2800" dirty="0"/>
          </a:p>
        </p:txBody>
      </p:sp>
      <p:pic>
        <p:nvPicPr>
          <p:cNvPr id="4"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5" name="Text 2"/>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37</a:t>
            </a:r>
            <a:endParaRPr lang="en-US" sz="900" dirty="0"/>
          </a:p>
        </p:txBody>
      </p:sp>
      <p:sp>
        <p:nvSpPr>
          <p:cNvPr id="7" name="Text 3"/>
          <p:cNvSpPr txBox="1"/>
          <p:nvPr/>
        </p:nvSpPr>
        <p:spPr>
          <a:xfrm>
            <a:off x="731520" y="1371600"/>
            <a:ext cx="27432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Roboto" pitchFamily="34" charset="0"/>
                <a:ea typeface="Roboto" pitchFamily="34" charset="-122"/>
                <a:cs typeface="Roboto" pitchFamily="34" charset="-120"/>
              </a:rPr>
              <a:t>LIMIT</a:t>
            </a:r>
            <a:endParaRPr lang="en-US" sz="1000" dirty="0"/>
          </a:p>
        </p:txBody>
      </p:sp>
      <p:sp>
        <p:nvSpPr>
          <p:cNvPr id="8" name="Text 4"/>
          <p:cNvSpPr txBox="1"/>
          <p:nvPr/>
        </p:nvSpPr>
        <p:spPr>
          <a:xfrm>
            <a:off x="5349240" y="1371600"/>
            <a:ext cx="274320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Roboto" pitchFamily="34" charset="0"/>
                <a:ea typeface="Roboto" pitchFamily="34" charset="-122"/>
                <a:cs typeface="Roboto" pitchFamily="34" charset="-120"/>
              </a:rPr>
              <a:t>NEXT STEP</a:t>
            </a:r>
            <a:endParaRPr lang="en-US" sz="1000" dirty="0"/>
          </a:p>
        </p:txBody>
      </p:sp>
      <p:sp>
        <p:nvSpPr>
          <p:cNvPr id="9" name="Shape 5"/>
          <p:cNvSpPr/>
          <p:nvPr/>
        </p:nvSpPr>
        <p:spPr>
          <a:xfrm>
            <a:off x="548640" y="1691640"/>
            <a:ext cx="7589520" cy="676656"/>
          </a:xfrm>
          <a:prstGeom prst="roundRect">
            <a:avLst>
              <a:gd name="adj" fmla="val 10811"/>
            </a:avLst>
          </a:prstGeom>
          <a:solidFill>
            <a:srgbClr val="F8FAFC"/>
          </a:solidFill>
          <a:ln w="12700">
            <a:solidFill>
              <a:srgbClr val="E2E8F0"/>
            </a:solidFill>
            <a:prstDash val="solid"/>
          </a:ln>
        </p:spPr>
      </p:sp>
      <p:sp>
        <p:nvSpPr>
          <p:cNvPr id="10" name="Shape 6"/>
          <p:cNvSpPr/>
          <p:nvPr/>
        </p:nvSpPr>
        <p:spPr>
          <a:xfrm>
            <a:off x="713232" y="1965960"/>
            <a:ext cx="128016" cy="128016"/>
          </a:xfrm>
          <a:prstGeom prst="ellipse">
            <a:avLst/>
          </a:prstGeom>
          <a:solidFill>
            <a:srgbClr val="D97706"/>
          </a:solidFill>
          <a:ln w="12700">
            <a:solidFill>
              <a:srgbClr val="D97706"/>
            </a:solidFill>
            <a:prstDash val="solid"/>
          </a:ln>
        </p:spPr>
      </p:sp>
      <p:sp>
        <p:nvSpPr>
          <p:cNvPr id="11" name="Text 7"/>
          <p:cNvSpPr txBox="1"/>
          <p:nvPr/>
        </p:nvSpPr>
        <p:spPr>
          <a:xfrm>
            <a:off x="960120" y="1691640"/>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Tampering on genuine photos</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17% of genuine camera-style photos score HIGH</a:t>
            </a:r>
            <a:endParaRPr lang="en-US" sz="1150" dirty="0"/>
          </a:p>
        </p:txBody>
      </p:sp>
      <p:sp>
        <p:nvSpPr>
          <p:cNvPr id="12" name="Text 8"/>
          <p:cNvSpPr txBox="1"/>
          <p:nvPr/>
        </p:nvSpPr>
        <p:spPr>
          <a:xfrm>
            <a:off x="5349240" y="1691640"/>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Recalibrate ELA on real phone photos</a:t>
            </a:r>
            <a:endParaRPr lang="en-US" sz="1050" dirty="0"/>
          </a:p>
        </p:txBody>
      </p:sp>
      <p:sp>
        <p:nvSpPr>
          <p:cNvPr id="13" name="Shape 9"/>
          <p:cNvSpPr/>
          <p:nvPr/>
        </p:nvSpPr>
        <p:spPr>
          <a:xfrm>
            <a:off x="548640" y="2459736"/>
            <a:ext cx="7589520" cy="676656"/>
          </a:xfrm>
          <a:prstGeom prst="roundRect">
            <a:avLst>
              <a:gd name="adj" fmla="val 10811"/>
            </a:avLst>
          </a:prstGeom>
          <a:solidFill>
            <a:srgbClr val="F8FAFC"/>
          </a:solidFill>
          <a:ln w="12700">
            <a:solidFill>
              <a:srgbClr val="E2E8F0"/>
            </a:solidFill>
            <a:prstDash val="solid"/>
          </a:ln>
        </p:spPr>
      </p:sp>
      <p:sp>
        <p:nvSpPr>
          <p:cNvPr id="14" name="Shape 10"/>
          <p:cNvSpPr/>
          <p:nvPr/>
        </p:nvSpPr>
        <p:spPr>
          <a:xfrm>
            <a:off x="713232" y="2734056"/>
            <a:ext cx="128016" cy="128016"/>
          </a:xfrm>
          <a:prstGeom prst="ellipse">
            <a:avLst/>
          </a:prstGeom>
          <a:solidFill>
            <a:srgbClr val="DC2626"/>
          </a:solidFill>
          <a:ln w="12700">
            <a:solidFill>
              <a:srgbClr val="DC2626"/>
            </a:solidFill>
            <a:prstDash val="solid"/>
          </a:ln>
        </p:spPr>
      </p:sp>
      <p:sp>
        <p:nvSpPr>
          <p:cNvPr id="15" name="Text 11"/>
          <p:cNvSpPr txBox="1"/>
          <p:nvPr/>
        </p:nvSpPr>
        <p:spPr>
          <a:xfrm>
            <a:off x="960120" y="2459736"/>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Tamper Locator · Weak 33%</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Boxes only edited figures, not copy-move or photo swaps</a:t>
            </a:r>
            <a:endParaRPr lang="en-US" sz="1150" dirty="0"/>
          </a:p>
        </p:txBody>
      </p:sp>
      <p:sp>
        <p:nvSpPr>
          <p:cNvPr id="16" name="Text 12"/>
          <p:cNvSpPr txBox="1"/>
          <p:nvPr/>
        </p:nvSpPr>
        <p:spPr>
          <a:xfrm>
            <a:off x="5349240" y="2459736"/>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Turn keypoint clusters and photo regions into boxes</a:t>
            </a:r>
            <a:endParaRPr lang="en-US" sz="1050" dirty="0"/>
          </a:p>
        </p:txBody>
      </p:sp>
      <p:sp>
        <p:nvSpPr>
          <p:cNvPr id="17" name="Shape 13"/>
          <p:cNvSpPr/>
          <p:nvPr/>
        </p:nvSpPr>
        <p:spPr>
          <a:xfrm>
            <a:off x="548640" y="3227832"/>
            <a:ext cx="7589520" cy="676656"/>
          </a:xfrm>
          <a:prstGeom prst="roundRect">
            <a:avLst>
              <a:gd name="adj" fmla="val 10811"/>
            </a:avLst>
          </a:prstGeom>
          <a:solidFill>
            <a:srgbClr val="F8FAFC"/>
          </a:solidFill>
          <a:ln w="12700">
            <a:solidFill>
              <a:srgbClr val="E2E8F0"/>
            </a:solidFill>
            <a:prstDash val="solid"/>
          </a:ln>
        </p:spPr>
      </p:sp>
      <p:sp>
        <p:nvSpPr>
          <p:cNvPr id="18" name="Shape 14"/>
          <p:cNvSpPr/>
          <p:nvPr/>
        </p:nvSpPr>
        <p:spPr>
          <a:xfrm>
            <a:off x="713232" y="3502152"/>
            <a:ext cx="128016" cy="128016"/>
          </a:xfrm>
          <a:prstGeom prst="ellipse">
            <a:avLst/>
          </a:prstGeom>
          <a:solidFill>
            <a:srgbClr val="DC2626"/>
          </a:solidFill>
          <a:ln w="12700">
            <a:solidFill>
              <a:srgbClr val="DC2626"/>
            </a:solidFill>
            <a:prstDash val="solid"/>
          </a:ln>
        </p:spPr>
      </p:sp>
      <p:sp>
        <p:nvSpPr>
          <p:cNvPr id="19" name="Text 15"/>
          <p:cNvSpPr txBox="1"/>
          <p:nvPr/>
        </p:nvSpPr>
        <p:spPr>
          <a:xfrm>
            <a:off x="960120" y="3227832"/>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Liveness · Weak ACER 22%</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Only public photos and simulated attacks to test on</a:t>
            </a:r>
            <a:endParaRPr lang="en-US" sz="1150" dirty="0"/>
          </a:p>
        </p:txBody>
      </p:sp>
      <p:sp>
        <p:nvSpPr>
          <p:cNvPr id="20" name="Text 16"/>
          <p:cNvSpPr txBox="1"/>
          <p:nvPr/>
        </p:nvSpPr>
        <p:spPr>
          <a:xfrm>
            <a:off x="5349240" y="3227832"/>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Collect real selfies and real print / screen attacks</a:t>
            </a:r>
            <a:endParaRPr lang="en-US" sz="1050" dirty="0"/>
          </a:p>
        </p:txBody>
      </p:sp>
      <p:sp>
        <p:nvSpPr>
          <p:cNvPr id="21" name="Shape 17"/>
          <p:cNvSpPr/>
          <p:nvPr/>
        </p:nvSpPr>
        <p:spPr>
          <a:xfrm>
            <a:off x="548640" y="3995928"/>
            <a:ext cx="7589520" cy="676656"/>
          </a:xfrm>
          <a:prstGeom prst="roundRect">
            <a:avLst>
              <a:gd name="adj" fmla="val 10811"/>
            </a:avLst>
          </a:prstGeom>
          <a:solidFill>
            <a:srgbClr val="F8FAFC"/>
          </a:solidFill>
          <a:ln w="12700">
            <a:solidFill>
              <a:srgbClr val="E2E8F0"/>
            </a:solidFill>
            <a:prstDash val="solid"/>
          </a:ln>
        </p:spPr>
      </p:sp>
      <p:sp>
        <p:nvSpPr>
          <p:cNvPr id="22" name="Shape 18"/>
          <p:cNvSpPr/>
          <p:nvPr/>
        </p:nvSpPr>
        <p:spPr>
          <a:xfrm>
            <a:off x="713232" y="4270248"/>
            <a:ext cx="128016" cy="128016"/>
          </a:xfrm>
          <a:prstGeom prst="ellipse">
            <a:avLst/>
          </a:prstGeom>
          <a:solidFill>
            <a:srgbClr val="D97706"/>
          </a:solidFill>
          <a:ln w="12700">
            <a:solidFill>
              <a:srgbClr val="D97706"/>
            </a:solidFill>
            <a:prstDash val="solid"/>
          </a:ln>
        </p:spPr>
      </p:sp>
      <p:sp>
        <p:nvSpPr>
          <p:cNvPr id="23" name="Text 19"/>
          <p:cNvSpPr txBox="1"/>
          <p:nvPr/>
        </p:nvSpPr>
        <p:spPr>
          <a:xfrm>
            <a:off x="960120" y="3995928"/>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Tamper Explainer · 90%</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4 of 40 explanations cited a figure not in the findings</a:t>
            </a:r>
            <a:endParaRPr lang="en-US" sz="1150" dirty="0"/>
          </a:p>
        </p:txBody>
      </p:sp>
      <p:sp>
        <p:nvSpPr>
          <p:cNvPr id="24" name="Text 20"/>
          <p:cNvSpPr txBox="1"/>
          <p:nvPr/>
        </p:nvSpPr>
        <p:spPr>
          <a:xfrm>
            <a:off x="5349240" y="3995928"/>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Tighten the prompt (the gate already hides them)</a:t>
            </a:r>
            <a:endParaRPr lang="en-US" sz="1050" dirty="0"/>
          </a:p>
        </p:txBody>
      </p:sp>
      <p:sp>
        <p:nvSpPr>
          <p:cNvPr id="25" name="Shape 21"/>
          <p:cNvSpPr/>
          <p:nvPr/>
        </p:nvSpPr>
        <p:spPr>
          <a:xfrm>
            <a:off x="548640" y="4764024"/>
            <a:ext cx="7589520" cy="676656"/>
          </a:xfrm>
          <a:prstGeom prst="roundRect">
            <a:avLst>
              <a:gd name="adj" fmla="val 10811"/>
            </a:avLst>
          </a:prstGeom>
          <a:solidFill>
            <a:srgbClr val="F8FAFC"/>
          </a:solidFill>
          <a:ln w="12700">
            <a:solidFill>
              <a:srgbClr val="E2E8F0"/>
            </a:solidFill>
            <a:prstDash val="solid"/>
          </a:ln>
        </p:spPr>
      </p:sp>
      <p:sp>
        <p:nvSpPr>
          <p:cNvPr id="26" name="Shape 22"/>
          <p:cNvSpPr/>
          <p:nvPr/>
        </p:nvSpPr>
        <p:spPr>
          <a:xfrm>
            <a:off x="713232" y="5038344"/>
            <a:ext cx="128016" cy="128016"/>
          </a:xfrm>
          <a:prstGeom prst="ellipse">
            <a:avLst/>
          </a:prstGeom>
          <a:solidFill>
            <a:srgbClr val="64748B"/>
          </a:solidFill>
          <a:ln w="12700">
            <a:solidFill>
              <a:srgbClr val="64748B"/>
            </a:solidFill>
            <a:prstDash val="solid"/>
          </a:ln>
        </p:spPr>
      </p:sp>
      <p:sp>
        <p:nvSpPr>
          <p:cNvPr id="27" name="Text 23"/>
          <p:cNvSpPr txBox="1"/>
          <p:nvPr/>
        </p:nvSpPr>
        <p:spPr>
          <a:xfrm>
            <a:off x="960120" y="4764024"/>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Real-world data</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No real fraud rings; income and patterns tested on synthetic data</a:t>
            </a:r>
            <a:endParaRPr lang="en-US" sz="1150" dirty="0"/>
          </a:p>
        </p:txBody>
      </p:sp>
      <p:sp>
        <p:nvSpPr>
          <p:cNvPr id="28" name="Text 24"/>
          <p:cNvSpPr txBox="1"/>
          <p:nvPr/>
        </p:nvSpPr>
        <p:spPr>
          <a:xfrm>
            <a:off x="5349240" y="4764024"/>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Label a real production sample</a:t>
            </a:r>
            <a:endParaRPr lang="en-US" sz="1050" dirty="0"/>
          </a:p>
        </p:txBody>
      </p:sp>
      <p:sp>
        <p:nvSpPr>
          <p:cNvPr id="29" name="Shape 25"/>
          <p:cNvSpPr/>
          <p:nvPr/>
        </p:nvSpPr>
        <p:spPr>
          <a:xfrm>
            <a:off x="548640" y="5532120"/>
            <a:ext cx="7589520" cy="676656"/>
          </a:xfrm>
          <a:prstGeom prst="roundRect">
            <a:avLst>
              <a:gd name="adj" fmla="val 10811"/>
            </a:avLst>
          </a:prstGeom>
          <a:solidFill>
            <a:srgbClr val="F8FAFC"/>
          </a:solidFill>
          <a:ln w="12700">
            <a:solidFill>
              <a:srgbClr val="E2E8F0"/>
            </a:solidFill>
            <a:prstDash val="solid"/>
          </a:ln>
        </p:spPr>
      </p:sp>
      <p:sp>
        <p:nvSpPr>
          <p:cNvPr id="30" name="Shape 26"/>
          <p:cNvSpPr/>
          <p:nvPr/>
        </p:nvSpPr>
        <p:spPr>
          <a:xfrm>
            <a:off x="713232" y="5806440"/>
            <a:ext cx="128016" cy="128016"/>
          </a:xfrm>
          <a:prstGeom prst="ellipse">
            <a:avLst/>
          </a:prstGeom>
          <a:solidFill>
            <a:srgbClr val="64748B"/>
          </a:solidFill>
          <a:ln w="12700">
            <a:solidFill>
              <a:srgbClr val="64748B"/>
            </a:solidFill>
            <a:prstDash val="solid"/>
          </a:ln>
        </p:spPr>
      </p:sp>
      <p:sp>
        <p:nvSpPr>
          <p:cNvPr id="31" name="Text 27"/>
          <p:cNvSpPr txBox="1"/>
          <p:nvPr/>
        </p:nvSpPr>
        <p:spPr>
          <a:xfrm>
            <a:off x="960120" y="5532120"/>
            <a:ext cx="4160520" cy="676656"/>
          </a:xfrm>
          <a:prstGeom prst="rect">
            <a:avLst/>
          </a:prstGeom>
          <a:noFill/>
          <a:ln/>
        </p:spPr>
        <p:txBody>
          <a:bodyPr wrap="square" lIns="0" tIns="0" rIns="0" bIns="0" rtlCol="0" anchor="ctr"/>
          <a:lstStyle/>
          <a:p>
            <a:pPr indent="0" marL="0">
              <a:buNone/>
            </a:pPr>
            <a:r>
              <a:rPr lang="en-US" sz="1150" b="1" dirty="0">
                <a:solidFill>
                  <a:srgbClr val="0F172A"/>
                </a:solidFill>
                <a:latin typeface="Roboto" pitchFamily="34" charset="0"/>
                <a:ea typeface="Roboto" pitchFamily="34" charset="-122"/>
                <a:cs typeface="Roboto" pitchFamily="34" charset="-120"/>
              </a:rPr>
              <a:t>Timings</a:t>
            </a:r>
            <a:endParaRPr lang="en-US" sz="1150" dirty="0"/>
          </a:p>
          <a:p>
            <a:pPr indent="0" marL="0">
              <a:buNone/>
            </a:pPr>
            <a:r>
              <a:rPr lang="en-US" sz="950" dirty="0">
                <a:solidFill>
                  <a:srgbClr val="64748B"/>
                </a:solidFill>
                <a:latin typeface="Roboto" pitchFamily="34" charset="0"/>
                <a:ea typeface="Roboto" pitchFamily="34" charset="-122"/>
                <a:cs typeface="Roboto" pitchFamily="34" charset="-120"/>
              </a:rPr>
              <a:t>The 8 GB GPU was shared with other programs</a:t>
            </a:r>
            <a:endParaRPr lang="en-US" sz="1150" dirty="0"/>
          </a:p>
        </p:txBody>
      </p:sp>
      <p:sp>
        <p:nvSpPr>
          <p:cNvPr id="32" name="Text 28"/>
          <p:cNvSpPr txBox="1"/>
          <p:nvPr/>
        </p:nvSpPr>
        <p:spPr>
          <a:xfrm>
            <a:off x="5349240" y="5532120"/>
            <a:ext cx="2697480" cy="676656"/>
          </a:xfrm>
          <a:prstGeom prst="rect">
            <a:avLst/>
          </a:prstGeom>
          <a:noFill/>
          <a:ln/>
        </p:spPr>
        <p:txBody>
          <a:bodyPr wrap="square" lIns="0" tIns="0" rIns="0" bIns="0" rtlCol="0" anchor="ctr"/>
          <a:lstStyle/>
          <a:p>
            <a:pPr indent="0" marL="0">
              <a:buNone/>
            </a:pPr>
            <a:r>
              <a:rPr lang="en-US" sz="1050" dirty="0">
                <a:solidFill>
                  <a:srgbClr val="3730A3"/>
                </a:solidFill>
                <a:latin typeface="Roboto" pitchFamily="34" charset="0"/>
                <a:ea typeface="Roboto" pitchFamily="34" charset="-122"/>
                <a:cs typeface="Roboto" pitchFamily="34" charset="-120"/>
              </a:rPr>
              <a:t>Re-measure on a dedicated GPU</a:t>
            </a:r>
            <a:endParaRPr lang="en-US" sz="1050" dirty="0"/>
          </a:p>
        </p:txBody>
      </p:sp>
      <p:sp>
        <p:nvSpPr>
          <p:cNvPr id="33" name="Shape 29"/>
          <p:cNvSpPr/>
          <p:nvPr/>
        </p:nvSpPr>
        <p:spPr>
          <a:xfrm>
            <a:off x="8366760" y="1371600"/>
            <a:ext cx="3273552" cy="4937760"/>
          </a:xfrm>
          <a:prstGeom prst="roundRect">
            <a:avLst>
              <a:gd name="adj" fmla="val 3352"/>
            </a:avLst>
          </a:prstGeom>
          <a:solidFill>
            <a:srgbClr val="0F172A"/>
          </a:solidFill>
          <a:ln w="12700">
            <a:solidFill>
              <a:srgbClr val="0F172A"/>
            </a:solidFill>
            <a:prstDash val="solid"/>
          </a:ln>
        </p:spPr>
      </p:sp>
      <p:sp>
        <p:nvSpPr>
          <p:cNvPr id="34" name="Text 30"/>
          <p:cNvSpPr txBox="1"/>
          <p:nvPr/>
        </p:nvSpPr>
        <p:spPr>
          <a:xfrm>
            <a:off x="8595360" y="1554480"/>
            <a:ext cx="2743200" cy="274320"/>
          </a:xfrm>
          <a:prstGeom prst="rect">
            <a:avLst/>
          </a:prstGeom>
          <a:noFill/>
          <a:ln/>
        </p:spPr>
        <p:txBody>
          <a:bodyPr wrap="square" lIns="0" tIns="0" rIns="0" bIns="0" rtlCol="0" anchor="ctr"/>
          <a:lstStyle/>
          <a:p>
            <a:pPr indent="0" marL="0">
              <a:buNone/>
            </a:pPr>
            <a:r>
              <a:rPr lang="en-US" sz="1050" b="1" spc="200" kern="0" dirty="0">
                <a:solidFill>
                  <a:srgbClr val="A5B4FC"/>
                </a:solidFill>
                <a:latin typeface="Roboto" pitchFamily="34" charset="0"/>
                <a:ea typeface="Roboto" pitchFamily="34" charset="-122"/>
                <a:cs typeface="Roboto" pitchFamily="34" charset="-120"/>
              </a:rPr>
              <a:t>NEEDS YOUR INPUT</a:t>
            </a:r>
            <a:endParaRPr lang="en-US" sz="1050" dirty="0"/>
          </a:p>
        </p:txBody>
      </p:sp>
      <p:sp>
        <p:nvSpPr>
          <p:cNvPr id="35" name="Shape 31"/>
          <p:cNvSpPr/>
          <p:nvPr/>
        </p:nvSpPr>
        <p:spPr>
          <a:xfrm>
            <a:off x="8595360" y="2048256"/>
            <a:ext cx="329184" cy="329184"/>
          </a:xfrm>
          <a:prstGeom prst="roundRect">
            <a:avLst>
              <a:gd name="adj" fmla="val 50000"/>
            </a:avLst>
          </a:prstGeom>
          <a:solidFill>
            <a:srgbClr val="4F46E5"/>
          </a:solidFill>
          <a:ln w="12700">
            <a:solidFill>
              <a:srgbClr val="4F46E5"/>
            </a:solidFill>
            <a:prstDash val="solid"/>
          </a:ln>
        </p:spPr>
      </p:sp>
      <p:sp>
        <p:nvSpPr>
          <p:cNvPr id="36" name="Text 32"/>
          <p:cNvSpPr txBox="1"/>
          <p:nvPr/>
        </p:nvSpPr>
        <p:spPr>
          <a:xfrm>
            <a:off x="8595360" y="20482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1</a:t>
            </a:r>
            <a:endParaRPr lang="en-US" sz="1100" dirty="0"/>
          </a:p>
        </p:txBody>
      </p:sp>
      <p:sp>
        <p:nvSpPr>
          <p:cNvPr id="37" name="Text 33"/>
          <p:cNvSpPr txBox="1"/>
          <p:nvPr/>
        </p:nvSpPr>
        <p:spPr>
          <a:xfrm>
            <a:off x="9052560" y="2011680"/>
            <a:ext cx="2423160" cy="1188720"/>
          </a:xfrm>
          <a:prstGeom prst="rect">
            <a:avLst/>
          </a:prstGeom>
          <a:noFill/>
          <a:ln/>
        </p:spPr>
        <p:txBody>
          <a:bodyPr wrap="square" lIns="0" tIns="0" rIns="0" bIns="0" rtlCol="0" anchor="t"/>
          <a:lstStyle/>
          <a:p>
            <a:pPr indent="0" marL="0">
              <a:spcAft>
                <a:spcPts val="300"/>
              </a:spcAft>
              <a:buNone/>
            </a:pPr>
            <a:r>
              <a:rPr lang="en-US" sz="1300" b="1" dirty="0">
                <a:solidFill>
                  <a:srgbClr val="FFFFFF"/>
                </a:solidFill>
                <a:latin typeface="Roboto" pitchFamily="34" charset="0"/>
                <a:ea typeface="Roboto" pitchFamily="34" charset="-122"/>
                <a:cs typeface="Roboto" pitchFamily="34" charset="-120"/>
              </a:rPr>
              <a:t>Confirm Fraud Fusion v2</a:t>
            </a:r>
            <a:endParaRPr lang="en-US" sz="1300" dirty="0"/>
          </a:p>
          <a:p>
            <a:pPr indent="0" marL="0">
              <a:spcAft>
                <a:spcPts val="300"/>
              </a:spcAft>
              <a:buNone/>
            </a:pPr>
            <a:r>
              <a:rPr lang="en-US" sz="1050" dirty="0">
                <a:solidFill>
                  <a:srgbClr val="CBD5E1"/>
                </a:solidFill>
                <a:latin typeface="Roboto" pitchFamily="34" charset="0"/>
                <a:ea typeface="Roboto" pitchFamily="34" charset="-122"/>
                <a:cs typeface="Roboto" pitchFamily="34" charset="-120"/>
              </a:rPr>
              <a:t>93% vs 60% for the original design; switching back is one line.</a:t>
            </a:r>
            <a:endParaRPr lang="en-US" sz="1300" dirty="0"/>
          </a:p>
        </p:txBody>
      </p:sp>
      <p:sp>
        <p:nvSpPr>
          <p:cNvPr id="38" name="Shape 34"/>
          <p:cNvSpPr/>
          <p:nvPr/>
        </p:nvSpPr>
        <p:spPr>
          <a:xfrm>
            <a:off x="8595360" y="3419856"/>
            <a:ext cx="329184" cy="329184"/>
          </a:xfrm>
          <a:prstGeom prst="roundRect">
            <a:avLst>
              <a:gd name="adj" fmla="val 50000"/>
            </a:avLst>
          </a:prstGeom>
          <a:solidFill>
            <a:srgbClr val="4F46E5"/>
          </a:solidFill>
          <a:ln w="12700">
            <a:solidFill>
              <a:srgbClr val="4F46E5"/>
            </a:solidFill>
            <a:prstDash val="solid"/>
          </a:ln>
        </p:spPr>
      </p:sp>
      <p:sp>
        <p:nvSpPr>
          <p:cNvPr id="39" name="Text 35"/>
          <p:cNvSpPr txBox="1"/>
          <p:nvPr/>
        </p:nvSpPr>
        <p:spPr>
          <a:xfrm>
            <a:off x="8595360" y="34198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2</a:t>
            </a:r>
            <a:endParaRPr lang="en-US" sz="1100" dirty="0"/>
          </a:p>
        </p:txBody>
      </p:sp>
      <p:sp>
        <p:nvSpPr>
          <p:cNvPr id="40" name="Text 36"/>
          <p:cNvSpPr txBox="1"/>
          <p:nvPr/>
        </p:nvSpPr>
        <p:spPr>
          <a:xfrm>
            <a:off x="9052560" y="3383280"/>
            <a:ext cx="2423160" cy="1188720"/>
          </a:xfrm>
          <a:prstGeom prst="rect">
            <a:avLst/>
          </a:prstGeom>
          <a:noFill/>
          <a:ln/>
        </p:spPr>
        <p:txBody>
          <a:bodyPr wrap="square" lIns="0" tIns="0" rIns="0" bIns="0" rtlCol="0" anchor="t"/>
          <a:lstStyle/>
          <a:p>
            <a:pPr indent="0" marL="0">
              <a:spcAft>
                <a:spcPts val="300"/>
              </a:spcAft>
              <a:buNone/>
            </a:pPr>
            <a:r>
              <a:rPr lang="en-US" sz="1300" b="1" dirty="0">
                <a:solidFill>
                  <a:srgbClr val="FFFFFF"/>
                </a:solidFill>
                <a:latin typeface="Roboto" pitchFamily="34" charset="0"/>
                <a:ea typeface="Roboto" pitchFamily="34" charset="-122"/>
                <a:cs typeface="Roboto" pitchFamily="34" charset="-120"/>
              </a:rPr>
              <a:t>Add an Anthropic key</a:t>
            </a:r>
            <a:endParaRPr lang="en-US" sz="1300" dirty="0"/>
          </a:p>
          <a:p>
            <a:pPr indent="0" marL="0">
              <a:spcAft>
                <a:spcPts val="300"/>
              </a:spcAft>
              <a:buNone/>
            </a:pPr>
            <a:r>
              <a:rPr lang="en-US" sz="1050" dirty="0">
                <a:solidFill>
                  <a:srgbClr val="CBD5E1"/>
                </a:solidFill>
                <a:latin typeface="Roboto" pitchFamily="34" charset="0"/>
                <a:ea typeface="Roboto" pitchFamily="34" charset="-122"/>
                <a:cs typeface="Roboto" pitchFamily="34" charset="-120"/>
              </a:rPr>
              <a:t>Runs the Local-vs-Claude comparison on synthetic data only.</a:t>
            </a:r>
            <a:endParaRPr lang="en-US" sz="1300" dirty="0"/>
          </a:p>
        </p:txBody>
      </p:sp>
      <p:sp>
        <p:nvSpPr>
          <p:cNvPr id="41" name="Shape 37"/>
          <p:cNvSpPr/>
          <p:nvPr/>
        </p:nvSpPr>
        <p:spPr>
          <a:xfrm>
            <a:off x="8595360" y="4791456"/>
            <a:ext cx="329184" cy="329184"/>
          </a:xfrm>
          <a:prstGeom prst="roundRect">
            <a:avLst>
              <a:gd name="adj" fmla="val 50000"/>
            </a:avLst>
          </a:prstGeom>
          <a:solidFill>
            <a:srgbClr val="4F46E5"/>
          </a:solidFill>
          <a:ln w="12700">
            <a:solidFill>
              <a:srgbClr val="4F46E5"/>
            </a:solidFill>
            <a:prstDash val="solid"/>
          </a:ln>
        </p:spPr>
      </p:sp>
      <p:sp>
        <p:nvSpPr>
          <p:cNvPr id="42" name="Text 38"/>
          <p:cNvSpPr txBox="1"/>
          <p:nvPr/>
        </p:nvSpPr>
        <p:spPr>
          <a:xfrm>
            <a:off x="8595360" y="4791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3</a:t>
            </a:r>
            <a:endParaRPr lang="en-US" sz="1100" dirty="0"/>
          </a:p>
        </p:txBody>
      </p:sp>
      <p:sp>
        <p:nvSpPr>
          <p:cNvPr id="43" name="Text 39"/>
          <p:cNvSpPr txBox="1"/>
          <p:nvPr/>
        </p:nvSpPr>
        <p:spPr>
          <a:xfrm>
            <a:off x="9052560" y="4754880"/>
            <a:ext cx="2423160" cy="1188720"/>
          </a:xfrm>
          <a:prstGeom prst="rect">
            <a:avLst/>
          </a:prstGeom>
          <a:noFill/>
          <a:ln/>
        </p:spPr>
        <p:txBody>
          <a:bodyPr wrap="square" lIns="0" tIns="0" rIns="0" bIns="0" rtlCol="0" anchor="t"/>
          <a:lstStyle/>
          <a:p>
            <a:pPr indent="0" marL="0">
              <a:spcAft>
                <a:spcPts val="300"/>
              </a:spcAft>
              <a:buNone/>
            </a:pPr>
            <a:r>
              <a:rPr lang="en-US" sz="1300" b="1" dirty="0">
                <a:solidFill>
                  <a:srgbClr val="FFFFFF"/>
                </a:solidFill>
                <a:latin typeface="Roboto" pitchFamily="34" charset="0"/>
                <a:ea typeface="Roboto" pitchFamily="34" charset="-122"/>
                <a:cs typeface="Roboto" pitchFamily="34" charset="-120"/>
              </a:rPr>
              <a:t>Share real selfies</a:t>
            </a:r>
            <a:endParaRPr lang="en-US" sz="1300" dirty="0"/>
          </a:p>
          <a:p>
            <a:pPr indent="0" marL="0">
              <a:spcAft>
                <a:spcPts val="300"/>
              </a:spcAft>
              <a:buNone/>
            </a:pPr>
            <a:r>
              <a:rPr lang="en-US" sz="1050" dirty="0">
                <a:solidFill>
                  <a:srgbClr val="CBD5E1"/>
                </a:solidFill>
                <a:latin typeface="Roboto" pitchFamily="34" charset="0"/>
                <a:ea typeface="Roboto" pitchFamily="34" charset="-122"/>
                <a:cs typeface="Roboto" pitchFamily="34" charset="-120"/>
              </a:rPr>
              <a:t>A small in-house set to calibrate the liveness threshold.</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F46E5"/>
                </a:solidFill>
                <a:latin typeface="Roboto" pitchFamily="34" charset="0"/>
                <a:ea typeface="Roboto" pitchFamily="34" charset="-122"/>
                <a:cs typeface="Roboto" pitchFamily="34" charset="-120"/>
              </a:rPr>
              <a:t>GETTING STARTED</a:t>
            </a:r>
            <a:endParaRPr lang="en-US" sz="1100" dirty="0"/>
          </a:p>
        </p:txBody>
      </p:sp>
      <p:sp>
        <p:nvSpPr>
          <p:cNvPr id="3" name="Text 1"/>
          <p:cNvSpPr txBox="1"/>
          <p:nvPr/>
        </p:nvSpPr>
        <p:spPr>
          <a:xfrm>
            <a:off x="548640" y="585216"/>
            <a:ext cx="11094415" cy="566928"/>
          </a:xfrm>
          <a:prstGeom prst="rect">
            <a:avLst/>
          </a:prstGeom>
          <a:noFill/>
          <a:ln/>
        </p:spPr>
        <p:txBody>
          <a:bodyPr wrap="square" lIns="0" tIns="0" rIns="0" bIns="0" rtlCol="0" anchor="ctr"/>
          <a:lstStyle/>
          <a:p>
            <a:pPr indent="0" marL="0">
              <a:buNone/>
            </a:pPr>
            <a:r>
              <a:rPr lang="en-US" sz="2800" b="1" dirty="0">
                <a:solidFill>
                  <a:srgbClr val="0F172A"/>
                </a:solidFill>
                <a:latin typeface="Roboto" pitchFamily="34" charset="0"/>
                <a:ea typeface="Roboto" pitchFamily="34" charset="-122"/>
                <a:cs typeface="Roboto" pitchFamily="34" charset="-120"/>
              </a:rPr>
              <a:t>Run it yourself</a:t>
            </a:r>
            <a:endParaRPr lang="en-US" sz="2800" dirty="0"/>
          </a:p>
        </p:txBody>
      </p:sp>
      <p:sp>
        <p:nvSpPr>
          <p:cNvPr id="4" name="Text 2"/>
          <p:cNvSpPr txBox="1"/>
          <p:nvPr/>
        </p:nvSpPr>
        <p:spPr>
          <a:xfrm>
            <a:off x="548640" y="1152144"/>
            <a:ext cx="11094415" cy="365760"/>
          </a:xfrm>
          <a:prstGeom prst="rect">
            <a:avLst/>
          </a:prstGeom>
          <a:noFill/>
          <a:ln/>
        </p:spPr>
        <p:txBody>
          <a:bodyPr wrap="square" lIns="0" tIns="0" rIns="0" bIns="0" rtlCol="0" anchor="ctr"/>
          <a:lstStyle/>
          <a:p>
            <a:pPr indent="0" marL="0">
              <a:buNone/>
            </a:pPr>
            <a:r>
              <a:rPr lang="en-US" sz="1400" dirty="0">
                <a:solidFill>
                  <a:srgbClr val="64748B"/>
                </a:solidFill>
                <a:latin typeface="Roboto" pitchFamily="34" charset="0"/>
                <a:ea typeface="Roboto" pitchFamily="34" charset="-122"/>
                <a:cs typeface="Roboto" pitchFamily="34" charset="-120"/>
              </a:rPr>
              <a:t>Five steps on one Windows machine. Ports: frontend 5173, API 8000, Ollama 11434.</a:t>
            </a:r>
            <a:endParaRPr lang="en-US" sz="1400" dirty="0"/>
          </a:p>
        </p:txBody>
      </p:sp>
      <p:pic>
        <p:nvPicPr>
          <p:cNvPr id="5" name="Image 0" descr="C:\Users\shrey\AppData\Local\Temp\claude\D--novacinternship-finsight\87f4101b-bf26-4b28-976a-e637573d77e1\scratchpad\deck\img\logo_lockup.png">    </p:cNvPr>
          <p:cNvPicPr>
            <a:picLocks noChangeAspect="1"/>
          </p:cNvPicPr>
          <p:nvPr/>
        </p:nvPicPr>
        <p:blipFill>
          <a:blip r:embed="rId1"/>
          <a:stretch>
            <a:fillRect/>
          </a:stretch>
        </p:blipFill>
        <p:spPr>
          <a:xfrm>
            <a:off x="10360152" y="6464808"/>
            <a:ext cx="843991" cy="237744"/>
          </a:xfrm>
          <a:prstGeom prst="rect">
            <a:avLst/>
          </a:prstGeom>
        </p:spPr>
      </p:pic>
      <p:sp>
        <p:nvSpPr>
          <p:cNvPr id="6" name="Text 3"/>
          <p:cNvSpPr txBox="1"/>
          <p:nvPr/>
        </p:nvSpPr>
        <p:spPr>
          <a:xfrm>
            <a:off x="11277295" y="6473952"/>
            <a:ext cx="365760" cy="228600"/>
          </a:xfrm>
          <a:prstGeom prst="rect">
            <a:avLst/>
          </a:prstGeom>
          <a:noFill/>
          <a:ln/>
        </p:spPr>
        <p:txBody>
          <a:bodyPr wrap="square" lIns="0" tIns="0" rIns="0" bIns="0" rtlCol="0" anchor="ctr"/>
          <a:lstStyle/>
          <a:p>
            <a:pPr algn="r" indent="0" marL="0">
              <a:buNone/>
            </a:pPr>
            <a:r>
              <a:rPr lang="en-US" sz="900" dirty="0">
                <a:solidFill>
                  <a:srgbClr val="94A3B8"/>
                </a:solidFill>
                <a:latin typeface="Roboto" pitchFamily="34" charset="0"/>
                <a:ea typeface="Roboto" pitchFamily="34" charset="-122"/>
                <a:cs typeface="Roboto" pitchFamily="34" charset="-120"/>
              </a:rPr>
              <a:t>38</a:t>
            </a:r>
            <a:endParaRPr lang="en-US" sz="900" dirty="0"/>
          </a:p>
        </p:txBody>
      </p:sp>
      <p:sp>
        <p:nvSpPr>
          <p:cNvPr id="8" name="Shape 4"/>
          <p:cNvSpPr/>
          <p:nvPr/>
        </p:nvSpPr>
        <p:spPr>
          <a:xfrm>
            <a:off x="548640" y="1783080"/>
            <a:ext cx="3611880" cy="1325880"/>
          </a:xfrm>
          <a:prstGeom prst="roundRect">
            <a:avLst>
              <a:gd name="adj" fmla="val 6897"/>
            </a:avLst>
          </a:prstGeom>
          <a:solidFill>
            <a:srgbClr val="0F172A"/>
          </a:solidFill>
          <a:ln w="12700">
            <a:solidFill>
              <a:srgbClr val="0F172A"/>
            </a:solidFill>
            <a:prstDash val="solid"/>
          </a:ln>
        </p:spPr>
      </p:sp>
      <p:sp>
        <p:nvSpPr>
          <p:cNvPr id="9" name="Text 5"/>
          <p:cNvSpPr txBox="1"/>
          <p:nvPr/>
        </p:nvSpPr>
        <p:spPr>
          <a:xfrm>
            <a:off x="731520" y="1892808"/>
            <a:ext cx="3246120" cy="292608"/>
          </a:xfrm>
          <a:prstGeom prst="rect">
            <a:avLst/>
          </a:prstGeom>
          <a:noFill/>
          <a:ln/>
        </p:spPr>
        <p:txBody>
          <a:bodyPr wrap="square" lIns="0" tIns="0" rIns="0" bIns="0" rtlCol="0" anchor="ctr"/>
          <a:lstStyle/>
          <a:p>
            <a:pPr indent="0" marL="0">
              <a:buNone/>
            </a:pPr>
            <a:r>
              <a:rPr lang="en-US" sz="1200" b="1" dirty="0">
                <a:solidFill>
                  <a:srgbClr val="A5B4FC"/>
                </a:solidFill>
                <a:latin typeface="Roboto" pitchFamily="34" charset="0"/>
                <a:ea typeface="Roboto" pitchFamily="34" charset="-122"/>
                <a:cs typeface="Roboto" pitchFamily="34" charset="-120"/>
              </a:rPr>
              <a:t>1  Database</a:t>
            </a:r>
            <a:endParaRPr lang="en-US" sz="1200" dirty="0"/>
          </a:p>
        </p:txBody>
      </p:sp>
      <p:sp>
        <p:nvSpPr>
          <p:cNvPr id="10" name="Text 6"/>
          <p:cNvSpPr txBox="1"/>
          <p:nvPr/>
        </p:nvSpPr>
        <p:spPr>
          <a:xfrm>
            <a:off x="731520" y="2240280"/>
            <a:ext cx="3291840" cy="777240"/>
          </a:xfrm>
          <a:prstGeom prst="rect">
            <a:avLst/>
          </a:prstGeom>
          <a:noFill/>
          <a:ln/>
        </p:spPr>
        <p:txBody>
          <a:bodyPr wrap="square" lIns="0" tIns="0" rIns="0" bIns="0" rtlCol="0" anchor="t"/>
          <a:lstStyle/>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run docs/mssql/*.sql</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on (localdb)\MSSQLLocalDB</a:t>
            </a:r>
            <a:endParaRPr lang="en-US" sz="1050" dirty="0"/>
          </a:p>
        </p:txBody>
      </p:sp>
      <p:sp>
        <p:nvSpPr>
          <p:cNvPr id="11" name="Shape 7"/>
          <p:cNvSpPr/>
          <p:nvPr/>
        </p:nvSpPr>
        <p:spPr>
          <a:xfrm>
            <a:off x="4297680" y="1783080"/>
            <a:ext cx="3611880" cy="1325880"/>
          </a:xfrm>
          <a:prstGeom prst="roundRect">
            <a:avLst>
              <a:gd name="adj" fmla="val 6897"/>
            </a:avLst>
          </a:prstGeom>
          <a:solidFill>
            <a:srgbClr val="0F172A"/>
          </a:solidFill>
          <a:ln w="12700">
            <a:solidFill>
              <a:srgbClr val="0F172A"/>
            </a:solidFill>
            <a:prstDash val="solid"/>
          </a:ln>
        </p:spPr>
      </p:sp>
      <p:sp>
        <p:nvSpPr>
          <p:cNvPr id="12" name="Text 8"/>
          <p:cNvSpPr txBox="1"/>
          <p:nvPr/>
        </p:nvSpPr>
        <p:spPr>
          <a:xfrm>
            <a:off x="4480560" y="1892808"/>
            <a:ext cx="3246120" cy="292608"/>
          </a:xfrm>
          <a:prstGeom prst="rect">
            <a:avLst/>
          </a:prstGeom>
          <a:noFill/>
          <a:ln/>
        </p:spPr>
        <p:txBody>
          <a:bodyPr wrap="square" lIns="0" tIns="0" rIns="0" bIns="0" rtlCol="0" anchor="ctr"/>
          <a:lstStyle/>
          <a:p>
            <a:pPr indent="0" marL="0">
              <a:buNone/>
            </a:pPr>
            <a:r>
              <a:rPr lang="en-US" sz="1200" b="1" dirty="0">
                <a:solidFill>
                  <a:srgbClr val="A5B4FC"/>
                </a:solidFill>
                <a:latin typeface="Roboto" pitchFamily="34" charset="0"/>
                <a:ea typeface="Roboto" pitchFamily="34" charset="-122"/>
                <a:cs typeface="Roboto" pitchFamily="34" charset="-120"/>
              </a:rPr>
              <a:t>2  Local model</a:t>
            </a:r>
            <a:endParaRPr lang="en-US" sz="1200" dirty="0"/>
          </a:p>
        </p:txBody>
      </p:sp>
      <p:sp>
        <p:nvSpPr>
          <p:cNvPr id="13" name="Text 9"/>
          <p:cNvSpPr txBox="1"/>
          <p:nvPr/>
        </p:nvSpPr>
        <p:spPr>
          <a:xfrm>
            <a:off x="4480560" y="2240280"/>
            <a:ext cx="3291840" cy="777240"/>
          </a:xfrm>
          <a:prstGeom prst="rect">
            <a:avLst/>
          </a:prstGeom>
          <a:noFill/>
          <a:ln/>
        </p:spPr>
        <p:txBody>
          <a:bodyPr wrap="square" lIns="0" tIns="0" rIns="0" bIns="0" rtlCol="0" anchor="t"/>
          <a:lstStyle/>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ollama pull qwen2.5vl:7b</a:t>
            </a:r>
            <a:endParaRPr lang="en-US" sz="1050" dirty="0"/>
          </a:p>
        </p:txBody>
      </p:sp>
      <p:sp>
        <p:nvSpPr>
          <p:cNvPr id="14" name="Shape 10"/>
          <p:cNvSpPr/>
          <p:nvPr/>
        </p:nvSpPr>
        <p:spPr>
          <a:xfrm>
            <a:off x="8046720" y="1783080"/>
            <a:ext cx="3593592" cy="2697480"/>
          </a:xfrm>
          <a:prstGeom prst="roundRect">
            <a:avLst>
              <a:gd name="adj" fmla="val 3390"/>
            </a:avLst>
          </a:prstGeom>
          <a:solidFill>
            <a:srgbClr val="0F172A"/>
          </a:solidFill>
          <a:ln w="12700">
            <a:solidFill>
              <a:srgbClr val="0F172A"/>
            </a:solidFill>
            <a:prstDash val="solid"/>
          </a:ln>
        </p:spPr>
      </p:sp>
      <p:sp>
        <p:nvSpPr>
          <p:cNvPr id="15" name="Text 11"/>
          <p:cNvSpPr txBox="1"/>
          <p:nvPr/>
        </p:nvSpPr>
        <p:spPr>
          <a:xfrm>
            <a:off x="8229600" y="1892808"/>
            <a:ext cx="3227832" cy="292608"/>
          </a:xfrm>
          <a:prstGeom prst="rect">
            <a:avLst/>
          </a:prstGeom>
          <a:noFill/>
          <a:ln/>
        </p:spPr>
        <p:txBody>
          <a:bodyPr wrap="square" lIns="0" tIns="0" rIns="0" bIns="0" rtlCol="0" anchor="ctr"/>
          <a:lstStyle/>
          <a:p>
            <a:pPr indent="0" marL="0">
              <a:buNone/>
            </a:pPr>
            <a:r>
              <a:rPr lang="en-US" sz="1200" b="1" dirty="0">
                <a:solidFill>
                  <a:srgbClr val="A5B4FC"/>
                </a:solidFill>
                <a:latin typeface="Roboto" pitchFamily="34" charset="0"/>
                <a:ea typeface="Roboto" pitchFamily="34" charset="-122"/>
                <a:cs typeface="Roboto" pitchFamily="34" charset="-120"/>
              </a:rPr>
              <a:t>3  API  :8000</a:t>
            </a:r>
            <a:endParaRPr lang="en-US" sz="1200" dirty="0"/>
          </a:p>
        </p:txBody>
      </p:sp>
      <p:sp>
        <p:nvSpPr>
          <p:cNvPr id="16" name="Text 12"/>
          <p:cNvSpPr txBox="1"/>
          <p:nvPr/>
        </p:nvSpPr>
        <p:spPr>
          <a:xfrm>
            <a:off x="8229600" y="2240280"/>
            <a:ext cx="3273552" cy="2148840"/>
          </a:xfrm>
          <a:prstGeom prst="rect">
            <a:avLst/>
          </a:prstGeom>
          <a:noFill/>
          <a:ln/>
        </p:spPr>
        <p:txBody>
          <a:bodyPr wrap="square" lIns="0" tIns="0" rIns="0" bIns="0" rtlCol="0" anchor="t"/>
          <a:lstStyle/>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cd api</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python -m venv .venv-agents</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.venv-agents\Scripts\pip install -r requirements-agents.txt</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run.bat</a:t>
            </a:r>
            <a:endParaRPr lang="en-US" sz="1050" dirty="0"/>
          </a:p>
        </p:txBody>
      </p:sp>
      <p:sp>
        <p:nvSpPr>
          <p:cNvPr id="17" name="Shape 13"/>
          <p:cNvSpPr/>
          <p:nvPr/>
        </p:nvSpPr>
        <p:spPr>
          <a:xfrm>
            <a:off x="548640" y="3246120"/>
            <a:ext cx="3611880" cy="1234440"/>
          </a:xfrm>
          <a:prstGeom prst="roundRect">
            <a:avLst>
              <a:gd name="adj" fmla="val 7407"/>
            </a:avLst>
          </a:prstGeom>
          <a:solidFill>
            <a:srgbClr val="0F172A"/>
          </a:solidFill>
          <a:ln w="12700">
            <a:solidFill>
              <a:srgbClr val="0F172A"/>
            </a:solidFill>
            <a:prstDash val="solid"/>
          </a:ln>
        </p:spPr>
      </p:sp>
      <p:sp>
        <p:nvSpPr>
          <p:cNvPr id="18" name="Text 14"/>
          <p:cNvSpPr txBox="1"/>
          <p:nvPr/>
        </p:nvSpPr>
        <p:spPr>
          <a:xfrm>
            <a:off x="731520" y="3355848"/>
            <a:ext cx="3246120" cy="292608"/>
          </a:xfrm>
          <a:prstGeom prst="rect">
            <a:avLst/>
          </a:prstGeom>
          <a:noFill/>
          <a:ln/>
        </p:spPr>
        <p:txBody>
          <a:bodyPr wrap="square" lIns="0" tIns="0" rIns="0" bIns="0" rtlCol="0" anchor="ctr"/>
          <a:lstStyle/>
          <a:p>
            <a:pPr indent="0" marL="0">
              <a:buNone/>
            </a:pPr>
            <a:r>
              <a:rPr lang="en-US" sz="1200" b="1" dirty="0">
                <a:solidFill>
                  <a:srgbClr val="A5B4FC"/>
                </a:solidFill>
                <a:latin typeface="Roboto" pitchFamily="34" charset="0"/>
                <a:ea typeface="Roboto" pitchFamily="34" charset="-122"/>
                <a:cs typeface="Roboto" pitchFamily="34" charset="-120"/>
              </a:rPr>
              <a:t>4  Frontend  :5173</a:t>
            </a:r>
            <a:endParaRPr lang="en-US" sz="1200" dirty="0"/>
          </a:p>
        </p:txBody>
      </p:sp>
      <p:sp>
        <p:nvSpPr>
          <p:cNvPr id="19" name="Text 15"/>
          <p:cNvSpPr txBox="1"/>
          <p:nvPr/>
        </p:nvSpPr>
        <p:spPr>
          <a:xfrm>
            <a:off x="731520" y="3703320"/>
            <a:ext cx="3291840" cy="685800"/>
          </a:xfrm>
          <a:prstGeom prst="rect">
            <a:avLst/>
          </a:prstGeom>
          <a:noFill/>
          <a:ln/>
        </p:spPr>
        <p:txBody>
          <a:bodyPr wrap="square" lIns="0" tIns="0" rIns="0" bIns="0" rtlCol="0" anchor="t"/>
          <a:lstStyle/>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npm install</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npm run dev</a:t>
            </a:r>
            <a:endParaRPr lang="en-US" sz="1050" dirty="0"/>
          </a:p>
        </p:txBody>
      </p:sp>
      <p:sp>
        <p:nvSpPr>
          <p:cNvPr id="20" name="Shape 16"/>
          <p:cNvSpPr/>
          <p:nvPr/>
        </p:nvSpPr>
        <p:spPr>
          <a:xfrm>
            <a:off x="4297680" y="3246120"/>
            <a:ext cx="3611880" cy="1234440"/>
          </a:xfrm>
          <a:prstGeom prst="roundRect">
            <a:avLst>
              <a:gd name="adj" fmla="val 7407"/>
            </a:avLst>
          </a:prstGeom>
          <a:solidFill>
            <a:srgbClr val="0F172A"/>
          </a:solidFill>
          <a:ln w="12700">
            <a:solidFill>
              <a:srgbClr val="0F172A"/>
            </a:solidFill>
            <a:prstDash val="solid"/>
          </a:ln>
        </p:spPr>
      </p:sp>
      <p:sp>
        <p:nvSpPr>
          <p:cNvPr id="21" name="Text 17"/>
          <p:cNvSpPr txBox="1"/>
          <p:nvPr/>
        </p:nvSpPr>
        <p:spPr>
          <a:xfrm>
            <a:off x="4480560" y="3355848"/>
            <a:ext cx="3246120" cy="292608"/>
          </a:xfrm>
          <a:prstGeom prst="rect">
            <a:avLst/>
          </a:prstGeom>
          <a:noFill/>
          <a:ln/>
        </p:spPr>
        <p:txBody>
          <a:bodyPr wrap="square" lIns="0" tIns="0" rIns="0" bIns="0" rtlCol="0" anchor="ctr"/>
          <a:lstStyle/>
          <a:p>
            <a:pPr indent="0" marL="0">
              <a:buNone/>
            </a:pPr>
            <a:r>
              <a:rPr lang="en-US" sz="1200" b="1" dirty="0">
                <a:solidFill>
                  <a:srgbClr val="A5B4FC"/>
                </a:solidFill>
                <a:latin typeface="Roboto" pitchFamily="34" charset="0"/>
                <a:ea typeface="Roboto" pitchFamily="34" charset="-122"/>
                <a:cs typeface="Roboto" pitchFamily="34" charset="-120"/>
              </a:rPr>
              <a:t>5  Tests &amp; evaluation</a:t>
            </a:r>
            <a:endParaRPr lang="en-US" sz="1200" dirty="0"/>
          </a:p>
        </p:txBody>
      </p:sp>
      <p:sp>
        <p:nvSpPr>
          <p:cNvPr id="22" name="Text 18"/>
          <p:cNvSpPr txBox="1"/>
          <p:nvPr/>
        </p:nvSpPr>
        <p:spPr>
          <a:xfrm>
            <a:off x="4480560" y="3703320"/>
            <a:ext cx="3291840" cy="685800"/>
          </a:xfrm>
          <a:prstGeom prst="rect">
            <a:avLst/>
          </a:prstGeom>
          <a:noFill/>
          <a:ln/>
        </p:spPr>
        <p:txBody>
          <a:bodyPr wrap="square" lIns="0" tIns="0" rIns="0" bIns="0" rtlCol="0" anchor="t"/>
          <a:lstStyle/>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pytest tests/unit tests/agents tests/contract</a:t>
            </a:r>
            <a:endParaRPr lang="en-US" sz="1050" dirty="0"/>
          </a:p>
          <a:p>
            <a:pPr indent="0" marL="0">
              <a:spcAft>
                <a:spcPts val="400"/>
              </a:spcAft>
              <a:buNone/>
            </a:pPr>
            <a:r>
              <a:rPr lang="en-US" sz="1050" dirty="0">
                <a:solidFill>
                  <a:srgbClr val="E2E8F0"/>
                </a:solidFill>
                <a:latin typeface="Consolas" pitchFamily="34" charset="0"/>
                <a:ea typeface="Consolas" pitchFamily="34" charset="-122"/>
                <a:cs typeface="Consolas" pitchFamily="34" charset="-120"/>
              </a:rPr>
              <a:t>python -m eval.run_eval --all</a:t>
            </a:r>
            <a:endParaRPr lang="en-US" sz="1050" dirty="0"/>
          </a:p>
        </p:txBody>
      </p:sp>
      <p:sp>
        <p:nvSpPr>
          <p:cNvPr id="23" name="Text 19"/>
          <p:cNvSpPr txBox="1"/>
          <p:nvPr/>
        </p:nvSpPr>
        <p:spPr>
          <a:xfrm>
            <a:off x="548640" y="4709160"/>
            <a:ext cx="3657600" cy="256032"/>
          </a:xfrm>
          <a:prstGeom prst="rect">
            <a:avLst/>
          </a:prstGeom>
          <a:noFill/>
          <a:ln/>
        </p:spPr>
        <p:txBody>
          <a:bodyPr wrap="square" lIns="0" tIns="0" rIns="0" bIns="0" rtlCol="0" anchor="ctr"/>
          <a:lstStyle/>
          <a:p>
            <a:pPr indent="0" marL="0">
              <a:buNone/>
            </a:pPr>
            <a:r>
              <a:rPr lang="en-US" sz="1050" b="1" spc="200" kern="0" dirty="0">
                <a:solidFill>
                  <a:srgbClr val="64748B"/>
                </a:solidFill>
                <a:latin typeface="Roboto" pitchFamily="34" charset="0"/>
                <a:ea typeface="Roboto" pitchFamily="34" charset="-122"/>
                <a:cs typeface="Roboto" pitchFamily="34" charset="-120"/>
              </a:rPr>
              <a:t>WHERE THINGS LIVE</a:t>
            </a:r>
            <a:endParaRPr lang="en-US" sz="1050" dirty="0"/>
          </a:p>
        </p:txBody>
      </p:sp>
      <p:sp>
        <p:nvSpPr>
          <p:cNvPr id="24" name="Shape 20"/>
          <p:cNvSpPr/>
          <p:nvPr/>
        </p:nvSpPr>
        <p:spPr>
          <a:xfrm>
            <a:off x="548640" y="5029200"/>
            <a:ext cx="5468112" cy="530352"/>
          </a:xfrm>
          <a:prstGeom prst="roundRect">
            <a:avLst>
              <a:gd name="adj" fmla="val 13793"/>
            </a:avLst>
          </a:prstGeom>
          <a:solidFill>
            <a:srgbClr val="F8FAFC"/>
          </a:solidFill>
          <a:ln w="12700">
            <a:solidFill>
              <a:srgbClr val="E2E8F0"/>
            </a:solidFill>
            <a:prstDash val="solid"/>
          </a:ln>
        </p:spPr>
      </p:sp>
      <p:sp>
        <p:nvSpPr>
          <p:cNvPr id="25" name="Text 21"/>
          <p:cNvSpPr txBox="1"/>
          <p:nvPr/>
        </p:nvSpPr>
        <p:spPr>
          <a:xfrm>
            <a:off x="685800" y="5029200"/>
            <a:ext cx="5212080" cy="530352"/>
          </a:xfrm>
          <a:prstGeom prst="rect">
            <a:avLst/>
          </a:prstGeom>
          <a:noFill/>
          <a:ln/>
        </p:spPr>
        <p:txBody>
          <a:bodyPr wrap="square" lIns="0" tIns="0" rIns="0" bIns="0" rtlCol="0" anchor="ctr"/>
          <a:lstStyle/>
          <a:p>
            <a:pPr indent="0" marL="0">
              <a:buNone/>
            </a:pPr>
            <a:r>
              <a:rPr lang="en-US" sz="1050" b="1" dirty="0">
                <a:solidFill>
                  <a:srgbClr val="3730A3"/>
                </a:solidFill>
                <a:latin typeface="Consolas" pitchFamily="34" charset="0"/>
                <a:ea typeface="Consolas" pitchFamily="34" charset="-122"/>
                <a:cs typeface="Consolas" pitchFamily="34" charset="-120"/>
              </a:rPr>
              <a:t>api/app/agents/  </a:t>
            </a:r>
            <a:pPr indent="0" marL="0">
              <a:buNone/>
            </a:pPr>
            <a:r>
              <a:rPr lang="en-US" sz="1050" dirty="0">
                <a:solidFill>
                  <a:srgbClr val="64748B"/>
                </a:solidFill>
                <a:latin typeface="Roboto" pitchFamily="34" charset="0"/>
                <a:ea typeface="Roboto" pitchFamily="34" charset="-122"/>
                <a:cs typeface="Roboto" pitchFamily="34" charset="-120"/>
              </a:rPr>
              <a:t>registry, agent implementations, flows, tools, llm/gateway.py</a:t>
            </a:r>
            <a:endParaRPr lang="en-US" sz="1050" dirty="0"/>
          </a:p>
        </p:txBody>
      </p:sp>
      <p:sp>
        <p:nvSpPr>
          <p:cNvPr id="26" name="Shape 22"/>
          <p:cNvSpPr/>
          <p:nvPr/>
        </p:nvSpPr>
        <p:spPr>
          <a:xfrm>
            <a:off x="6172200" y="5029200"/>
            <a:ext cx="5468112" cy="530352"/>
          </a:xfrm>
          <a:prstGeom prst="roundRect">
            <a:avLst>
              <a:gd name="adj" fmla="val 13793"/>
            </a:avLst>
          </a:prstGeom>
          <a:solidFill>
            <a:srgbClr val="F8FAFC"/>
          </a:solidFill>
          <a:ln w="12700">
            <a:solidFill>
              <a:srgbClr val="E2E8F0"/>
            </a:solidFill>
            <a:prstDash val="solid"/>
          </a:ln>
        </p:spPr>
      </p:sp>
      <p:sp>
        <p:nvSpPr>
          <p:cNvPr id="27" name="Text 23"/>
          <p:cNvSpPr txBox="1"/>
          <p:nvPr/>
        </p:nvSpPr>
        <p:spPr>
          <a:xfrm>
            <a:off x="6309360" y="5029200"/>
            <a:ext cx="5212080" cy="530352"/>
          </a:xfrm>
          <a:prstGeom prst="rect">
            <a:avLst/>
          </a:prstGeom>
          <a:noFill/>
          <a:ln/>
        </p:spPr>
        <p:txBody>
          <a:bodyPr wrap="square" lIns="0" tIns="0" rIns="0" bIns="0" rtlCol="0" anchor="ctr"/>
          <a:lstStyle/>
          <a:p>
            <a:pPr indent="0" marL="0">
              <a:buNone/>
            </a:pPr>
            <a:r>
              <a:rPr lang="en-US" sz="1050" b="1" dirty="0">
                <a:solidFill>
                  <a:srgbClr val="3730A3"/>
                </a:solidFill>
                <a:latin typeface="Consolas" pitchFamily="34" charset="0"/>
                <a:ea typeface="Consolas" pitchFamily="34" charset="-122"/>
                <a:cs typeface="Consolas" pitchFamily="34" charset="-120"/>
              </a:rPr>
              <a:t>api/eval/  </a:t>
            </a:r>
            <a:pPr indent="0" marL="0">
              <a:buNone/>
            </a:pPr>
            <a:r>
              <a:rPr lang="en-US" sz="1050" dirty="0">
                <a:solidFill>
                  <a:srgbClr val="64748B"/>
                </a:solidFill>
                <a:latin typeface="Roboto" pitchFamily="34" charset="0"/>
                <a:ea typeface="Roboto" pitchFamily="34" charset="-122"/>
                <a:cs typeface="Roboto" pitchFamily="34" charset="-120"/>
              </a:rPr>
              <a:t>datasets, targets.yaml, run_eval.py, results/</a:t>
            </a:r>
            <a:endParaRPr lang="en-US" sz="1050" dirty="0"/>
          </a:p>
        </p:txBody>
      </p:sp>
      <p:sp>
        <p:nvSpPr>
          <p:cNvPr id="28" name="Shape 24"/>
          <p:cNvSpPr/>
          <p:nvPr/>
        </p:nvSpPr>
        <p:spPr>
          <a:xfrm>
            <a:off x="548640" y="5650992"/>
            <a:ext cx="5468112" cy="530352"/>
          </a:xfrm>
          <a:prstGeom prst="roundRect">
            <a:avLst>
              <a:gd name="adj" fmla="val 13793"/>
            </a:avLst>
          </a:prstGeom>
          <a:solidFill>
            <a:srgbClr val="F8FAFC"/>
          </a:solidFill>
          <a:ln w="12700">
            <a:solidFill>
              <a:srgbClr val="E2E8F0"/>
            </a:solidFill>
            <a:prstDash val="solid"/>
          </a:ln>
        </p:spPr>
      </p:sp>
      <p:sp>
        <p:nvSpPr>
          <p:cNvPr id="29" name="Text 25"/>
          <p:cNvSpPr txBox="1"/>
          <p:nvPr/>
        </p:nvSpPr>
        <p:spPr>
          <a:xfrm>
            <a:off x="685800" y="5650992"/>
            <a:ext cx="5212080" cy="530352"/>
          </a:xfrm>
          <a:prstGeom prst="rect">
            <a:avLst/>
          </a:prstGeom>
          <a:noFill/>
          <a:ln/>
        </p:spPr>
        <p:txBody>
          <a:bodyPr wrap="square" lIns="0" tIns="0" rIns="0" bIns="0" rtlCol="0" anchor="ctr"/>
          <a:lstStyle/>
          <a:p>
            <a:pPr indent="0" marL="0">
              <a:buNone/>
            </a:pPr>
            <a:r>
              <a:rPr lang="en-US" sz="1050" b="1" dirty="0">
                <a:solidFill>
                  <a:srgbClr val="3730A3"/>
                </a:solidFill>
                <a:latin typeface="Consolas" pitchFamily="34" charset="0"/>
                <a:ea typeface="Consolas" pitchFamily="34" charset="-122"/>
                <a:cs typeface="Consolas" pitchFamily="34" charset="-120"/>
              </a:rPr>
              <a:t>docs/finsight-architecture.html  </a:t>
            </a:r>
            <a:pPr indent="0" marL="0">
              <a:buNone/>
            </a:pPr>
            <a:r>
              <a:rPr lang="en-US" sz="1050" dirty="0">
                <a:solidFill>
                  <a:srgbClr val="64748B"/>
                </a:solidFill>
                <a:latin typeface="Roboto" pitchFamily="34" charset="0"/>
                <a:ea typeface="Roboto" pitchFamily="34" charset="-122"/>
                <a:cs typeface="Roboto" pitchFamily="34" charset="-120"/>
              </a:rPr>
              <a:t>10 diagrams incl. the agent layer</a:t>
            </a:r>
            <a:endParaRPr lang="en-US" sz="1050" dirty="0"/>
          </a:p>
        </p:txBody>
      </p:sp>
      <p:sp>
        <p:nvSpPr>
          <p:cNvPr id="30" name="Shape 26"/>
          <p:cNvSpPr/>
          <p:nvPr/>
        </p:nvSpPr>
        <p:spPr>
          <a:xfrm>
            <a:off x="6172200" y="5650992"/>
            <a:ext cx="5468112" cy="530352"/>
          </a:xfrm>
          <a:prstGeom prst="roundRect">
            <a:avLst>
              <a:gd name="adj" fmla="val 13793"/>
            </a:avLst>
          </a:prstGeom>
          <a:solidFill>
            <a:srgbClr val="F8FAFC"/>
          </a:solidFill>
          <a:ln w="12700">
            <a:solidFill>
              <a:srgbClr val="E2E8F0"/>
            </a:solidFill>
            <a:prstDash val="solid"/>
          </a:ln>
        </p:spPr>
      </p:sp>
      <p:sp>
        <p:nvSpPr>
          <p:cNvPr id="31" name="Text 27"/>
          <p:cNvSpPr txBox="1"/>
          <p:nvPr/>
        </p:nvSpPr>
        <p:spPr>
          <a:xfrm>
            <a:off x="6309360" y="5650992"/>
            <a:ext cx="5212080" cy="530352"/>
          </a:xfrm>
          <a:prstGeom prst="rect">
            <a:avLst/>
          </a:prstGeom>
          <a:noFill/>
          <a:ln/>
        </p:spPr>
        <p:txBody>
          <a:bodyPr wrap="square" lIns="0" tIns="0" rIns="0" bIns="0" rtlCol="0" anchor="ctr"/>
          <a:lstStyle/>
          <a:p>
            <a:pPr indent="0" marL="0">
              <a:buNone/>
            </a:pPr>
            <a:r>
              <a:rPr lang="en-US" sz="1050" b="1" dirty="0">
                <a:solidFill>
                  <a:srgbClr val="3730A3"/>
                </a:solidFill>
                <a:latin typeface="Consolas" pitchFamily="34" charset="0"/>
                <a:ea typeface="Consolas" pitchFamily="34" charset="-122"/>
                <a:cs typeface="Consolas" pitchFamily="34" charset="-120"/>
              </a:rPr>
              <a:t>docs/reports/06-…Evaluation-Report.docx  </a:t>
            </a:r>
            <a:pPr indent="0" marL="0">
              <a:buNone/>
            </a:pPr>
            <a:r>
              <a:rPr lang="en-US" sz="1050" dirty="0">
                <a:solidFill>
                  <a:srgbClr val="64748B"/>
                </a:solidFill>
                <a:latin typeface="Roboto" pitchFamily="34" charset="0"/>
                <a:ea typeface="Roboto" pitchFamily="34" charset="-122"/>
                <a:cs typeface="Roboto" pitchFamily="34" charset="-120"/>
              </a:rPr>
              <a:t>the full per-agent report</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72A"/>
        </a:solidFill>
      </p:bgPr>
    </p:bg>
    <p:spTree>
      <p:nvGrpSpPr>
        <p:cNvPr id="1" name=""/>
        <p:cNvGrpSpPr/>
        <p:nvPr/>
      </p:nvGrpSpPr>
      <p:grpSpPr>
        <a:xfrm>
          <a:off x="0" y="0"/>
          <a:ext cx="0" cy="0"/>
          <a:chOff x="0" y="0"/>
          <a:chExt cx="0" cy="0"/>
        </a:xfrm>
      </p:grpSpPr>
      <p:pic>
        <p:nvPicPr>
          <p:cNvPr id="2" name="Image 0" descr="C:\Users\shrey\AppData\Local\Temp\claude\D--novacinternship-finsight\87f4101b-bf26-4b28-976a-e637573d77e1\scratchpad\deck\img\logo_lockup_light.png">    </p:cNvPr>
          <p:cNvPicPr>
            <a:picLocks noChangeAspect="1"/>
          </p:cNvPicPr>
          <p:nvPr/>
        </p:nvPicPr>
        <p:blipFill>
          <a:blip r:embed="rId1"/>
          <a:stretch>
            <a:fillRect/>
          </a:stretch>
        </p:blipFill>
        <p:spPr>
          <a:xfrm>
            <a:off x="548640" y="822960"/>
            <a:ext cx="2402129" cy="676656"/>
          </a:xfrm>
          <a:prstGeom prst="rect">
            <a:avLst/>
          </a:prstGeom>
        </p:spPr>
      </p:pic>
      <p:sp>
        <p:nvSpPr>
          <p:cNvPr id="3" name="Text 0"/>
          <p:cNvSpPr txBox="1"/>
          <p:nvPr/>
        </p:nvSpPr>
        <p:spPr>
          <a:xfrm>
            <a:off x="548640" y="1645920"/>
            <a:ext cx="8229600" cy="1737360"/>
          </a:xfrm>
          <a:prstGeom prst="rect">
            <a:avLst/>
          </a:prstGeom>
          <a:noFill/>
          <a:ln/>
        </p:spPr>
        <p:txBody>
          <a:bodyPr wrap="square" lIns="0" tIns="0" rIns="0" bIns="0" rtlCol="0" anchor="t"/>
          <a:lstStyle/>
          <a:p>
            <a:pPr indent="0" marL="0">
              <a:buNone/>
            </a:pPr>
            <a:r>
              <a:rPr lang="en-US" sz="4400" b="1" dirty="0">
                <a:solidFill>
                  <a:srgbClr val="FFFFFF"/>
                </a:solidFill>
                <a:latin typeface="Roboto" pitchFamily="34" charset="0"/>
                <a:ea typeface="Roboto" pitchFamily="34" charset="-122"/>
                <a:cs typeface="Roboto" pitchFamily="34" charset="-120"/>
              </a:rPr>
              <a:t>Agents read, check and draft.</a:t>
            </a:r>
            <a:endParaRPr lang="en-US" sz="4400" dirty="0"/>
          </a:p>
          <a:p>
            <a:pPr indent="0" marL="0">
              <a:buNone/>
            </a:pPr>
            <a:r>
              <a:rPr lang="en-US" sz="4400" b="1" dirty="0">
                <a:solidFill>
                  <a:srgbClr val="FFFFFF"/>
                </a:solidFill>
                <a:latin typeface="Roboto" pitchFamily="34" charset="0"/>
                <a:ea typeface="Roboto" pitchFamily="34" charset="-122"/>
                <a:cs typeface="Roboto" pitchFamily="34" charset="-120"/>
              </a:rPr>
              <a:t>People decide.</a:t>
            </a:r>
            <a:endParaRPr lang="en-US" sz="4400" dirty="0"/>
          </a:p>
        </p:txBody>
      </p:sp>
      <p:sp>
        <p:nvSpPr>
          <p:cNvPr id="4" name="Shape 1"/>
          <p:cNvSpPr/>
          <p:nvPr/>
        </p:nvSpPr>
        <p:spPr>
          <a:xfrm>
            <a:off x="548640" y="3931920"/>
            <a:ext cx="2651760" cy="1234440"/>
          </a:xfrm>
          <a:prstGeom prst="roundRect">
            <a:avLst>
              <a:gd name="adj" fmla="val 8889"/>
            </a:avLst>
          </a:prstGeom>
          <a:solidFill>
            <a:srgbClr val="1E293B"/>
          </a:solidFill>
          <a:ln w="12700">
            <a:solidFill>
              <a:srgbClr val="334155"/>
            </a:solidFill>
            <a:prstDash val="solid"/>
          </a:ln>
        </p:spPr>
      </p:sp>
      <p:sp>
        <p:nvSpPr>
          <p:cNvPr id="5" name="Text 2"/>
          <p:cNvSpPr txBox="1"/>
          <p:nvPr/>
        </p:nvSpPr>
        <p:spPr>
          <a:xfrm>
            <a:off x="777240" y="4005072"/>
            <a:ext cx="2194560" cy="640080"/>
          </a:xfrm>
          <a:prstGeom prst="rect">
            <a:avLst/>
          </a:prstGeom>
          <a:noFill/>
          <a:ln/>
        </p:spPr>
        <p:txBody>
          <a:bodyPr wrap="square" lIns="0" tIns="0" rIns="0" bIns="0" rtlCol="0" anchor="ctr"/>
          <a:lstStyle/>
          <a:p>
            <a:pPr indent="0" marL="0">
              <a:buNone/>
            </a:pPr>
            <a:r>
              <a:rPr lang="en-US" sz="3200" b="1" dirty="0">
                <a:solidFill>
                  <a:srgbClr val="A5B4FC"/>
                </a:solidFill>
                <a:latin typeface="Roboto" pitchFamily="34" charset="0"/>
                <a:ea typeface="Roboto" pitchFamily="34" charset="-122"/>
                <a:cs typeface="Roboto" pitchFamily="34" charset="-120"/>
              </a:rPr>
              <a:t>29</a:t>
            </a:r>
            <a:endParaRPr lang="en-US" sz="3200" dirty="0"/>
          </a:p>
        </p:txBody>
      </p:sp>
      <p:sp>
        <p:nvSpPr>
          <p:cNvPr id="6" name="Text 3"/>
          <p:cNvSpPr txBox="1"/>
          <p:nvPr/>
        </p:nvSpPr>
        <p:spPr>
          <a:xfrm>
            <a:off x="777240" y="4617720"/>
            <a:ext cx="2286000" cy="411480"/>
          </a:xfrm>
          <a:prstGeom prst="rect">
            <a:avLst/>
          </a:prstGeom>
          <a:noFill/>
          <a:ln/>
        </p:spPr>
        <p:txBody>
          <a:bodyPr wrap="square" lIns="0" tIns="0" rIns="0" bIns="0" rtlCol="0" anchor="ctr"/>
          <a:lstStyle/>
          <a:p>
            <a:pPr indent="0" marL="0">
              <a:buNone/>
            </a:pPr>
            <a:r>
              <a:rPr lang="en-US" sz="1200" dirty="0">
                <a:solidFill>
                  <a:srgbClr val="CBD5E1"/>
                </a:solidFill>
                <a:latin typeface="Roboto" pitchFamily="34" charset="0"/>
                <a:ea typeface="Roboto" pitchFamily="34" charset="-122"/>
                <a:cs typeface="Roboto" pitchFamily="34" charset="-120"/>
              </a:rPr>
              <a:t>agents in 6 crews</a:t>
            </a:r>
            <a:endParaRPr lang="en-US" sz="1200" dirty="0"/>
          </a:p>
        </p:txBody>
      </p:sp>
      <p:sp>
        <p:nvSpPr>
          <p:cNvPr id="7" name="Shape 4"/>
          <p:cNvSpPr/>
          <p:nvPr/>
        </p:nvSpPr>
        <p:spPr>
          <a:xfrm>
            <a:off x="3355848" y="3931920"/>
            <a:ext cx="2651760" cy="1234440"/>
          </a:xfrm>
          <a:prstGeom prst="roundRect">
            <a:avLst>
              <a:gd name="adj" fmla="val 8889"/>
            </a:avLst>
          </a:prstGeom>
          <a:solidFill>
            <a:srgbClr val="1E293B"/>
          </a:solidFill>
          <a:ln w="12700">
            <a:solidFill>
              <a:srgbClr val="334155"/>
            </a:solidFill>
            <a:prstDash val="solid"/>
          </a:ln>
        </p:spPr>
      </p:sp>
      <p:sp>
        <p:nvSpPr>
          <p:cNvPr id="8" name="Text 5"/>
          <p:cNvSpPr txBox="1"/>
          <p:nvPr/>
        </p:nvSpPr>
        <p:spPr>
          <a:xfrm>
            <a:off x="3584448" y="4005072"/>
            <a:ext cx="2194560" cy="640080"/>
          </a:xfrm>
          <a:prstGeom prst="rect">
            <a:avLst/>
          </a:prstGeom>
          <a:noFill/>
          <a:ln/>
        </p:spPr>
        <p:txBody>
          <a:bodyPr wrap="square" lIns="0" tIns="0" rIns="0" bIns="0" rtlCol="0" anchor="ctr"/>
          <a:lstStyle/>
          <a:p>
            <a:pPr indent="0" marL="0">
              <a:buNone/>
            </a:pPr>
            <a:r>
              <a:rPr lang="en-US" sz="3200" b="1" dirty="0">
                <a:solidFill>
                  <a:srgbClr val="A5B4FC"/>
                </a:solidFill>
                <a:latin typeface="Roboto" pitchFamily="34" charset="0"/>
                <a:ea typeface="Roboto" pitchFamily="34" charset="-122"/>
                <a:cs typeface="Roboto" pitchFamily="34" charset="-120"/>
              </a:rPr>
              <a:t>26</a:t>
            </a:r>
            <a:endParaRPr lang="en-US" sz="3200" dirty="0"/>
          </a:p>
        </p:txBody>
      </p:sp>
      <p:sp>
        <p:nvSpPr>
          <p:cNvPr id="9" name="Text 6"/>
          <p:cNvSpPr txBox="1"/>
          <p:nvPr/>
        </p:nvSpPr>
        <p:spPr>
          <a:xfrm>
            <a:off x="3584448" y="4617720"/>
            <a:ext cx="2286000" cy="411480"/>
          </a:xfrm>
          <a:prstGeom prst="rect">
            <a:avLst/>
          </a:prstGeom>
          <a:noFill/>
          <a:ln/>
        </p:spPr>
        <p:txBody>
          <a:bodyPr wrap="square" lIns="0" tIns="0" rIns="0" bIns="0" rtlCol="0" anchor="ctr"/>
          <a:lstStyle/>
          <a:p>
            <a:pPr indent="0" marL="0">
              <a:buNone/>
            </a:pPr>
            <a:r>
              <a:rPr lang="en-US" sz="1200" dirty="0">
                <a:solidFill>
                  <a:srgbClr val="CBD5E1"/>
                </a:solidFill>
                <a:latin typeface="Roboto" pitchFamily="34" charset="0"/>
                <a:ea typeface="Roboto" pitchFamily="34" charset="-122"/>
                <a:cs typeface="Roboto" pitchFamily="34" charset="-120"/>
              </a:rPr>
              <a:t>meet their target</a:t>
            </a:r>
            <a:endParaRPr lang="en-US" sz="1200" dirty="0"/>
          </a:p>
        </p:txBody>
      </p:sp>
      <p:sp>
        <p:nvSpPr>
          <p:cNvPr id="10" name="Shape 7"/>
          <p:cNvSpPr/>
          <p:nvPr/>
        </p:nvSpPr>
        <p:spPr>
          <a:xfrm>
            <a:off x="6163056" y="3931920"/>
            <a:ext cx="2651760" cy="1234440"/>
          </a:xfrm>
          <a:prstGeom prst="roundRect">
            <a:avLst>
              <a:gd name="adj" fmla="val 8889"/>
            </a:avLst>
          </a:prstGeom>
          <a:solidFill>
            <a:srgbClr val="1E293B"/>
          </a:solidFill>
          <a:ln w="12700">
            <a:solidFill>
              <a:srgbClr val="334155"/>
            </a:solidFill>
            <a:prstDash val="solid"/>
          </a:ln>
        </p:spPr>
      </p:sp>
      <p:sp>
        <p:nvSpPr>
          <p:cNvPr id="11" name="Text 8"/>
          <p:cNvSpPr txBox="1"/>
          <p:nvPr/>
        </p:nvSpPr>
        <p:spPr>
          <a:xfrm>
            <a:off x="6391656" y="4005072"/>
            <a:ext cx="2194560" cy="640080"/>
          </a:xfrm>
          <a:prstGeom prst="rect">
            <a:avLst/>
          </a:prstGeom>
          <a:noFill/>
          <a:ln/>
        </p:spPr>
        <p:txBody>
          <a:bodyPr wrap="square" lIns="0" tIns="0" rIns="0" bIns="0" rtlCol="0" anchor="ctr"/>
          <a:lstStyle/>
          <a:p>
            <a:pPr indent="0" marL="0">
              <a:buNone/>
            </a:pPr>
            <a:r>
              <a:rPr lang="en-US" sz="3200" b="1" dirty="0">
                <a:solidFill>
                  <a:srgbClr val="A5B4FC"/>
                </a:solidFill>
                <a:latin typeface="Roboto" pitchFamily="34" charset="0"/>
                <a:ea typeface="Roboto" pitchFamily="34" charset="-122"/>
                <a:cs typeface="Roboto" pitchFamily="34" charset="-120"/>
              </a:rPr>
              <a:t>17</a:t>
            </a:r>
            <a:endParaRPr lang="en-US" sz="3200" dirty="0"/>
          </a:p>
        </p:txBody>
      </p:sp>
      <p:sp>
        <p:nvSpPr>
          <p:cNvPr id="12" name="Text 9"/>
          <p:cNvSpPr txBox="1"/>
          <p:nvPr/>
        </p:nvSpPr>
        <p:spPr>
          <a:xfrm>
            <a:off x="6391656" y="4617720"/>
            <a:ext cx="2286000" cy="411480"/>
          </a:xfrm>
          <a:prstGeom prst="rect">
            <a:avLst/>
          </a:prstGeom>
          <a:noFill/>
          <a:ln/>
        </p:spPr>
        <p:txBody>
          <a:bodyPr wrap="square" lIns="0" tIns="0" rIns="0" bIns="0" rtlCol="0" anchor="ctr"/>
          <a:lstStyle/>
          <a:p>
            <a:pPr indent="0" marL="0">
              <a:buNone/>
            </a:pPr>
            <a:r>
              <a:rPr lang="en-US" sz="1200" dirty="0">
                <a:solidFill>
                  <a:srgbClr val="CBD5E1"/>
                </a:solidFill>
                <a:latin typeface="Roboto" pitchFamily="34" charset="0"/>
                <a:ea typeface="Roboto" pitchFamily="34" charset="-122"/>
                <a:cs typeface="Roboto" pitchFamily="34" charset="-120"/>
              </a:rPr>
              <a:t>defects found &amp; fixed</a:t>
            </a:r>
            <a:endParaRPr lang="en-US" sz="1200" dirty="0"/>
          </a:p>
        </p:txBody>
      </p:sp>
      <p:sp>
        <p:nvSpPr>
          <p:cNvPr id="13" name="Shape 10"/>
          <p:cNvSpPr/>
          <p:nvPr/>
        </p:nvSpPr>
        <p:spPr>
          <a:xfrm>
            <a:off x="8970264" y="3931920"/>
            <a:ext cx="2651760" cy="1234440"/>
          </a:xfrm>
          <a:prstGeom prst="roundRect">
            <a:avLst>
              <a:gd name="adj" fmla="val 8889"/>
            </a:avLst>
          </a:prstGeom>
          <a:solidFill>
            <a:srgbClr val="1E293B"/>
          </a:solidFill>
          <a:ln w="12700">
            <a:solidFill>
              <a:srgbClr val="334155"/>
            </a:solidFill>
            <a:prstDash val="solid"/>
          </a:ln>
        </p:spPr>
      </p:sp>
      <p:sp>
        <p:nvSpPr>
          <p:cNvPr id="14" name="Text 11"/>
          <p:cNvSpPr txBox="1"/>
          <p:nvPr/>
        </p:nvSpPr>
        <p:spPr>
          <a:xfrm>
            <a:off x="9198864" y="4005072"/>
            <a:ext cx="2194560" cy="640080"/>
          </a:xfrm>
          <a:prstGeom prst="rect">
            <a:avLst/>
          </a:prstGeom>
          <a:noFill/>
          <a:ln/>
        </p:spPr>
        <p:txBody>
          <a:bodyPr wrap="square" lIns="0" tIns="0" rIns="0" bIns="0" rtlCol="0" anchor="ctr"/>
          <a:lstStyle/>
          <a:p>
            <a:pPr indent="0" marL="0">
              <a:buNone/>
            </a:pPr>
            <a:r>
              <a:rPr lang="en-US" sz="3200" b="1" dirty="0">
                <a:solidFill>
                  <a:srgbClr val="A5B4FC"/>
                </a:solidFill>
                <a:latin typeface="Roboto" pitchFamily="34" charset="0"/>
                <a:ea typeface="Roboto" pitchFamily="34" charset="-122"/>
                <a:cs typeface="Roboto" pitchFamily="34" charset="-120"/>
              </a:rPr>
              <a:t>0</a:t>
            </a:r>
            <a:endParaRPr lang="en-US" sz="3200" dirty="0"/>
          </a:p>
        </p:txBody>
      </p:sp>
      <p:sp>
        <p:nvSpPr>
          <p:cNvPr id="15" name="Text 12"/>
          <p:cNvSpPr txBox="1"/>
          <p:nvPr/>
        </p:nvSpPr>
        <p:spPr>
          <a:xfrm>
            <a:off x="9198864" y="4617720"/>
            <a:ext cx="2286000" cy="411480"/>
          </a:xfrm>
          <a:prstGeom prst="rect">
            <a:avLst/>
          </a:prstGeom>
          <a:noFill/>
          <a:ln/>
        </p:spPr>
        <p:txBody>
          <a:bodyPr wrap="square" lIns="0" tIns="0" rIns="0" bIns="0" rtlCol="0" anchor="ctr"/>
          <a:lstStyle/>
          <a:p>
            <a:pPr indent="0" marL="0">
              <a:buNone/>
            </a:pPr>
            <a:r>
              <a:rPr lang="en-US" sz="1200" dirty="0">
                <a:solidFill>
                  <a:srgbClr val="CBD5E1"/>
                </a:solidFill>
                <a:latin typeface="Roboto" pitchFamily="34" charset="0"/>
                <a:ea typeface="Roboto" pitchFamily="34" charset="-122"/>
                <a:cs typeface="Roboto" pitchFamily="34" charset="-120"/>
              </a:rPr>
              <a:t>auto-rejections</a:t>
            </a:r>
            <a:endParaRPr lang="en-US" sz="1200" dirty="0"/>
          </a:p>
        </p:txBody>
      </p:sp>
      <p:sp>
        <p:nvSpPr>
          <p:cNvPr id="16" name="Text 13"/>
          <p:cNvSpPr txBox="1"/>
          <p:nvPr/>
        </p:nvSpPr>
        <p:spPr>
          <a:xfrm>
            <a:off x="548640" y="5577840"/>
            <a:ext cx="11094415" cy="365760"/>
          </a:xfrm>
          <a:prstGeom prst="rect">
            <a:avLst/>
          </a:prstGeom>
          <a:noFill/>
          <a:ln/>
        </p:spPr>
        <p:txBody>
          <a:bodyPr wrap="square" lIns="0" tIns="0" rIns="0" bIns="0" rtlCol="0" anchor="ctr"/>
          <a:lstStyle/>
          <a:p>
            <a:pPr indent="0" marL="0">
              <a:buNone/>
            </a:pPr>
            <a:r>
              <a:rPr lang="en-US" sz="1300" dirty="0">
                <a:solidFill>
                  <a:srgbClr val="94A3B8"/>
                </a:solidFill>
                <a:latin typeface="Roboto" pitchFamily="34" charset="0"/>
                <a:ea typeface="Roboto" pitchFamily="34" charset="-122"/>
                <a:cs typeface="Roboto" pitchFamily="34" charset="-120"/>
              </a:rPr>
              <a:t>Local model by default · every number grounded · every step traced · every decision human</a:t>
            </a:r>
            <a:endParaRPr lang="en-US" sz="1300" dirty="0"/>
          </a:p>
        </p:txBody>
      </p:sp>
      <p:sp>
        <p:nvSpPr>
          <p:cNvPr id="17" name="Text 14"/>
          <p:cNvSpPr txBox="1"/>
          <p:nvPr/>
        </p:nvSpPr>
        <p:spPr>
          <a:xfrm>
            <a:off x="548640" y="6035040"/>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Roboto" pitchFamily="34" charset="0"/>
                <a:ea typeface="Roboto" pitchFamily="34" charset="-122"/>
                <a:cs typeface="Roboto" pitchFamily="34" charset="-120"/>
              </a:rPr>
              <a:t>Thank you  ·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FinSight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FinSight AI — Agentic Loan Underwriting</dc:title>
  <dc:subject>PptxGenJS Presentation</dc:subject>
  <dc:creator>Shreyas Bile</dc:creator>
  <cp:lastModifiedBy>Shreyas Bile</cp:lastModifiedBy>
  <cp:revision>1</cp:revision>
  <dcterms:created xsi:type="dcterms:W3CDTF">2026-09-26T11:30:59Z</dcterms:created>
  <dcterms:modified xsi:type="dcterms:W3CDTF">2026-09-26T11:30:59Z</dcterms:modified>
</cp:coreProperties>
</file>