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charts/chart3.xml" ContentType="application/vnd.openxmlformats-officedocument.drawingml.chart+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charts/chart4.xml" ContentType="application/vnd.openxmlformats-officedocument.drawingml.chart+xml"/>
  <Override PartName="/ppt/slideMasters/slideMaster36.xml" ContentType="application/vnd.openxmlformats-officedocument.presentationml.slideMaster+xml"/>
  <Override PartName="/ppt/slides/slide36.xml" ContentType="application/vnd.openxmlformats-officedocument.presentationml.slide+xml"/>
  <Override PartName="/ppt/charts/chart5.xml" ContentType="application/vnd.openxmlformats-officedocument.drawingml.chart+xml"/>
  <Override PartName="/ppt/slideMasters/slideMaster37.xml" ContentType="application/vnd.openxmlformats-officedocument.presentationml.slideMaster+xml"/>
  <Override PartName="/ppt/slides/slide37.xml" ContentType="application/vnd.openxmlformats-officedocument.presentationml.slide+xml"/>
  <Override PartName="/ppt/charts/chart6.xml" ContentType="application/vnd.openxmlformats-officedocument.drawingml.chart+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charts/chart7.xml" ContentType="application/vnd.openxmlformats-officedocument.drawingml.chart+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Lst>
  <p:notesMasterIdLst>
    <p:notesMasterId r:id="rId4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notesMaster" Target="notesMasters/notesMaster1.xml"/><Relationship Id="rId45" Type="http://schemas.openxmlformats.org/officeDocument/2006/relationships/presProps" Target="presProps.xml"/><Relationship Id="rId46" Type="http://schemas.openxmlformats.org/officeDocument/2006/relationships/viewProps" Target="viewProps.xml"/><Relationship Id="rId47" Type="http://schemas.openxmlformats.org/officeDocument/2006/relationships/theme" Target="theme/theme1.xml"/><Relationship Id="rId4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50" b="0" i="0" u="none" strike="noStrike">
                <a:solidFill>
                  <a:srgbClr val="0F172A"/>
                </a:solidFill>
                <a:latin typeface="Roboto"/>
              </a:defRPr>
            </a:pPr>
            <a:r>
              <a:rPr sz="1150" b="0" i="0" u="none" strike="noStrike">
                <a:solidFill>
                  <a:srgbClr val="0F172A"/>
                </a:solidFill>
                <a:latin typeface="Roboto"/>
              </a:rPr>
              <a:t>Component weights (normalised over what's available)</a:t>
            </a:r>
          </a:p>
        </c:rich>
      </c:tx>
      <c:layout/>
      <c:overlay val="0"/>
    </c:title>
    <c:autoTitleDeleted val="0"/>
    <c:plotArea>
      <c:layout/>
      <c:barChart>
        <c:barDir val="bar"/>
        <c:grouping val="clustered"/>
        <c:varyColors val="0"/>
        <c:ser>
          <c:idx val="0"/>
          <c:order val="0"/>
          <c:tx>
            <c:strRef>
              <c:f>Sheet1!$B$1</c:f>
              <c:strCache>
                <c:ptCount val="1"/>
                <c:pt idx="0">
                  <c:v>Weight</c:v>
                </c:pt>
              </c:strCache>
            </c:strRef>
          </c:tx>
          <c:spPr>
            <a:solidFill>
              <a:srgbClr val="E11D48"/>
            </a:solidFill>
            <a:effectLst/>
          </c:spPr>
          <c:invertIfNegative val="0"/>
          <c:dLbls>
            <c:numFmt formatCode="0&quot;%&quot;" sourceLinked="0"/>
            <c:txPr>
              <a:bodyPr/>
              <a:lstStyle/>
              <a:p>
                <a:pPr>
                  <a:defRPr b="0" i="0" strike="noStrike" sz="1000" u="none">
                    <a:solidFill>
                      <a:srgbClr val="0F172A"/>
                    </a:solidFill>
                    <a:latin typeface="Arial"/>
                  </a:defRPr>
                </a:pPr>
              </a:p>
            </c:txPr>
            <c:showLegendKey val="0"/>
            <c:showVal val="1"/>
            <c:showCatName val="0"/>
            <c:showSerName val="0"/>
            <c:showPercent val="0"/>
            <c:showBubbleSize val="0"/>
            <c:showLeaderLines val="0"/>
          </c:dLbls>
          <c:cat>
            <c:multiLvlStrRef>
              <c:f>Sheet1!$A$2:$A$7</c:f>
              <c:multiLvlStrCache>
                <c:ptCount val="6"/>
                <c:lvl>
                  <c:pt idx="0">
                    <c:v>Document tampering</c:v>
                  </c:pt>
                  <c:pt idx="1">
                    <c:v>Face match</c:v>
                  </c:pt>
                  <c:pt idx="2">
                    <c:v>Cross-document checks</c:v>
                  </c:pt>
                  <c:pt idx="3">
                    <c:v>Field validation</c:v>
                  </c:pt>
                  <c:pt idx="4">
                    <c:v>Duplicate identity</c:v>
                  </c:pt>
                  <c:pt idx="5">
                    <c:v>Statement patterns</c:v>
                  </c:pt>
                </c:lvl>
              </c:multiLvlStrCache>
            </c:multiLvlStrRef>
          </c:cat>
          <c:val>
            <c:numRef>
              <c:f>Sheet1!$B$2:$B$7</c:f>
              <c:numCache>
                <c:formatCode>General</c:formatCode>
                <c:ptCount val="6"/>
                <c:pt idx="0">
                  <c:v>35</c:v>
                </c:pt>
                <c:pt idx="1">
                  <c:v>20</c:v>
                </c:pt>
                <c:pt idx="2">
                  <c:v>20</c:v>
                </c:pt>
                <c:pt idx="3">
                  <c:v>15</c:v>
                </c:pt>
                <c:pt idx="4">
                  <c:v>10</c:v>
                </c:pt>
                <c:pt idx="5">
                  <c:v>10</c:v>
                </c:pt>
              </c:numCache>
            </c:numRef>
          </c:val>
        </c:ser>
        <c:dLbls>
          <c:numFmt formatCode="0&quot;%&quot;" sourceLinked="0"/>
          <c:txPr>
            <a:bodyPr/>
            <a:lstStyle/>
            <a:p>
              <a:pPr>
                <a:defRPr b="0" i="0" strike="noStrike" sz="1000" u="none">
                  <a:solidFill>
                    <a:srgbClr val="0F172A"/>
                  </a:solidFill>
                  <a:latin typeface="Arial"/>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50" b="0" i="0" u="none" strike="noStrike">
                <a:solidFill>
                  <a:srgbClr val="334155"/>
                </a:solidFill>
                <a:latin typeface="Roboto"/>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Accuracy</c:v>
                </c:pt>
              </c:strCache>
            </c:strRef>
          </c:tx>
          <c:spPr>
            <a:solidFill>
              <a:srgbClr val="A5B4FC"/>
            </a:solidFill>
            <a:effectLst/>
          </c:spPr>
          <c:invertIfNegative val="0"/>
          <c:dLbls>
            <c:numFmt formatCode="0.0&quot;%&quot;" sourceLinked="0"/>
            <c:txPr>
              <a:bodyPr/>
              <a:lstStyle/>
              <a:p>
                <a:pPr>
                  <a:defRPr b="1" i="0" strike="noStrike" sz="1200" u="none">
                    <a:solidFill>
                      <a:srgbClr val="0F172A"/>
                    </a:solidFill>
                    <a:latin typeface="Arial"/>
                  </a:defRPr>
                </a:pPr>
              </a:p>
            </c:txPr>
            <c:showLegendKey val="0"/>
            <c:showVal val="1"/>
            <c:showCatName val="0"/>
            <c:showSerName val="0"/>
            <c:showPercent val="0"/>
            <c:showBubbleSize val="0"/>
            <c:showLeaderLines val="0"/>
          </c:dLbls>
          <c:cat>
            <c:multiLvlStrRef>
              <c:f>Sheet1!$A$2:$A$4</c:f>
              <c:multiLvlStrCache>
                <c:ptCount val="3"/>
                <c:lvl>
                  <c:pt idx="0">
                    <c:v>v1 · weighted sum + floors</c:v>
                  </c:pt>
                  <c:pt idx="1">
                    <c:v>weights calibrated</c:v>
                  </c:pt>
                  <c:pt idx="2">
                    <c:v>v2 · + dominant path (shipped)</c:v>
                  </c:pt>
                </c:lvl>
              </c:multiLvlStrCache>
            </c:multiLvlStrRef>
          </c:cat>
          <c:val>
            <c:numRef>
              <c:f>Sheet1!$B$2:$B$4</c:f>
              <c:numCache>
                <c:formatCode>General</c:formatCode>
                <c:ptCount val="3"/>
                <c:pt idx="0">
                  <c:v>60.3</c:v>
                </c:pt>
                <c:pt idx="1">
                  <c:v>78.8</c:v>
                </c:pt>
                <c:pt idx="2">
                  <c:v>93</c:v>
                </c:pt>
              </c:numCache>
            </c:numRef>
          </c:val>
        </c:ser>
        <c:dLbls>
          <c:numFmt formatCode="0.0&quot;%&quot;" sourceLinked="0"/>
          <c:txPr>
            <a:bodyPr/>
            <a:lstStyle/>
            <a:p>
              <a:pPr>
                <a:defRPr b="1" i="0" strike="noStrike" sz="1200" u="none">
                  <a:solidFill>
                    <a:srgbClr val="0F172A"/>
                  </a:solidFill>
                  <a:latin typeface="Arial"/>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334155"/>
                </a:solidFill>
                <a:latin typeface="Roboto"/>
              </a:defRPr>
            </a:pPr>
            <a:endParaRPr lang="en-US"/>
          </a:p>
        </c:txPr>
        <c:crossAx val="2094734552"/>
        <c:crosses val="autoZero"/>
        <c:auto val="1"/>
        <c:lblAlgn val="ctr"/>
        <c:noMultiLvlLbl val="1"/>
      </c:catAx>
      <c:valAx>
        <c:axId val="2094734552"/>
        <c:scaling>
          <c:orientation val="minMax"/>
          <c:max val="100"/>
          <c:min val="0"/>
        </c:scaling>
        <c:delete val="1"/>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50" b="0" i="0" u="none" strike="noStrike">
                <a:solidFill>
                  <a:srgbClr val="0F172A"/>
                </a:solidFill>
                <a:latin typeface="Roboto"/>
              </a:defRPr>
            </a:pPr>
            <a:r>
              <a:rPr sz="1150" b="0" i="0" u="none" strike="noStrike">
                <a:solidFill>
                  <a:srgbClr val="0F172A"/>
                </a:solidFill>
                <a:latin typeface="Roboto"/>
              </a:rPr>
              <a:t>Dimension weights · Commercial Vehicle row</a:t>
            </a:r>
          </a:p>
        </c:rich>
      </c:tx>
      <c:layout/>
      <c:overlay val="0"/>
    </c:title>
    <c:autoTitleDeleted val="0"/>
    <c:plotArea>
      <c:layout/>
      <c:barChart>
        <c:barDir val="bar"/>
        <c:grouping val="clustered"/>
        <c:varyColors val="0"/>
        <c:ser>
          <c:idx val="0"/>
          <c:order val="0"/>
          <c:tx>
            <c:strRef>
              <c:f>Sheet1!$B$1</c:f>
              <c:strCache>
                <c:ptCount val="1"/>
                <c:pt idx="0">
                  <c:v>Weight</c:v>
                </c:pt>
              </c:strCache>
            </c:strRef>
          </c:tx>
          <c:spPr>
            <a:solidFill>
              <a:srgbClr val="D97706"/>
            </a:solidFill>
            <a:effectLst/>
          </c:spPr>
          <c:invertIfNegative val="0"/>
          <c:dLbls>
            <c:numFmt formatCode="0.00" sourceLinked="0"/>
            <c:txPr>
              <a:bodyPr/>
              <a:lstStyle/>
              <a:p>
                <a:pPr>
                  <a:defRPr b="0" i="0" strike="noStrike" sz="1000" u="none">
                    <a:solidFill>
                      <a:srgbClr val="0F172A"/>
                    </a:solidFill>
                    <a:latin typeface="Arial"/>
                  </a:defRPr>
                </a:pPr>
              </a:p>
            </c:txPr>
            <c:showLegendKey val="0"/>
            <c:showVal val="1"/>
            <c:showCatName val="0"/>
            <c:showSerName val="0"/>
            <c:showPercent val="0"/>
            <c:showBubbleSize val="0"/>
            <c:showLeaderLines val="0"/>
          </c:dLbls>
          <c:cat>
            <c:multiLvlStrRef>
              <c:f>Sheet1!$A$2:$A$10</c:f>
              <c:multiLvlStrCache>
                <c:ptCount val="9"/>
                <c:lvl>
                  <c:pt idx="0">
                    <c:v>Collateral</c:v>
                  </c:pt>
                  <c:pt idx="1">
                    <c:v>Credit history</c:v>
                  </c:pt>
                  <c:pt idx="2">
                    <c:v>Financial capacity</c:v>
                  </c:pt>
                  <c:pt idx="3">
                    <c:v>Identity</c:v>
                  </c:pt>
                  <c:pt idx="4">
                    <c:v>Loan structure</c:v>
                  </c:pt>
                  <c:pt idx="5">
                    <c:v>Fraud</c:v>
                  </c:pt>
                  <c:pt idx="6">
                    <c:v>External / macro</c:v>
                  </c:pt>
                  <c:pt idx="7">
                    <c:v>Compliance</c:v>
                  </c:pt>
                  <c:pt idx="8">
                    <c:v>Product / segment</c:v>
                  </c:pt>
                </c:lvl>
              </c:multiLvlStrCache>
            </c:multiLvlStrRef>
          </c:cat>
          <c:val>
            <c:numRef>
              <c:f>Sheet1!$B$2:$B$10</c:f>
              <c:numCache>
                <c:formatCode>General</c:formatCode>
                <c:ptCount val="9"/>
                <c:pt idx="0">
                  <c:v>0.25</c:v>
                </c:pt>
                <c:pt idx="1">
                  <c:v>0.15</c:v>
                </c:pt>
                <c:pt idx="2">
                  <c:v>0.15</c:v>
                </c:pt>
                <c:pt idx="3">
                  <c:v>0.12</c:v>
                </c:pt>
                <c:pt idx="4">
                  <c:v>0.1</c:v>
                </c:pt>
                <c:pt idx="5">
                  <c:v>0.08</c:v>
                </c:pt>
                <c:pt idx="6">
                  <c:v>0.05</c:v>
                </c:pt>
                <c:pt idx="7">
                  <c:v>0.05</c:v>
                </c:pt>
                <c:pt idx="8">
                  <c:v>0.05</c:v>
                </c:pt>
              </c:numCache>
            </c:numRef>
          </c:val>
        </c:ser>
        <c:dLbls>
          <c:numFmt formatCode="0.00" sourceLinked="0"/>
          <c:txPr>
            <a:bodyPr/>
            <a:lstStyle/>
            <a:p>
              <a:pPr>
                <a:defRPr b="0" i="0" strike="noStrike" sz="1000" u="none">
                  <a:solidFill>
                    <a:srgbClr val="0F172A"/>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50" b="0" i="0" u="none" strike="noStrike">
                <a:solidFill>
                  <a:srgbClr val="334155"/>
                </a:solidFill>
                <a:latin typeface="Roboto"/>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Rating</c:v>
                </c:pt>
              </c:strCache>
            </c:strRef>
          </c:tx>
          <c:spPr>
            <a:solidFill>
              <a:schemeClr val="accent1"/>
            </a:solidFill>
            <a:ln w="9525" cap="flat">
              <a:solidFill>
                <a:srgbClr val="F9F9F9"/>
              </a:solidFill>
              <a:prstDash val="solid"/>
              <a:round/>
            </a:ln>
            <a:effectLst/>
          </c:spPr>
          <c:dPt>
            <c:idx val="0"/>
            <c:bubble3D val="0"/>
            <c:spPr>
              <a:solidFill>
                <a:srgbClr val="16A34A"/>
              </a:solidFill>
              <a:ln w="19050" cap="flat">
                <a:solidFill>
                  <a:srgbClr val="FFFFFF"/>
                </a:solidFill>
                <a:prstDash val="solid"/>
                <a:round/>
              </a:ln>
              <a:effectLst/>
            </c:spPr>
          </c:dPt>
          <c:dPt>
            <c:idx val="1"/>
            <c:bubble3D val="0"/>
            <c:spPr>
              <a:solidFill>
                <a:srgbClr val="D97706"/>
              </a:solidFill>
              <a:ln w="19050" cap="flat">
                <a:solidFill>
                  <a:srgbClr val="FFFFFF"/>
                </a:solidFill>
                <a:prstDash val="solid"/>
                <a:round/>
              </a:ln>
              <a:effectLst/>
            </c:spPr>
          </c:dPt>
          <c:dPt>
            <c:idx val="2"/>
            <c:bubble3D val="0"/>
            <c:spPr>
              <a:solidFill>
                <a:srgbClr val="DC2626"/>
              </a:solidFill>
              <a:ln w="19050" cap="flat">
                <a:solidFill>
                  <a:srgbClr val="FFFFFF"/>
                </a:solidFill>
                <a:prstDash val="solid"/>
                <a:round/>
              </a:ln>
              <a:effectLst/>
            </c:spPr>
          </c:dPt>
          <c:dLbls>
            <c:dLbl>
              <c:idx val="0"/>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1"/>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2"/>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Strong</c:v>
                </c:pt>
                <c:pt idx="1">
                  <c:v>Acceptable</c:v>
                </c:pt>
                <c:pt idx="2">
                  <c:v>Weak</c:v>
                </c:pt>
              </c:strCache>
            </c:strRef>
          </c:cat>
          <c:val>
            <c:numRef>
              <c:f>Sheet1!$B$2:$B$4</c:f>
              <c:numCache>
                <c:ptCount val="3"/>
                <c:pt idx="0">
                  <c:v>25</c:v>
                </c:pt>
                <c:pt idx="1">
                  <c:v>2</c:v>
                </c:pt>
                <c:pt idx="2">
                  <c:v>2</c:v>
                </c:pt>
              </c:numCache>
            </c:numRef>
          </c:val>
        </c:ser>
        <c:firstSliceAng val="0"/>
        <c:holeSize val="64"/>
      </c:doughnutChart>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50" b="0" i="0" u="none" strike="noStrike">
                <a:solidFill>
                  <a:srgbClr val="0F172A"/>
                </a:solidFill>
                <a:latin typeface="Roboto"/>
              </a:defRPr>
            </a:pPr>
            <a:r>
              <a:rPr sz="1150" b="0" i="0" u="none" strike="noStrike">
                <a:solidFill>
                  <a:srgbClr val="0F172A"/>
                </a:solidFill>
                <a:latin typeface="Roboto"/>
              </a:rPr>
              <a:t>Higher is better · test split</a:t>
            </a:r>
          </a:p>
        </c:rich>
      </c:tx>
      <c:layout/>
      <c:overlay val="0"/>
    </c:title>
    <c:autoTitleDeleted val="0"/>
    <c:plotArea>
      <c:layout/>
      <c:barChart>
        <c:barDir val="bar"/>
        <c:grouping val="clustered"/>
        <c:varyColors val="0"/>
        <c:ser>
          <c:idx val="0"/>
          <c:order val="0"/>
          <c:tx>
            <c:strRef>
              <c:f>Sheet1!$B$1</c:f>
              <c:strCache>
                <c:ptCount val="1"/>
                <c:pt idx="0">
                  <c:v>First run</c:v>
                </c:pt>
              </c:strCache>
            </c:strRef>
          </c:tx>
          <c:spPr>
            <a:solidFill>
              <a:srgbClr val="CBD5E1"/>
            </a:solidFill>
            <a:effectLst/>
          </c:spPr>
          <c:invertIfNegative val="0"/>
          <c:dLbls>
            <c:numFmt formatCode="0&quot;%&quot;" sourceLinked="0"/>
            <c:txPr>
              <a:bodyPr/>
              <a:lstStyle/>
              <a:p>
                <a:pPr>
                  <a:defRPr b="0" i="0" strike="noStrike" sz="1000" u="none">
                    <a:solidFill>
                      <a:srgbClr val="0F172A"/>
                    </a:solidFill>
                    <a:latin typeface="Arial"/>
                  </a:defRPr>
                </a:pPr>
              </a:p>
            </c:txPr>
            <c:showLegendKey val="0"/>
            <c:showVal val="1"/>
            <c:showCatName val="0"/>
            <c:showSerName val="0"/>
            <c:showPercent val="0"/>
            <c:showBubbleSize val="0"/>
            <c:showLeaderLines val="0"/>
          </c:dLbls>
          <c:cat>
            <c:multiLvlStrRef>
              <c:f>Sheet1!$A$2:$A$8</c:f>
              <c:multiLvlStrCache>
                <c:ptCount val="7"/>
                <c:lvl>
                  <c:pt idx="0">
                    <c:v>PII Masking · no ID readable</c:v>
                  </c:pt>
                  <c:pt idx="1">
                    <c:v>Statement parser · rows recovered</c:v>
                  </c:pt>
                  <c:pt idx="2">
                    <c:v>Tamper Locator · region boxed</c:v>
                  </c:pt>
                  <c:pt idx="3">
                    <c:v>Extraction · fields correct</c:v>
                  </c:pt>
                  <c:pt idx="4">
                    <c:v>Cross-Doc · name pairs correct</c:v>
                  </c:pt>
                  <c:pt idx="5">
                    <c:v>Preprocessing · card outline found</c:v>
                  </c:pt>
                  <c:pt idx="6">
                    <c:v>Risk Scoring · share of trained skill</c:v>
                  </c:pt>
                </c:lvl>
              </c:multiLvlStrCache>
            </c:multiLvlStrRef>
          </c:cat>
          <c:val>
            <c:numRef>
              <c:f>Sheet1!$B$2:$B$8</c:f>
              <c:numCache>
                <c:formatCode>General</c:formatCode>
                <c:ptCount val="7"/>
                <c:pt idx="0">
                  <c:v>42.1</c:v>
                </c:pt>
                <c:pt idx="1">
                  <c:v>4.4</c:v>
                </c:pt>
                <c:pt idx="2">
                  <c:v>0</c:v>
                </c:pt>
                <c:pt idx="3">
                  <c:v>84.7</c:v>
                </c:pt>
                <c:pt idx="4">
                  <c:v>90.9</c:v>
                </c:pt>
                <c:pt idx="5">
                  <c:v>47.3</c:v>
                </c:pt>
                <c:pt idx="6">
                  <c:v>66</c:v>
                </c:pt>
              </c:numCache>
            </c:numRef>
          </c:val>
        </c:ser>
        <c:ser>
          <c:idx val="1"/>
          <c:order val="1"/>
          <c:tx>
            <c:strRef>
              <c:f>Sheet1!$C$1</c:f>
              <c:strCache>
                <c:ptCount val="1"/>
                <c:pt idx="0">
                  <c:v>After the fix</c:v>
                </c:pt>
              </c:strCache>
            </c:strRef>
          </c:tx>
          <c:spPr>
            <a:solidFill>
              <a:srgbClr val="4F46E5"/>
            </a:solidFill>
            <a:effectLst/>
          </c:spPr>
          <c:invertIfNegative val="0"/>
          <c:dLbls>
            <c:numFmt formatCode="0&quot;%&quot;" sourceLinked="0"/>
            <c:txPr>
              <a:bodyPr/>
              <a:lstStyle/>
              <a:p>
                <a:pPr>
                  <a:defRPr b="0" i="0" strike="noStrike" sz="1000" u="none">
                    <a:solidFill>
                      <a:srgbClr val="0F172A"/>
                    </a:solidFill>
                    <a:latin typeface="Arial"/>
                  </a:defRPr>
                </a:pPr>
              </a:p>
            </c:txPr>
            <c:showLegendKey val="0"/>
            <c:showVal val="1"/>
            <c:showCatName val="0"/>
            <c:showSerName val="0"/>
            <c:showPercent val="0"/>
            <c:showBubbleSize val="0"/>
            <c:showLeaderLines val="0"/>
          </c:dLbls>
          <c:cat>
            <c:multiLvlStrRef>
              <c:f>Sheet1!$A$2:$A$8</c:f>
              <c:multiLvlStrCache>
                <c:ptCount val="7"/>
                <c:lvl>
                  <c:pt idx="0">
                    <c:v>PII Masking · no ID readable</c:v>
                  </c:pt>
                  <c:pt idx="1">
                    <c:v>Statement parser · rows recovered</c:v>
                  </c:pt>
                  <c:pt idx="2">
                    <c:v>Tamper Locator · region boxed</c:v>
                  </c:pt>
                  <c:pt idx="3">
                    <c:v>Extraction · fields correct</c:v>
                  </c:pt>
                  <c:pt idx="4">
                    <c:v>Cross-Doc · name pairs correct</c:v>
                  </c:pt>
                  <c:pt idx="5">
                    <c:v>Preprocessing · card outline found</c:v>
                  </c:pt>
                  <c:pt idx="6">
                    <c:v>Risk Scoring · share of trained skill</c:v>
                  </c:pt>
                </c:lvl>
              </c:multiLvlStrCache>
            </c:multiLvlStrRef>
          </c:cat>
          <c:val>
            <c:numRef>
              <c:f>Sheet1!$C$2:$C$8</c:f>
              <c:numCache>
                <c:formatCode>General</c:formatCode>
                <c:ptCount val="7"/>
                <c:pt idx="0">
                  <c:v>98.4</c:v>
                </c:pt>
                <c:pt idx="1">
                  <c:v>94.8</c:v>
                </c:pt>
                <c:pt idx="2">
                  <c:v>74.6</c:v>
                </c:pt>
                <c:pt idx="3">
                  <c:v>94.4</c:v>
                </c:pt>
                <c:pt idx="4">
                  <c:v>100</c:v>
                </c:pt>
                <c:pt idx="5">
                  <c:v>69.1</c:v>
                </c:pt>
                <c:pt idx="6">
                  <c:v>83</c:v>
                </c:pt>
              </c:numCache>
            </c:numRef>
          </c:val>
        </c:ser>
        <c:dLbls>
          <c:numFmt formatCode="0&quot;%&quot;" sourceLinked="0"/>
          <c:txPr>
            <a:bodyPr/>
            <a:lstStyle/>
            <a:p>
              <a:pPr>
                <a:defRPr b="0" i="0" strike="noStrike" sz="1000" u="none">
                  <a:solidFill>
                    <a:srgbClr val="0F172A"/>
                  </a:solidFill>
                  <a:latin typeface="Arial"/>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50" b="0" i="0" u="none" strike="noStrike">
                <a:solidFill>
                  <a:srgbClr val="334155"/>
                </a:solidFill>
                <a:latin typeface="Roboto"/>
              </a:defRPr>
            </a:pPr>
            <a:endParaRPr lang="en-US"/>
          </a:p>
        </c:txPr>
        <c:crossAx val="2094734552"/>
        <c:crosses val="autoZero"/>
        <c:auto val="1"/>
        <c:lblAlgn val="ctr"/>
        <c:noMultiLvlLbl val="1"/>
      </c:catAx>
      <c:valAx>
        <c:axId val="2094734552"/>
        <c:scaling>
          <c:orientation val="minMax"/>
          <c:max val="122"/>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50">
              <a:latin typeface="Roboto"/>
              <a:cs typeface="Roboto"/>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50" b="0" i="0" u="none" strike="noStrike">
                <a:solidFill>
                  <a:srgbClr val="0F172A"/>
                </a:solidFill>
                <a:latin typeface="Roboto"/>
              </a:defRPr>
            </a:pPr>
            <a:r>
              <a:rPr sz="1150" b="0" i="0" u="none" strike="noStrike">
                <a:solidFill>
                  <a:srgbClr val="0F172A"/>
                </a:solidFill>
                <a:latin typeface="Roboto"/>
              </a:rPr>
              <a:t>Test split · 235 forged and 383 genuine documents</a:t>
            </a:r>
          </a:p>
        </c:rich>
      </c:tx>
      <c:layout/>
      <c:overlay val="0"/>
    </c:title>
    <c:autoTitleDeleted val="0"/>
    <c:plotArea>
      <c:layout/>
      <c:barChart>
        <c:barDir val="col"/>
        <c:grouping val="clustered"/>
        <c:varyColors val="0"/>
        <c:ser>
          <c:idx val="0"/>
          <c:order val="0"/>
          <c:tx>
            <c:strRef>
              <c:f>Sheet1!$B$1</c:f>
              <c:strCache>
                <c:ptCount val="1"/>
                <c:pt idx="0">
                  <c:v>Forged documents flagged</c:v>
                </c:pt>
              </c:strCache>
            </c:strRef>
          </c:tx>
          <c:spPr>
            <a:solidFill>
              <a:srgbClr val="4F46E5"/>
            </a:solidFill>
            <a:effectLst/>
          </c:spPr>
          <c:invertIfNegative val="0"/>
          <c:dLbls>
            <c:numFmt formatCode="0&quot;%&quot;" sourceLinked="0"/>
            <c:txPr>
              <a:bodyPr/>
              <a:lstStyle/>
              <a:p>
                <a:pPr>
                  <a:defRPr b="0" i="0" strike="noStrike" sz="1100" u="none">
                    <a:solidFill>
                      <a:srgbClr val="0F172A"/>
                    </a:solidFill>
                    <a:latin typeface="Arial"/>
                  </a:defRPr>
                </a:pPr>
              </a:p>
            </c:txPr>
            <c:showLegendKey val="0"/>
            <c:showVal val="1"/>
            <c:showCatName val="0"/>
            <c:showSerName val="0"/>
            <c:showPercent val="0"/>
            <c:showBubbleSize val="0"/>
            <c:showLeaderLines val="0"/>
          </c:dLbls>
          <c:cat>
            <c:multiLvlStrRef>
              <c:f>Sheet1!$A$2:$A$4</c:f>
              <c:multiLvlStrCache>
                <c:ptCount val="3"/>
                <c:lvl>
                  <c:pt idx="0">
                    <c:v>As first configured</c:v>
                  </c:pt>
                  <c:pt idx="1">
                    <c:v>After calibration</c:v>
                  </c:pt>
                  <c:pt idx="2">
                    <c:v>With the patch detector</c:v>
                  </c:pt>
                </c:lvl>
              </c:multiLvlStrCache>
            </c:multiLvlStrRef>
          </c:cat>
          <c:val>
            <c:numRef>
              <c:f>Sheet1!$B$2:$B$4</c:f>
              <c:numCache>
                <c:formatCode>General</c:formatCode>
                <c:ptCount val="3"/>
                <c:pt idx="0">
                  <c:v>74.9</c:v>
                </c:pt>
                <c:pt idx="1">
                  <c:v>16.6</c:v>
                </c:pt>
                <c:pt idx="2">
                  <c:v>88.9</c:v>
                </c:pt>
              </c:numCache>
            </c:numRef>
          </c:val>
        </c:ser>
        <c:ser>
          <c:idx val="1"/>
          <c:order val="1"/>
          <c:tx>
            <c:strRef>
              <c:f>Sheet1!$C$1</c:f>
              <c:strCache>
                <c:ptCount val="1"/>
                <c:pt idx="0">
                  <c:v>Genuine documents flagged</c:v>
                </c:pt>
              </c:strCache>
            </c:strRef>
          </c:tx>
          <c:spPr>
            <a:solidFill>
              <a:srgbClr val="CBD5E1"/>
            </a:solidFill>
            <a:effectLst/>
          </c:spPr>
          <c:invertIfNegative val="0"/>
          <c:dLbls>
            <c:numFmt formatCode="0&quot;%&quot;" sourceLinked="0"/>
            <c:txPr>
              <a:bodyPr/>
              <a:lstStyle/>
              <a:p>
                <a:pPr>
                  <a:defRPr b="0" i="0" strike="noStrike" sz="1100" u="none">
                    <a:solidFill>
                      <a:srgbClr val="0F172A"/>
                    </a:solidFill>
                    <a:latin typeface="Arial"/>
                  </a:defRPr>
                </a:pPr>
              </a:p>
            </c:txPr>
            <c:showLegendKey val="0"/>
            <c:showVal val="1"/>
            <c:showCatName val="0"/>
            <c:showSerName val="0"/>
            <c:showPercent val="0"/>
            <c:showBubbleSize val="0"/>
            <c:showLeaderLines val="0"/>
          </c:dLbls>
          <c:cat>
            <c:multiLvlStrRef>
              <c:f>Sheet1!$A$2:$A$4</c:f>
              <c:multiLvlStrCache>
                <c:ptCount val="3"/>
                <c:lvl>
                  <c:pt idx="0">
                    <c:v>As first configured</c:v>
                  </c:pt>
                  <c:pt idx="1">
                    <c:v>After calibration</c:v>
                  </c:pt>
                  <c:pt idx="2">
                    <c:v>With the patch detector</c:v>
                  </c:pt>
                </c:lvl>
              </c:multiLvlStrCache>
            </c:multiLvlStrRef>
          </c:cat>
          <c:val>
            <c:numRef>
              <c:f>Sheet1!$C$2:$C$4</c:f>
              <c:numCache>
                <c:formatCode>General</c:formatCode>
                <c:ptCount val="3"/>
                <c:pt idx="0">
                  <c:v>83.5</c:v>
                </c:pt>
                <c:pt idx="1">
                  <c:v>26.1</c:v>
                </c:pt>
                <c:pt idx="2">
                  <c:v>24</c:v>
                </c:pt>
              </c:numCache>
            </c:numRef>
          </c:val>
        </c:ser>
        <c:dLbls>
          <c:numFmt formatCode="0&quot;%&quot;" sourceLinked="0"/>
          <c:txPr>
            <a:bodyPr/>
            <a:lstStyle/>
            <a:p>
              <a:pPr>
                <a:defRPr b="0" i="0" strike="noStrike" sz="1100" u="none">
                  <a:solidFill>
                    <a:srgbClr val="0F172A"/>
                  </a:solidFill>
                  <a:latin typeface="Arial"/>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50" b="0" i="0" u="none" strike="noStrike">
                <a:solidFill>
                  <a:srgbClr val="334155"/>
                </a:solidFill>
                <a:latin typeface="Roboto"/>
              </a:defRPr>
            </a:pPr>
            <a:endParaRPr lang="en-US"/>
          </a:p>
        </c:txPr>
        <c:crossAx val="2094734552"/>
        <c:crosses val="autoZero"/>
        <c:auto val="1"/>
        <c:lblAlgn val="ctr"/>
        <c:noMultiLvlLbl val="1"/>
      </c:catAx>
      <c:valAx>
        <c:axId val="2094734552"/>
        <c:scaling>
          <c:orientation val="minMax"/>
          <c:max val="100"/>
          <c:min val="0"/>
        </c:scaling>
        <c:delete val="1"/>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50">
              <a:latin typeface="Roboto"/>
              <a:cs typeface="Roboto"/>
            </a:defRPr>
          </a:pPr>
          <a:endParaRPr lang="en-US"/>
        </a:p>
      </c:txPr>
    </c:legend>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50" b="0" i="0" u="none" strike="noStrike">
                <a:solidFill>
                  <a:srgbClr val="0F172A"/>
                </a:solidFill>
                <a:latin typeface="Roboto"/>
              </a:defRPr>
            </a:pPr>
            <a:r>
              <a:rPr sz="1150" b="0" i="0" u="none" strike="noStrike">
                <a:solidFill>
                  <a:srgbClr val="0F172A"/>
                </a:solidFill>
                <a:latin typeface="Roboto"/>
              </a:rPr>
              <a:t>Median seconds per document</a:t>
            </a:r>
          </a:p>
        </c:rich>
      </c:tx>
      <c:layout/>
      <c:overlay val="0"/>
    </c:title>
    <c:autoTitleDeleted val="0"/>
    <c:plotArea>
      <c:layout/>
      <c:barChart>
        <c:barDir val="bar"/>
        <c:grouping val="clustered"/>
        <c:varyColors val="0"/>
        <c:ser>
          <c:idx val="0"/>
          <c:order val="0"/>
          <c:tx>
            <c:strRef>
              <c:f>Sheet1!$B$1</c:f>
              <c:strCache>
                <c:ptCount val="1"/>
                <c:pt idx="0">
                  <c:v>Median seconds</c:v>
                </c:pt>
              </c:strCache>
            </c:strRef>
          </c:tx>
          <c:spPr>
            <a:solidFill>
              <a:srgbClr val="4F46E5"/>
            </a:solidFill>
            <a:effectLst/>
          </c:spPr>
          <c:invertIfNegative val="0"/>
          <c:dLbls>
            <c:numFmt formatCode="0.0&quot; s&quot;" sourceLinked="0"/>
            <c:txPr>
              <a:bodyPr/>
              <a:lstStyle/>
              <a:p>
                <a:pPr>
                  <a:defRPr b="0" i="0" strike="noStrike" sz="1050" u="none">
                    <a:solidFill>
                      <a:srgbClr val="0F172A"/>
                    </a:solidFill>
                    <a:latin typeface="Arial"/>
                  </a:defRPr>
                </a:pPr>
              </a:p>
            </c:txPr>
            <c:showLegendKey val="0"/>
            <c:showVal val="1"/>
            <c:showCatName val="0"/>
            <c:showSerName val="0"/>
            <c:showPercent val="0"/>
            <c:showBubbleSize val="0"/>
            <c:showLeaderLines val="0"/>
          </c:dLbls>
          <c:cat>
            <c:multiLvlStrRef>
              <c:f>Sheet1!$A$2:$A$9</c:f>
              <c:multiLvlStrCache>
                <c:ptCount val="8"/>
                <c:lvl>
                  <c:pt idx="0">
                    <c:v>Statement upload · scanned PDF</c:v>
                  </c:pt>
                  <c:pt idx="1">
                    <c:v>Statement upload · digital PDF</c:v>
                  </c:pt>
                  <c:pt idx="2">
                    <c:v>Cleanup · scanned page</c:v>
                  </c:pt>
                  <c:pt idx="3">
                    <c:v>PAN card upload · cleanup, model, checks</c:v>
                  </c:pt>
                  <c:pt idx="4">
                    <c:v>Cleanup · ID phone photo</c:v>
                  </c:pt>
                  <c:pt idx="5">
                    <c:v>Integrity check · ID phone photo</c:v>
                  </c:pt>
                  <c:pt idx="6">
                    <c:v>Integrity check · scanned receipt</c:v>
                  </c:pt>
                  <c:pt idx="7">
                    <c:v>Masking a PAN card</c:v>
                  </c:pt>
                </c:lvl>
              </c:multiLvlStrCache>
            </c:multiLvlStrRef>
          </c:cat>
          <c:val>
            <c:numRef>
              <c:f>Sheet1!$B$2:$B$9</c:f>
              <c:numCache>
                <c:formatCode>General</c:formatCode>
                <c:ptCount val="8"/>
                <c:pt idx="0">
                  <c:v>16.4</c:v>
                </c:pt>
                <c:pt idx="1">
                  <c:v>12.7</c:v>
                </c:pt>
                <c:pt idx="2">
                  <c:v>8.8</c:v>
                </c:pt>
                <c:pt idx="3">
                  <c:v>7.3</c:v>
                </c:pt>
                <c:pt idx="4">
                  <c:v>6.8</c:v>
                </c:pt>
                <c:pt idx="5">
                  <c:v>3.1</c:v>
                </c:pt>
                <c:pt idx="6">
                  <c:v>0.8</c:v>
                </c:pt>
                <c:pt idx="7">
                  <c:v>0.7</c:v>
                </c:pt>
              </c:numCache>
            </c:numRef>
          </c:val>
        </c:ser>
        <c:dLbls>
          <c:numFmt formatCode="0.0&quot; s&quot;" sourceLinked="0"/>
          <c:txPr>
            <a:bodyPr/>
            <a:lstStyle/>
            <a:p>
              <a:pPr>
                <a:defRPr b="0" i="0" strike="noStrike" sz="1050" u="none">
                  <a:solidFill>
                    <a:srgbClr val="0F172A"/>
                  </a:solidFill>
                  <a:latin typeface="Arial"/>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50" b="0" i="0" u="none" strike="noStrike">
                <a:solidFill>
                  <a:srgbClr val="334155"/>
                </a:solidFill>
                <a:latin typeface="Roboto"/>
              </a:defRPr>
            </a:pPr>
            <a:endParaRPr lang="en-US"/>
          </a:p>
        </c:txPr>
        <c:crossAx val="2094734552"/>
        <c:crosses val="autoZero"/>
        <c:auto val="1"/>
        <c:lblAlgn val="ctr"/>
        <c:noMultiLvlLbl val="1"/>
      </c:catAx>
      <c:valAx>
        <c:axId val="2094734552"/>
        <c:scaling>
          <c:orientation val="minMax"/>
          <c:max val="19"/>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with the problem: a loan file is paper that a person has to read, verify and judge. FinSight AI turns that desk work into 29 specialised agents. This deck walks through the product, the architecture, every agent, the workflows, the controls that keep the AI honest, and how each agent scored on real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as the map for the talk. Each numbered part has its own divider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problem in one picture: files. An officer reads every document by hand, cannot see a careful edit, works through a queue that waits days, and has to keep up with RBI rules that change every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flow left to right, then the six jobs below. The key design choice is the last box: the agents produce evidence, scores and drafts; a person makes every decision, and any loan above 5 lakh needs the Head Manager.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role picker is the entry point. The borrower applies; the underwriting officer works the queue; the head manager approves large loans and controls the AI settings and RBI rules.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views of the same platform. The borrower sees a simple portal; the officer sees a work queue with risk and fraud columns; the head sees the portfolio.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top to bottom. Users work in a React single-page app. The FastAPI server keeps every pre-agent endpoint contract unchanged; behind each endpoint the work now runs as CrewAI flows over 29 registered agents. Agents call deterministic engines, and reach a language model only through one gateway. Everything lands in SQL Server and file storage.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Versions are the pinned ones from package.json and api/requirements-agents.txt.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deterministic tool is the source of truth for every number. If an agent needs words (an explanation, a memo), it makes ONE structured call. The grounding gate then checks every number of 10 or more in that text exists in the evidence; if not, the deterministic text is shown instead. Every step is traced.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Colour marks the crew throughout the deck. 'Hybrid' agents decide with a tool and use the model only to explain or judge; 'LLM' agents use the model for their core task inside a single fenced call. Liveness (29) was added last and sits with identity and fraud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Preprocessing repairs the photo (orientation, crop, lighting) but reverts if it made the page less readable. Extraction is the only model call on the upload path. In parallel the page's own words are read, which Document Identity uses to catch a payslip uploaded as a PAN. Validation checks formats and checksums, e.g. Aadhaar's Verhoeff digit. Real-data scores: extraction rose from 84.7% to 94.4% after three fixes (first and last page for statements, totals from the statement itself, PAN number checked against the card's OCR text). Preprocessing is the one weak agent here: the card outline is found in 69% of phone frames - a pale card on a pale surface is still missed - although its cleanup no longer harms scans (31% to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Masking finds the rotation where the ID number reads upright before splitting it — the fix for a real sideways PAN that leaked in testing. Face verification uses YuNet to find faces and SFace to compare them (cosine threshold 0.363). A low-quality face can only say 'uncertain', never 'mismatch'. On real data: masking went from 42% to 98.4% of documents with no ID readable once IDs printed inside a line of text were found; the three remaining documents are why the target of 100% is not met. Face verification was tested on AgeDB-30, CALFW, CPLFW and LFW, also with the photos printed into an ID-card template. Liveness is strong on full webcam frames (NUAA) but weak on tight crops, and screen-replay attacks were not in the test 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 1 runs fast checks. If they all score under 0.25 and business rules pass, the document is fast-tracked as LOW — except ID cards, which always get stage 2. Stage 2 now includes a patch detector trained on real forged receipts and ID images; it also names the region it suspects. Fusion takes the larger of the weighted average and the strongest single signal times its confidence, so one near-proof finding is not averaged away; a pixel signal counts only above what 95% of genuine documents reach. The explainer rewrites findings in plain words (grounded); the locator draws the region. On real data the detector first flagged 84% of genuine documents; after calibration and the new detector it finds 89% of forgeries and rates 0.8% of genuine documents HIGH. The screenshot shows how a flagged document appears to the officer - a synthetic card, captured before that calibration.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case-assessment flow runs three checks in parallel on the whole case, fuses them with the per-document tampering and face results into one fraud tier, then checks RBI policy. The result is only ever a recommendation: proceed, or refer for a closer human review. The screenshot is a real run on a synthetic applicant who was submitted twice — Dedupe found the same files, so two floors pushed the tier to HIGH.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v1 was the weighted sum plus floors that was originally chosen; it scored 60% on 400 held-out labelled scenarios. Calibrating the weights reached 79%. v2 adds the same dominant-and-corroborated path the tampering fusion uses and scored 93%. Scores never fall when evidence gets worse. Weights are versioned and snapshotted on every assessment; v1 is a one-line switch. On real data the fusion was tested on 600 composite cases assembled from real component outputs: 96.7% of fraud cases are flagged, and a forged document on its own now moves a case (87% flagged, against 55% before the tampering detector could find real forgeries). About half of clean cases still come out MEDIUM, because a genuine file with an editor tag is flagged - an open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extraction prompt only returns a statement summary, so a separate parser recovers every row — from the PDF text layer, or from OCR on a photo with tilt correction — and decides debit vs credit from the balance movement. Rows that don't reconcile never raise a flag. Triage links applications through hashed identity keys and faces, and PROPOSES cases; a person decides what to open.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KB Ingestion chunks and indexes the regulations (6 documents seeded). Rule Authoring drafts machine-checkable rule candidates from a new regulation; they go to a human review queue before becoming active. Policy Check evaluates the 15 active rules against real evidence only: a field nobody verified shows as 'need info', never as a false pass. Regulatory Q&amp;A answers only from retrieved passages and cites them. The real-data scores come from ObliQA - 40 real financial regulations (ADGM) with 1,000 official test questions - because rbi.org.in blocks scripted downloads; the RBI set waits for six circulars to be downloaded by hand. Policy Check was run on 2,000 real loans.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Income Analysis triangulates the monthly income across payslip, ITR/Form 16, bank credits and GST. Risk Scoring grades nine dimensions and adds an XGBoost default probability. The Underwriting Crew then runs two agents: the Supervisor recommends a next step but may only tighten the rule baseline, and the Credit Memo agent writes the memo citing only real figures. Offer Generation prices the loan and computes the EMI with the standard formula. The Workflow Router recommends the next lifecycle step and its owner; the Notifier drafts in-app messages. Real-data scores use 120 real, disbursed two-wheeler loans with their real outcome: loans the supervisor recommends for approval defaulted 13.8% of the time against 19.2% for the sample - the right direction, with a wide interval at 29 approvals. Real data also showed the supervisor could never recommend approval, because loan-terms rules were checked before any offer existed; that was fixed.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rule engine scores nine risk dimensions from 0 to 100 and weights them by product — the chart shows the commercial-vehicle row. The ML overlay is XGBoost trained on a 50,000-loan Indian NBFC book. Testing found the app was building its features differently from training: AUC 0.669. With the training feature builder reused, AUC is 0.771 on the 1,500 held-out loans. Across 750 checks, the score never fell when an input got worse. On real data - Indian two-wheeler loans with real defaults (L&amp;T) - the rule engine alone ranked defaults weakly (AUC 0.595, 66% of what a model trained on that data achieves). A monotonic default model trained on the development split was added as a bounded adjustment, lifting it to 0.621, 83% of that ceiling.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Notifier fills templates into in-app notification rows — during its evaluation every outbound connection was blocked and counted, and there were zero attempts. Audit/Storage writes the application, its files and a masked officer view to SQL Server. The Process-Mining Analyst reads the event log through SQL views: every figure is a query; the optional briefing may only restate those figures.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row one left to right, then row two right to left. Agents annotate the steps they support. Any state before a decision can end in rejected or cancelled — always by a person.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 the numbers. Agents (red lane) do the reading, checking and drafting between the human steps. The officer triggers underwriting; the head only steps in above ₹5 lakh.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the product decides the document checklist. 2: each upload is read by the intake crew and shown back for confirmation — here every field of the synthetic PAN and Aadhaar was read exactly. 3: on Review &amp; Submit the tampering cascade explains why a document needs a closer look. 4: the case assessment fuses everything into an advisory tier and a policy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model call goes through app/agents/llm/gateway.py. It resolves which model to use (agent override, then vision/text lane, then default) and snapshots the setting on every run. A hosted provider needs the Head's explicit acknowledgement, is refused outright when FINSIGHT_FORBID_HOSTED is set, and only receives pseudonymised text. One slot per provider with a priority queue protects the 8 GB GPU; a call that waits more than 180 s fails cleanly.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rules that keep the agents advisory and the data private. Each is enforced in code and checked by an automated test or measured during the evaluation.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tracer records each agent run and step (inputs summary, timing, model, LLM calls, outcome). In memory it feeds the live p50/p95 on the Agent Activity page; as JSON it is kept under storage/agent_traces; with the SQL sink on it writes agent.run / step / tool_call and logs a business event through pm.usp_log_event into pm.event_log. If SQL Server is down, events are spooled to disk and replayed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holds the business records; fraud, comp and risk hold each engine's results; agent holds traces and the audit of model-setting changes; pm is a full process-mining model (event log, variants, conformance); ops, audit and ref hold users, notifications, audit trails and reference codes.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Round 1 (report 06) tested each agent as it was built, mostly on generated documents. Round 2 (report 08) is the one that counts: every agent on its own, on real or public production-like data. The target for each agent was written into eval/targets_real.yaml before the agent saw the data. Each dataset is split 30% development and 70% test by a fixed seed, group-wise, so a person, a document template or a loan never sits in both. A weakness was fixed on the development split only, and the test split was scored once more afterwards. Every model call stayed on this PC.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Strong means the agent meets the target set before its run; Acceptable is within 10%; Weak is below that. Two agents are Acceptable: PII Masking (98.4% against a target of 100%) and the Tamper Locator (74.6% against 80%). Two are Weak: Authenticity - the local vision model cannot see a local edit even when shown the edited area magnified - and Preprocessing, which finds a card's outline in 69% of phone photos against a target of 80%. All figures are from held-out test splits; the 95% intervals are in report 08.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main result of the second round: the first run on real data exposed weaknesses the synthetic tests had hidden, and thirteen agents were changed because of it. Left, the measures where higher is better; right, where lower is better. The masker missed IDs printed inside a line of text; the statement parser recovered 4% of the rows of real Indian layouts; the locator boxed nothing; face search used a 1:1 threshold for a 1:N search, so four in ten new applicants got a false 'same face' alert. Every one of these is fixed in the app, with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most instructive fix. As first configured the detector flagged 84% of GENUINE real documents - its signals had been scaled on synthetic pages - and it 'found' 75% of forgeries only because it flagged nearly everything. Calibrating each signal on genuine real documents removed the false alarms but left only 17% of forgeries found. The third step was a small patch-level detector trained on the development split of real forged receipts and ID images: two models per document family, each calibrated on documents it never saw, evidence only when both agree, and alone it can only reach MEDIUM. On the test split it finds 89% of forgeries with 24% of genuine documents flagged and 0.8% rated HIGH. Caveats: receipts edited by people are found 54% of the time; the 95% on ID images is for script-made forgeries; and no forged Indian document exists to test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two are the most serious: a whole-server crash from two threads inside PDFium at once, and a PII leak of a real PAN photographed sideways. Both are fixed and pinned by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Timed on development documents, one at a time, with nothing else running. The model upload paths take 7 to 16 seconds; everything without a model call is around a second, and the integrity check of an ID photo is three seconds with the new patch detector included. Against the pre-agent build, the two uploads that use the model got 9 to 11% faster and no other endpoint slowed by more than 56 ms - the speed-up came from three fixes found while benchmarking.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Reported as they are. Two agents remain weak: the authenticity check, because the local 7B vision model cannot see a local edit even when shown the edited area magnified, and the card outline in phone photos. The tampering detector now finds real forgeries, but it has never seen a forged Indian document, so its tier is advice to a reviewer. Three decisions belong to the business: what a MEDIUM fraud tier should trigger, whether to verify the PAN number with the issuer, and to review the flag rate on the first live applications.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database scripts create the FinSight database on SQL Server LocalDB. The API has its own virtual environment with CrewAI. Tests and the evaluation can be run from the api folder; the real-data evaluation needs the public datasets, which are kept outside the repository. The launcher folder has start and stop scripts for the whole stack.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core idea: specialised agents take over the reading, checking and drafting; the person keeps every decision, with evidence they can trust.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slideLayout" Target="../slideLayouts/slideLayout1.xml"/><Relationship Id="rId9"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1.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slideLayout" Target="../slideLayouts/slideLayout1.xml"/><Relationship Id="rId10"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slideLayout" Target="../slideLayouts/slideLayout1.xml"/><Relationship Id="rId9"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image" Target="../media/image-10-9.png"/><Relationship Id="rId10" Type="http://schemas.openxmlformats.org/officeDocument/2006/relationships/image" Target="../media/image-10-10.png"/><Relationship Id="rId11" Type="http://schemas.openxmlformats.org/officeDocument/2006/relationships/slideLayout" Target="../slideLayouts/slideLayout1.xml"/><Relationship Id="rId1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slideLayout" Target="../slideLayouts/slideLayout1.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image" Target="../media/image-13-7.png"/><Relationship Id="rId8" Type="http://schemas.openxmlformats.org/officeDocument/2006/relationships/slideLayout" Target="../slideLayouts/slideLayout1.xml"/><Relationship Id="rId9"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2" Type="http://schemas.openxmlformats.org/officeDocument/2006/relationships/chart" Target="/ppt/charts/chart1.xml"/><Relationship Id="rId3" Type="http://schemas.openxmlformats.org/officeDocument/2006/relationships/chart" Target="/ppt/charts/chart2.xml"/><Relationship Id="rId1" Type="http://schemas.openxmlformats.org/officeDocument/2006/relationships/image" Target="../media/image-18-1.png"/><Relationship Id="rId4" Type="http://schemas.openxmlformats.org/officeDocument/2006/relationships/slideLayout" Target="../slideLayouts/slideLayout1.xml"/><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2" Type="http://schemas.openxmlformats.org/officeDocument/2006/relationships/chart" Target="/ppt/charts/chart3.xml"/><Relationship Id="rId1" Type="http://schemas.openxmlformats.org/officeDocument/2006/relationships/image" Target="../media/image-22-1.png"/><Relationship Id="rId3" Type="http://schemas.openxmlformats.org/officeDocument/2006/relationships/image" Target="../media/image-22-2.png"/><Relationship Id="rId4" Type="http://schemas.openxmlformats.org/officeDocument/2006/relationships/slideLayout" Target="../slideLayouts/slideLayout1.xml"/><Relationship Id="rId5"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slideLayout" Target="../slideLayouts/slideLayout1.xml"/><Relationship Id="rId7"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slideLayout" Target="../slideLayouts/slideLayout1.xml"/><Relationship Id="rId5"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slideLayout" Target="../slideLayouts/slideLayout1.xml"/><Relationship Id="rId7"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4.png"/><Relationship Id="rId5" Type="http://schemas.openxmlformats.org/officeDocument/2006/relationships/image" Target="../media/image-27-5.png"/><Relationship Id="rId6" Type="http://schemas.openxmlformats.org/officeDocument/2006/relationships/slideLayout" Target="../slideLayouts/slideLayout1.xml"/><Relationship Id="rId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slideLayout" Target="../slideLayouts/slideLayout1.xml"/><Relationship Id="rId5"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slideLayout" Target="../slideLayouts/slideLayout1.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image" Target="../media/image-30-4.png"/><Relationship Id="rId5" Type="http://schemas.openxmlformats.org/officeDocument/2006/relationships/image" Target="../media/image-30-5.png"/><Relationship Id="rId6" Type="http://schemas.openxmlformats.org/officeDocument/2006/relationships/image" Target="../media/image-30-6.png"/><Relationship Id="rId7" Type="http://schemas.openxmlformats.org/officeDocument/2006/relationships/image" Target="../media/image-30-7.png"/><Relationship Id="rId8" Type="http://schemas.openxmlformats.org/officeDocument/2006/relationships/image" Target="../media/image-30-8.png"/><Relationship Id="rId9" Type="http://schemas.openxmlformats.org/officeDocument/2006/relationships/image" Target="../media/image-30-9.png"/><Relationship Id="rId10" Type="http://schemas.openxmlformats.org/officeDocument/2006/relationships/image" Target="../media/image-30-10.png"/><Relationship Id="rId11" Type="http://schemas.openxmlformats.org/officeDocument/2006/relationships/image" Target="../media/image-30-11.png"/><Relationship Id="rId12" Type="http://schemas.openxmlformats.org/officeDocument/2006/relationships/image" Target="../media/image-30-12.png"/><Relationship Id="rId13" Type="http://schemas.openxmlformats.org/officeDocument/2006/relationships/image" Target="../media/image-30-13.png"/><Relationship Id="rId14" Type="http://schemas.openxmlformats.org/officeDocument/2006/relationships/image" Target="../media/image-30-14.png"/><Relationship Id="rId15" Type="http://schemas.openxmlformats.org/officeDocument/2006/relationships/image" Target="../media/image-30-15.png"/><Relationship Id="rId16" Type="http://schemas.openxmlformats.org/officeDocument/2006/relationships/image" Target="../media/image-30-16.png"/><Relationship Id="rId17" Type="http://schemas.openxmlformats.org/officeDocument/2006/relationships/image" Target="../media/image-30-17.png"/><Relationship Id="rId18" Type="http://schemas.openxmlformats.org/officeDocument/2006/relationships/image" Target="../media/image-30-18.png"/><Relationship Id="rId19" Type="http://schemas.openxmlformats.org/officeDocument/2006/relationships/image" Target="../media/image-30-19.png"/><Relationship Id="rId20" Type="http://schemas.openxmlformats.org/officeDocument/2006/relationships/image" Target="../media/image-30-20.png"/><Relationship Id="rId21" Type="http://schemas.openxmlformats.org/officeDocument/2006/relationships/image" Target="../media/image-30-21.png"/><Relationship Id="rId22" Type="http://schemas.openxmlformats.org/officeDocument/2006/relationships/slideLayout" Target="../slideLayouts/slideLayout1.xml"/><Relationship Id="rId2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slideLayout" Target="../slideLayouts/slideLayout1.xml"/><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image" Target="../media/image-33-3.png"/><Relationship Id="rId4" Type="http://schemas.openxmlformats.org/officeDocument/2006/relationships/slideLayout" Target="../slideLayouts/slideLayout1.xml"/><Relationship Id="rId5"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image" Target="../media/image-34-3.png"/><Relationship Id="rId4" Type="http://schemas.openxmlformats.org/officeDocument/2006/relationships/image" Target="../media/image-34-4.png"/><Relationship Id="rId5" Type="http://schemas.openxmlformats.org/officeDocument/2006/relationships/image" Target="../media/image-34-5.png"/><Relationship Id="rId6" Type="http://schemas.openxmlformats.org/officeDocument/2006/relationships/image" Target="../media/image-34-6.png"/><Relationship Id="rId7" Type="http://schemas.openxmlformats.org/officeDocument/2006/relationships/image" Target="../media/image-34-7.png"/><Relationship Id="rId8" Type="http://schemas.openxmlformats.org/officeDocument/2006/relationships/slideLayout" Target="../slideLayouts/slideLayout1.xml"/><Relationship Id="rId9"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2" Type="http://schemas.openxmlformats.org/officeDocument/2006/relationships/chart" Target="/ppt/charts/chart4.xml"/><Relationship Id="rId1" Type="http://schemas.openxmlformats.org/officeDocument/2006/relationships/image" Target="../media/image-35-1.png"/><Relationship Id="rId3" Type="http://schemas.openxmlformats.org/officeDocument/2006/relationships/slideLayout" Target="../slideLayouts/slideLayout1.xml"/><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2" Type="http://schemas.openxmlformats.org/officeDocument/2006/relationships/chart" Target="/ppt/charts/chart5.xml"/><Relationship Id="rId1" Type="http://schemas.openxmlformats.org/officeDocument/2006/relationships/image" Target="../media/image-36-1.png"/><Relationship Id="rId3" Type="http://schemas.openxmlformats.org/officeDocument/2006/relationships/slideLayout" Target="../slideLayouts/slideLayout1.xml"/><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2" Type="http://schemas.openxmlformats.org/officeDocument/2006/relationships/chart" Target="/ppt/charts/chart6.xml"/><Relationship Id="rId1" Type="http://schemas.openxmlformats.org/officeDocument/2006/relationships/image" Target="../media/image-37-1.png"/><Relationship Id="rId3" Type="http://schemas.openxmlformats.org/officeDocument/2006/relationships/slideLayout" Target="../slideLayouts/slideLayout1.xml"/><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2" Type="http://schemas.openxmlformats.org/officeDocument/2006/relationships/chart" Target="/ppt/charts/chart7.xml"/><Relationship Id="rId1" Type="http://schemas.openxmlformats.org/officeDocument/2006/relationships/image" Target="../media/image-39-1.png"/><Relationship Id="rId3" Type="http://schemas.openxmlformats.org/officeDocument/2006/relationships/slideLayout" Target="../slideLayouts/slideLayout1.xml"/><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72A"/>
        </a:solidFill>
      </p:bgPr>
    </p:bg>
    <p:spTree>
      <p:nvGrpSpPr>
        <p:cNvPr id="1" name=""/>
        <p:cNvGrpSpPr/>
        <p:nvPr/>
      </p:nvGrpSpPr>
      <p:grpSpPr>
        <a:xfrm>
          <a:off x="0" y="0"/>
          <a:ext cx="0" cy="0"/>
          <a:chOff x="0" y="0"/>
          <a:chExt cx="0" cy="0"/>
        </a:xfrm>
      </p:grpSpPr>
      <p:pic>
        <p:nvPicPr>
          <p:cNvPr id="2" name="Image 0" descr="C:\Users\shrey\AppData\Local\Temp\claude\D--novacinternship-finsight\ef4ecb45-e580-4bc0-9be4-060aa240a5b2\scratchpad\deck\img\title_bg.jpg">    </p:cNvPr>
          <p:cNvPicPr>
            <a:picLocks noChangeAspect="1"/>
          </p:cNvPicPr>
          <p:nvPr/>
        </p:nvPicPr>
        <p:blipFill>
          <a:blip r:embed="rId1"/>
          <a:stretch>
            <a:fillRect/>
          </a:stretch>
        </p:blipFill>
        <p:spPr>
          <a:xfrm>
            <a:off x="0" y="0"/>
            <a:ext cx="12191695" cy="6858000"/>
          </a:xfrm>
          <a:prstGeom prst="rect">
            <a:avLst/>
          </a:prstGeom>
        </p:spPr>
      </p:pic>
      <p:pic>
        <p:nvPicPr>
          <p:cNvPr id="3" name="Image 1" descr="C:\Users\shrey\AppData\Local\Temp\claude\D--novacinternship-finsight\ef4ecb45-e580-4bc0-9be4-060aa240a5b2\scratchpad\deck\img\logo_lockup_light.png">    </p:cNvPr>
          <p:cNvPicPr>
            <a:picLocks noChangeAspect="1"/>
          </p:cNvPicPr>
          <p:nvPr/>
        </p:nvPicPr>
        <p:blipFill>
          <a:blip r:embed="rId2"/>
          <a:stretch>
            <a:fillRect/>
          </a:stretch>
        </p:blipFill>
        <p:spPr>
          <a:xfrm>
            <a:off x="548640" y="548640"/>
            <a:ext cx="2012594" cy="566928"/>
          </a:xfrm>
          <a:prstGeom prst="rect">
            <a:avLst/>
          </a:prstGeom>
        </p:spPr>
      </p:pic>
      <p:sp>
        <p:nvSpPr>
          <p:cNvPr id="4" name="Text 0"/>
          <p:cNvSpPr txBox="1"/>
          <p:nvPr/>
        </p:nvSpPr>
        <p:spPr>
          <a:xfrm>
            <a:off x="548640" y="1481328"/>
            <a:ext cx="6400800" cy="274320"/>
          </a:xfrm>
          <a:prstGeom prst="rect">
            <a:avLst/>
          </a:prstGeom>
          <a:noFill/>
          <a:ln/>
        </p:spPr>
        <p:txBody>
          <a:bodyPr wrap="square" lIns="0" tIns="0" rIns="0" bIns="0" rtlCol="0" anchor="ctr"/>
          <a:lstStyle/>
          <a:p>
            <a:pPr indent="0" marL="0">
              <a:buNone/>
            </a:pPr>
            <a:r>
              <a:rPr lang="en-US" sz="1100" b="1" spc="200" kern="0" dirty="0">
                <a:solidFill>
                  <a:srgbClr val="A5B4FC"/>
                </a:solidFill>
                <a:latin typeface="Roboto" pitchFamily="34" charset="0"/>
                <a:ea typeface="Roboto" pitchFamily="34" charset="-122"/>
                <a:cs typeface="Roboto" pitchFamily="34" charset="-120"/>
              </a:rPr>
              <a:t>NBFC PLATFORM  ·  FINAL PROJECT PRESENTATION</a:t>
            </a:r>
            <a:endParaRPr lang="en-US" sz="1100" dirty="0"/>
          </a:p>
        </p:txBody>
      </p:sp>
      <p:sp>
        <p:nvSpPr>
          <p:cNvPr id="5" name="Text 1"/>
          <p:cNvSpPr txBox="1"/>
          <p:nvPr/>
        </p:nvSpPr>
        <p:spPr>
          <a:xfrm>
            <a:off x="548640" y="1828800"/>
            <a:ext cx="6126480" cy="1600200"/>
          </a:xfrm>
          <a:prstGeom prst="rect">
            <a:avLst/>
          </a:prstGeom>
          <a:noFill/>
          <a:ln/>
        </p:spPr>
        <p:txBody>
          <a:bodyPr wrap="square" lIns="0" tIns="0" rIns="0" bIns="0" rtlCol="0" anchor="t"/>
          <a:lstStyle/>
          <a:p>
            <a:pPr indent="0" marL="0">
              <a:buNone/>
            </a:pPr>
            <a:r>
              <a:rPr lang="en-US" sz="3400" b="1" dirty="0">
                <a:solidFill>
                  <a:srgbClr val="FFFFFF"/>
                </a:solidFill>
                <a:latin typeface="Roboto" pitchFamily="34" charset="0"/>
                <a:ea typeface="Roboto" pitchFamily="34" charset="-122"/>
                <a:cs typeface="Roboto" pitchFamily="34" charset="-120"/>
              </a:rPr>
              <a:t>Every loan file is a stack of paper someone has to read, check and judge.</a:t>
            </a:r>
            <a:endParaRPr lang="en-US" sz="3400" dirty="0"/>
          </a:p>
        </p:txBody>
      </p:sp>
      <p:sp>
        <p:nvSpPr>
          <p:cNvPr id="6" name="Text 2"/>
          <p:cNvSpPr txBox="1"/>
          <p:nvPr/>
        </p:nvSpPr>
        <p:spPr>
          <a:xfrm>
            <a:off x="548640" y="3520440"/>
            <a:ext cx="6035040" cy="411480"/>
          </a:xfrm>
          <a:prstGeom prst="rect">
            <a:avLst/>
          </a:prstGeom>
          <a:noFill/>
          <a:ln/>
        </p:spPr>
        <p:txBody>
          <a:bodyPr wrap="square" lIns="0" tIns="0" rIns="0" bIns="0" rtlCol="0" anchor="ctr"/>
          <a:lstStyle/>
          <a:p>
            <a:pPr indent="0" marL="0">
              <a:buNone/>
            </a:pPr>
            <a:r>
              <a:rPr lang="en-US" sz="1800" b="1" dirty="0">
                <a:solidFill>
                  <a:srgbClr val="C7D2FE"/>
                </a:solidFill>
                <a:latin typeface="Roboto" pitchFamily="34" charset="0"/>
                <a:ea typeface="Roboto" pitchFamily="34" charset="-122"/>
                <a:cs typeface="Roboto" pitchFamily="34" charset="-120"/>
              </a:rPr>
              <a:t>FinSight AI — agentic loan underwriting for Indian NBFCs</a:t>
            </a:r>
            <a:endParaRPr lang="en-US" sz="1800" dirty="0"/>
          </a:p>
        </p:txBody>
      </p:sp>
      <p:sp>
        <p:nvSpPr>
          <p:cNvPr id="7" name="Text 3"/>
          <p:cNvSpPr txBox="1"/>
          <p:nvPr/>
        </p:nvSpPr>
        <p:spPr>
          <a:xfrm>
            <a:off x="548640" y="3977640"/>
            <a:ext cx="5669280" cy="868680"/>
          </a:xfrm>
          <a:prstGeom prst="rect">
            <a:avLst/>
          </a:prstGeom>
          <a:noFill/>
          <a:ln/>
        </p:spPr>
        <p:txBody>
          <a:bodyPr wrap="square" lIns="0" tIns="0" rIns="0" bIns="0" rtlCol="0" anchor="t"/>
          <a:lstStyle/>
          <a:p>
            <a:pPr indent="0" marL="0">
              <a:buNone/>
            </a:pPr>
            <a:r>
              <a:rPr lang="en-US" sz="1300" dirty="0">
                <a:solidFill>
                  <a:srgbClr val="CBD5E1"/>
                </a:solidFill>
                <a:latin typeface="Roboto" pitchFamily="34" charset="0"/>
                <a:ea typeface="Roboto" pitchFamily="34" charset="-122"/>
                <a:cs typeface="Roboto" pitchFamily="34" charset="-120"/>
              </a:rPr>
              <a:t>29 CrewAI agents read the documents, check them for fraud and RBI policy, score the risk and draft the credit memo — on a local model, with a person making every decision.</a:t>
            </a:r>
            <a:endParaRPr lang="en-US" sz="1300" dirty="0"/>
          </a:p>
        </p:txBody>
      </p:sp>
      <p:sp>
        <p:nvSpPr>
          <p:cNvPr id="8" name="Shape 4"/>
          <p:cNvSpPr/>
          <p:nvPr/>
        </p:nvSpPr>
        <p:spPr>
          <a:xfrm>
            <a:off x="548640" y="5029200"/>
            <a:ext cx="1371600" cy="896112"/>
          </a:xfrm>
          <a:prstGeom prst="roundRect">
            <a:avLst>
              <a:gd name="adj" fmla="val 10204"/>
            </a:avLst>
          </a:prstGeom>
          <a:solidFill>
            <a:srgbClr val="1E293B">
              <a:alpha val="88000"/>
            </a:srgbClr>
          </a:solidFill>
          <a:ln w="12700">
            <a:solidFill>
              <a:srgbClr val="334155"/>
            </a:solidFill>
            <a:prstDash val="solid"/>
          </a:ln>
        </p:spPr>
      </p:sp>
      <p:sp>
        <p:nvSpPr>
          <p:cNvPr id="9" name="Text 5"/>
          <p:cNvSpPr txBox="1"/>
          <p:nvPr/>
        </p:nvSpPr>
        <p:spPr>
          <a:xfrm>
            <a:off x="548640" y="5074920"/>
            <a:ext cx="1371600" cy="457200"/>
          </a:xfrm>
          <a:prstGeom prst="rect">
            <a:avLst/>
          </a:prstGeom>
          <a:noFill/>
          <a:ln/>
        </p:spPr>
        <p:txBody>
          <a:bodyPr wrap="square" lIns="0" tIns="0" rIns="0" bIns="0" rtlCol="0" anchor="ctr"/>
          <a:lstStyle/>
          <a:p>
            <a:pPr algn="ctr" indent="0" marL="0">
              <a:buNone/>
            </a:pPr>
            <a:r>
              <a:rPr lang="en-US" sz="2100" b="1" dirty="0">
                <a:solidFill>
                  <a:srgbClr val="A5B4FC"/>
                </a:solidFill>
                <a:latin typeface="Roboto" pitchFamily="34" charset="0"/>
                <a:ea typeface="Roboto" pitchFamily="34" charset="-122"/>
                <a:cs typeface="Roboto" pitchFamily="34" charset="-120"/>
              </a:rPr>
              <a:t>29</a:t>
            </a:r>
            <a:endParaRPr lang="en-US" sz="2100" dirty="0"/>
          </a:p>
        </p:txBody>
      </p:sp>
      <p:sp>
        <p:nvSpPr>
          <p:cNvPr id="10" name="Text 6"/>
          <p:cNvSpPr txBox="1"/>
          <p:nvPr/>
        </p:nvSpPr>
        <p:spPr>
          <a:xfrm>
            <a:off x="594360" y="5513832"/>
            <a:ext cx="1280160" cy="347472"/>
          </a:xfrm>
          <a:prstGeom prst="rect">
            <a:avLst/>
          </a:prstGeom>
          <a:noFill/>
          <a:ln/>
        </p:spPr>
        <p:txBody>
          <a:bodyPr wrap="square" lIns="0" tIns="0" rIns="0" bIns="0" rtlCol="0" anchor="t"/>
          <a:lstStyle/>
          <a:p>
            <a:pPr algn="ctr" indent="0" marL="0">
              <a:buNone/>
            </a:pPr>
            <a:r>
              <a:rPr lang="en-US" sz="950" dirty="0">
                <a:solidFill>
                  <a:srgbClr val="CBD5E1"/>
                </a:solidFill>
                <a:latin typeface="Roboto" pitchFamily="34" charset="0"/>
                <a:ea typeface="Roboto" pitchFamily="34" charset="-122"/>
                <a:cs typeface="Roboto" pitchFamily="34" charset="-120"/>
              </a:rPr>
              <a:t>agents in 6 crews</a:t>
            </a:r>
            <a:endParaRPr lang="en-US" sz="950" dirty="0"/>
          </a:p>
        </p:txBody>
      </p:sp>
      <p:sp>
        <p:nvSpPr>
          <p:cNvPr id="11" name="Shape 7"/>
          <p:cNvSpPr/>
          <p:nvPr/>
        </p:nvSpPr>
        <p:spPr>
          <a:xfrm>
            <a:off x="2029968" y="5029200"/>
            <a:ext cx="1371600" cy="896112"/>
          </a:xfrm>
          <a:prstGeom prst="roundRect">
            <a:avLst>
              <a:gd name="adj" fmla="val 10204"/>
            </a:avLst>
          </a:prstGeom>
          <a:solidFill>
            <a:srgbClr val="1E293B">
              <a:alpha val="88000"/>
            </a:srgbClr>
          </a:solidFill>
          <a:ln w="12700">
            <a:solidFill>
              <a:srgbClr val="334155"/>
            </a:solidFill>
            <a:prstDash val="solid"/>
          </a:ln>
        </p:spPr>
      </p:sp>
      <p:sp>
        <p:nvSpPr>
          <p:cNvPr id="12" name="Text 8"/>
          <p:cNvSpPr txBox="1"/>
          <p:nvPr/>
        </p:nvSpPr>
        <p:spPr>
          <a:xfrm>
            <a:off x="2029968" y="5074920"/>
            <a:ext cx="1371600" cy="457200"/>
          </a:xfrm>
          <a:prstGeom prst="rect">
            <a:avLst/>
          </a:prstGeom>
          <a:noFill/>
          <a:ln/>
        </p:spPr>
        <p:txBody>
          <a:bodyPr wrap="square" lIns="0" tIns="0" rIns="0" bIns="0" rtlCol="0" anchor="ctr"/>
          <a:lstStyle/>
          <a:p>
            <a:pPr algn="ctr" indent="0" marL="0">
              <a:buNone/>
            </a:pPr>
            <a:r>
              <a:rPr lang="en-US" sz="2100" b="1" dirty="0">
                <a:solidFill>
                  <a:srgbClr val="A5B4FC"/>
                </a:solidFill>
                <a:latin typeface="Roboto" pitchFamily="34" charset="0"/>
                <a:ea typeface="Roboto" pitchFamily="34" charset="-122"/>
                <a:cs typeface="Roboto" pitchFamily="34" charset="-120"/>
              </a:rPr>
              <a:t>12</a:t>
            </a:r>
            <a:endParaRPr lang="en-US" sz="2100" dirty="0"/>
          </a:p>
        </p:txBody>
      </p:sp>
      <p:sp>
        <p:nvSpPr>
          <p:cNvPr id="13" name="Text 9"/>
          <p:cNvSpPr txBox="1"/>
          <p:nvPr/>
        </p:nvSpPr>
        <p:spPr>
          <a:xfrm>
            <a:off x="2075688" y="5513832"/>
            <a:ext cx="1280160" cy="347472"/>
          </a:xfrm>
          <a:prstGeom prst="rect">
            <a:avLst/>
          </a:prstGeom>
          <a:noFill/>
          <a:ln/>
        </p:spPr>
        <p:txBody>
          <a:bodyPr wrap="square" lIns="0" tIns="0" rIns="0" bIns="0" rtlCol="0" anchor="t"/>
          <a:lstStyle/>
          <a:p>
            <a:pPr algn="ctr" indent="0" marL="0">
              <a:buNone/>
            </a:pPr>
            <a:r>
              <a:rPr lang="en-US" sz="950" dirty="0">
                <a:solidFill>
                  <a:srgbClr val="CBD5E1"/>
                </a:solidFill>
                <a:latin typeface="Roboto" pitchFamily="34" charset="0"/>
                <a:ea typeface="Roboto" pitchFamily="34" charset="-122"/>
                <a:cs typeface="Roboto" pitchFamily="34" charset="-120"/>
              </a:rPr>
              <a:t>loan products</a:t>
            </a:r>
            <a:endParaRPr lang="en-US" sz="950" dirty="0"/>
          </a:p>
        </p:txBody>
      </p:sp>
      <p:sp>
        <p:nvSpPr>
          <p:cNvPr id="14" name="Shape 10"/>
          <p:cNvSpPr/>
          <p:nvPr/>
        </p:nvSpPr>
        <p:spPr>
          <a:xfrm>
            <a:off x="3511296" y="5029200"/>
            <a:ext cx="1371600" cy="896112"/>
          </a:xfrm>
          <a:prstGeom prst="roundRect">
            <a:avLst>
              <a:gd name="adj" fmla="val 10204"/>
            </a:avLst>
          </a:prstGeom>
          <a:solidFill>
            <a:srgbClr val="1E293B">
              <a:alpha val="88000"/>
            </a:srgbClr>
          </a:solidFill>
          <a:ln w="12700">
            <a:solidFill>
              <a:srgbClr val="334155"/>
            </a:solidFill>
            <a:prstDash val="solid"/>
          </a:ln>
        </p:spPr>
      </p:sp>
      <p:sp>
        <p:nvSpPr>
          <p:cNvPr id="15" name="Text 11"/>
          <p:cNvSpPr txBox="1"/>
          <p:nvPr/>
        </p:nvSpPr>
        <p:spPr>
          <a:xfrm>
            <a:off x="3511296" y="5074920"/>
            <a:ext cx="1371600" cy="457200"/>
          </a:xfrm>
          <a:prstGeom prst="rect">
            <a:avLst/>
          </a:prstGeom>
          <a:noFill/>
          <a:ln/>
        </p:spPr>
        <p:txBody>
          <a:bodyPr wrap="square" lIns="0" tIns="0" rIns="0" bIns="0" rtlCol="0" anchor="ctr"/>
          <a:lstStyle/>
          <a:p>
            <a:pPr algn="ctr" indent="0" marL="0">
              <a:buNone/>
            </a:pPr>
            <a:r>
              <a:rPr lang="en-US" sz="2100" b="1" dirty="0">
                <a:solidFill>
                  <a:srgbClr val="A5B4FC"/>
                </a:solidFill>
                <a:latin typeface="Roboto" pitchFamily="34" charset="0"/>
                <a:ea typeface="Roboto" pitchFamily="34" charset="-122"/>
                <a:cs typeface="Roboto" pitchFamily="34" charset="-120"/>
              </a:rPr>
              <a:t>25 / 29</a:t>
            </a:r>
            <a:endParaRPr lang="en-US" sz="2100" dirty="0"/>
          </a:p>
        </p:txBody>
      </p:sp>
      <p:sp>
        <p:nvSpPr>
          <p:cNvPr id="16" name="Text 12"/>
          <p:cNvSpPr txBox="1"/>
          <p:nvPr/>
        </p:nvSpPr>
        <p:spPr>
          <a:xfrm>
            <a:off x="3557016" y="5513832"/>
            <a:ext cx="1280160" cy="347472"/>
          </a:xfrm>
          <a:prstGeom prst="rect">
            <a:avLst/>
          </a:prstGeom>
          <a:noFill/>
          <a:ln/>
        </p:spPr>
        <p:txBody>
          <a:bodyPr wrap="square" lIns="0" tIns="0" rIns="0" bIns="0" rtlCol="0" anchor="t"/>
          <a:lstStyle/>
          <a:p>
            <a:pPr algn="ctr" indent="0" marL="0">
              <a:buNone/>
            </a:pPr>
            <a:r>
              <a:rPr lang="en-US" sz="950" dirty="0">
                <a:solidFill>
                  <a:srgbClr val="CBD5E1"/>
                </a:solidFill>
                <a:latin typeface="Roboto" pitchFamily="34" charset="0"/>
                <a:ea typeface="Roboto" pitchFamily="34" charset="-122"/>
                <a:cs typeface="Roboto" pitchFamily="34" charset="-120"/>
              </a:rPr>
              <a:t>targets met on real data</a:t>
            </a:r>
            <a:endParaRPr lang="en-US" sz="950" dirty="0"/>
          </a:p>
        </p:txBody>
      </p:sp>
      <p:sp>
        <p:nvSpPr>
          <p:cNvPr id="17" name="Shape 13"/>
          <p:cNvSpPr/>
          <p:nvPr/>
        </p:nvSpPr>
        <p:spPr>
          <a:xfrm>
            <a:off x="4992624" y="5029200"/>
            <a:ext cx="1371600" cy="896112"/>
          </a:xfrm>
          <a:prstGeom prst="roundRect">
            <a:avLst>
              <a:gd name="adj" fmla="val 10204"/>
            </a:avLst>
          </a:prstGeom>
          <a:solidFill>
            <a:srgbClr val="1E293B">
              <a:alpha val="88000"/>
            </a:srgbClr>
          </a:solidFill>
          <a:ln w="12700">
            <a:solidFill>
              <a:srgbClr val="334155"/>
            </a:solidFill>
            <a:prstDash val="solid"/>
          </a:ln>
        </p:spPr>
      </p:sp>
      <p:sp>
        <p:nvSpPr>
          <p:cNvPr id="18" name="Text 14"/>
          <p:cNvSpPr txBox="1"/>
          <p:nvPr/>
        </p:nvSpPr>
        <p:spPr>
          <a:xfrm>
            <a:off x="4992624" y="5074920"/>
            <a:ext cx="1371600" cy="457200"/>
          </a:xfrm>
          <a:prstGeom prst="rect">
            <a:avLst/>
          </a:prstGeom>
          <a:noFill/>
          <a:ln/>
        </p:spPr>
        <p:txBody>
          <a:bodyPr wrap="square" lIns="0" tIns="0" rIns="0" bIns="0" rtlCol="0" anchor="ctr"/>
          <a:lstStyle/>
          <a:p>
            <a:pPr algn="ctr" indent="0" marL="0">
              <a:buNone/>
            </a:pPr>
            <a:r>
              <a:rPr lang="en-US" sz="2100" b="1" dirty="0">
                <a:solidFill>
                  <a:srgbClr val="A5B4FC"/>
                </a:solidFill>
                <a:latin typeface="Roboto" pitchFamily="34" charset="0"/>
                <a:ea typeface="Roboto" pitchFamily="34" charset="-122"/>
                <a:cs typeface="Roboto" pitchFamily="34" charset="-120"/>
              </a:rPr>
              <a:t>130</a:t>
            </a:r>
            <a:endParaRPr lang="en-US" sz="2100" dirty="0"/>
          </a:p>
        </p:txBody>
      </p:sp>
      <p:sp>
        <p:nvSpPr>
          <p:cNvPr id="19" name="Text 15"/>
          <p:cNvSpPr txBox="1"/>
          <p:nvPr/>
        </p:nvSpPr>
        <p:spPr>
          <a:xfrm>
            <a:off x="5038344" y="5513832"/>
            <a:ext cx="1280160" cy="347472"/>
          </a:xfrm>
          <a:prstGeom prst="rect">
            <a:avLst/>
          </a:prstGeom>
          <a:noFill/>
          <a:ln/>
        </p:spPr>
        <p:txBody>
          <a:bodyPr wrap="square" lIns="0" tIns="0" rIns="0" bIns="0" rtlCol="0" anchor="t"/>
          <a:lstStyle/>
          <a:p>
            <a:pPr algn="ctr" indent="0" marL="0">
              <a:buNone/>
            </a:pPr>
            <a:r>
              <a:rPr lang="en-US" sz="950" dirty="0">
                <a:solidFill>
                  <a:srgbClr val="CBD5E1"/>
                </a:solidFill>
                <a:latin typeface="Roboto" pitchFamily="34" charset="0"/>
                <a:ea typeface="Roboto" pitchFamily="34" charset="-122"/>
                <a:cs typeface="Roboto" pitchFamily="34" charset="-120"/>
              </a:rPr>
              <a:t>automated tests</a:t>
            </a:r>
            <a:endParaRPr lang="en-US" sz="950" dirty="0"/>
          </a:p>
        </p:txBody>
      </p:sp>
      <p:sp>
        <p:nvSpPr>
          <p:cNvPr id="20" name="Text 16"/>
          <p:cNvSpPr txBox="1"/>
          <p:nvPr/>
        </p:nvSpPr>
        <p:spPr>
          <a:xfrm>
            <a:off x="548640" y="6263640"/>
            <a:ext cx="5486400" cy="274320"/>
          </a:xfrm>
          <a:prstGeom prst="rect">
            <a:avLst/>
          </a:prstGeom>
          <a:noFill/>
          <a:ln/>
        </p:spPr>
        <p:txBody>
          <a:bodyPr wrap="square" lIns="0" tIns="0" rIns="0" bIns="0" rtlCol="0" anchor="ctr"/>
          <a:lstStyle/>
          <a:p>
            <a:pPr indent="0" marL="0">
              <a:buNone/>
            </a:pPr>
            <a:r>
              <a:rPr lang="en-US" sz="1100" dirty="0">
                <a:solidFill>
                  <a:srgbClr val="94A3B8"/>
                </a:solidFill>
                <a:latin typeface="Roboto" pitchFamily="34" charset="0"/>
                <a:ea typeface="Roboto" pitchFamily="34" charset="-122"/>
                <a:cs typeface="Roboto" pitchFamily="34" charset="-120"/>
              </a:rPr>
              <a:t>Shreyas Bile  ·  4 October 2026</a:t>
            </a:r>
            <a:endParaRPr lang="en-US" sz="1100" dirty="0"/>
          </a:p>
        </p:txBody>
      </p:sp>
      <p:sp>
        <p:nvSpPr>
          <p:cNvPr id="21" name="Text 17"/>
          <p:cNvSpPr txBox="1"/>
          <p:nvPr/>
        </p:nvSpPr>
        <p:spPr>
          <a:xfrm>
            <a:off x="7985455" y="6309360"/>
            <a:ext cx="3657600" cy="228600"/>
          </a:xfrm>
          <a:prstGeom prst="rect">
            <a:avLst/>
          </a:prstGeom>
          <a:noFill/>
          <a:ln/>
        </p:spPr>
        <p:txBody>
          <a:bodyPr wrap="square" lIns="0" tIns="0" rIns="0" bIns="0" rtlCol="0" anchor="ctr"/>
          <a:lstStyle/>
          <a:p>
            <a:pPr algn="r" indent="0" marL="0">
              <a:buNone/>
            </a:pPr>
            <a:r>
              <a:rPr lang="en-US" sz="850" dirty="0">
                <a:solidFill>
                  <a:srgbClr val="94A3B8"/>
                </a:solidFill>
                <a:latin typeface="Roboto" pitchFamily="34" charset="0"/>
                <a:ea typeface="Roboto" pitchFamily="34" charset="-122"/>
                <a:cs typeface="Roboto" pitchFamily="34" charset="-120"/>
              </a:rPr>
              <a:t>Photo: Dimitri Karastelev / Unsplash</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8229600" cy="256032"/>
          </a:xfrm>
          <a:prstGeom prst="rect">
            <a:avLst/>
          </a:prstGeom>
          <a:noFill/>
          <a:ln/>
        </p:spPr>
        <p:txBody>
          <a:bodyPr wrap="square" lIns="0" tIns="0" rIns="0" bIns="0" rtlCol="0" anchor="ctr"/>
          <a:lstStyle/>
          <a:p>
            <a:pPr indent="0" marL="0">
              <a:buNone/>
            </a:pPr>
            <a:r>
              <a:rPr lang="en-US" sz="1100" b="1" spc="200" kern="0" dirty="0">
                <a:solidFill>
                  <a:srgbClr val="4F46E5"/>
                </a:solidFill>
                <a:latin typeface="Roboto" pitchFamily="34" charset="0"/>
                <a:ea typeface="Roboto" pitchFamily="34" charset="-122"/>
                <a:cs typeface="Roboto" pitchFamily="34" charset="-120"/>
              </a:rPr>
              <a:t>CONTENTS</a:t>
            </a:r>
            <a:endParaRPr lang="en-US" sz="1100" dirty="0"/>
          </a:p>
        </p:txBody>
      </p:sp>
      <p:sp>
        <p:nvSpPr>
          <p:cNvPr id="3" name="Text 1"/>
          <p:cNvSpPr txBox="1"/>
          <p:nvPr/>
        </p:nvSpPr>
        <p:spPr>
          <a:xfrm>
            <a:off x="548640" y="585216"/>
            <a:ext cx="11094415" cy="566928"/>
          </a:xfrm>
          <a:prstGeom prst="rect">
            <a:avLst/>
          </a:prstGeom>
          <a:noFill/>
          <a:ln/>
        </p:spPr>
        <p:txBody>
          <a:bodyPr wrap="square" lIns="0" tIns="0" rIns="0" bIns="0" rtlCol="0" anchor="ctr"/>
          <a:lstStyle/>
          <a:p>
            <a:pPr indent="0" marL="0">
              <a:buNone/>
            </a:pPr>
            <a:r>
              <a:rPr lang="en-US" sz="2800" b="1" dirty="0">
                <a:solidFill>
                  <a:srgbClr val="0F172A"/>
                </a:solidFill>
                <a:latin typeface="Roboto" pitchFamily="34" charset="0"/>
                <a:ea typeface="Roboto" pitchFamily="34" charset="-122"/>
                <a:cs typeface="Roboto" pitchFamily="34" charset="-120"/>
              </a:rPr>
              <a:t>What this deck covers</a:t>
            </a:r>
            <a:endParaRPr lang="en-US" sz="2800" dirty="0"/>
          </a:p>
        </p:txBody>
      </p:sp>
      <p:sp>
        <p:nvSpPr>
          <p:cNvPr id="4" name="Text 2"/>
          <p:cNvSpPr txBox="1"/>
          <p:nvPr/>
        </p:nvSpPr>
        <p:spPr>
          <a:xfrm>
            <a:off x="548640" y="1152144"/>
            <a:ext cx="11094415" cy="365760"/>
          </a:xfrm>
          <a:prstGeom prst="rect">
            <a:avLst/>
          </a:prstGeom>
          <a:noFill/>
          <a:ln/>
        </p:spPr>
        <p:txBody>
          <a:bodyPr wrap="square" lIns="0" tIns="0" rIns="0" bIns="0" rtlCol="0" anchor="ctr"/>
          <a:lstStyle/>
          <a:p>
            <a:pPr indent="0" marL="0">
              <a:buNone/>
            </a:pPr>
            <a:r>
              <a:rPr lang="en-US" sz="1400" dirty="0">
                <a:solidFill>
                  <a:srgbClr val="64748B"/>
                </a:solidFill>
                <a:latin typeface="Roboto" pitchFamily="34" charset="0"/>
                <a:ea typeface="Roboto" pitchFamily="34" charset="-122"/>
                <a:cs typeface="Roboto" pitchFamily="34" charset="-120"/>
              </a:rPr>
              <a:t>Six parts, from what the product does to how well each agent works.</a:t>
            </a:r>
            <a:endParaRPr lang="en-US" sz="1400" dirty="0"/>
          </a:p>
        </p:txBody>
      </p:sp>
      <p:pic>
        <p:nvPicPr>
          <p:cNvPr id="5" name="Image 0" descr="C:\Users\shrey\AppData\Local\Temp\claude\D--novacinternship-finsight\ef4ecb45-e580-4bc0-9be4-060aa240a5b2\scratchpad\deck\img\logo_lockup.png">    </p:cNvPr>
          <p:cNvPicPr>
            <a:picLocks noChangeAspect="1"/>
          </p:cNvPicPr>
          <p:nvPr/>
        </p:nvPicPr>
        <p:blipFill>
          <a:blip r:embed="rId1"/>
          <a:stretch>
            <a:fillRect/>
          </a:stretch>
        </p:blipFill>
        <p:spPr>
          <a:xfrm>
            <a:off x="10360152" y="6464808"/>
            <a:ext cx="843991" cy="237744"/>
          </a:xfrm>
          <a:prstGeom prst="rect">
            <a:avLst/>
          </a:prstGeom>
        </p:spPr>
      </p:pic>
      <p:sp>
        <p:nvSpPr>
          <p:cNvPr id="6" name="Text 3"/>
          <p:cNvSpPr txBox="1"/>
          <p:nvPr/>
        </p:nvSpPr>
        <p:spPr>
          <a:xfrm>
            <a:off x="11277295" y="6473952"/>
            <a:ext cx="365760" cy="228600"/>
          </a:xfrm>
          <a:prstGeom prst="rect">
            <a:avLst/>
          </a:prstGeom>
          <a:noFill/>
          <a:ln/>
        </p:spPr>
        <p:txBody>
          <a:bodyPr wrap="square" lIns="0" tIns="0" rIns="0" bIns="0" rtlCol="0" anchor="ctr"/>
          <a:lstStyle/>
          <a:p>
            <a:pPr algn="r" indent="0" marL="0">
              <a:buNone/>
            </a:pPr>
            <a:r>
              <a:rPr lang="en-US" sz="900" dirty="0">
                <a:solidFill>
                  <a:srgbClr val="94A3B8"/>
                </a:solidFill>
                <a:latin typeface="Roboto" pitchFamily="34" charset="0"/>
                <a:ea typeface="Roboto" pitchFamily="34" charset="-122"/>
                <a:cs typeface="Roboto" pitchFamily="34" charset="-120"/>
              </a:rPr>
              <a:t>2</a:t>
            </a:r>
            <a:endParaRPr lang="en-US" sz="900" dirty="0"/>
          </a:p>
        </p:txBody>
      </p:sp>
      <p:sp>
        <p:nvSpPr>
          <p:cNvPr id="8" name="Shape 4"/>
          <p:cNvSpPr/>
          <p:nvPr/>
        </p:nvSpPr>
        <p:spPr>
          <a:xfrm>
            <a:off x="548640" y="1783080"/>
            <a:ext cx="3566160" cy="2011680"/>
          </a:xfrm>
          <a:prstGeom prst="roundRect">
            <a:avLst>
              <a:gd name="adj" fmla="val 5455"/>
            </a:avLst>
          </a:prstGeom>
          <a:solidFill>
            <a:srgbClr val="F8FAFC"/>
          </a:solidFill>
          <a:ln w="12700">
            <a:solidFill>
              <a:srgbClr val="E2E8F0"/>
            </a:solidFill>
            <a:prstDash val="solid"/>
          </a:ln>
        </p:spPr>
      </p:sp>
      <p:sp>
        <p:nvSpPr>
          <p:cNvPr id="9" name="Shape 5"/>
          <p:cNvSpPr/>
          <p:nvPr/>
        </p:nvSpPr>
        <p:spPr>
          <a:xfrm>
            <a:off x="822960" y="2057400"/>
            <a:ext cx="566928" cy="566928"/>
          </a:xfrm>
          <a:prstGeom prst="ellipse">
            <a:avLst/>
          </a:prstGeom>
          <a:solidFill>
            <a:srgbClr val="EEF2FF"/>
          </a:solidFill>
          <a:ln w="12700">
            <a:solidFill>
              <a:srgbClr val="EEF2FF"/>
            </a:solidFill>
            <a:prstDash val="solid"/>
          </a:ln>
        </p:spPr>
      </p:sp>
      <p:pic>
        <p:nvPicPr>
          <p:cNvPr id="10" name="Image 1" descr="preencoded.png">    </p:cNvPr>
          <p:cNvPicPr>
            <a:picLocks noChangeAspect="1"/>
          </p:cNvPicPr>
          <p:nvPr/>
        </p:nvPicPr>
        <p:blipFill>
          <a:blip r:embed="rId2"/>
          <a:stretch>
            <a:fillRect/>
          </a:stretch>
        </p:blipFill>
        <p:spPr>
          <a:xfrm>
            <a:off x="947684" y="2182124"/>
            <a:ext cx="317480" cy="317480"/>
          </a:xfrm>
          <a:prstGeom prst="rect">
            <a:avLst/>
          </a:prstGeom>
        </p:spPr>
      </p:pic>
      <p:sp>
        <p:nvSpPr>
          <p:cNvPr id="11" name="Text 6"/>
          <p:cNvSpPr txBox="1"/>
          <p:nvPr/>
        </p:nvSpPr>
        <p:spPr>
          <a:xfrm>
            <a:off x="3017520" y="2039112"/>
            <a:ext cx="868680" cy="548640"/>
          </a:xfrm>
          <a:prstGeom prst="rect">
            <a:avLst/>
          </a:prstGeom>
          <a:noFill/>
          <a:ln/>
        </p:spPr>
        <p:txBody>
          <a:bodyPr wrap="square" lIns="0" tIns="0" rIns="0" bIns="0" rtlCol="0" anchor="ctr"/>
          <a:lstStyle/>
          <a:p>
            <a:pPr algn="r" indent="0" marL="0">
              <a:buNone/>
            </a:pPr>
            <a:r>
              <a:rPr lang="en-US" sz="3000" b="1" dirty="0">
                <a:solidFill>
                  <a:srgbClr val="C7D2FE"/>
                </a:solidFill>
                <a:latin typeface="Roboto" pitchFamily="34" charset="0"/>
                <a:ea typeface="Roboto" pitchFamily="34" charset="-122"/>
                <a:cs typeface="Roboto" pitchFamily="34" charset="-120"/>
              </a:rPr>
              <a:t>00</a:t>
            </a:r>
            <a:endParaRPr lang="en-US" sz="3000" dirty="0"/>
          </a:p>
        </p:txBody>
      </p:sp>
      <p:sp>
        <p:nvSpPr>
          <p:cNvPr id="12" name="Text 7"/>
          <p:cNvSpPr txBox="1"/>
          <p:nvPr/>
        </p:nvSpPr>
        <p:spPr>
          <a:xfrm>
            <a:off x="822960" y="2770632"/>
            <a:ext cx="3108960" cy="384048"/>
          </a:xfrm>
          <a:prstGeom prst="rect">
            <a:avLst/>
          </a:prstGeom>
          <a:noFill/>
          <a:ln/>
        </p:spPr>
        <p:txBody>
          <a:bodyPr wrap="square" lIns="0" tIns="0" rIns="0" bIns="0" rtlCol="0" anchor="ctr"/>
          <a:lstStyle/>
          <a:p>
            <a:pPr indent="0" marL="0">
              <a:buNone/>
            </a:pPr>
            <a:r>
              <a:rPr lang="en-US" sz="1800" b="1" dirty="0">
                <a:solidFill>
                  <a:srgbClr val="0F172A"/>
                </a:solidFill>
                <a:latin typeface="Roboto" pitchFamily="34" charset="0"/>
                <a:ea typeface="Roboto" pitchFamily="34" charset="-122"/>
                <a:cs typeface="Roboto" pitchFamily="34" charset="-120"/>
              </a:rPr>
              <a:t>The product</a:t>
            </a:r>
            <a:endParaRPr lang="en-US" sz="1800" dirty="0"/>
          </a:p>
        </p:txBody>
      </p:sp>
      <p:sp>
        <p:nvSpPr>
          <p:cNvPr id="13" name="Text 8"/>
          <p:cNvSpPr txBox="1"/>
          <p:nvPr/>
        </p:nvSpPr>
        <p:spPr>
          <a:xfrm>
            <a:off x="822960" y="3154680"/>
            <a:ext cx="3108960" cy="502920"/>
          </a:xfrm>
          <a:prstGeom prst="rect">
            <a:avLst/>
          </a:prstGeom>
          <a:noFill/>
          <a:ln/>
        </p:spPr>
        <p:txBody>
          <a:bodyPr wrap="square" lIns="0" tIns="0" rIns="0" bIns="0" rtlCol="0" anchor="t"/>
          <a:lstStyle/>
          <a:p>
            <a:pPr indent="0" marL="0">
              <a:buNone/>
            </a:pPr>
            <a:r>
              <a:rPr lang="en-US" sz="1200" dirty="0">
                <a:solidFill>
                  <a:srgbClr val="64748B"/>
                </a:solidFill>
                <a:latin typeface="Roboto" pitchFamily="34" charset="0"/>
                <a:ea typeface="Roboto" pitchFamily="34" charset="-122"/>
                <a:cs typeface="Roboto" pitchFamily="34" charset="-120"/>
              </a:rPr>
              <a:t>The problem, the three users, a tour of the app</a:t>
            </a:r>
            <a:endParaRPr lang="en-US" sz="1200" dirty="0"/>
          </a:p>
        </p:txBody>
      </p:sp>
      <p:sp>
        <p:nvSpPr>
          <p:cNvPr id="14" name="Shape 9"/>
          <p:cNvSpPr/>
          <p:nvPr/>
        </p:nvSpPr>
        <p:spPr>
          <a:xfrm>
            <a:off x="4297680" y="1783080"/>
            <a:ext cx="3566160" cy="2011680"/>
          </a:xfrm>
          <a:prstGeom prst="roundRect">
            <a:avLst>
              <a:gd name="adj" fmla="val 5455"/>
            </a:avLst>
          </a:prstGeom>
          <a:solidFill>
            <a:srgbClr val="F8FAFC"/>
          </a:solidFill>
          <a:ln w="12700">
            <a:solidFill>
              <a:srgbClr val="E2E8F0"/>
            </a:solidFill>
            <a:prstDash val="solid"/>
          </a:ln>
        </p:spPr>
      </p:sp>
      <p:sp>
        <p:nvSpPr>
          <p:cNvPr id="15" name="Shape 10"/>
          <p:cNvSpPr/>
          <p:nvPr/>
        </p:nvSpPr>
        <p:spPr>
          <a:xfrm>
            <a:off x="4572000" y="2057400"/>
            <a:ext cx="566928" cy="566928"/>
          </a:xfrm>
          <a:prstGeom prst="ellipse">
            <a:avLst/>
          </a:prstGeom>
          <a:solidFill>
            <a:srgbClr val="EEF2FF"/>
          </a:solidFill>
          <a:ln w="12700">
            <a:solidFill>
              <a:srgbClr val="EEF2FF"/>
            </a:solidFill>
            <a:prstDash val="solid"/>
          </a:ln>
        </p:spPr>
      </p:sp>
      <p:pic>
        <p:nvPicPr>
          <p:cNvPr id="16" name="Image 2" descr="preencoded.png">    </p:cNvPr>
          <p:cNvPicPr>
            <a:picLocks noChangeAspect="1"/>
          </p:cNvPicPr>
          <p:nvPr/>
        </p:nvPicPr>
        <p:blipFill>
          <a:blip r:embed="rId3"/>
          <a:stretch>
            <a:fillRect/>
          </a:stretch>
        </p:blipFill>
        <p:spPr>
          <a:xfrm>
            <a:off x="4696724" y="2182124"/>
            <a:ext cx="317480" cy="317480"/>
          </a:xfrm>
          <a:prstGeom prst="rect">
            <a:avLst/>
          </a:prstGeom>
        </p:spPr>
      </p:pic>
      <p:sp>
        <p:nvSpPr>
          <p:cNvPr id="17" name="Text 11"/>
          <p:cNvSpPr txBox="1"/>
          <p:nvPr/>
        </p:nvSpPr>
        <p:spPr>
          <a:xfrm>
            <a:off x="6766560" y="2039112"/>
            <a:ext cx="868680" cy="548640"/>
          </a:xfrm>
          <a:prstGeom prst="rect">
            <a:avLst/>
          </a:prstGeom>
          <a:noFill/>
          <a:ln/>
        </p:spPr>
        <p:txBody>
          <a:bodyPr wrap="square" lIns="0" tIns="0" rIns="0" bIns="0" rtlCol="0" anchor="ctr"/>
          <a:lstStyle/>
          <a:p>
            <a:pPr algn="r" indent="0" marL="0">
              <a:buNone/>
            </a:pPr>
            <a:r>
              <a:rPr lang="en-US" sz="3000" b="1" dirty="0">
                <a:solidFill>
                  <a:srgbClr val="C7D2FE"/>
                </a:solidFill>
                <a:latin typeface="Roboto" pitchFamily="34" charset="0"/>
                <a:ea typeface="Roboto" pitchFamily="34" charset="-122"/>
                <a:cs typeface="Roboto" pitchFamily="34" charset="-120"/>
              </a:rPr>
              <a:t>01</a:t>
            </a:r>
            <a:endParaRPr lang="en-US" sz="3000" dirty="0"/>
          </a:p>
        </p:txBody>
      </p:sp>
      <p:sp>
        <p:nvSpPr>
          <p:cNvPr id="18" name="Text 12"/>
          <p:cNvSpPr txBox="1"/>
          <p:nvPr/>
        </p:nvSpPr>
        <p:spPr>
          <a:xfrm>
            <a:off x="4572000" y="2770632"/>
            <a:ext cx="3108960" cy="384048"/>
          </a:xfrm>
          <a:prstGeom prst="rect">
            <a:avLst/>
          </a:prstGeom>
          <a:noFill/>
          <a:ln/>
        </p:spPr>
        <p:txBody>
          <a:bodyPr wrap="square" lIns="0" tIns="0" rIns="0" bIns="0" rtlCol="0" anchor="ctr"/>
          <a:lstStyle/>
          <a:p>
            <a:pPr indent="0" marL="0">
              <a:buNone/>
            </a:pPr>
            <a:r>
              <a:rPr lang="en-US" sz="1800" b="1" dirty="0">
                <a:solidFill>
                  <a:srgbClr val="0F172A"/>
                </a:solidFill>
                <a:latin typeface="Roboto" pitchFamily="34" charset="0"/>
                <a:ea typeface="Roboto" pitchFamily="34" charset="-122"/>
                <a:cs typeface="Roboto" pitchFamily="34" charset="-120"/>
              </a:rPr>
              <a:t>Architecture</a:t>
            </a:r>
            <a:endParaRPr lang="en-US" sz="1800" dirty="0"/>
          </a:p>
        </p:txBody>
      </p:sp>
      <p:sp>
        <p:nvSpPr>
          <p:cNvPr id="19" name="Text 13"/>
          <p:cNvSpPr txBox="1"/>
          <p:nvPr/>
        </p:nvSpPr>
        <p:spPr>
          <a:xfrm>
            <a:off x="4572000" y="3154680"/>
            <a:ext cx="3108960" cy="502920"/>
          </a:xfrm>
          <a:prstGeom prst="rect">
            <a:avLst/>
          </a:prstGeom>
          <a:noFill/>
          <a:ln/>
        </p:spPr>
        <p:txBody>
          <a:bodyPr wrap="square" lIns="0" tIns="0" rIns="0" bIns="0" rtlCol="0" anchor="t"/>
          <a:lstStyle/>
          <a:p>
            <a:pPr indent="0" marL="0">
              <a:buNone/>
            </a:pPr>
            <a:r>
              <a:rPr lang="en-US" sz="1200" dirty="0">
                <a:solidFill>
                  <a:srgbClr val="64748B"/>
                </a:solidFill>
                <a:latin typeface="Roboto" pitchFamily="34" charset="0"/>
                <a:ea typeface="Roboto" pitchFamily="34" charset="-122"/>
                <a:cs typeface="Roboto" pitchFamily="34" charset="-120"/>
              </a:rPr>
              <a:t>Layers, tech stack, how one agent runs</a:t>
            </a:r>
            <a:endParaRPr lang="en-US" sz="1200" dirty="0"/>
          </a:p>
        </p:txBody>
      </p:sp>
      <p:sp>
        <p:nvSpPr>
          <p:cNvPr id="20" name="Shape 14"/>
          <p:cNvSpPr/>
          <p:nvPr/>
        </p:nvSpPr>
        <p:spPr>
          <a:xfrm>
            <a:off x="8046720" y="1783080"/>
            <a:ext cx="3566160" cy="2011680"/>
          </a:xfrm>
          <a:prstGeom prst="roundRect">
            <a:avLst>
              <a:gd name="adj" fmla="val 5455"/>
            </a:avLst>
          </a:prstGeom>
          <a:solidFill>
            <a:srgbClr val="F8FAFC"/>
          </a:solidFill>
          <a:ln w="12700">
            <a:solidFill>
              <a:srgbClr val="E2E8F0"/>
            </a:solidFill>
            <a:prstDash val="solid"/>
          </a:ln>
        </p:spPr>
      </p:sp>
      <p:sp>
        <p:nvSpPr>
          <p:cNvPr id="21" name="Shape 15"/>
          <p:cNvSpPr/>
          <p:nvPr/>
        </p:nvSpPr>
        <p:spPr>
          <a:xfrm>
            <a:off x="8321040" y="2057400"/>
            <a:ext cx="566928" cy="566928"/>
          </a:xfrm>
          <a:prstGeom prst="ellipse">
            <a:avLst/>
          </a:prstGeom>
          <a:solidFill>
            <a:srgbClr val="EEF2FF"/>
          </a:solidFill>
          <a:ln w="12700">
            <a:solidFill>
              <a:srgbClr val="EEF2FF"/>
            </a:solidFill>
            <a:prstDash val="solid"/>
          </a:ln>
        </p:spPr>
      </p:sp>
      <p:pic>
        <p:nvPicPr>
          <p:cNvPr id="22" name="Image 3" descr="preencoded.png">    </p:cNvPr>
          <p:cNvPicPr>
            <a:picLocks noChangeAspect="1"/>
          </p:cNvPicPr>
          <p:nvPr/>
        </p:nvPicPr>
        <p:blipFill>
          <a:blip r:embed="rId4"/>
          <a:stretch>
            <a:fillRect/>
          </a:stretch>
        </p:blipFill>
        <p:spPr>
          <a:xfrm>
            <a:off x="8445764" y="2182124"/>
            <a:ext cx="317480" cy="317480"/>
          </a:xfrm>
          <a:prstGeom prst="rect">
            <a:avLst/>
          </a:prstGeom>
        </p:spPr>
      </p:pic>
      <p:sp>
        <p:nvSpPr>
          <p:cNvPr id="23" name="Text 16"/>
          <p:cNvSpPr txBox="1"/>
          <p:nvPr/>
        </p:nvSpPr>
        <p:spPr>
          <a:xfrm>
            <a:off x="10515600" y="2039112"/>
            <a:ext cx="868680" cy="548640"/>
          </a:xfrm>
          <a:prstGeom prst="rect">
            <a:avLst/>
          </a:prstGeom>
          <a:noFill/>
          <a:ln/>
        </p:spPr>
        <p:txBody>
          <a:bodyPr wrap="square" lIns="0" tIns="0" rIns="0" bIns="0" rtlCol="0" anchor="ctr"/>
          <a:lstStyle/>
          <a:p>
            <a:pPr algn="r" indent="0" marL="0">
              <a:buNone/>
            </a:pPr>
            <a:r>
              <a:rPr lang="en-US" sz="3000" b="1" dirty="0">
                <a:solidFill>
                  <a:srgbClr val="C7D2FE"/>
                </a:solidFill>
                <a:latin typeface="Roboto" pitchFamily="34" charset="0"/>
                <a:ea typeface="Roboto" pitchFamily="34" charset="-122"/>
                <a:cs typeface="Roboto" pitchFamily="34" charset="-120"/>
              </a:rPr>
              <a:t>02</a:t>
            </a:r>
            <a:endParaRPr lang="en-US" sz="3000" dirty="0"/>
          </a:p>
        </p:txBody>
      </p:sp>
      <p:sp>
        <p:nvSpPr>
          <p:cNvPr id="24" name="Text 17"/>
          <p:cNvSpPr txBox="1"/>
          <p:nvPr/>
        </p:nvSpPr>
        <p:spPr>
          <a:xfrm>
            <a:off x="8321040" y="2770632"/>
            <a:ext cx="3108960" cy="384048"/>
          </a:xfrm>
          <a:prstGeom prst="rect">
            <a:avLst/>
          </a:prstGeom>
          <a:noFill/>
          <a:ln/>
        </p:spPr>
        <p:txBody>
          <a:bodyPr wrap="square" lIns="0" tIns="0" rIns="0" bIns="0" rtlCol="0" anchor="ctr"/>
          <a:lstStyle/>
          <a:p>
            <a:pPr indent="0" marL="0">
              <a:buNone/>
            </a:pPr>
            <a:r>
              <a:rPr lang="en-US" sz="1800" b="1" dirty="0">
                <a:solidFill>
                  <a:srgbClr val="0F172A"/>
                </a:solidFill>
                <a:latin typeface="Roboto" pitchFamily="34" charset="0"/>
                <a:ea typeface="Roboto" pitchFamily="34" charset="-122"/>
                <a:cs typeface="Roboto" pitchFamily="34" charset="-120"/>
              </a:rPr>
              <a:t>The 29 agents</a:t>
            </a:r>
            <a:endParaRPr lang="en-US" sz="1800" dirty="0"/>
          </a:p>
        </p:txBody>
      </p:sp>
      <p:sp>
        <p:nvSpPr>
          <p:cNvPr id="25" name="Text 18"/>
          <p:cNvSpPr txBox="1"/>
          <p:nvPr/>
        </p:nvSpPr>
        <p:spPr>
          <a:xfrm>
            <a:off x="8321040" y="3154680"/>
            <a:ext cx="3108960" cy="502920"/>
          </a:xfrm>
          <a:prstGeom prst="rect">
            <a:avLst/>
          </a:prstGeom>
          <a:noFill/>
          <a:ln/>
        </p:spPr>
        <p:txBody>
          <a:bodyPr wrap="square" lIns="0" tIns="0" rIns="0" bIns="0" rtlCol="0" anchor="t"/>
          <a:lstStyle/>
          <a:p>
            <a:pPr indent="0" marL="0">
              <a:buNone/>
            </a:pPr>
            <a:r>
              <a:rPr lang="en-US" sz="1200" dirty="0">
                <a:solidFill>
                  <a:srgbClr val="64748B"/>
                </a:solidFill>
                <a:latin typeface="Roboto" pitchFamily="34" charset="0"/>
                <a:ea typeface="Roboto" pitchFamily="34" charset="-122"/>
                <a:cs typeface="Roboto" pitchFamily="34" charset="-120"/>
              </a:rPr>
              <a:t>Six crews, what each agent does and how it scored on real data</a:t>
            </a:r>
            <a:endParaRPr lang="en-US" sz="1200" dirty="0"/>
          </a:p>
        </p:txBody>
      </p:sp>
      <p:sp>
        <p:nvSpPr>
          <p:cNvPr id="26" name="Shape 19"/>
          <p:cNvSpPr/>
          <p:nvPr/>
        </p:nvSpPr>
        <p:spPr>
          <a:xfrm>
            <a:off x="548640" y="4023360"/>
            <a:ext cx="3566160" cy="2011680"/>
          </a:xfrm>
          <a:prstGeom prst="roundRect">
            <a:avLst>
              <a:gd name="adj" fmla="val 5455"/>
            </a:avLst>
          </a:prstGeom>
          <a:solidFill>
            <a:srgbClr val="F8FAFC"/>
          </a:solidFill>
          <a:ln w="12700">
            <a:solidFill>
              <a:srgbClr val="E2E8F0"/>
            </a:solidFill>
            <a:prstDash val="solid"/>
          </a:ln>
        </p:spPr>
      </p:sp>
      <p:sp>
        <p:nvSpPr>
          <p:cNvPr id="27" name="Shape 20"/>
          <p:cNvSpPr/>
          <p:nvPr/>
        </p:nvSpPr>
        <p:spPr>
          <a:xfrm>
            <a:off x="822960" y="4297680"/>
            <a:ext cx="566928" cy="566928"/>
          </a:xfrm>
          <a:prstGeom prst="ellipse">
            <a:avLst/>
          </a:prstGeom>
          <a:solidFill>
            <a:srgbClr val="EEF2FF"/>
          </a:solidFill>
          <a:ln w="12700">
            <a:solidFill>
              <a:srgbClr val="EEF2FF"/>
            </a:solidFill>
            <a:prstDash val="solid"/>
          </a:ln>
        </p:spPr>
      </p:sp>
      <p:pic>
        <p:nvPicPr>
          <p:cNvPr id="28" name="Image 4" descr="preencoded.png">    </p:cNvPr>
          <p:cNvPicPr>
            <a:picLocks noChangeAspect="1"/>
          </p:cNvPicPr>
          <p:nvPr/>
        </p:nvPicPr>
        <p:blipFill>
          <a:blip r:embed="rId5"/>
          <a:stretch>
            <a:fillRect/>
          </a:stretch>
        </p:blipFill>
        <p:spPr>
          <a:xfrm>
            <a:off x="947684" y="4422404"/>
            <a:ext cx="317480" cy="317480"/>
          </a:xfrm>
          <a:prstGeom prst="rect">
            <a:avLst/>
          </a:prstGeom>
        </p:spPr>
      </p:pic>
      <p:sp>
        <p:nvSpPr>
          <p:cNvPr id="29" name="Text 21"/>
          <p:cNvSpPr txBox="1"/>
          <p:nvPr/>
        </p:nvSpPr>
        <p:spPr>
          <a:xfrm>
            <a:off x="3017520" y="4279392"/>
            <a:ext cx="868680" cy="548640"/>
          </a:xfrm>
          <a:prstGeom prst="rect">
            <a:avLst/>
          </a:prstGeom>
          <a:noFill/>
          <a:ln/>
        </p:spPr>
        <p:txBody>
          <a:bodyPr wrap="square" lIns="0" tIns="0" rIns="0" bIns="0" rtlCol="0" anchor="ctr"/>
          <a:lstStyle/>
          <a:p>
            <a:pPr algn="r" indent="0" marL="0">
              <a:buNone/>
            </a:pPr>
            <a:r>
              <a:rPr lang="en-US" sz="3000" b="1" dirty="0">
                <a:solidFill>
                  <a:srgbClr val="C7D2FE"/>
                </a:solidFill>
                <a:latin typeface="Roboto" pitchFamily="34" charset="0"/>
                <a:ea typeface="Roboto" pitchFamily="34" charset="-122"/>
                <a:cs typeface="Roboto" pitchFamily="34" charset="-120"/>
              </a:rPr>
              <a:t>03</a:t>
            </a:r>
            <a:endParaRPr lang="en-US" sz="3000" dirty="0"/>
          </a:p>
        </p:txBody>
      </p:sp>
      <p:sp>
        <p:nvSpPr>
          <p:cNvPr id="30" name="Text 22"/>
          <p:cNvSpPr txBox="1"/>
          <p:nvPr/>
        </p:nvSpPr>
        <p:spPr>
          <a:xfrm>
            <a:off x="822960" y="5010912"/>
            <a:ext cx="3108960" cy="384048"/>
          </a:xfrm>
          <a:prstGeom prst="rect">
            <a:avLst/>
          </a:prstGeom>
          <a:noFill/>
          <a:ln/>
        </p:spPr>
        <p:txBody>
          <a:bodyPr wrap="square" lIns="0" tIns="0" rIns="0" bIns="0" rtlCol="0" anchor="ctr"/>
          <a:lstStyle/>
          <a:p>
            <a:pPr indent="0" marL="0">
              <a:buNone/>
            </a:pPr>
            <a:r>
              <a:rPr lang="en-US" sz="1800" b="1" dirty="0">
                <a:solidFill>
                  <a:srgbClr val="0F172A"/>
                </a:solidFill>
                <a:latin typeface="Roboto" pitchFamily="34" charset="0"/>
                <a:ea typeface="Roboto" pitchFamily="34" charset="-122"/>
                <a:cs typeface="Roboto" pitchFamily="34" charset="-120"/>
              </a:rPr>
              <a:t>Workflows</a:t>
            </a:r>
            <a:endParaRPr lang="en-US" sz="1800" dirty="0"/>
          </a:p>
        </p:txBody>
      </p:sp>
      <p:sp>
        <p:nvSpPr>
          <p:cNvPr id="31" name="Text 23"/>
          <p:cNvSpPr txBox="1"/>
          <p:nvPr/>
        </p:nvSpPr>
        <p:spPr>
          <a:xfrm>
            <a:off x="822960" y="5394960"/>
            <a:ext cx="3108960" cy="502920"/>
          </a:xfrm>
          <a:prstGeom prst="rect">
            <a:avLst/>
          </a:prstGeom>
          <a:noFill/>
          <a:ln/>
        </p:spPr>
        <p:txBody>
          <a:bodyPr wrap="square" lIns="0" tIns="0" rIns="0" bIns="0" rtlCol="0" anchor="t"/>
          <a:lstStyle/>
          <a:p>
            <a:pPr indent="0" marL="0">
              <a:buNone/>
            </a:pPr>
            <a:r>
              <a:rPr lang="en-US" sz="1200" dirty="0">
                <a:solidFill>
                  <a:srgbClr val="64748B"/>
                </a:solidFill>
                <a:latin typeface="Roboto" pitchFamily="34" charset="0"/>
                <a:ea typeface="Roboto" pitchFamily="34" charset="-122"/>
                <a:cs typeface="Roboto" pitchFamily="34" charset="-120"/>
              </a:rPr>
              <a:t>Loan lifecycle, the end-to-end journey, a real run</a:t>
            </a:r>
            <a:endParaRPr lang="en-US" sz="1200" dirty="0"/>
          </a:p>
        </p:txBody>
      </p:sp>
      <p:sp>
        <p:nvSpPr>
          <p:cNvPr id="32" name="Shape 24"/>
          <p:cNvSpPr/>
          <p:nvPr/>
        </p:nvSpPr>
        <p:spPr>
          <a:xfrm>
            <a:off x="4297680" y="4023360"/>
            <a:ext cx="3566160" cy="2011680"/>
          </a:xfrm>
          <a:prstGeom prst="roundRect">
            <a:avLst>
              <a:gd name="adj" fmla="val 5455"/>
            </a:avLst>
          </a:prstGeom>
          <a:solidFill>
            <a:srgbClr val="F8FAFC"/>
          </a:solidFill>
          <a:ln w="12700">
            <a:solidFill>
              <a:srgbClr val="E2E8F0"/>
            </a:solidFill>
            <a:prstDash val="solid"/>
          </a:ln>
        </p:spPr>
      </p:sp>
      <p:sp>
        <p:nvSpPr>
          <p:cNvPr id="33" name="Shape 25"/>
          <p:cNvSpPr/>
          <p:nvPr/>
        </p:nvSpPr>
        <p:spPr>
          <a:xfrm>
            <a:off x="4572000" y="4297680"/>
            <a:ext cx="566928" cy="566928"/>
          </a:xfrm>
          <a:prstGeom prst="ellipse">
            <a:avLst/>
          </a:prstGeom>
          <a:solidFill>
            <a:srgbClr val="EEF2FF"/>
          </a:solidFill>
          <a:ln w="12700">
            <a:solidFill>
              <a:srgbClr val="EEF2FF"/>
            </a:solidFill>
            <a:prstDash val="solid"/>
          </a:ln>
        </p:spPr>
      </p:sp>
      <p:pic>
        <p:nvPicPr>
          <p:cNvPr id="34" name="Image 5" descr="preencoded.png">    </p:cNvPr>
          <p:cNvPicPr>
            <a:picLocks noChangeAspect="1"/>
          </p:cNvPicPr>
          <p:nvPr/>
        </p:nvPicPr>
        <p:blipFill>
          <a:blip r:embed="rId6"/>
          <a:stretch>
            <a:fillRect/>
          </a:stretch>
        </p:blipFill>
        <p:spPr>
          <a:xfrm>
            <a:off x="4696724" y="4422404"/>
            <a:ext cx="317480" cy="317480"/>
          </a:xfrm>
          <a:prstGeom prst="rect">
            <a:avLst/>
          </a:prstGeom>
        </p:spPr>
      </p:pic>
      <p:sp>
        <p:nvSpPr>
          <p:cNvPr id="35" name="Text 26"/>
          <p:cNvSpPr txBox="1"/>
          <p:nvPr/>
        </p:nvSpPr>
        <p:spPr>
          <a:xfrm>
            <a:off x="6766560" y="4279392"/>
            <a:ext cx="868680" cy="548640"/>
          </a:xfrm>
          <a:prstGeom prst="rect">
            <a:avLst/>
          </a:prstGeom>
          <a:noFill/>
          <a:ln/>
        </p:spPr>
        <p:txBody>
          <a:bodyPr wrap="square" lIns="0" tIns="0" rIns="0" bIns="0" rtlCol="0" anchor="ctr"/>
          <a:lstStyle/>
          <a:p>
            <a:pPr algn="r" indent="0" marL="0">
              <a:buNone/>
            </a:pPr>
            <a:r>
              <a:rPr lang="en-US" sz="3000" b="1" dirty="0">
                <a:solidFill>
                  <a:srgbClr val="C7D2FE"/>
                </a:solidFill>
                <a:latin typeface="Roboto" pitchFamily="34" charset="0"/>
                <a:ea typeface="Roboto" pitchFamily="34" charset="-122"/>
                <a:cs typeface="Roboto" pitchFamily="34" charset="-120"/>
              </a:rPr>
              <a:t>04</a:t>
            </a:r>
            <a:endParaRPr lang="en-US" sz="3000" dirty="0"/>
          </a:p>
        </p:txBody>
      </p:sp>
      <p:sp>
        <p:nvSpPr>
          <p:cNvPr id="36" name="Text 27"/>
          <p:cNvSpPr txBox="1"/>
          <p:nvPr/>
        </p:nvSpPr>
        <p:spPr>
          <a:xfrm>
            <a:off x="4572000" y="5010912"/>
            <a:ext cx="3108960" cy="384048"/>
          </a:xfrm>
          <a:prstGeom prst="rect">
            <a:avLst/>
          </a:prstGeom>
          <a:noFill/>
          <a:ln/>
        </p:spPr>
        <p:txBody>
          <a:bodyPr wrap="square" lIns="0" tIns="0" rIns="0" bIns="0" rtlCol="0" anchor="ctr"/>
          <a:lstStyle/>
          <a:p>
            <a:pPr indent="0" marL="0">
              <a:buNone/>
            </a:pPr>
            <a:r>
              <a:rPr lang="en-US" sz="1800" b="1" dirty="0">
                <a:solidFill>
                  <a:srgbClr val="0F172A"/>
                </a:solidFill>
                <a:latin typeface="Roboto" pitchFamily="34" charset="0"/>
                <a:ea typeface="Roboto" pitchFamily="34" charset="-122"/>
                <a:cs typeface="Roboto" pitchFamily="34" charset="-120"/>
              </a:rPr>
              <a:t>Trust &amp; control</a:t>
            </a:r>
            <a:endParaRPr lang="en-US" sz="1800" dirty="0"/>
          </a:p>
        </p:txBody>
      </p:sp>
      <p:sp>
        <p:nvSpPr>
          <p:cNvPr id="37" name="Text 28"/>
          <p:cNvSpPr txBox="1"/>
          <p:nvPr/>
        </p:nvSpPr>
        <p:spPr>
          <a:xfrm>
            <a:off x="4572000" y="5394960"/>
            <a:ext cx="3108960" cy="502920"/>
          </a:xfrm>
          <a:prstGeom prst="rect">
            <a:avLst/>
          </a:prstGeom>
          <a:noFill/>
          <a:ln/>
        </p:spPr>
        <p:txBody>
          <a:bodyPr wrap="square" lIns="0" tIns="0" rIns="0" bIns="0" rtlCol="0" anchor="t"/>
          <a:lstStyle/>
          <a:p>
            <a:pPr indent="0" marL="0">
              <a:buNone/>
            </a:pPr>
            <a:r>
              <a:rPr lang="en-US" sz="1200" dirty="0">
                <a:solidFill>
                  <a:srgbClr val="64748B"/>
                </a:solidFill>
                <a:latin typeface="Roboto" pitchFamily="34" charset="0"/>
                <a:ea typeface="Roboto" pitchFamily="34" charset="-122"/>
                <a:cs typeface="Roboto" pitchFamily="34" charset="-120"/>
              </a:rPr>
              <a:t>Model gateway, guardrails, tracing, the database</a:t>
            </a:r>
            <a:endParaRPr lang="en-US" sz="1200" dirty="0"/>
          </a:p>
        </p:txBody>
      </p:sp>
      <p:sp>
        <p:nvSpPr>
          <p:cNvPr id="38" name="Shape 29"/>
          <p:cNvSpPr/>
          <p:nvPr/>
        </p:nvSpPr>
        <p:spPr>
          <a:xfrm>
            <a:off x="8046720" y="4023360"/>
            <a:ext cx="3566160" cy="2011680"/>
          </a:xfrm>
          <a:prstGeom prst="roundRect">
            <a:avLst>
              <a:gd name="adj" fmla="val 5455"/>
            </a:avLst>
          </a:prstGeom>
          <a:solidFill>
            <a:srgbClr val="F8FAFC"/>
          </a:solidFill>
          <a:ln w="12700">
            <a:solidFill>
              <a:srgbClr val="E2E8F0"/>
            </a:solidFill>
            <a:prstDash val="solid"/>
          </a:ln>
        </p:spPr>
      </p:sp>
      <p:sp>
        <p:nvSpPr>
          <p:cNvPr id="39" name="Shape 30"/>
          <p:cNvSpPr/>
          <p:nvPr/>
        </p:nvSpPr>
        <p:spPr>
          <a:xfrm>
            <a:off x="8321040" y="4297680"/>
            <a:ext cx="566928" cy="566928"/>
          </a:xfrm>
          <a:prstGeom prst="ellipse">
            <a:avLst/>
          </a:prstGeom>
          <a:solidFill>
            <a:srgbClr val="EEF2FF"/>
          </a:solidFill>
          <a:ln w="12700">
            <a:solidFill>
              <a:srgbClr val="EEF2FF"/>
            </a:solidFill>
            <a:prstDash val="solid"/>
          </a:ln>
        </p:spPr>
      </p:sp>
      <p:pic>
        <p:nvPicPr>
          <p:cNvPr id="40" name="Image 6" descr="preencoded.png">    </p:cNvPr>
          <p:cNvPicPr>
            <a:picLocks noChangeAspect="1"/>
          </p:cNvPicPr>
          <p:nvPr/>
        </p:nvPicPr>
        <p:blipFill>
          <a:blip r:embed="rId7"/>
          <a:stretch>
            <a:fillRect/>
          </a:stretch>
        </p:blipFill>
        <p:spPr>
          <a:xfrm>
            <a:off x="8445764" y="4422404"/>
            <a:ext cx="317480" cy="317480"/>
          </a:xfrm>
          <a:prstGeom prst="rect">
            <a:avLst/>
          </a:prstGeom>
        </p:spPr>
      </p:pic>
      <p:sp>
        <p:nvSpPr>
          <p:cNvPr id="41" name="Text 31"/>
          <p:cNvSpPr txBox="1"/>
          <p:nvPr/>
        </p:nvSpPr>
        <p:spPr>
          <a:xfrm>
            <a:off x="10515600" y="4279392"/>
            <a:ext cx="868680" cy="548640"/>
          </a:xfrm>
          <a:prstGeom prst="rect">
            <a:avLst/>
          </a:prstGeom>
          <a:noFill/>
          <a:ln/>
        </p:spPr>
        <p:txBody>
          <a:bodyPr wrap="square" lIns="0" tIns="0" rIns="0" bIns="0" rtlCol="0" anchor="ctr"/>
          <a:lstStyle/>
          <a:p>
            <a:pPr algn="r" indent="0" marL="0">
              <a:buNone/>
            </a:pPr>
            <a:r>
              <a:rPr lang="en-US" sz="3000" b="1" dirty="0">
                <a:solidFill>
                  <a:srgbClr val="C7D2FE"/>
                </a:solidFill>
                <a:latin typeface="Roboto" pitchFamily="34" charset="0"/>
                <a:ea typeface="Roboto" pitchFamily="34" charset="-122"/>
                <a:cs typeface="Roboto" pitchFamily="34" charset="-120"/>
              </a:rPr>
              <a:t>05</a:t>
            </a:r>
            <a:endParaRPr lang="en-US" sz="3000" dirty="0"/>
          </a:p>
        </p:txBody>
      </p:sp>
      <p:sp>
        <p:nvSpPr>
          <p:cNvPr id="42" name="Text 32"/>
          <p:cNvSpPr txBox="1"/>
          <p:nvPr/>
        </p:nvSpPr>
        <p:spPr>
          <a:xfrm>
            <a:off x="8321040" y="5010912"/>
            <a:ext cx="3108960" cy="384048"/>
          </a:xfrm>
          <a:prstGeom prst="rect">
            <a:avLst/>
          </a:prstGeom>
          <a:noFill/>
          <a:ln/>
        </p:spPr>
        <p:txBody>
          <a:bodyPr wrap="square" lIns="0" tIns="0" rIns="0" bIns="0" rtlCol="0" anchor="ctr"/>
          <a:lstStyle/>
          <a:p>
            <a:pPr indent="0" marL="0">
              <a:buNone/>
            </a:pPr>
            <a:r>
              <a:rPr lang="en-US" sz="1800" b="1" dirty="0">
                <a:solidFill>
                  <a:srgbClr val="0F172A"/>
                </a:solidFill>
                <a:latin typeface="Roboto" pitchFamily="34" charset="0"/>
                <a:ea typeface="Roboto" pitchFamily="34" charset="-122"/>
                <a:cs typeface="Roboto" pitchFamily="34" charset="-120"/>
              </a:rPr>
              <a:t>Evaluation</a:t>
            </a:r>
            <a:endParaRPr lang="en-US" sz="1800" dirty="0"/>
          </a:p>
        </p:txBody>
      </p:sp>
      <p:sp>
        <p:nvSpPr>
          <p:cNvPr id="43" name="Text 33"/>
          <p:cNvSpPr txBox="1"/>
          <p:nvPr/>
        </p:nvSpPr>
        <p:spPr>
          <a:xfrm>
            <a:off x="8321040" y="5394960"/>
            <a:ext cx="3108960" cy="502920"/>
          </a:xfrm>
          <a:prstGeom prst="rect">
            <a:avLst/>
          </a:prstGeom>
          <a:noFill/>
          <a:ln/>
        </p:spPr>
        <p:txBody>
          <a:bodyPr wrap="square" lIns="0" tIns="0" rIns="0" bIns="0" rtlCol="0" anchor="t"/>
          <a:lstStyle/>
          <a:p>
            <a:pPr indent="0" marL="0">
              <a:buNone/>
            </a:pPr>
            <a:r>
              <a:rPr lang="en-US" sz="1200" dirty="0">
                <a:solidFill>
                  <a:srgbClr val="64748B"/>
                </a:solidFill>
                <a:latin typeface="Roboto" pitchFamily="34" charset="0"/>
                <a:ea typeface="Roboto" pitchFamily="34" charset="-122"/>
                <a:cs typeface="Roboto" pitchFamily="34" charset="-120"/>
              </a:rPr>
              <a:t>Real-data method, scorecard, what testing changed, limits</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1417320"/>
            <a:ext cx="3657600" cy="1188720"/>
          </a:xfrm>
          <a:prstGeom prst="rect">
            <a:avLst/>
          </a:prstGeom>
          <a:noFill/>
          <a:ln/>
        </p:spPr>
        <p:txBody>
          <a:bodyPr wrap="square" lIns="0" tIns="0" rIns="0" bIns="0" rtlCol="0" anchor="ctr"/>
          <a:lstStyle/>
          <a:p>
            <a:pPr indent="0" marL="0">
              <a:buNone/>
            </a:pPr>
            <a:r>
              <a:rPr lang="en-US" sz="8800" b="1" dirty="0">
                <a:solidFill>
                  <a:srgbClr val="818CF8"/>
                </a:solidFill>
                <a:latin typeface="Roboto" pitchFamily="34" charset="0"/>
                <a:ea typeface="Roboto" pitchFamily="34" charset="-122"/>
                <a:cs typeface="Roboto" pitchFamily="34" charset="-120"/>
              </a:rPr>
              <a:t>00</a:t>
            </a:r>
            <a:endParaRPr lang="en-US" sz="8800" dirty="0"/>
          </a:p>
        </p:txBody>
      </p:sp>
      <p:sp>
        <p:nvSpPr>
          <p:cNvPr id="3" name="Text 1"/>
          <p:cNvSpPr txBox="1"/>
          <p:nvPr/>
        </p:nvSpPr>
        <p:spPr>
          <a:xfrm>
            <a:off x="548640" y="2697480"/>
            <a:ext cx="7772400" cy="822960"/>
          </a:xfrm>
          <a:prstGeom prst="rect">
            <a:avLst/>
          </a:prstGeom>
          <a:noFill/>
          <a:ln/>
        </p:spPr>
        <p:txBody>
          <a:bodyPr wrap="square" lIns="0" tIns="0" rIns="0" bIns="0" rtlCol="0" anchor="ctr"/>
          <a:lstStyle/>
          <a:p>
            <a:pPr indent="0" marL="0">
              <a:buNone/>
            </a:pPr>
            <a:r>
              <a:rPr lang="en-US" sz="4000" b="1" dirty="0">
                <a:solidFill>
                  <a:srgbClr val="FFFFFF"/>
                </a:solidFill>
                <a:latin typeface="Roboto" pitchFamily="34" charset="0"/>
                <a:ea typeface="Roboto" pitchFamily="34" charset="-122"/>
                <a:cs typeface="Roboto" pitchFamily="34" charset="-120"/>
              </a:rPr>
              <a:t>The product</a:t>
            </a:r>
            <a:endParaRPr lang="en-US" sz="4000" dirty="0"/>
          </a:p>
        </p:txBody>
      </p:sp>
      <p:sp>
        <p:nvSpPr>
          <p:cNvPr id="4" name="Text 2"/>
          <p:cNvSpPr txBox="1"/>
          <p:nvPr/>
        </p:nvSpPr>
        <p:spPr>
          <a:xfrm>
            <a:off x="548640" y="3520440"/>
            <a:ext cx="7132320" cy="822960"/>
          </a:xfrm>
          <a:prstGeom prst="rect">
            <a:avLst/>
          </a:prstGeom>
          <a:noFill/>
          <a:ln/>
        </p:spPr>
        <p:txBody>
          <a:bodyPr wrap="square" lIns="0" tIns="0" rIns="0" bIns="0" rtlCol="0" anchor="t"/>
          <a:lstStyle/>
          <a:p>
            <a:pPr indent="0" marL="0">
              <a:buNone/>
            </a:pPr>
            <a:r>
              <a:rPr lang="en-US" sz="1700" dirty="0">
                <a:solidFill>
                  <a:srgbClr val="CBD5E1"/>
                </a:solidFill>
                <a:latin typeface="Roboto" pitchFamily="34" charset="0"/>
                <a:ea typeface="Roboto" pitchFamily="34" charset="-122"/>
                <a:cs typeface="Roboto" pitchFamily="34" charset="-120"/>
              </a:rPr>
              <a:t>What FinSight does, who uses it, and what it looks like.</a:t>
            </a:r>
            <a:endParaRPr lang="en-US" sz="1700" dirty="0"/>
          </a:p>
        </p:txBody>
      </p:sp>
      <p:sp>
        <p:nvSpPr>
          <p:cNvPr id="5" name="Text 3"/>
          <p:cNvSpPr txBox="1"/>
          <p:nvPr/>
        </p:nvSpPr>
        <p:spPr>
          <a:xfrm>
            <a:off x="548640" y="4754880"/>
            <a:ext cx="3657600" cy="274320"/>
          </a:xfrm>
          <a:prstGeom prst="rect">
            <a:avLst/>
          </a:prstGeom>
          <a:noFill/>
          <a:ln/>
        </p:spPr>
        <p:txBody>
          <a:bodyPr wrap="square" lIns="0" tIns="0" rIns="0" bIns="0" rtlCol="0" anchor="ctr"/>
          <a:lstStyle/>
          <a:p>
            <a:pPr indent="0" marL="0">
              <a:buNone/>
            </a:pPr>
            <a:r>
              <a:rPr lang="en-US" sz="1050" b="1" spc="200" kern="0" dirty="0">
                <a:solidFill>
                  <a:srgbClr val="94A3B8"/>
                </a:solidFill>
                <a:latin typeface="Roboto" pitchFamily="34" charset="0"/>
                <a:ea typeface="Roboto" pitchFamily="34" charset="-122"/>
                <a:cs typeface="Roboto" pitchFamily="34" charset="-120"/>
              </a:rPr>
              <a:t>IN THIS SECTION</a:t>
            </a:r>
            <a:endParaRPr lang="en-US" sz="1050" dirty="0"/>
          </a:p>
        </p:txBody>
      </p:sp>
      <p:sp>
        <p:nvSpPr>
          <p:cNvPr id="6" name="Shape 4"/>
          <p:cNvSpPr/>
          <p:nvPr/>
        </p:nvSpPr>
        <p:spPr>
          <a:xfrm>
            <a:off x="548640" y="5102352"/>
            <a:ext cx="1060704" cy="384048"/>
          </a:xfrm>
          <a:prstGeom prst="roundRect">
            <a:avLst>
              <a:gd name="adj" fmla="val 50000"/>
            </a:avLst>
          </a:prstGeom>
          <a:solidFill>
            <a:srgbClr val="1E293B"/>
          </a:solidFill>
          <a:ln w="12700">
            <a:solidFill>
              <a:srgbClr val="334155"/>
            </a:solidFill>
            <a:prstDash val="solid"/>
          </a:ln>
        </p:spPr>
      </p:sp>
      <p:sp>
        <p:nvSpPr>
          <p:cNvPr id="7" name="Text 5"/>
          <p:cNvSpPr txBox="1"/>
          <p:nvPr/>
        </p:nvSpPr>
        <p:spPr>
          <a:xfrm>
            <a:off x="548640" y="5102352"/>
            <a:ext cx="1060704" cy="384048"/>
          </a:xfrm>
          <a:prstGeom prst="rect">
            <a:avLst/>
          </a:prstGeom>
          <a:noFill/>
          <a:ln/>
        </p:spPr>
        <p:txBody>
          <a:bodyPr wrap="square" lIns="0" tIns="0" rIns="0" bIns="0" rtlCol="0" anchor="ctr"/>
          <a:lstStyle/>
          <a:p>
            <a:pPr algn="ctr" indent="0" marL="0">
              <a:buNone/>
            </a:pPr>
            <a:r>
              <a:rPr lang="en-US" sz="1200" dirty="0">
                <a:solidFill>
                  <a:srgbClr val="E2E8F0"/>
                </a:solidFill>
                <a:latin typeface="Roboto" pitchFamily="34" charset="0"/>
                <a:ea typeface="Roboto" pitchFamily="34" charset="-122"/>
                <a:cs typeface="Roboto" pitchFamily="34" charset="-120"/>
              </a:rPr>
              <a:t>The problem</a:t>
            </a:r>
            <a:endParaRPr lang="en-US" sz="1200" dirty="0"/>
          </a:p>
        </p:txBody>
      </p:sp>
      <p:sp>
        <p:nvSpPr>
          <p:cNvPr id="8" name="Shape 6"/>
          <p:cNvSpPr/>
          <p:nvPr/>
        </p:nvSpPr>
        <p:spPr>
          <a:xfrm>
            <a:off x="1737360" y="5102352"/>
            <a:ext cx="1060704" cy="384048"/>
          </a:xfrm>
          <a:prstGeom prst="roundRect">
            <a:avLst>
              <a:gd name="adj" fmla="val 50000"/>
            </a:avLst>
          </a:prstGeom>
          <a:solidFill>
            <a:srgbClr val="1E293B"/>
          </a:solidFill>
          <a:ln w="12700">
            <a:solidFill>
              <a:srgbClr val="334155"/>
            </a:solidFill>
            <a:prstDash val="solid"/>
          </a:ln>
        </p:spPr>
      </p:sp>
      <p:sp>
        <p:nvSpPr>
          <p:cNvPr id="9" name="Text 7"/>
          <p:cNvSpPr txBox="1"/>
          <p:nvPr/>
        </p:nvSpPr>
        <p:spPr>
          <a:xfrm>
            <a:off x="1737360" y="5102352"/>
            <a:ext cx="1060704" cy="384048"/>
          </a:xfrm>
          <a:prstGeom prst="rect">
            <a:avLst/>
          </a:prstGeom>
          <a:noFill/>
          <a:ln/>
        </p:spPr>
        <p:txBody>
          <a:bodyPr wrap="square" lIns="0" tIns="0" rIns="0" bIns="0" rtlCol="0" anchor="ctr"/>
          <a:lstStyle/>
          <a:p>
            <a:pPr algn="ctr" indent="0" marL="0">
              <a:buNone/>
            </a:pPr>
            <a:r>
              <a:rPr lang="en-US" sz="1200" dirty="0">
                <a:solidFill>
                  <a:srgbClr val="E2E8F0"/>
                </a:solidFill>
                <a:latin typeface="Roboto" pitchFamily="34" charset="0"/>
                <a:ea typeface="Roboto" pitchFamily="34" charset="-122"/>
                <a:cs typeface="Roboto" pitchFamily="34" charset="-120"/>
              </a:rPr>
              <a:t>Three roles</a:t>
            </a:r>
            <a:endParaRPr lang="en-US" sz="1200" dirty="0"/>
          </a:p>
        </p:txBody>
      </p:sp>
      <p:sp>
        <p:nvSpPr>
          <p:cNvPr id="10" name="Shape 8"/>
          <p:cNvSpPr/>
          <p:nvPr/>
        </p:nvSpPr>
        <p:spPr>
          <a:xfrm>
            <a:off x="2926080" y="5102352"/>
            <a:ext cx="1719072" cy="384048"/>
          </a:xfrm>
          <a:prstGeom prst="roundRect">
            <a:avLst>
              <a:gd name="adj" fmla="val 50000"/>
            </a:avLst>
          </a:prstGeom>
          <a:solidFill>
            <a:srgbClr val="1E293B"/>
          </a:solidFill>
          <a:ln w="12700">
            <a:solidFill>
              <a:srgbClr val="334155"/>
            </a:solidFill>
            <a:prstDash val="solid"/>
          </a:ln>
        </p:spPr>
      </p:sp>
      <p:sp>
        <p:nvSpPr>
          <p:cNvPr id="11" name="Text 9"/>
          <p:cNvSpPr txBox="1"/>
          <p:nvPr/>
        </p:nvSpPr>
        <p:spPr>
          <a:xfrm>
            <a:off x="2926080" y="5102352"/>
            <a:ext cx="1719072" cy="384048"/>
          </a:xfrm>
          <a:prstGeom prst="rect">
            <a:avLst/>
          </a:prstGeom>
          <a:noFill/>
          <a:ln/>
        </p:spPr>
        <p:txBody>
          <a:bodyPr wrap="square" lIns="0" tIns="0" rIns="0" bIns="0" rtlCol="0" anchor="ctr"/>
          <a:lstStyle/>
          <a:p>
            <a:pPr algn="ctr" indent="0" marL="0">
              <a:buNone/>
            </a:pPr>
            <a:r>
              <a:rPr lang="en-US" sz="1200" dirty="0">
                <a:solidFill>
                  <a:srgbClr val="E2E8F0"/>
                </a:solidFill>
                <a:latin typeface="Roboto" pitchFamily="34" charset="0"/>
                <a:ea typeface="Roboto" pitchFamily="34" charset="-122"/>
                <a:cs typeface="Roboto" pitchFamily="34" charset="-120"/>
              </a:rPr>
              <a:t>Twelve loan products</a:t>
            </a:r>
            <a:endParaRPr lang="en-US" sz="1200" dirty="0"/>
          </a:p>
        </p:txBody>
      </p:sp>
      <p:sp>
        <p:nvSpPr>
          <p:cNvPr id="12" name="Shape 10"/>
          <p:cNvSpPr/>
          <p:nvPr/>
        </p:nvSpPr>
        <p:spPr>
          <a:xfrm>
            <a:off x="4773168" y="5102352"/>
            <a:ext cx="841248" cy="384048"/>
          </a:xfrm>
          <a:prstGeom prst="roundRect">
            <a:avLst>
              <a:gd name="adj" fmla="val 50000"/>
            </a:avLst>
          </a:prstGeom>
          <a:solidFill>
            <a:srgbClr val="1E293B"/>
          </a:solidFill>
          <a:ln w="12700">
            <a:solidFill>
              <a:srgbClr val="334155"/>
            </a:solidFill>
            <a:prstDash val="solid"/>
          </a:ln>
        </p:spPr>
      </p:sp>
      <p:sp>
        <p:nvSpPr>
          <p:cNvPr id="13" name="Text 11"/>
          <p:cNvSpPr txBox="1"/>
          <p:nvPr/>
        </p:nvSpPr>
        <p:spPr>
          <a:xfrm>
            <a:off x="4773168" y="5102352"/>
            <a:ext cx="841248" cy="384048"/>
          </a:xfrm>
          <a:prstGeom prst="rect">
            <a:avLst/>
          </a:prstGeom>
          <a:noFill/>
          <a:ln/>
        </p:spPr>
        <p:txBody>
          <a:bodyPr wrap="square" lIns="0" tIns="0" rIns="0" bIns="0" rtlCol="0" anchor="ctr"/>
          <a:lstStyle/>
          <a:p>
            <a:pPr algn="ctr" indent="0" marL="0">
              <a:buNone/>
            </a:pPr>
            <a:r>
              <a:rPr lang="en-US" sz="1200" dirty="0">
                <a:solidFill>
                  <a:srgbClr val="E2E8F0"/>
                </a:solidFill>
                <a:latin typeface="Roboto" pitchFamily="34" charset="0"/>
                <a:ea typeface="Roboto" pitchFamily="34" charset="-122"/>
                <a:cs typeface="Roboto" pitchFamily="34" charset="-120"/>
              </a:rPr>
              <a:t>App tour</a:t>
            </a:r>
            <a:endParaRPr lang="en-US" sz="1200" dirty="0"/>
          </a:p>
        </p:txBody>
      </p:sp>
      <p:sp>
        <p:nvSpPr>
          <p:cNvPr id="14" name="Shape 12"/>
          <p:cNvSpPr/>
          <p:nvPr/>
        </p:nvSpPr>
        <p:spPr>
          <a:xfrm>
            <a:off x="8549640" y="1600200"/>
            <a:ext cx="3108960" cy="3108960"/>
          </a:xfrm>
          <a:prstGeom prst="ellipse">
            <a:avLst/>
          </a:prstGeom>
          <a:solidFill>
            <a:srgbClr val="1E293B"/>
          </a:solidFill>
          <a:ln w="12700">
            <a:solidFill>
              <a:srgbClr val="334155"/>
            </a:solidFill>
            <a:prstDash val="solid"/>
          </a:ln>
        </p:spPr>
      </p:sp>
      <p:pic>
        <p:nvPicPr>
          <p:cNvPr id="15" name="Image 0" descr="preencoded.png">    </p:cNvPr>
          <p:cNvPicPr>
            <a:picLocks noChangeAspect="1"/>
          </p:cNvPicPr>
          <p:nvPr/>
        </p:nvPicPr>
        <p:blipFill>
          <a:blip r:embed="rId1"/>
          <a:stretch>
            <a:fillRect/>
          </a:stretch>
        </p:blipFill>
        <p:spPr>
          <a:xfrm>
            <a:off x="9326880" y="2377440"/>
            <a:ext cx="1554480" cy="1554480"/>
          </a:xfrm>
          <a:prstGeom prst="rect">
            <a:avLst/>
          </a:prstGeom>
        </p:spPr>
      </p:pic>
      <p:pic>
        <p:nvPicPr>
          <p:cNvPr id="16" name="Image 1" descr="C:\Users\shrey\AppData\Local\Temp\claude\D--novacinternship-finsight\ef4ecb45-e580-4bc0-9be4-060aa240a5b2\scratchpad\deck\img\logo_mark_light.png">    </p:cNvPr>
          <p:cNvPicPr>
            <a:picLocks noChangeAspect="1"/>
          </p:cNvPicPr>
          <p:nvPr/>
        </p:nvPicPr>
        <p:blipFill>
          <a:blip r:embed="rId2"/>
          <a:stretch>
            <a:fillRect/>
          </a:stretch>
        </p:blipFill>
        <p:spPr>
          <a:xfrm>
            <a:off x="548640" y="502920"/>
            <a:ext cx="354509" cy="457200"/>
          </a:xfrm>
          <a:prstGeom prst="rect">
            <a:avLst/>
          </a:prstGeom>
        </p:spPr>
      </p:pic>
      <p:pic>
        <p:nvPicPr>
          <p:cNvPr id="17" name="Image 2" descr="C:\Users\shrey\AppData\Local\Temp\claude\D--novacinternship-finsight\ef4ecb45-e580-4bc0-9be4-060aa240a5b2\scratchpad\deck\img\logo_lockup_light.png">    </p:cNvPr>
          <p:cNvPicPr>
            <a:picLocks noChangeAspect="1"/>
          </p:cNvPicPr>
          <p:nvPr/>
        </p:nvPicPr>
        <p:blipFill>
          <a:blip r:embed="rId3"/>
          <a:stretch>
            <a:fillRect/>
          </a:stretch>
        </p:blipFill>
        <p:spPr>
          <a:xfrm>
            <a:off x="10360152" y="6464808"/>
            <a:ext cx="843991" cy="237744"/>
          </a:xfrm>
          <a:prstGeom prst="rect">
            <a:avLst/>
          </a:prstGeom>
        </p:spPr>
      </p:pic>
      <p:sp>
        <p:nvSpPr>
          <p:cNvPr id="18" name="Text 13"/>
          <p:cNvSpPr txBox="1"/>
          <p:nvPr/>
        </p:nvSpPr>
        <p:spPr>
          <a:xfrm>
            <a:off x="11277295" y="6473952"/>
            <a:ext cx="365760" cy="228600"/>
          </a:xfrm>
          <a:prstGeom prst="rect">
            <a:avLst/>
          </a:prstGeom>
          <a:noFill/>
          <a:ln/>
        </p:spPr>
        <p:txBody>
          <a:bodyPr wrap="square" lIns="0" tIns="0" rIns="0" bIns="0" rtlCol="0" anchor="ctr"/>
          <a:lstStyle/>
          <a:p>
            <a:pPr algn="r" indent="0" marL="0">
              <a:buNone/>
            </a:pPr>
            <a:r>
              <a:rPr lang="en-US" sz="900" dirty="0">
                <a:solidFill>
                  <a:srgbClr val="64748B"/>
                </a:solidFill>
                <a:latin typeface="Roboto" pitchFamily="34" charset="0"/>
                <a:ea typeface="Roboto" pitchFamily="34" charset="-122"/>
                <a:cs typeface="Roboto"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C:\Users\shrey\AppData\Local\Temp\claude\D--novacinternship-finsight\ef4ecb45-e580-4bc0-9be4-060aa240a5b2\scratchpad\deck\img\problem_panel.jpg">    </p:cNvPr>
          <p:cNvPicPr>
            <a:picLocks noChangeAspect="1"/>
          </p:cNvPicPr>
          <p:nvPr/>
        </p:nvPicPr>
        <p:blipFill>
          <a:blip r:embed="rId1"/>
          <a:stretch>
            <a:fillRect/>
          </a:stretch>
        </p:blipFill>
        <p:spPr>
          <a:xfrm>
            <a:off x="7086600" y="0"/>
            <a:ext cx="5105095" cy="6858000"/>
          </a:xfrm>
          <a:prstGeom prst="rect">
            <a:avLst/>
          </a:prstGeom>
        </p:spPr>
      </p:pic>
      <p:sp>
        <p:nvSpPr>
          <p:cNvPr id="3" name="Text 0"/>
          <p:cNvSpPr txBox="1"/>
          <p:nvPr/>
        </p:nvSpPr>
        <p:spPr>
          <a:xfrm>
            <a:off x="548640" y="347472"/>
            <a:ext cx="5943600" cy="256032"/>
          </a:xfrm>
          <a:prstGeom prst="rect">
            <a:avLst/>
          </a:prstGeom>
          <a:noFill/>
          <a:ln/>
        </p:spPr>
        <p:txBody>
          <a:bodyPr wrap="square" lIns="0" tIns="0" rIns="0" bIns="0" rtlCol="0" anchor="ctr"/>
          <a:lstStyle/>
          <a:p>
            <a:pPr indent="0" marL="0">
              <a:buNone/>
            </a:pPr>
            <a:r>
              <a:rPr lang="en-US" sz="1100" b="1" spc="200" kern="0" dirty="0">
                <a:solidFill>
                  <a:srgbClr val="4F46E5"/>
                </a:solidFill>
                <a:latin typeface="Roboto" pitchFamily="34" charset="0"/>
                <a:ea typeface="Roboto" pitchFamily="34" charset="-122"/>
                <a:cs typeface="Roboto" pitchFamily="34" charset="-120"/>
              </a:rPr>
              <a:t>THE PRODUCT  ·  THE PROBLEM</a:t>
            </a:r>
            <a:endParaRPr lang="en-US" sz="1100" dirty="0"/>
          </a:p>
        </p:txBody>
      </p:sp>
      <p:sp>
        <p:nvSpPr>
          <p:cNvPr id="4" name="Text 1"/>
          <p:cNvSpPr txBox="1"/>
          <p:nvPr/>
        </p:nvSpPr>
        <p:spPr>
          <a:xfrm>
            <a:off x="548640" y="585216"/>
            <a:ext cx="6309360" cy="566928"/>
          </a:xfrm>
          <a:prstGeom prst="rect">
            <a:avLst/>
          </a:prstGeom>
          <a:noFill/>
          <a:ln/>
        </p:spPr>
        <p:txBody>
          <a:bodyPr wrap="square" lIns="0" tIns="0" rIns="0" bIns="0" rtlCol="0" anchor="ctr"/>
          <a:lstStyle/>
          <a:p>
            <a:pPr indent="0" marL="0">
              <a:buNone/>
            </a:pPr>
            <a:r>
              <a:rPr lang="en-US" sz="2800" b="1" dirty="0">
                <a:solidFill>
                  <a:srgbClr val="0F172A"/>
                </a:solidFill>
                <a:latin typeface="Roboto" pitchFamily="34" charset="0"/>
                <a:ea typeface="Roboto" pitchFamily="34" charset="-122"/>
                <a:cs typeface="Roboto" pitchFamily="34" charset="-120"/>
              </a:rPr>
              <a:t>A loan desk that still runs on paper</a:t>
            </a:r>
            <a:endParaRPr lang="en-US" sz="2800" dirty="0"/>
          </a:p>
        </p:txBody>
      </p:sp>
      <p:sp>
        <p:nvSpPr>
          <p:cNvPr id="5" name="Text 2"/>
          <p:cNvSpPr txBox="1"/>
          <p:nvPr/>
        </p:nvSpPr>
        <p:spPr>
          <a:xfrm>
            <a:off x="548640" y="1170432"/>
            <a:ext cx="6126480" cy="548640"/>
          </a:xfrm>
          <a:prstGeom prst="rect">
            <a:avLst/>
          </a:prstGeom>
          <a:noFill/>
          <a:ln/>
        </p:spPr>
        <p:txBody>
          <a:bodyPr wrap="square" lIns="0" tIns="0" rIns="0" bIns="0" rtlCol="0" anchor="t"/>
          <a:lstStyle/>
          <a:p>
            <a:pPr indent="0" marL="0">
              <a:buNone/>
            </a:pPr>
            <a:r>
              <a:rPr lang="en-US" sz="1400" dirty="0">
                <a:solidFill>
                  <a:srgbClr val="64748B"/>
                </a:solidFill>
                <a:latin typeface="Roboto" pitchFamily="34" charset="0"/>
                <a:ea typeface="Roboto" pitchFamily="34" charset="-122"/>
                <a:cs typeface="Roboto" pitchFamily="34" charset="-120"/>
              </a:rPr>
              <a:t>Every NBFC loan file is a stack of Indian documents that someone has to read, verify and judge.</a:t>
            </a:r>
            <a:endParaRPr lang="en-US" sz="1400" dirty="0"/>
          </a:p>
        </p:txBody>
      </p:sp>
      <p:sp>
        <p:nvSpPr>
          <p:cNvPr id="6" name="Shape 3"/>
          <p:cNvSpPr/>
          <p:nvPr/>
        </p:nvSpPr>
        <p:spPr>
          <a:xfrm>
            <a:off x="548640" y="2011680"/>
            <a:ext cx="6172200" cy="914400"/>
          </a:xfrm>
          <a:prstGeom prst="roundRect">
            <a:avLst>
              <a:gd name="adj" fmla="val 10000"/>
            </a:avLst>
          </a:prstGeom>
          <a:solidFill>
            <a:srgbClr val="F8FAFC"/>
          </a:solidFill>
          <a:ln w="12700">
            <a:solidFill>
              <a:srgbClr val="E2E8F0"/>
            </a:solidFill>
            <a:prstDash val="solid"/>
          </a:ln>
        </p:spPr>
      </p:sp>
      <p:sp>
        <p:nvSpPr>
          <p:cNvPr id="7" name="Shape 4"/>
          <p:cNvSpPr/>
          <p:nvPr/>
        </p:nvSpPr>
        <p:spPr>
          <a:xfrm>
            <a:off x="731520" y="2194560"/>
            <a:ext cx="548640" cy="548640"/>
          </a:xfrm>
          <a:prstGeom prst="ellipse">
            <a:avLst/>
          </a:prstGeom>
          <a:solidFill>
            <a:srgbClr val="FEE2E2"/>
          </a:solidFill>
          <a:ln w="12700">
            <a:solidFill>
              <a:srgbClr val="FEE2E2"/>
            </a:solidFill>
            <a:prstDash val="solid"/>
          </a:ln>
        </p:spPr>
      </p:sp>
      <p:pic>
        <p:nvPicPr>
          <p:cNvPr id="8" name="Image 1" descr="preencoded.png">    </p:cNvPr>
          <p:cNvPicPr>
            <a:picLocks noChangeAspect="1"/>
          </p:cNvPicPr>
          <p:nvPr/>
        </p:nvPicPr>
        <p:blipFill>
          <a:blip r:embed="rId2"/>
          <a:stretch>
            <a:fillRect/>
          </a:stretch>
        </p:blipFill>
        <p:spPr>
          <a:xfrm>
            <a:off x="852221" y="2315261"/>
            <a:ext cx="307238" cy="307238"/>
          </a:xfrm>
          <a:prstGeom prst="rect">
            <a:avLst/>
          </a:prstGeom>
        </p:spPr>
      </p:pic>
      <p:sp>
        <p:nvSpPr>
          <p:cNvPr id="9" name="Text 5"/>
          <p:cNvSpPr txBox="1"/>
          <p:nvPr/>
        </p:nvSpPr>
        <p:spPr>
          <a:xfrm>
            <a:off x="1463040" y="2066544"/>
            <a:ext cx="5120640" cy="804672"/>
          </a:xfrm>
          <a:prstGeom prst="rect">
            <a:avLst/>
          </a:prstGeom>
          <a:noFill/>
          <a:ln/>
        </p:spPr>
        <p:txBody>
          <a:bodyPr wrap="square" lIns="0" tIns="0" rIns="0" bIns="0" rtlCol="0" anchor="ctr"/>
          <a:lstStyle/>
          <a:p>
            <a:pPr indent="0" marL="0">
              <a:spcAft>
                <a:spcPts val="200"/>
              </a:spcAft>
              <a:buNone/>
            </a:pPr>
            <a:r>
              <a:rPr lang="en-US" sz="1400" b="1" dirty="0">
                <a:solidFill>
                  <a:srgbClr val="0F172A"/>
                </a:solidFill>
                <a:latin typeface="Roboto" pitchFamily="34" charset="0"/>
                <a:ea typeface="Roboto" pitchFamily="34" charset="-122"/>
                <a:cs typeface="Roboto" pitchFamily="34" charset="-120"/>
              </a:rPr>
              <a:t>Manual document reading</a:t>
            </a:r>
            <a:endParaRPr lang="en-US" sz="1400" dirty="0"/>
          </a:p>
          <a:p>
            <a:pPr indent="0" marL="0">
              <a:spcAft>
                <a:spcPts val="200"/>
              </a:spcAft>
              <a:buNone/>
            </a:pPr>
            <a:r>
              <a:rPr lang="en-US" sz="1150" dirty="0">
                <a:solidFill>
                  <a:srgbClr val="64748B"/>
                </a:solidFill>
                <a:latin typeface="Roboto" pitchFamily="34" charset="0"/>
                <a:ea typeface="Roboto" pitchFamily="34" charset="-122"/>
                <a:cs typeface="Roboto" pitchFamily="34" charset="-120"/>
              </a:rPr>
              <a:t>Officers retype PAN, Aadhaar, payslip and statement fields by hand.</a:t>
            </a:r>
            <a:endParaRPr lang="en-US" sz="1400" dirty="0"/>
          </a:p>
        </p:txBody>
      </p:sp>
      <p:sp>
        <p:nvSpPr>
          <p:cNvPr id="10" name="Shape 6"/>
          <p:cNvSpPr/>
          <p:nvPr/>
        </p:nvSpPr>
        <p:spPr>
          <a:xfrm>
            <a:off x="548640" y="3072384"/>
            <a:ext cx="6172200" cy="914400"/>
          </a:xfrm>
          <a:prstGeom prst="roundRect">
            <a:avLst>
              <a:gd name="adj" fmla="val 10000"/>
            </a:avLst>
          </a:prstGeom>
          <a:solidFill>
            <a:srgbClr val="F8FAFC"/>
          </a:solidFill>
          <a:ln w="12700">
            <a:solidFill>
              <a:srgbClr val="E2E8F0"/>
            </a:solidFill>
            <a:prstDash val="solid"/>
          </a:ln>
        </p:spPr>
      </p:sp>
      <p:sp>
        <p:nvSpPr>
          <p:cNvPr id="11" name="Shape 7"/>
          <p:cNvSpPr/>
          <p:nvPr/>
        </p:nvSpPr>
        <p:spPr>
          <a:xfrm>
            <a:off x="731520" y="3255264"/>
            <a:ext cx="548640" cy="548640"/>
          </a:xfrm>
          <a:prstGeom prst="ellipse">
            <a:avLst/>
          </a:prstGeom>
          <a:solidFill>
            <a:srgbClr val="FEE2E2"/>
          </a:solidFill>
          <a:ln w="12700">
            <a:solidFill>
              <a:srgbClr val="FEE2E2"/>
            </a:solidFill>
            <a:prstDash val="solid"/>
          </a:ln>
        </p:spPr>
      </p:sp>
      <p:pic>
        <p:nvPicPr>
          <p:cNvPr id="12" name="Image 2" descr="preencoded.png">    </p:cNvPr>
          <p:cNvPicPr>
            <a:picLocks noChangeAspect="1"/>
          </p:cNvPicPr>
          <p:nvPr/>
        </p:nvPicPr>
        <p:blipFill>
          <a:blip r:embed="rId3"/>
          <a:stretch>
            <a:fillRect/>
          </a:stretch>
        </p:blipFill>
        <p:spPr>
          <a:xfrm>
            <a:off x="852221" y="3375965"/>
            <a:ext cx="307238" cy="307238"/>
          </a:xfrm>
          <a:prstGeom prst="rect">
            <a:avLst/>
          </a:prstGeom>
        </p:spPr>
      </p:pic>
      <p:sp>
        <p:nvSpPr>
          <p:cNvPr id="13" name="Text 8"/>
          <p:cNvSpPr txBox="1"/>
          <p:nvPr/>
        </p:nvSpPr>
        <p:spPr>
          <a:xfrm>
            <a:off x="1463040" y="3127248"/>
            <a:ext cx="5120640" cy="804672"/>
          </a:xfrm>
          <a:prstGeom prst="rect">
            <a:avLst/>
          </a:prstGeom>
          <a:noFill/>
          <a:ln/>
        </p:spPr>
        <p:txBody>
          <a:bodyPr wrap="square" lIns="0" tIns="0" rIns="0" bIns="0" rtlCol="0" anchor="ctr"/>
          <a:lstStyle/>
          <a:p>
            <a:pPr indent="0" marL="0">
              <a:spcAft>
                <a:spcPts val="200"/>
              </a:spcAft>
              <a:buNone/>
            </a:pPr>
            <a:r>
              <a:rPr lang="en-US" sz="1400" b="1" dirty="0">
                <a:solidFill>
                  <a:srgbClr val="0F172A"/>
                </a:solidFill>
                <a:latin typeface="Roboto" pitchFamily="34" charset="0"/>
                <a:ea typeface="Roboto" pitchFamily="34" charset="-122"/>
                <a:cs typeface="Roboto" pitchFamily="34" charset="-120"/>
              </a:rPr>
              <a:t>Forgeries are hard to see</a:t>
            </a:r>
            <a:endParaRPr lang="en-US" sz="1400" dirty="0"/>
          </a:p>
          <a:p>
            <a:pPr indent="0" marL="0">
              <a:spcAft>
                <a:spcPts val="200"/>
              </a:spcAft>
              <a:buNone/>
            </a:pPr>
            <a:r>
              <a:rPr lang="en-US" sz="1150" dirty="0">
                <a:solidFill>
                  <a:srgbClr val="64748B"/>
                </a:solidFill>
                <a:latin typeface="Roboto" pitchFamily="34" charset="0"/>
                <a:ea typeface="Roboto" pitchFamily="34" charset="-122"/>
                <a:cs typeface="Roboto" pitchFamily="34" charset="-120"/>
              </a:rPr>
              <a:t>An edited payslip or a pasted ID photo looks genuine to the eye.</a:t>
            </a:r>
            <a:endParaRPr lang="en-US" sz="1400" dirty="0"/>
          </a:p>
        </p:txBody>
      </p:sp>
      <p:sp>
        <p:nvSpPr>
          <p:cNvPr id="14" name="Shape 9"/>
          <p:cNvSpPr/>
          <p:nvPr/>
        </p:nvSpPr>
        <p:spPr>
          <a:xfrm>
            <a:off x="548640" y="4133088"/>
            <a:ext cx="6172200" cy="914400"/>
          </a:xfrm>
          <a:prstGeom prst="roundRect">
            <a:avLst>
              <a:gd name="adj" fmla="val 10000"/>
            </a:avLst>
          </a:prstGeom>
          <a:solidFill>
            <a:srgbClr val="F8FAFC"/>
          </a:solidFill>
          <a:ln w="12700">
            <a:solidFill>
              <a:srgbClr val="E2E8F0"/>
            </a:solidFill>
            <a:prstDash val="solid"/>
          </a:ln>
        </p:spPr>
      </p:sp>
      <p:sp>
        <p:nvSpPr>
          <p:cNvPr id="15" name="Shape 10"/>
          <p:cNvSpPr/>
          <p:nvPr/>
        </p:nvSpPr>
        <p:spPr>
          <a:xfrm>
            <a:off x="731520" y="4315968"/>
            <a:ext cx="548640" cy="548640"/>
          </a:xfrm>
          <a:prstGeom prst="ellipse">
            <a:avLst/>
          </a:prstGeom>
          <a:solidFill>
            <a:srgbClr val="FEE2E2"/>
          </a:solidFill>
          <a:ln w="12700">
            <a:solidFill>
              <a:srgbClr val="FEE2E2"/>
            </a:solidFill>
            <a:prstDash val="solid"/>
          </a:ln>
        </p:spPr>
      </p:sp>
      <p:pic>
        <p:nvPicPr>
          <p:cNvPr id="16" name="Image 3" descr="preencoded.png">    </p:cNvPr>
          <p:cNvPicPr>
            <a:picLocks noChangeAspect="1"/>
          </p:cNvPicPr>
          <p:nvPr/>
        </p:nvPicPr>
        <p:blipFill>
          <a:blip r:embed="rId4"/>
          <a:stretch>
            <a:fillRect/>
          </a:stretch>
        </p:blipFill>
        <p:spPr>
          <a:xfrm>
            <a:off x="852221" y="4436669"/>
            <a:ext cx="307238" cy="307238"/>
          </a:xfrm>
          <a:prstGeom prst="rect">
            <a:avLst/>
          </a:prstGeom>
        </p:spPr>
      </p:pic>
      <p:sp>
        <p:nvSpPr>
          <p:cNvPr id="17" name="Text 11"/>
          <p:cNvSpPr txBox="1"/>
          <p:nvPr/>
        </p:nvSpPr>
        <p:spPr>
          <a:xfrm>
            <a:off x="1463040" y="4187952"/>
            <a:ext cx="5120640" cy="804672"/>
          </a:xfrm>
          <a:prstGeom prst="rect">
            <a:avLst/>
          </a:prstGeom>
          <a:noFill/>
          <a:ln/>
        </p:spPr>
        <p:txBody>
          <a:bodyPr wrap="square" lIns="0" tIns="0" rIns="0" bIns="0" rtlCol="0" anchor="ctr"/>
          <a:lstStyle/>
          <a:p>
            <a:pPr indent="0" marL="0">
              <a:spcAft>
                <a:spcPts val="200"/>
              </a:spcAft>
              <a:buNone/>
            </a:pPr>
            <a:r>
              <a:rPr lang="en-US" sz="1400" b="1" dirty="0">
                <a:solidFill>
                  <a:srgbClr val="0F172A"/>
                </a:solidFill>
                <a:latin typeface="Roboto" pitchFamily="34" charset="0"/>
                <a:ea typeface="Roboto" pitchFamily="34" charset="-122"/>
                <a:cs typeface="Roboto" pitchFamily="34" charset="-120"/>
              </a:rPr>
              <a:t>Slow, uneven turnaround</a:t>
            </a:r>
            <a:endParaRPr lang="en-US" sz="1400" dirty="0"/>
          </a:p>
          <a:p>
            <a:pPr indent="0" marL="0">
              <a:spcAft>
                <a:spcPts val="200"/>
              </a:spcAft>
              <a:buNone/>
            </a:pPr>
            <a:r>
              <a:rPr lang="en-US" sz="1150" dirty="0">
                <a:solidFill>
                  <a:srgbClr val="64748B"/>
                </a:solidFill>
                <a:latin typeface="Roboto" pitchFamily="34" charset="0"/>
                <a:ea typeface="Roboto" pitchFamily="34" charset="-122"/>
                <a:cs typeface="Roboto" pitchFamily="34" charset="-120"/>
              </a:rPr>
              <a:t>In the seeded process data a file waits 77 h on average before its documents are read.</a:t>
            </a:r>
            <a:endParaRPr lang="en-US" sz="1400" dirty="0"/>
          </a:p>
        </p:txBody>
      </p:sp>
      <p:sp>
        <p:nvSpPr>
          <p:cNvPr id="18" name="Shape 12"/>
          <p:cNvSpPr/>
          <p:nvPr/>
        </p:nvSpPr>
        <p:spPr>
          <a:xfrm>
            <a:off x="548640" y="5193792"/>
            <a:ext cx="6172200" cy="914400"/>
          </a:xfrm>
          <a:prstGeom prst="roundRect">
            <a:avLst>
              <a:gd name="adj" fmla="val 10000"/>
            </a:avLst>
          </a:prstGeom>
          <a:solidFill>
            <a:srgbClr val="F8FAFC"/>
          </a:solidFill>
          <a:ln w="12700">
            <a:solidFill>
              <a:srgbClr val="E2E8F0"/>
            </a:solidFill>
            <a:prstDash val="solid"/>
          </a:ln>
        </p:spPr>
      </p:sp>
      <p:sp>
        <p:nvSpPr>
          <p:cNvPr id="19" name="Shape 13"/>
          <p:cNvSpPr/>
          <p:nvPr/>
        </p:nvSpPr>
        <p:spPr>
          <a:xfrm>
            <a:off x="731520" y="5376672"/>
            <a:ext cx="548640" cy="548640"/>
          </a:xfrm>
          <a:prstGeom prst="ellipse">
            <a:avLst/>
          </a:prstGeom>
          <a:solidFill>
            <a:srgbClr val="FEE2E2"/>
          </a:solidFill>
          <a:ln w="12700">
            <a:solidFill>
              <a:srgbClr val="FEE2E2"/>
            </a:solidFill>
            <a:prstDash val="solid"/>
          </a:ln>
        </p:spPr>
      </p:sp>
      <p:pic>
        <p:nvPicPr>
          <p:cNvPr id="20" name="Image 4" descr="preencoded.png">    </p:cNvPr>
          <p:cNvPicPr>
            <a:picLocks noChangeAspect="1"/>
          </p:cNvPicPr>
          <p:nvPr/>
        </p:nvPicPr>
        <p:blipFill>
          <a:blip r:embed="rId5"/>
          <a:stretch>
            <a:fillRect/>
          </a:stretch>
        </p:blipFill>
        <p:spPr>
          <a:xfrm>
            <a:off x="852221" y="5497373"/>
            <a:ext cx="307238" cy="307238"/>
          </a:xfrm>
          <a:prstGeom prst="rect">
            <a:avLst/>
          </a:prstGeom>
        </p:spPr>
      </p:pic>
      <p:sp>
        <p:nvSpPr>
          <p:cNvPr id="21" name="Text 14"/>
          <p:cNvSpPr txBox="1"/>
          <p:nvPr/>
        </p:nvSpPr>
        <p:spPr>
          <a:xfrm>
            <a:off x="1463040" y="5248656"/>
            <a:ext cx="5120640" cy="804672"/>
          </a:xfrm>
          <a:prstGeom prst="rect">
            <a:avLst/>
          </a:prstGeom>
          <a:noFill/>
          <a:ln/>
        </p:spPr>
        <p:txBody>
          <a:bodyPr wrap="square" lIns="0" tIns="0" rIns="0" bIns="0" rtlCol="0" anchor="ctr"/>
          <a:lstStyle/>
          <a:p>
            <a:pPr indent="0" marL="0">
              <a:spcAft>
                <a:spcPts val="200"/>
              </a:spcAft>
              <a:buNone/>
            </a:pPr>
            <a:r>
              <a:rPr lang="en-US" sz="1400" b="1" dirty="0">
                <a:solidFill>
                  <a:srgbClr val="0F172A"/>
                </a:solidFill>
                <a:latin typeface="Roboto" pitchFamily="34" charset="0"/>
                <a:ea typeface="Roboto" pitchFamily="34" charset="-122"/>
                <a:cs typeface="Roboto" pitchFamily="34" charset="-120"/>
              </a:rPr>
              <a:t>Rules keep changing</a:t>
            </a:r>
            <a:endParaRPr lang="en-US" sz="1400" dirty="0"/>
          </a:p>
          <a:p>
            <a:pPr indent="0" marL="0">
              <a:spcAft>
                <a:spcPts val="200"/>
              </a:spcAft>
              <a:buNone/>
            </a:pPr>
            <a:r>
              <a:rPr lang="en-US" sz="1150" dirty="0">
                <a:solidFill>
                  <a:srgbClr val="64748B"/>
                </a:solidFill>
                <a:latin typeface="Roboto" pitchFamily="34" charset="0"/>
                <a:ea typeface="Roboto" pitchFamily="34" charset="-122"/>
                <a:cs typeface="Roboto" pitchFamily="34" charset="-120"/>
              </a:rPr>
              <a:t>RBI Digital Lending Directions 2025, KFS and penal-charge rules apply to every loan.</a:t>
            </a:r>
            <a:endParaRPr lang="en-US" sz="1400" dirty="0"/>
          </a:p>
        </p:txBody>
      </p:sp>
      <p:sp>
        <p:nvSpPr>
          <p:cNvPr id="22" name="Text 15"/>
          <p:cNvSpPr txBox="1"/>
          <p:nvPr/>
        </p:nvSpPr>
        <p:spPr>
          <a:xfrm>
            <a:off x="548640" y="6291072"/>
            <a:ext cx="6172200" cy="274320"/>
          </a:xfrm>
          <a:prstGeom prst="rect">
            <a:avLst/>
          </a:prstGeom>
          <a:noFill/>
          <a:ln/>
        </p:spPr>
        <p:txBody>
          <a:bodyPr wrap="square" lIns="0" tIns="0" rIns="0" bIns="0" rtlCol="0" anchor="ctr"/>
          <a:lstStyle/>
          <a:p>
            <a:pPr indent="0" marL="0">
              <a:buNone/>
            </a:pPr>
            <a:r>
              <a:rPr lang="en-US" sz="1150" i="1" dirty="0">
                <a:solidFill>
                  <a:srgbClr val="334155"/>
                </a:solidFill>
                <a:latin typeface="Roboto" pitchFamily="34" charset="0"/>
                <a:ea typeface="Roboto" pitchFamily="34" charset="-122"/>
                <a:cs typeface="Roboto" pitchFamily="34" charset="-120"/>
              </a:rPr>
              <a:t>What it costs: slow decisions, uneven checks, and forgeries that get through.</a:t>
            </a:r>
            <a:endParaRPr lang="en-US" sz="1150" dirty="0"/>
          </a:p>
        </p:txBody>
      </p:sp>
      <p:sp>
        <p:nvSpPr>
          <p:cNvPr id="23" name="Text 16"/>
          <p:cNvSpPr txBox="1"/>
          <p:nvPr/>
        </p:nvSpPr>
        <p:spPr>
          <a:xfrm>
            <a:off x="7315200" y="6473952"/>
            <a:ext cx="2743200" cy="228600"/>
          </a:xfrm>
          <a:prstGeom prst="rect">
            <a:avLst/>
          </a:prstGeom>
          <a:noFill/>
          <a:ln/>
        </p:spPr>
        <p:txBody>
          <a:bodyPr wrap="square" lIns="0" tIns="0" rIns="0" bIns="0" rtlCol="0" anchor="ctr"/>
          <a:lstStyle/>
          <a:p>
            <a:pPr indent="0" marL="0">
              <a:buNone/>
            </a:pPr>
            <a:r>
              <a:rPr lang="en-US" sz="850" dirty="0">
                <a:solidFill>
                  <a:srgbClr val="CBD5E1"/>
                </a:solidFill>
                <a:latin typeface="Roboto" pitchFamily="34" charset="0"/>
                <a:ea typeface="Roboto" pitchFamily="34" charset="-122"/>
                <a:cs typeface="Roboto" pitchFamily="34" charset="-120"/>
              </a:rPr>
              <a:t>Photo: Wesley Tingey / Unsplash</a:t>
            </a:r>
            <a:endParaRPr lang="en-US" sz="850" dirty="0"/>
          </a:p>
        </p:txBody>
      </p:sp>
      <p:pic>
        <p:nvPicPr>
          <p:cNvPr id="24" name="Image 5" descr="C:\Users\shrey\AppData\Local\Temp\claude\D--novacinternship-finsight\ef4ecb45-e580-4bc0-9be4-060aa240a5b2\scratchpad\deck\img\logo_lockup_light.png">    </p:cNvPr>
          <p:cNvPicPr>
            <a:picLocks noChangeAspect="1"/>
          </p:cNvPicPr>
          <p:nvPr/>
        </p:nvPicPr>
        <p:blipFill>
          <a:blip r:embed="rId6"/>
          <a:stretch>
            <a:fillRect/>
          </a:stretch>
        </p:blipFill>
        <p:spPr>
          <a:xfrm>
            <a:off x="10360152" y="6464808"/>
            <a:ext cx="843991" cy="237744"/>
          </a:xfrm>
          <a:prstGeom prst="rect">
            <a:avLst/>
          </a:prstGeom>
        </p:spPr>
      </p:pic>
      <p:sp>
        <p:nvSpPr>
          <p:cNvPr id="25" name="Text 17"/>
          <p:cNvSpPr txBox="1"/>
          <p:nvPr/>
        </p:nvSpPr>
        <p:spPr>
          <a:xfrm>
            <a:off x="11277295" y="6473952"/>
            <a:ext cx="365760" cy="228600"/>
          </a:xfrm>
          <a:prstGeom prst="rect">
            <a:avLst/>
          </a:prstGeom>
          <a:noFill/>
          <a:ln/>
        </p:spPr>
        <p:txBody>
          <a:bodyPr wrap="square" lIns="0" tIns="0" rIns="0" bIns="0" rtlCol="0" anchor="ctr"/>
          <a:lstStyle/>
          <a:p>
            <a:pPr algn="r" indent="0" marL="0">
              <a:buNone/>
            </a:pPr>
            <a:r>
              <a:rPr lang="en-US" sz="900" dirty="0">
                <a:solidFill>
                  <a:srgbClr val="64748B"/>
                </a:solidFill>
                <a:latin typeface="Roboto" pitchFamily="34" charset="0"/>
                <a:ea typeface="Roboto" pitchFamily="34" charset="-122"/>
                <a:cs typeface="Roboto"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8229600" cy="256032"/>
          </a:xfrm>
          <a:prstGeom prst="rect">
            <a:avLst/>
          </a:prstGeom>
          <a:noFill/>
          <a:ln/>
        </p:spPr>
        <p:txBody>
          <a:bodyPr wrap="square" lIns="0" tIns="0" rIns="0" bIns="0" rtlCol="0" anchor="ctr"/>
          <a:lstStyle/>
          <a:p>
            <a:pPr indent="0" marL="0">
              <a:buNone/>
            </a:pPr>
            <a:r>
              <a:rPr lang="en-US" sz="1100" b="1" spc="200" kern="0" dirty="0">
                <a:solidFill>
                  <a:srgbClr val="4F46E5"/>
                </a:solidFill>
                <a:latin typeface="Roboto" pitchFamily="34" charset="0"/>
                <a:ea typeface="Roboto" pitchFamily="34" charset="-122"/>
                <a:cs typeface="Roboto" pitchFamily="34" charset="-120"/>
              </a:rPr>
              <a:t>THE PRODUCT</a:t>
            </a:r>
            <a:endParaRPr lang="en-US" sz="1100" dirty="0"/>
          </a:p>
        </p:txBody>
      </p:sp>
      <p:sp>
        <p:nvSpPr>
          <p:cNvPr id="3" name="Text 1"/>
          <p:cNvSpPr txBox="1"/>
          <p:nvPr/>
        </p:nvSpPr>
        <p:spPr>
          <a:xfrm>
            <a:off x="548640" y="585216"/>
            <a:ext cx="11094415" cy="566928"/>
          </a:xfrm>
          <a:prstGeom prst="rect">
            <a:avLst/>
          </a:prstGeom>
          <a:noFill/>
          <a:ln/>
        </p:spPr>
        <p:txBody>
          <a:bodyPr wrap="square" lIns="0" tIns="0" rIns="0" bIns="0" rtlCol="0" anchor="ctr"/>
          <a:lstStyle/>
          <a:p>
            <a:pPr indent="0" marL="0">
              <a:buNone/>
            </a:pPr>
            <a:r>
              <a:rPr lang="en-US" sz="2800" b="1" dirty="0">
                <a:solidFill>
                  <a:srgbClr val="0F172A"/>
                </a:solidFill>
                <a:latin typeface="Roboto" pitchFamily="34" charset="0"/>
                <a:ea typeface="Roboto" pitchFamily="34" charset="-122"/>
                <a:cs typeface="Roboto" pitchFamily="34" charset="-120"/>
              </a:rPr>
              <a:t>Agents do the reading and checking. People decide.</a:t>
            </a:r>
            <a:endParaRPr lang="en-US" sz="2800" dirty="0"/>
          </a:p>
        </p:txBody>
      </p:sp>
      <p:sp>
        <p:nvSpPr>
          <p:cNvPr id="4" name="Text 2"/>
          <p:cNvSpPr txBox="1"/>
          <p:nvPr/>
        </p:nvSpPr>
        <p:spPr>
          <a:xfrm>
            <a:off x="548640" y="1152144"/>
            <a:ext cx="11094415" cy="365760"/>
          </a:xfrm>
          <a:prstGeom prst="rect">
            <a:avLst/>
          </a:prstGeom>
          <a:noFill/>
          <a:ln/>
        </p:spPr>
        <p:txBody>
          <a:bodyPr wrap="square" lIns="0" tIns="0" rIns="0" bIns="0" rtlCol="0" anchor="ctr"/>
          <a:lstStyle/>
          <a:p>
            <a:pPr indent="0" marL="0">
              <a:buNone/>
            </a:pPr>
            <a:r>
              <a:rPr lang="en-US" sz="1400" dirty="0">
                <a:solidFill>
                  <a:srgbClr val="64748B"/>
                </a:solidFill>
                <a:latin typeface="Roboto" pitchFamily="34" charset="0"/>
                <a:ea typeface="Roboto" pitchFamily="34" charset="-122"/>
                <a:cs typeface="Roboto" pitchFamily="34" charset="-120"/>
              </a:rPr>
              <a:t>The same loan file, handled by 29 specialised agents that produce evidence and drafts — never a decision.</a:t>
            </a:r>
            <a:endParaRPr lang="en-US" sz="1400" dirty="0"/>
          </a:p>
        </p:txBody>
      </p:sp>
      <p:pic>
        <p:nvPicPr>
          <p:cNvPr id="5" name="Image 0" descr="C:\Users\shrey\AppData\Local\Temp\claude\D--novacinternship-finsight\ef4ecb45-e580-4bc0-9be4-060aa240a5b2\scratchpad\deck\img\logo_lockup.png">    </p:cNvPr>
          <p:cNvPicPr>
            <a:picLocks noChangeAspect="1"/>
          </p:cNvPicPr>
          <p:nvPr/>
        </p:nvPicPr>
        <p:blipFill>
          <a:blip r:embed="rId1"/>
          <a:stretch>
            <a:fillRect/>
          </a:stretch>
        </p:blipFill>
        <p:spPr>
          <a:xfrm>
            <a:off x="10360152" y="6464808"/>
            <a:ext cx="843991" cy="237744"/>
          </a:xfrm>
          <a:prstGeom prst="rect">
            <a:avLst/>
          </a:prstGeom>
        </p:spPr>
      </p:pic>
      <p:sp>
        <p:nvSpPr>
          <p:cNvPr id="6" name="Text 3"/>
          <p:cNvSpPr txBox="1"/>
          <p:nvPr/>
        </p:nvSpPr>
        <p:spPr>
          <a:xfrm>
            <a:off x="11277295" y="6473952"/>
            <a:ext cx="365760" cy="228600"/>
          </a:xfrm>
          <a:prstGeom prst="rect">
            <a:avLst/>
          </a:prstGeom>
          <a:noFill/>
          <a:ln/>
        </p:spPr>
        <p:txBody>
          <a:bodyPr wrap="square" lIns="0" tIns="0" rIns="0" bIns="0" rtlCol="0" anchor="ctr"/>
          <a:lstStyle/>
          <a:p>
            <a:pPr algn="r" indent="0" marL="0">
              <a:buNone/>
            </a:pPr>
            <a:r>
              <a:rPr lang="en-US" sz="900" dirty="0">
                <a:solidFill>
                  <a:srgbClr val="94A3B8"/>
                </a:solidFill>
                <a:latin typeface="Roboto" pitchFamily="34" charset="0"/>
                <a:ea typeface="Roboto" pitchFamily="34" charset="-122"/>
                <a:cs typeface="Roboto" pitchFamily="34" charset="-120"/>
              </a:rPr>
              <a:t>5</a:t>
            </a:r>
            <a:endParaRPr lang="en-US" sz="900" dirty="0"/>
          </a:p>
        </p:txBody>
      </p:sp>
      <p:sp>
        <p:nvSpPr>
          <p:cNvPr id="8" name="Shape 4"/>
          <p:cNvSpPr/>
          <p:nvPr/>
        </p:nvSpPr>
        <p:spPr>
          <a:xfrm>
            <a:off x="548640" y="1783080"/>
            <a:ext cx="2514600" cy="868680"/>
          </a:xfrm>
          <a:prstGeom prst="roundRect">
            <a:avLst>
              <a:gd name="adj" fmla="val 8421"/>
            </a:avLst>
          </a:prstGeom>
          <a:solidFill>
            <a:srgbClr val="F8FAFC"/>
          </a:solidFill>
          <a:ln w="12700">
            <a:solidFill>
              <a:srgbClr val="E2E8F0"/>
            </a:solidFill>
            <a:prstDash val="solid"/>
          </a:ln>
        </p:spPr>
      </p:sp>
      <p:sp>
        <p:nvSpPr>
          <p:cNvPr id="9" name="Text 5"/>
          <p:cNvSpPr txBox="1"/>
          <p:nvPr/>
        </p:nvSpPr>
        <p:spPr>
          <a:xfrm>
            <a:off x="621792" y="1801368"/>
            <a:ext cx="2368296" cy="832104"/>
          </a:xfrm>
          <a:prstGeom prst="rect">
            <a:avLst/>
          </a:prstGeom>
          <a:noFill/>
          <a:ln/>
        </p:spPr>
        <p:txBody>
          <a:bodyPr wrap="square" lIns="0" tIns="0" rIns="0" bIns="0" rtlCol="0" anchor="ctr"/>
          <a:lstStyle/>
          <a:p>
            <a:pPr algn="ctr" indent="0" marL="0">
              <a:spcAft>
                <a:spcPts val="200"/>
              </a:spcAft>
              <a:buNone/>
            </a:pPr>
            <a:r>
              <a:rPr lang="en-US" sz="1350" b="1" dirty="0">
                <a:solidFill>
                  <a:srgbClr val="0F172A"/>
                </a:solidFill>
                <a:latin typeface="Roboto" pitchFamily="34" charset="0"/>
                <a:ea typeface="Roboto" pitchFamily="34" charset="-122"/>
                <a:cs typeface="Roboto" pitchFamily="34" charset="-120"/>
              </a:rPr>
              <a:t>Documents uploaded</a:t>
            </a:r>
            <a:endParaRPr lang="en-US" sz="1350" dirty="0"/>
          </a:p>
          <a:p>
            <a:pPr algn="ctr" indent="0" marL="0">
              <a:spcAft>
                <a:spcPts val="200"/>
              </a:spcAft>
              <a:buNone/>
            </a:pPr>
            <a:r>
              <a:rPr lang="en-US" sz="1050" dirty="0">
                <a:solidFill>
                  <a:srgbClr val="64748B"/>
                </a:solidFill>
                <a:latin typeface="Roboto" pitchFamily="34" charset="0"/>
                <a:ea typeface="Roboto" pitchFamily="34" charset="-122"/>
                <a:cs typeface="Roboto" pitchFamily="34" charset="-120"/>
              </a:rPr>
              <a:t>PAN · Aadhaar · payslip · statement</a:t>
            </a:r>
            <a:endParaRPr lang="en-US" sz="1350" dirty="0"/>
          </a:p>
        </p:txBody>
      </p:sp>
      <p:sp>
        <p:nvSpPr>
          <p:cNvPr id="10" name="Shape 6"/>
          <p:cNvSpPr/>
          <p:nvPr/>
        </p:nvSpPr>
        <p:spPr>
          <a:xfrm>
            <a:off x="3099816" y="2217420"/>
            <a:ext cx="272186" cy="0"/>
          </a:xfrm>
          <a:prstGeom prst="line">
            <a:avLst/>
          </a:prstGeom>
          <a:noFill/>
          <a:ln w="19050">
            <a:solidFill>
              <a:srgbClr val="4F46E5"/>
            </a:solidFill>
            <a:prstDash val="solid"/>
            <a:tailEnd type="triangle"/>
          </a:ln>
        </p:spPr>
      </p:sp>
      <p:sp>
        <p:nvSpPr>
          <p:cNvPr id="11" name="Shape 7"/>
          <p:cNvSpPr/>
          <p:nvPr/>
        </p:nvSpPr>
        <p:spPr>
          <a:xfrm>
            <a:off x="3408578" y="1783080"/>
            <a:ext cx="2514600" cy="868680"/>
          </a:xfrm>
          <a:prstGeom prst="roundRect">
            <a:avLst>
              <a:gd name="adj" fmla="val 8421"/>
            </a:avLst>
          </a:prstGeom>
          <a:solidFill>
            <a:srgbClr val="EEF2FF"/>
          </a:solidFill>
          <a:ln w="12700">
            <a:solidFill>
              <a:srgbClr val="C7D2FE"/>
            </a:solidFill>
            <a:prstDash val="solid"/>
          </a:ln>
        </p:spPr>
      </p:sp>
      <p:sp>
        <p:nvSpPr>
          <p:cNvPr id="12" name="Text 8"/>
          <p:cNvSpPr txBox="1"/>
          <p:nvPr/>
        </p:nvSpPr>
        <p:spPr>
          <a:xfrm>
            <a:off x="3481730" y="1801368"/>
            <a:ext cx="2368296" cy="832104"/>
          </a:xfrm>
          <a:prstGeom prst="rect">
            <a:avLst/>
          </a:prstGeom>
          <a:noFill/>
          <a:ln/>
        </p:spPr>
        <p:txBody>
          <a:bodyPr wrap="square" lIns="0" tIns="0" rIns="0" bIns="0" rtlCol="0" anchor="ctr"/>
          <a:lstStyle/>
          <a:p>
            <a:pPr algn="ctr" indent="0" marL="0">
              <a:spcAft>
                <a:spcPts val="200"/>
              </a:spcAft>
              <a:buNone/>
            </a:pPr>
            <a:r>
              <a:rPr lang="en-US" sz="1350" b="1" dirty="0">
                <a:solidFill>
                  <a:srgbClr val="3730A3"/>
                </a:solidFill>
                <a:latin typeface="Roboto" pitchFamily="34" charset="0"/>
                <a:ea typeface="Roboto" pitchFamily="34" charset="-122"/>
                <a:cs typeface="Roboto" pitchFamily="34" charset="-120"/>
              </a:rPr>
              <a:t>29 agents read and check</a:t>
            </a:r>
            <a:endParaRPr lang="en-US" sz="1350" dirty="0"/>
          </a:p>
          <a:p>
            <a:pPr algn="ctr" indent="0" marL="0">
              <a:spcAft>
                <a:spcPts val="200"/>
              </a:spcAft>
              <a:buNone/>
            </a:pPr>
            <a:r>
              <a:rPr lang="en-US" sz="1050" dirty="0">
                <a:solidFill>
                  <a:srgbClr val="64748B"/>
                </a:solidFill>
                <a:latin typeface="Roboto" pitchFamily="34" charset="0"/>
                <a:ea typeface="Roboto" pitchFamily="34" charset="-122"/>
                <a:cs typeface="Roboto" pitchFamily="34" charset="-120"/>
              </a:rPr>
              <a:t>one job, one set of tools each</a:t>
            </a:r>
            <a:endParaRPr lang="en-US" sz="1350" dirty="0"/>
          </a:p>
        </p:txBody>
      </p:sp>
      <p:sp>
        <p:nvSpPr>
          <p:cNvPr id="13" name="Shape 9"/>
          <p:cNvSpPr/>
          <p:nvPr/>
        </p:nvSpPr>
        <p:spPr>
          <a:xfrm>
            <a:off x="5959754" y="2217420"/>
            <a:ext cx="272186" cy="0"/>
          </a:xfrm>
          <a:prstGeom prst="line">
            <a:avLst/>
          </a:prstGeom>
          <a:noFill/>
          <a:ln w="19050">
            <a:solidFill>
              <a:srgbClr val="4F46E5"/>
            </a:solidFill>
            <a:prstDash val="solid"/>
            <a:tailEnd type="triangle"/>
          </a:ln>
        </p:spPr>
      </p:sp>
      <p:sp>
        <p:nvSpPr>
          <p:cNvPr id="14" name="Shape 10"/>
          <p:cNvSpPr/>
          <p:nvPr/>
        </p:nvSpPr>
        <p:spPr>
          <a:xfrm>
            <a:off x="6268517" y="1783080"/>
            <a:ext cx="2514600" cy="868680"/>
          </a:xfrm>
          <a:prstGeom prst="roundRect">
            <a:avLst>
              <a:gd name="adj" fmla="val 8421"/>
            </a:avLst>
          </a:prstGeom>
          <a:solidFill>
            <a:srgbClr val="EEF2FF"/>
          </a:solidFill>
          <a:ln w="12700">
            <a:solidFill>
              <a:srgbClr val="C7D2FE"/>
            </a:solidFill>
            <a:prstDash val="solid"/>
          </a:ln>
        </p:spPr>
      </p:sp>
      <p:sp>
        <p:nvSpPr>
          <p:cNvPr id="15" name="Text 11"/>
          <p:cNvSpPr txBox="1"/>
          <p:nvPr/>
        </p:nvSpPr>
        <p:spPr>
          <a:xfrm>
            <a:off x="6341669" y="1801368"/>
            <a:ext cx="2368296" cy="832104"/>
          </a:xfrm>
          <a:prstGeom prst="rect">
            <a:avLst/>
          </a:prstGeom>
          <a:noFill/>
          <a:ln/>
        </p:spPr>
        <p:txBody>
          <a:bodyPr wrap="square" lIns="0" tIns="0" rIns="0" bIns="0" rtlCol="0" anchor="ctr"/>
          <a:lstStyle/>
          <a:p>
            <a:pPr algn="ctr" indent="0" marL="0">
              <a:spcAft>
                <a:spcPts val="200"/>
              </a:spcAft>
              <a:buNone/>
            </a:pPr>
            <a:r>
              <a:rPr lang="en-US" sz="1350" b="1" dirty="0">
                <a:solidFill>
                  <a:srgbClr val="3730A3"/>
                </a:solidFill>
                <a:latin typeface="Roboto" pitchFamily="34" charset="0"/>
                <a:ea typeface="Roboto" pitchFamily="34" charset="-122"/>
                <a:cs typeface="Roboto" pitchFamily="34" charset="-120"/>
              </a:rPr>
              <a:t>Evidence, scores, drafts</a:t>
            </a:r>
            <a:endParaRPr lang="en-US" sz="1350" dirty="0"/>
          </a:p>
          <a:p>
            <a:pPr algn="ctr" indent="0" marL="0">
              <a:spcAft>
                <a:spcPts val="200"/>
              </a:spcAft>
              <a:buNone/>
            </a:pPr>
            <a:r>
              <a:rPr lang="en-US" sz="1050" dirty="0">
                <a:solidFill>
                  <a:srgbClr val="64748B"/>
                </a:solidFill>
                <a:latin typeface="Roboto" pitchFamily="34" charset="0"/>
                <a:ea typeface="Roboto" pitchFamily="34" charset="-122"/>
                <a:cs typeface="Roboto" pitchFamily="34" charset="-120"/>
              </a:rPr>
              <a:t>fraud tier · policy check · memo · offer</a:t>
            </a:r>
            <a:endParaRPr lang="en-US" sz="1350" dirty="0"/>
          </a:p>
        </p:txBody>
      </p:sp>
      <p:sp>
        <p:nvSpPr>
          <p:cNvPr id="16" name="Shape 12"/>
          <p:cNvSpPr/>
          <p:nvPr/>
        </p:nvSpPr>
        <p:spPr>
          <a:xfrm>
            <a:off x="8819693" y="2217420"/>
            <a:ext cx="272186" cy="0"/>
          </a:xfrm>
          <a:prstGeom prst="line">
            <a:avLst/>
          </a:prstGeom>
          <a:noFill/>
          <a:ln w="19050">
            <a:solidFill>
              <a:srgbClr val="4F46E5"/>
            </a:solidFill>
            <a:prstDash val="solid"/>
            <a:tailEnd type="triangle"/>
          </a:ln>
        </p:spPr>
      </p:sp>
      <p:sp>
        <p:nvSpPr>
          <p:cNvPr id="17" name="Shape 13"/>
          <p:cNvSpPr/>
          <p:nvPr/>
        </p:nvSpPr>
        <p:spPr>
          <a:xfrm>
            <a:off x="9128455" y="1783080"/>
            <a:ext cx="2514600" cy="868680"/>
          </a:xfrm>
          <a:prstGeom prst="roundRect">
            <a:avLst>
              <a:gd name="adj" fmla="val 8421"/>
            </a:avLst>
          </a:prstGeom>
          <a:solidFill>
            <a:srgbClr val="DCFCE7"/>
          </a:solidFill>
          <a:ln w="12700">
            <a:solidFill>
              <a:srgbClr val="86EFAC"/>
            </a:solidFill>
            <a:prstDash val="solid"/>
          </a:ln>
        </p:spPr>
      </p:sp>
      <p:sp>
        <p:nvSpPr>
          <p:cNvPr id="18" name="Text 14"/>
          <p:cNvSpPr txBox="1"/>
          <p:nvPr/>
        </p:nvSpPr>
        <p:spPr>
          <a:xfrm>
            <a:off x="9201607" y="1801368"/>
            <a:ext cx="2368296" cy="832104"/>
          </a:xfrm>
          <a:prstGeom prst="rect">
            <a:avLst/>
          </a:prstGeom>
          <a:noFill/>
          <a:ln/>
        </p:spPr>
        <p:txBody>
          <a:bodyPr wrap="square" lIns="0" tIns="0" rIns="0" bIns="0" rtlCol="0" anchor="ctr"/>
          <a:lstStyle/>
          <a:p>
            <a:pPr algn="ctr" indent="0" marL="0">
              <a:spcAft>
                <a:spcPts val="200"/>
              </a:spcAft>
              <a:buNone/>
            </a:pPr>
            <a:r>
              <a:rPr lang="en-US" sz="1350" b="1" dirty="0">
                <a:solidFill>
                  <a:srgbClr val="166534"/>
                </a:solidFill>
                <a:latin typeface="Roboto" pitchFamily="34" charset="0"/>
                <a:ea typeface="Roboto" pitchFamily="34" charset="-122"/>
                <a:cs typeface="Roboto" pitchFamily="34" charset="-120"/>
              </a:rPr>
              <a:t>A person decides</a:t>
            </a:r>
            <a:endParaRPr lang="en-US" sz="1350" dirty="0"/>
          </a:p>
          <a:p>
            <a:pPr algn="ctr" indent="0" marL="0">
              <a:spcAft>
                <a:spcPts val="200"/>
              </a:spcAft>
              <a:buNone/>
            </a:pPr>
            <a:r>
              <a:rPr lang="en-US" sz="1050" dirty="0">
                <a:solidFill>
                  <a:srgbClr val="64748B"/>
                </a:solidFill>
                <a:latin typeface="Roboto" pitchFamily="34" charset="0"/>
                <a:ea typeface="Roboto" pitchFamily="34" charset="-122"/>
                <a:cs typeface="Roboto" pitchFamily="34" charset="-120"/>
              </a:rPr>
              <a:t>officer · Head above ₹5 lakh</a:t>
            </a:r>
            <a:endParaRPr lang="en-US" sz="1350" dirty="0"/>
          </a:p>
        </p:txBody>
      </p:sp>
      <p:sp>
        <p:nvSpPr>
          <p:cNvPr id="19" name="Shape 15"/>
          <p:cNvSpPr/>
          <p:nvPr/>
        </p:nvSpPr>
        <p:spPr>
          <a:xfrm>
            <a:off x="548640" y="2926080"/>
            <a:ext cx="3566160" cy="1024128"/>
          </a:xfrm>
          <a:prstGeom prst="roundRect">
            <a:avLst>
              <a:gd name="adj" fmla="val 8929"/>
            </a:avLst>
          </a:prstGeom>
          <a:solidFill>
            <a:srgbClr val="F8FAFC"/>
          </a:solidFill>
          <a:ln w="12700">
            <a:solidFill>
              <a:srgbClr val="E2E8F0"/>
            </a:solidFill>
            <a:prstDash val="solid"/>
          </a:ln>
        </p:spPr>
      </p:sp>
      <p:sp>
        <p:nvSpPr>
          <p:cNvPr id="20" name="Shape 16"/>
          <p:cNvSpPr/>
          <p:nvPr/>
        </p:nvSpPr>
        <p:spPr>
          <a:xfrm>
            <a:off x="731520" y="3163824"/>
            <a:ext cx="548640" cy="548640"/>
          </a:xfrm>
          <a:prstGeom prst="ellipse">
            <a:avLst/>
          </a:prstGeom>
          <a:solidFill>
            <a:srgbClr val="EEF2FF"/>
          </a:solidFill>
          <a:ln w="12700">
            <a:solidFill>
              <a:srgbClr val="EEF2FF"/>
            </a:solidFill>
            <a:prstDash val="solid"/>
          </a:ln>
        </p:spPr>
      </p:sp>
      <p:pic>
        <p:nvPicPr>
          <p:cNvPr id="21" name="Image 1" descr="preencoded.png">    </p:cNvPr>
          <p:cNvPicPr>
            <a:picLocks noChangeAspect="1"/>
          </p:cNvPicPr>
          <p:nvPr/>
        </p:nvPicPr>
        <p:blipFill>
          <a:blip r:embed="rId2"/>
          <a:stretch>
            <a:fillRect/>
          </a:stretch>
        </p:blipFill>
        <p:spPr>
          <a:xfrm>
            <a:off x="852221" y="3284525"/>
            <a:ext cx="307238" cy="307238"/>
          </a:xfrm>
          <a:prstGeom prst="rect">
            <a:avLst/>
          </a:prstGeom>
        </p:spPr>
      </p:pic>
      <p:sp>
        <p:nvSpPr>
          <p:cNvPr id="22" name="Text 17"/>
          <p:cNvSpPr txBox="1"/>
          <p:nvPr/>
        </p:nvSpPr>
        <p:spPr>
          <a:xfrm>
            <a:off x="1463040" y="2999232"/>
            <a:ext cx="2560320" cy="877824"/>
          </a:xfrm>
          <a:prstGeom prst="rect">
            <a:avLst/>
          </a:prstGeom>
          <a:noFill/>
          <a:ln/>
        </p:spPr>
        <p:txBody>
          <a:bodyPr wrap="square" lIns="0" tIns="0" rIns="0" bIns="0" rtlCol="0" anchor="ctr"/>
          <a:lstStyle/>
          <a:p>
            <a:pPr indent="0" marL="0">
              <a:spcAft>
                <a:spcPts val="200"/>
              </a:spcAft>
              <a:buNone/>
            </a:pPr>
            <a:r>
              <a:rPr lang="en-US" sz="1350" b="1" dirty="0">
                <a:solidFill>
                  <a:srgbClr val="0F172A"/>
                </a:solidFill>
                <a:latin typeface="Roboto" pitchFamily="34" charset="0"/>
                <a:ea typeface="Roboto" pitchFamily="34" charset="-122"/>
                <a:cs typeface="Roboto" pitchFamily="34" charset="-120"/>
              </a:rPr>
              <a:t>Reads every document</a:t>
            </a:r>
            <a:endParaRPr lang="en-US" sz="1350" dirty="0"/>
          </a:p>
          <a:p>
            <a:pPr indent="0" marL="0">
              <a:spcAft>
                <a:spcPts val="200"/>
              </a:spcAft>
              <a:buNone/>
            </a:pPr>
            <a:r>
              <a:rPr lang="en-US" sz="1050" dirty="0">
                <a:solidFill>
                  <a:srgbClr val="64748B"/>
                </a:solidFill>
                <a:latin typeface="Roboto" pitchFamily="34" charset="0"/>
                <a:ea typeface="Roboto" pitchFamily="34" charset="-122"/>
                <a:cs typeface="Roboto" pitchFamily="34" charset="-120"/>
              </a:rPr>
              <a:t>Fields extracted, formats and checksums validated.</a:t>
            </a:r>
            <a:endParaRPr lang="en-US" sz="1350" dirty="0"/>
          </a:p>
        </p:txBody>
      </p:sp>
      <p:sp>
        <p:nvSpPr>
          <p:cNvPr id="23" name="Shape 18"/>
          <p:cNvSpPr/>
          <p:nvPr/>
        </p:nvSpPr>
        <p:spPr>
          <a:xfrm>
            <a:off x="4297680" y="2926080"/>
            <a:ext cx="3566160" cy="1024128"/>
          </a:xfrm>
          <a:prstGeom prst="roundRect">
            <a:avLst>
              <a:gd name="adj" fmla="val 8929"/>
            </a:avLst>
          </a:prstGeom>
          <a:solidFill>
            <a:srgbClr val="F8FAFC"/>
          </a:solidFill>
          <a:ln w="12700">
            <a:solidFill>
              <a:srgbClr val="E2E8F0"/>
            </a:solidFill>
            <a:prstDash val="solid"/>
          </a:ln>
        </p:spPr>
      </p:sp>
      <p:sp>
        <p:nvSpPr>
          <p:cNvPr id="24" name="Shape 19"/>
          <p:cNvSpPr/>
          <p:nvPr/>
        </p:nvSpPr>
        <p:spPr>
          <a:xfrm>
            <a:off x="4480560" y="3163824"/>
            <a:ext cx="548640" cy="548640"/>
          </a:xfrm>
          <a:prstGeom prst="ellipse">
            <a:avLst/>
          </a:prstGeom>
          <a:solidFill>
            <a:srgbClr val="EEF2FF"/>
          </a:solidFill>
          <a:ln w="12700">
            <a:solidFill>
              <a:srgbClr val="EEF2FF"/>
            </a:solidFill>
            <a:prstDash val="solid"/>
          </a:ln>
        </p:spPr>
      </p:sp>
      <p:pic>
        <p:nvPicPr>
          <p:cNvPr id="25" name="Image 2" descr="preencoded.png">    </p:cNvPr>
          <p:cNvPicPr>
            <a:picLocks noChangeAspect="1"/>
          </p:cNvPicPr>
          <p:nvPr/>
        </p:nvPicPr>
        <p:blipFill>
          <a:blip r:embed="rId3"/>
          <a:stretch>
            <a:fillRect/>
          </a:stretch>
        </p:blipFill>
        <p:spPr>
          <a:xfrm>
            <a:off x="4601261" y="3284525"/>
            <a:ext cx="307238" cy="307238"/>
          </a:xfrm>
          <a:prstGeom prst="rect">
            <a:avLst/>
          </a:prstGeom>
        </p:spPr>
      </p:pic>
      <p:sp>
        <p:nvSpPr>
          <p:cNvPr id="26" name="Text 20"/>
          <p:cNvSpPr txBox="1"/>
          <p:nvPr/>
        </p:nvSpPr>
        <p:spPr>
          <a:xfrm>
            <a:off x="5212080" y="2999232"/>
            <a:ext cx="2560320" cy="877824"/>
          </a:xfrm>
          <a:prstGeom prst="rect">
            <a:avLst/>
          </a:prstGeom>
          <a:noFill/>
          <a:ln/>
        </p:spPr>
        <p:txBody>
          <a:bodyPr wrap="square" lIns="0" tIns="0" rIns="0" bIns="0" rtlCol="0" anchor="ctr"/>
          <a:lstStyle/>
          <a:p>
            <a:pPr indent="0" marL="0">
              <a:spcAft>
                <a:spcPts val="200"/>
              </a:spcAft>
              <a:buNone/>
            </a:pPr>
            <a:r>
              <a:rPr lang="en-US" sz="1350" b="1" dirty="0">
                <a:solidFill>
                  <a:srgbClr val="0F172A"/>
                </a:solidFill>
                <a:latin typeface="Roboto" pitchFamily="34" charset="0"/>
                <a:ea typeface="Roboto" pitchFamily="34" charset="-122"/>
                <a:cs typeface="Roboto" pitchFamily="34" charset="-120"/>
              </a:rPr>
              <a:t>Checks for tampering</a:t>
            </a:r>
            <a:endParaRPr lang="en-US" sz="1350" dirty="0"/>
          </a:p>
          <a:p>
            <a:pPr indent="0" marL="0">
              <a:spcAft>
                <a:spcPts val="200"/>
              </a:spcAft>
              <a:buNone/>
            </a:pPr>
            <a:r>
              <a:rPr lang="en-US" sz="1050" dirty="0">
                <a:solidFill>
                  <a:srgbClr val="64748B"/>
                </a:solidFill>
                <a:latin typeface="Roboto" pitchFamily="34" charset="0"/>
                <a:ea typeface="Roboto" pitchFamily="34" charset="-122"/>
                <a:cs typeface="Roboto" pitchFamily="34" charset="-120"/>
              </a:rPr>
              <a:t>Ten signals, incl. a detector trained on real forgeries.</a:t>
            </a:r>
            <a:endParaRPr lang="en-US" sz="1350" dirty="0"/>
          </a:p>
        </p:txBody>
      </p:sp>
      <p:sp>
        <p:nvSpPr>
          <p:cNvPr id="27" name="Shape 21"/>
          <p:cNvSpPr/>
          <p:nvPr/>
        </p:nvSpPr>
        <p:spPr>
          <a:xfrm>
            <a:off x="8046720" y="2926080"/>
            <a:ext cx="3566160" cy="1024128"/>
          </a:xfrm>
          <a:prstGeom prst="roundRect">
            <a:avLst>
              <a:gd name="adj" fmla="val 8929"/>
            </a:avLst>
          </a:prstGeom>
          <a:solidFill>
            <a:srgbClr val="F8FAFC"/>
          </a:solidFill>
          <a:ln w="12700">
            <a:solidFill>
              <a:srgbClr val="E2E8F0"/>
            </a:solidFill>
            <a:prstDash val="solid"/>
          </a:ln>
        </p:spPr>
      </p:sp>
      <p:sp>
        <p:nvSpPr>
          <p:cNvPr id="28" name="Shape 22"/>
          <p:cNvSpPr/>
          <p:nvPr/>
        </p:nvSpPr>
        <p:spPr>
          <a:xfrm>
            <a:off x="8229600" y="3163824"/>
            <a:ext cx="548640" cy="548640"/>
          </a:xfrm>
          <a:prstGeom prst="ellipse">
            <a:avLst/>
          </a:prstGeom>
          <a:solidFill>
            <a:srgbClr val="EEF2FF"/>
          </a:solidFill>
          <a:ln w="12700">
            <a:solidFill>
              <a:srgbClr val="EEF2FF"/>
            </a:solidFill>
            <a:prstDash val="solid"/>
          </a:ln>
        </p:spPr>
      </p:sp>
      <p:pic>
        <p:nvPicPr>
          <p:cNvPr id="29" name="Image 3" descr="preencoded.png">    </p:cNvPr>
          <p:cNvPicPr>
            <a:picLocks noChangeAspect="1"/>
          </p:cNvPicPr>
          <p:nvPr/>
        </p:nvPicPr>
        <p:blipFill>
          <a:blip r:embed="rId4"/>
          <a:stretch>
            <a:fillRect/>
          </a:stretch>
        </p:blipFill>
        <p:spPr>
          <a:xfrm>
            <a:off x="8350301" y="3284525"/>
            <a:ext cx="307238" cy="307238"/>
          </a:xfrm>
          <a:prstGeom prst="rect">
            <a:avLst/>
          </a:prstGeom>
        </p:spPr>
      </p:pic>
      <p:sp>
        <p:nvSpPr>
          <p:cNvPr id="30" name="Text 23"/>
          <p:cNvSpPr txBox="1"/>
          <p:nvPr/>
        </p:nvSpPr>
        <p:spPr>
          <a:xfrm>
            <a:off x="8961120" y="2999232"/>
            <a:ext cx="2560320" cy="877824"/>
          </a:xfrm>
          <a:prstGeom prst="rect">
            <a:avLst/>
          </a:prstGeom>
          <a:noFill/>
          <a:ln/>
        </p:spPr>
        <p:txBody>
          <a:bodyPr wrap="square" lIns="0" tIns="0" rIns="0" bIns="0" rtlCol="0" anchor="ctr"/>
          <a:lstStyle/>
          <a:p>
            <a:pPr indent="0" marL="0">
              <a:spcAft>
                <a:spcPts val="200"/>
              </a:spcAft>
              <a:buNone/>
            </a:pPr>
            <a:r>
              <a:rPr lang="en-US" sz="1350" b="1" dirty="0">
                <a:solidFill>
                  <a:srgbClr val="0F172A"/>
                </a:solidFill>
                <a:latin typeface="Roboto" pitchFamily="34" charset="0"/>
                <a:ea typeface="Roboto" pitchFamily="34" charset="-122"/>
                <a:cs typeface="Roboto" pitchFamily="34" charset="-120"/>
              </a:rPr>
              <a:t>Matches the person</a:t>
            </a:r>
            <a:endParaRPr lang="en-US" sz="1350" dirty="0"/>
          </a:p>
          <a:p>
            <a:pPr indent="0" marL="0">
              <a:spcAft>
                <a:spcPts val="200"/>
              </a:spcAft>
              <a:buNone/>
            </a:pPr>
            <a:r>
              <a:rPr lang="en-US" sz="1050" dirty="0">
                <a:solidFill>
                  <a:srgbClr val="64748B"/>
                </a:solidFill>
                <a:latin typeface="Roboto" pitchFamily="34" charset="0"/>
                <a:ea typeface="Roboto" pitchFamily="34" charset="-122"/>
                <a:cs typeface="Roboto" pitchFamily="34" charset="-120"/>
              </a:rPr>
              <a:t>Faces across documents, plus a live selfie.</a:t>
            </a:r>
            <a:endParaRPr lang="en-US" sz="1350" dirty="0"/>
          </a:p>
        </p:txBody>
      </p:sp>
      <p:sp>
        <p:nvSpPr>
          <p:cNvPr id="31" name="Shape 24"/>
          <p:cNvSpPr/>
          <p:nvPr/>
        </p:nvSpPr>
        <p:spPr>
          <a:xfrm>
            <a:off x="548640" y="4096512"/>
            <a:ext cx="3566160" cy="1024128"/>
          </a:xfrm>
          <a:prstGeom prst="roundRect">
            <a:avLst>
              <a:gd name="adj" fmla="val 8929"/>
            </a:avLst>
          </a:prstGeom>
          <a:solidFill>
            <a:srgbClr val="F8FAFC"/>
          </a:solidFill>
          <a:ln w="12700">
            <a:solidFill>
              <a:srgbClr val="E2E8F0"/>
            </a:solidFill>
            <a:prstDash val="solid"/>
          </a:ln>
        </p:spPr>
      </p:sp>
      <p:sp>
        <p:nvSpPr>
          <p:cNvPr id="32" name="Shape 25"/>
          <p:cNvSpPr/>
          <p:nvPr/>
        </p:nvSpPr>
        <p:spPr>
          <a:xfrm>
            <a:off x="731520" y="4334256"/>
            <a:ext cx="548640" cy="548640"/>
          </a:xfrm>
          <a:prstGeom prst="ellipse">
            <a:avLst/>
          </a:prstGeom>
          <a:solidFill>
            <a:srgbClr val="EEF2FF"/>
          </a:solidFill>
          <a:ln w="12700">
            <a:solidFill>
              <a:srgbClr val="EEF2FF"/>
            </a:solidFill>
            <a:prstDash val="solid"/>
          </a:ln>
        </p:spPr>
      </p:sp>
      <p:pic>
        <p:nvPicPr>
          <p:cNvPr id="33" name="Image 4" descr="preencoded.png">    </p:cNvPr>
          <p:cNvPicPr>
            <a:picLocks noChangeAspect="1"/>
          </p:cNvPicPr>
          <p:nvPr/>
        </p:nvPicPr>
        <p:blipFill>
          <a:blip r:embed="rId5"/>
          <a:stretch>
            <a:fillRect/>
          </a:stretch>
        </p:blipFill>
        <p:spPr>
          <a:xfrm>
            <a:off x="852221" y="4454957"/>
            <a:ext cx="307238" cy="307238"/>
          </a:xfrm>
          <a:prstGeom prst="rect">
            <a:avLst/>
          </a:prstGeom>
        </p:spPr>
      </p:pic>
      <p:sp>
        <p:nvSpPr>
          <p:cNvPr id="34" name="Text 26"/>
          <p:cNvSpPr txBox="1"/>
          <p:nvPr/>
        </p:nvSpPr>
        <p:spPr>
          <a:xfrm>
            <a:off x="1463040" y="4169664"/>
            <a:ext cx="2560320" cy="877824"/>
          </a:xfrm>
          <a:prstGeom prst="rect">
            <a:avLst/>
          </a:prstGeom>
          <a:noFill/>
          <a:ln/>
        </p:spPr>
        <p:txBody>
          <a:bodyPr wrap="square" lIns="0" tIns="0" rIns="0" bIns="0" rtlCol="0" anchor="ctr"/>
          <a:lstStyle/>
          <a:p>
            <a:pPr indent="0" marL="0">
              <a:spcAft>
                <a:spcPts val="200"/>
              </a:spcAft>
              <a:buNone/>
            </a:pPr>
            <a:r>
              <a:rPr lang="en-US" sz="1350" b="1" dirty="0">
                <a:solidFill>
                  <a:srgbClr val="0F172A"/>
                </a:solidFill>
                <a:latin typeface="Roboto" pitchFamily="34" charset="0"/>
                <a:ea typeface="Roboto" pitchFamily="34" charset="-122"/>
                <a:cs typeface="Roboto" pitchFamily="34" charset="-120"/>
              </a:rPr>
              <a:t>Fuses the fraud evidence</a:t>
            </a:r>
            <a:endParaRPr lang="en-US" sz="1350" dirty="0"/>
          </a:p>
          <a:p>
            <a:pPr indent="0" marL="0">
              <a:spcAft>
                <a:spcPts val="200"/>
              </a:spcAft>
              <a:buNone/>
            </a:pPr>
            <a:r>
              <a:rPr lang="en-US" sz="1050" dirty="0">
                <a:solidFill>
                  <a:srgbClr val="64748B"/>
                </a:solidFill>
                <a:latin typeface="Roboto" pitchFamily="34" charset="0"/>
                <a:ea typeface="Roboto" pitchFamily="34" charset="-122"/>
                <a:cs typeface="Roboto" pitchFamily="34" charset="-120"/>
              </a:rPr>
              <a:t>One advisory score and tier for the case.</a:t>
            </a:r>
            <a:endParaRPr lang="en-US" sz="1350" dirty="0"/>
          </a:p>
        </p:txBody>
      </p:sp>
      <p:sp>
        <p:nvSpPr>
          <p:cNvPr id="35" name="Shape 27"/>
          <p:cNvSpPr/>
          <p:nvPr/>
        </p:nvSpPr>
        <p:spPr>
          <a:xfrm>
            <a:off x="4297680" y="4096512"/>
            <a:ext cx="3566160" cy="1024128"/>
          </a:xfrm>
          <a:prstGeom prst="roundRect">
            <a:avLst>
              <a:gd name="adj" fmla="val 8929"/>
            </a:avLst>
          </a:prstGeom>
          <a:solidFill>
            <a:srgbClr val="F8FAFC"/>
          </a:solidFill>
          <a:ln w="12700">
            <a:solidFill>
              <a:srgbClr val="E2E8F0"/>
            </a:solidFill>
            <a:prstDash val="solid"/>
          </a:ln>
        </p:spPr>
      </p:sp>
      <p:sp>
        <p:nvSpPr>
          <p:cNvPr id="36" name="Shape 28"/>
          <p:cNvSpPr/>
          <p:nvPr/>
        </p:nvSpPr>
        <p:spPr>
          <a:xfrm>
            <a:off x="4480560" y="4334256"/>
            <a:ext cx="548640" cy="548640"/>
          </a:xfrm>
          <a:prstGeom prst="ellipse">
            <a:avLst/>
          </a:prstGeom>
          <a:solidFill>
            <a:srgbClr val="EEF2FF"/>
          </a:solidFill>
          <a:ln w="12700">
            <a:solidFill>
              <a:srgbClr val="EEF2FF"/>
            </a:solidFill>
            <a:prstDash val="solid"/>
          </a:ln>
        </p:spPr>
      </p:sp>
      <p:pic>
        <p:nvPicPr>
          <p:cNvPr id="37" name="Image 5" descr="preencoded.png">    </p:cNvPr>
          <p:cNvPicPr>
            <a:picLocks noChangeAspect="1"/>
          </p:cNvPicPr>
          <p:nvPr/>
        </p:nvPicPr>
        <p:blipFill>
          <a:blip r:embed="rId6"/>
          <a:stretch>
            <a:fillRect/>
          </a:stretch>
        </p:blipFill>
        <p:spPr>
          <a:xfrm>
            <a:off x="4601261" y="4454957"/>
            <a:ext cx="307238" cy="307238"/>
          </a:xfrm>
          <a:prstGeom prst="rect">
            <a:avLst/>
          </a:prstGeom>
        </p:spPr>
      </p:pic>
      <p:sp>
        <p:nvSpPr>
          <p:cNvPr id="38" name="Text 29"/>
          <p:cNvSpPr txBox="1"/>
          <p:nvPr/>
        </p:nvSpPr>
        <p:spPr>
          <a:xfrm>
            <a:off x="5212080" y="4169664"/>
            <a:ext cx="2560320" cy="877824"/>
          </a:xfrm>
          <a:prstGeom prst="rect">
            <a:avLst/>
          </a:prstGeom>
          <a:noFill/>
          <a:ln/>
        </p:spPr>
        <p:txBody>
          <a:bodyPr wrap="square" lIns="0" tIns="0" rIns="0" bIns="0" rtlCol="0" anchor="ctr"/>
          <a:lstStyle/>
          <a:p>
            <a:pPr indent="0" marL="0">
              <a:spcAft>
                <a:spcPts val="200"/>
              </a:spcAft>
              <a:buNone/>
            </a:pPr>
            <a:r>
              <a:rPr lang="en-US" sz="1350" b="1" dirty="0">
                <a:solidFill>
                  <a:srgbClr val="0F172A"/>
                </a:solidFill>
                <a:latin typeface="Roboto" pitchFamily="34" charset="0"/>
                <a:ea typeface="Roboto" pitchFamily="34" charset="-122"/>
                <a:cs typeface="Roboto" pitchFamily="34" charset="-120"/>
              </a:rPr>
              <a:t>Tests RBI and internal rules</a:t>
            </a:r>
            <a:endParaRPr lang="en-US" sz="1350" dirty="0"/>
          </a:p>
          <a:p>
            <a:pPr indent="0" marL="0">
              <a:spcAft>
                <a:spcPts val="200"/>
              </a:spcAft>
              <a:buNone/>
            </a:pPr>
            <a:r>
              <a:rPr lang="en-US" sz="1050" dirty="0">
                <a:solidFill>
                  <a:srgbClr val="64748B"/>
                </a:solidFill>
                <a:latin typeface="Roboto" pitchFamily="34" charset="0"/>
                <a:ea typeface="Roboto" pitchFamily="34" charset="-122"/>
                <a:cs typeface="Roboto" pitchFamily="34" charset="-120"/>
              </a:rPr>
              <a:t>Every rule with its citation; missing evidence is 'need info'.</a:t>
            </a:r>
            <a:endParaRPr lang="en-US" sz="1350" dirty="0"/>
          </a:p>
        </p:txBody>
      </p:sp>
      <p:sp>
        <p:nvSpPr>
          <p:cNvPr id="39" name="Shape 30"/>
          <p:cNvSpPr/>
          <p:nvPr/>
        </p:nvSpPr>
        <p:spPr>
          <a:xfrm>
            <a:off x="8046720" y="4096512"/>
            <a:ext cx="3566160" cy="1024128"/>
          </a:xfrm>
          <a:prstGeom prst="roundRect">
            <a:avLst>
              <a:gd name="adj" fmla="val 8929"/>
            </a:avLst>
          </a:prstGeom>
          <a:solidFill>
            <a:srgbClr val="F8FAFC"/>
          </a:solidFill>
          <a:ln w="12700">
            <a:solidFill>
              <a:srgbClr val="E2E8F0"/>
            </a:solidFill>
            <a:prstDash val="solid"/>
          </a:ln>
        </p:spPr>
      </p:sp>
      <p:sp>
        <p:nvSpPr>
          <p:cNvPr id="40" name="Shape 31"/>
          <p:cNvSpPr/>
          <p:nvPr/>
        </p:nvSpPr>
        <p:spPr>
          <a:xfrm>
            <a:off x="8229600" y="4334256"/>
            <a:ext cx="548640" cy="548640"/>
          </a:xfrm>
          <a:prstGeom prst="ellipse">
            <a:avLst/>
          </a:prstGeom>
          <a:solidFill>
            <a:srgbClr val="EEF2FF"/>
          </a:solidFill>
          <a:ln w="12700">
            <a:solidFill>
              <a:srgbClr val="EEF2FF"/>
            </a:solidFill>
            <a:prstDash val="solid"/>
          </a:ln>
        </p:spPr>
      </p:sp>
      <p:pic>
        <p:nvPicPr>
          <p:cNvPr id="41" name="Image 6" descr="preencoded.png">    </p:cNvPr>
          <p:cNvPicPr>
            <a:picLocks noChangeAspect="1"/>
          </p:cNvPicPr>
          <p:nvPr/>
        </p:nvPicPr>
        <p:blipFill>
          <a:blip r:embed="rId7"/>
          <a:stretch>
            <a:fillRect/>
          </a:stretch>
        </p:blipFill>
        <p:spPr>
          <a:xfrm>
            <a:off x="8350301" y="4454957"/>
            <a:ext cx="307238" cy="307238"/>
          </a:xfrm>
          <a:prstGeom prst="rect">
            <a:avLst/>
          </a:prstGeom>
        </p:spPr>
      </p:pic>
      <p:sp>
        <p:nvSpPr>
          <p:cNvPr id="42" name="Text 32"/>
          <p:cNvSpPr txBox="1"/>
          <p:nvPr/>
        </p:nvSpPr>
        <p:spPr>
          <a:xfrm>
            <a:off x="8961120" y="4169664"/>
            <a:ext cx="2560320" cy="877824"/>
          </a:xfrm>
          <a:prstGeom prst="rect">
            <a:avLst/>
          </a:prstGeom>
          <a:noFill/>
          <a:ln/>
        </p:spPr>
        <p:txBody>
          <a:bodyPr wrap="square" lIns="0" tIns="0" rIns="0" bIns="0" rtlCol="0" anchor="ctr"/>
          <a:lstStyle/>
          <a:p>
            <a:pPr indent="0" marL="0">
              <a:spcAft>
                <a:spcPts val="200"/>
              </a:spcAft>
              <a:buNone/>
            </a:pPr>
            <a:r>
              <a:rPr lang="en-US" sz="1350" b="1" dirty="0">
                <a:solidFill>
                  <a:srgbClr val="0F172A"/>
                </a:solidFill>
                <a:latin typeface="Roboto" pitchFamily="34" charset="0"/>
                <a:ea typeface="Roboto" pitchFamily="34" charset="-122"/>
                <a:cs typeface="Roboto" pitchFamily="34" charset="-120"/>
              </a:rPr>
              <a:t>Scores risk, drafts the memo</a:t>
            </a:r>
            <a:endParaRPr lang="en-US" sz="1350" dirty="0"/>
          </a:p>
          <a:p>
            <a:pPr indent="0" marL="0">
              <a:spcAft>
                <a:spcPts val="200"/>
              </a:spcAft>
              <a:buNone/>
            </a:pPr>
            <a:r>
              <a:rPr lang="en-US" sz="1050" dirty="0">
                <a:solidFill>
                  <a:srgbClr val="64748B"/>
                </a:solidFill>
                <a:latin typeface="Roboto" pitchFamily="34" charset="0"/>
                <a:ea typeface="Roboto" pitchFamily="34" charset="-122"/>
                <a:cs typeface="Roboto" pitchFamily="34" charset="-120"/>
              </a:rPr>
              <a:t>Risk grade, credit memo, offer and the next step.</a:t>
            </a:r>
            <a:endParaRPr lang="en-US" sz="1350" dirty="0"/>
          </a:p>
        </p:txBody>
      </p:sp>
      <p:sp>
        <p:nvSpPr>
          <p:cNvPr id="43" name="Shape 33"/>
          <p:cNvSpPr/>
          <p:nvPr/>
        </p:nvSpPr>
        <p:spPr>
          <a:xfrm>
            <a:off x="548640" y="5349240"/>
            <a:ext cx="11094415" cy="868680"/>
          </a:xfrm>
          <a:prstGeom prst="roundRect">
            <a:avLst>
              <a:gd name="adj" fmla="val 10526"/>
            </a:avLst>
          </a:prstGeom>
          <a:solidFill>
            <a:srgbClr val="EEF2FF"/>
          </a:solidFill>
          <a:ln w="12700">
            <a:solidFill>
              <a:srgbClr val="C7D2FE"/>
            </a:solidFill>
            <a:prstDash val="solid"/>
          </a:ln>
        </p:spPr>
      </p:sp>
      <p:sp>
        <p:nvSpPr>
          <p:cNvPr id="44" name="Shape 34"/>
          <p:cNvSpPr/>
          <p:nvPr/>
        </p:nvSpPr>
        <p:spPr>
          <a:xfrm>
            <a:off x="777240" y="5486400"/>
            <a:ext cx="585216" cy="585216"/>
          </a:xfrm>
          <a:prstGeom prst="ellipse">
            <a:avLst/>
          </a:prstGeom>
          <a:solidFill>
            <a:srgbClr val="FFFFFF"/>
          </a:solidFill>
          <a:ln w="12700">
            <a:solidFill>
              <a:srgbClr val="FFFFFF"/>
            </a:solidFill>
            <a:prstDash val="solid"/>
          </a:ln>
        </p:spPr>
      </p:sp>
      <p:pic>
        <p:nvPicPr>
          <p:cNvPr id="45" name="Image 7" descr="preencoded.png">    </p:cNvPr>
          <p:cNvPicPr>
            <a:picLocks noChangeAspect="1"/>
          </p:cNvPicPr>
          <p:nvPr/>
        </p:nvPicPr>
        <p:blipFill>
          <a:blip r:embed="rId8"/>
          <a:stretch>
            <a:fillRect/>
          </a:stretch>
        </p:blipFill>
        <p:spPr>
          <a:xfrm>
            <a:off x="905988" y="5615148"/>
            <a:ext cx="327721" cy="327721"/>
          </a:xfrm>
          <a:prstGeom prst="rect">
            <a:avLst/>
          </a:prstGeom>
        </p:spPr>
      </p:pic>
      <p:sp>
        <p:nvSpPr>
          <p:cNvPr id="46" name="Text 35"/>
          <p:cNvSpPr txBox="1"/>
          <p:nvPr/>
        </p:nvSpPr>
        <p:spPr>
          <a:xfrm>
            <a:off x="1600200" y="5349240"/>
            <a:ext cx="9814255" cy="868680"/>
          </a:xfrm>
          <a:prstGeom prst="rect">
            <a:avLst/>
          </a:prstGeom>
          <a:noFill/>
          <a:ln/>
        </p:spPr>
        <p:txBody>
          <a:bodyPr wrap="square" lIns="0" tIns="0" rIns="0" bIns="0" rtlCol="0" anchor="ctr"/>
          <a:lstStyle/>
          <a:p>
            <a:pPr indent="0" marL="0">
              <a:buNone/>
            </a:pPr>
            <a:r>
              <a:rPr lang="en-US" sz="1400" b="1" dirty="0">
                <a:solidFill>
                  <a:srgbClr val="3730A3"/>
                </a:solidFill>
                <a:latin typeface="Roboto" pitchFamily="34" charset="0"/>
                <a:ea typeface="Roboto" pitchFamily="34" charset="-122"/>
                <a:cs typeface="Roboto" pitchFamily="34" charset="-120"/>
              </a:rPr>
              <a:t>People decide. </a:t>
            </a:r>
            <a:pPr indent="0" marL="0">
              <a:buNone/>
            </a:pPr>
            <a:r>
              <a:rPr lang="en-US" sz="1400" dirty="0">
                <a:solidFill>
                  <a:srgbClr val="334155"/>
                </a:solidFill>
                <a:latin typeface="Roboto" pitchFamily="34" charset="0"/>
                <a:ea typeface="Roboto" pitchFamily="34" charset="-122"/>
                <a:cs typeface="Roboto" pitchFamily="34" charset="-120"/>
              </a:rPr>
              <a:t>Nothing is auto-rejected, the fraud tier is advice to a reviewer, and any loan above ₹5 lakh needs the Head Manager's approval.</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8229600" cy="256032"/>
          </a:xfrm>
          <a:prstGeom prst="rect">
            <a:avLst/>
          </a:prstGeom>
          <a:noFill/>
          <a:ln/>
        </p:spPr>
        <p:txBody>
          <a:bodyPr wrap="square" lIns="0" tIns="0" rIns="0" bIns="0" rtlCol="0" anchor="ctr"/>
          <a:lstStyle/>
          <a:p>
            <a:pPr indent="0" marL="0">
              <a:buNone/>
            </a:pPr>
            <a:r>
              <a:rPr lang="en-US" sz="1100" b="1" spc="200" kern="0" dirty="0">
                <a:solidFill>
                  <a:srgbClr val="4F46E5"/>
                </a:solidFill>
                <a:latin typeface="Roboto" pitchFamily="34" charset="0"/>
                <a:ea typeface="Roboto" pitchFamily="34" charset="-122"/>
                <a:cs typeface="Roboto" pitchFamily="34" charset="-120"/>
              </a:rPr>
              <a:t>THE PRODUCT</a:t>
            </a:r>
            <a:endParaRPr lang="en-US" sz="1100" dirty="0"/>
          </a:p>
        </p:txBody>
      </p:sp>
      <p:sp>
        <p:nvSpPr>
          <p:cNvPr id="3" name="Text 1"/>
          <p:cNvSpPr txBox="1"/>
          <p:nvPr/>
        </p:nvSpPr>
        <p:spPr>
          <a:xfrm>
            <a:off x="548640" y="585216"/>
            <a:ext cx="11094415" cy="566928"/>
          </a:xfrm>
          <a:prstGeom prst="rect">
            <a:avLst/>
          </a:prstGeom>
          <a:noFill/>
          <a:ln/>
        </p:spPr>
        <p:txBody>
          <a:bodyPr wrap="square" lIns="0" tIns="0" rIns="0" bIns="0" rtlCol="0" anchor="ctr"/>
          <a:lstStyle/>
          <a:p>
            <a:pPr indent="0" marL="0">
              <a:buNone/>
            </a:pPr>
            <a:r>
              <a:rPr lang="en-US" sz="2800" b="1" dirty="0">
                <a:solidFill>
                  <a:srgbClr val="0F172A"/>
                </a:solidFill>
                <a:latin typeface="Roboto" pitchFamily="34" charset="0"/>
                <a:ea typeface="Roboto" pitchFamily="34" charset="-122"/>
                <a:cs typeface="Roboto" pitchFamily="34" charset="-120"/>
              </a:rPr>
              <a:t>Three roles, twelve loan products</a:t>
            </a:r>
            <a:endParaRPr lang="en-US" sz="2800" dirty="0"/>
          </a:p>
        </p:txBody>
      </p:sp>
      <p:sp>
        <p:nvSpPr>
          <p:cNvPr id="4" name="Text 2"/>
          <p:cNvSpPr txBox="1"/>
          <p:nvPr/>
        </p:nvSpPr>
        <p:spPr>
          <a:xfrm>
            <a:off x="548640" y="1152144"/>
            <a:ext cx="11094415" cy="365760"/>
          </a:xfrm>
          <a:prstGeom prst="rect">
            <a:avLst/>
          </a:prstGeom>
          <a:noFill/>
          <a:ln/>
        </p:spPr>
        <p:txBody>
          <a:bodyPr wrap="square" lIns="0" tIns="0" rIns="0" bIns="0" rtlCol="0" anchor="ctr"/>
          <a:lstStyle/>
          <a:p>
            <a:pPr indent="0" marL="0">
              <a:buNone/>
            </a:pPr>
            <a:r>
              <a:rPr lang="en-US" sz="1400" dirty="0">
                <a:solidFill>
                  <a:srgbClr val="64748B"/>
                </a:solidFill>
                <a:latin typeface="Roboto" pitchFamily="34" charset="0"/>
                <a:ea typeface="Roboto" pitchFamily="34" charset="-122"/>
                <a:cs typeface="Roboto" pitchFamily="34" charset="-120"/>
              </a:rPr>
              <a:t>One app, three views. Each product has its own document checklist and its own lifecycle branch.</a:t>
            </a:r>
            <a:endParaRPr lang="en-US" sz="1400" dirty="0"/>
          </a:p>
        </p:txBody>
      </p:sp>
      <p:pic>
        <p:nvPicPr>
          <p:cNvPr id="5" name="Image 0" descr="C:\Users\shrey\AppData\Local\Temp\claude\D--novacinternship-finsight\ef4ecb45-e580-4bc0-9be4-060aa240a5b2\scratchpad\deck\img\logo_lockup.png">    </p:cNvPr>
          <p:cNvPicPr>
            <a:picLocks noChangeAspect="1"/>
          </p:cNvPicPr>
          <p:nvPr/>
        </p:nvPicPr>
        <p:blipFill>
          <a:blip r:embed="rId1"/>
          <a:stretch>
            <a:fillRect/>
          </a:stretch>
        </p:blipFill>
        <p:spPr>
          <a:xfrm>
            <a:off x="10360152" y="6464808"/>
            <a:ext cx="843991" cy="237744"/>
          </a:xfrm>
          <a:prstGeom prst="rect">
            <a:avLst/>
          </a:prstGeom>
        </p:spPr>
      </p:pic>
      <p:sp>
        <p:nvSpPr>
          <p:cNvPr id="6" name="Text 3"/>
          <p:cNvSpPr txBox="1"/>
          <p:nvPr/>
        </p:nvSpPr>
        <p:spPr>
          <a:xfrm>
            <a:off x="11277295" y="6473952"/>
            <a:ext cx="365760" cy="228600"/>
          </a:xfrm>
          <a:prstGeom prst="rect">
            <a:avLst/>
          </a:prstGeom>
          <a:noFill/>
          <a:ln/>
        </p:spPr>
        <p:txBody>
          <a:bodyPr wrap="square" lIns="0" tIns="0" rIns="0" bIns="0" rtlCol="0" anchor="ctr"/>
          <a:lstStyle/>
          <a:p>
            <a:pPr algn="r" indent="0" marL="0">
              <a:buNone/>
            </a:pPr>
            <a:r>
              <a:rPr lang="en-US" sz="900" dirty="0">
                <a:solidFill>
                  <a:srgbClr val="94A3B8"/>
                </a:solidFill>
                <a:latin typeface="Roboto" pitchFamily="34" charset="0"/>
                <a:ea typeface="Roboto" pitchFamily="34" charset="-122"/>
                <a:cs typeface="Roboto" pitchFamily="34" charset="-120"/>
              </a:rPr>
              <a:t>6</a:t>
            </a:r>
            <a:endParaRPr lang="en-US" sz="900" dirty="0"/>
          </a:p>
        </p:txBody>
      </p:sp>
      <p:sp>
        <p:nvSpPr>
          <p:cNvPr id="8" name="Shape 4"/>
          <p:cNvSpPr/>
          <p:nvPr/>
        </p:nvSpPr>
        <p:spPr>
          <a:xfrm>
            <a:off x="548640" y="1737360"/>
            <a:ext cx="5029200" cy="3771247"/>
          </a:xfrm>
          <a:prstGeom prst="roundRect">
            <a:avLst>
              <a:gd name="adj" fmla="val 1697"/>
            </a:avLst>
          </a:prstGeom>
          <a:solidFill>
            <a:srgbClr val="1E293B"/>
          </a:solidFill>
          <a:ln w="12700">
            <a:solidFill>
              <a:srgbClr val="1E293B"/>
            </a:solidFill>
            <a:prstDash val="solid"/>
          </a:ln>
          <a:effectLst>
            <a:outerShdw sx="100000" sy="100000" kx="0" ky="0" algn="bl" rotWithShape="0" blurRad="127000" dist="25400" dir="5400000">
              <a:srgbClr val="0F172A">
                <a:alpha val="12000"/>
              </a:srgbClr>
            </a:outerShdw>
          </a:effectLst>
        </p:spPr>
      </p:sp>
      <p:sp>
        <p:nvSpPr>
          <p:cNvPr id="9" name="Shape 5"/>
          <p:cNvSpPr/>
          <p:nvPr/>
        </p:nvSpPr>
        <p:spPr>
          <a:xfrm>
            <a:off x="667512" y="1815084"/>
            <a:ext cx="82296" cy="82296"/>
          </a:xfrm>
          <a:prstGeom prst="ellipse">
            <a:avLst/>
          </a:prstGeom>
          <a:solidFill>
            <a:srgbClr val="F87171"/>
          </a:solidFill>
          <a:ln w="12700">
            <a:solidFill>
              <a:srgbClr val="F87171"/>
            </a:solidFill>
            <a:prstDash val="solid"/>
          </a:ln>
        </p:spPr>
      </p:sp>
      <p:sp>
        <p:nvSpPr>
          <p:cNvPr id="10" name="Shape 6"/>
          <p:cNvSpPr/>
          <p:nvPr/>
        </p:nvSpPr>
        <p:spPr>
          <a:xfrm>
            <a:off x="804672" y="1815084"/>
            <a:ext cx="82296" cy="82296"/>
          </a:xfrm>
          <a:prstGeom prst="ellipse">
            <a:avLst/>
          </a:prstGeom>
          <a:solidFill>
            <a:srgbClr val="FBBF24"/>
          </a:solidFill>
          <a:ln w="12700">
            <a:solidFill>
              <a:srgbClr val="FBBF24"/>
            </a:solidFill>
            <a:prstDash val="solid"/>
          </a:ln>
        </p:spPr>
      </p:sp>
      <p:sp>
        <p:nvSpPr>
          <p:cNvPr id="11" name="Shape 7"/>
          <p:cNvSpPr/>
          <p:nvPr/>
        </p:nvSpPr>
        <p:spPr>
          <a:xfrm>
            <a:off x="941832" y="1815084"/>
            <a:ext cx="82296" cy="82296"/>
          </a:xfrm>
          <a:prstGeom prst="ellipse">
            <a:avLst/>
          </a:prstGeom>
          <a:solidFill>
            <a:srgbClr val="34D399"/>
          </a:solidFill>
          <a:ln w="12700">
            <a:solidFill>
              <a:srgbClr val="34D399"/>
            </a:solidFill>
            <a:prstDash val="solid"/>
          </a:ln>
        </p:spPr>
      </p:sp>
      <p:pic>
        <p:nvPicPr>
          <p:cNvPr id="12" name="Image 1" descr="C:\Users\shrey\AppData\Local\Temp\claude\D--novacinternship-finsight\ef4ecb45-e580-4bc0-9be4-060aa240a5b2\scratchpad\deck\img\rolepicker.png">    </p:cNvPr>
          <p:cNvPicPr>
            <a:picLocks noChangeAspect="1"/>
          </p:cNvPicPr>
          <p:nvPr/>
        </p:nvPicPr>
        <p:blipFill>
          <a:blip r:embed="rId2"/>
          <a:stretch>
            <a:fillRect/>
          </a:stretch>
        </p:blipFill>
        <p:spPr>
          <a:xfrm>
            <a:off x="594360" y="1975104"/>
            <a:ext cx="4937760" cy="3487783"/>
          </a:xfrm>
          <a:prstGeom prst="rect">
            <a:avLst/>
          </a:prstGeom>
        </p:spPr>
      </p:pic>
      <p:sp>
        <p:nvSpPr>
          <p:cNvPr id="13" name="Shape 8"/>
          <p:cNvSpPr/>
          <p:nvPr/>
        </p:nvSpPr>
        <p:spPr>
          <a:xfrm>
            <a:off x="5897880" y="1783080"/>
            <a:ext cx="5742432" cy="932688"/>
          </a:xfrm>
          <a:prstGeom prst="roundRect">
            <a:avLst>
              <a:gd name="adj" fmla="val 9804"/>
            </a:avLst>
          </a:prstGeom>
          <a:solidFill>
            <a:srgbClr val="F8FAFC"/>
          </a:solidFill>
          <a:ln w="12700">
            <a:solidFill>
              <a:srgbClr val="E2E8F0"/>
            </a:solidFill>
            <a:prstDash val="solid"/>
          </a:ln>
        </p:spPr>
      </p:sp>
      <p:sp>
        <p:nvSpPr>
          <p:cNvPr id="14" name="Shape 9"/>
          <p:cNvSpPr/>
          <p:nvPr/>
        </p:nvSpPr>
        <p:spPr>
          <a:xfrm>
            <a:off x="6080760" y="1965960"/>
            <a:ext cx="566928" cy="566928"/>
          </a:xfrm>
          <a:prstGeom prst="ellipse">
            <a:avLst/>
          </a:prstGeom>
          <a:solidFill>
            <a:srgbClr val="EEF2FF"/>
          </a:solidFill>
          <a:ln w="12700">
            <a:solidFill>
              <a:srgbClr val="EEF2FF"/>
            </a:solidFill>
            <a:prstDash val="solid"/>
          </a:ln>
        </p:spPr>
      </p:sp>
      <p:pic>
        <p:nvPicPr>
          <p:cNvPr id="15" name="Image 2" descr="preencoded.png">    </p:cNvPr>
          <p:cNvPicPr>
            <a:picLocks noChangeAspect="1"/>
          </p:cNvPicPr>
          <p:nvPr/>
        </p:nvPicPr>
        <p:blipFill>
          <a:blip r:embed="rId3"/>
          <a:stretch>
            <a:fillRect/>
          </a:stretch>
        </p:blipFill>
        <p:spPr>
          <a:xfrm>
            <a:off x="6205484" y="2090684"/>
            <a:ext cx="317480" cy="317480"/>
          </a:xfrm>
          <a:prstGeom prst="rect">
            <a:avLst/>
          </a:prstGeom>
        </p:spPr>
      </p:pic>
      <p:sp>
        <p:nvSpPr>
          <p:cNvPr id="16" name="Text 10"/>
          <p:cNvSpPr txBox="1"/>
          <p:nvPr/>
        </p:nvSpPr>
        <p:spPr>
          <a:xfrm>
            <a:off x="6812280" y="1856232"/>
            <a:ext cx="4709160" cy="786384"/>
          </a:xfrm>
          <a:prstGeom prst="rect">
            <a:avLst/>
          </a:prstGeom>
          <a:noFill/>
          <a:ln/>
        </p:spPr>
        <p:txBody>
          <a:bodyPr wrap="square" lIns="0" tIns="0" rIns="0" bIns="0" rtlCol="0" anchor="ctr"/>
          <a:lstStyle/>
          <a:p>
            <a:pPr indent="0" marL="0">
              <a:spcAft>
                <a:spcPts val="200"/>
              </a:spcAft>
              <a:buNone/>
            </a:pPr>
            <a:r>
              <a:rPr lang="en-US" sz="1400" b="1" dirty="0">
                <a:solidFill>
                  <a:srgbClr val="0F172A"/>
                </a:solidFill>
                <a:latin typeface="Roboto" pitchFamily="34" charset="0"/>
                <a:ea typeface="Roboto" pitchFamily="34" charset="-122"/>
                <a:cs typeface="Roboto" pitchFamily="34" charset="-120"/>
              </a:rPr>
              <a:t>Borrower</a:t>
            </a:r>
            <a:endParaRPr lang="en-US" sz="1400" dirty="0"/>
          </a:p>
          <a:p>
            <a:pPr indent="0" marL="0">
              <a:spcAft>
                <a:spcPts val="200"/>
              </a:spcAft>
              <a:buNone/>
            </a:pPr>
            <a:r>
              <a:rPr lang="en-US" sz="1100" dirty="0">
                <a:solidFill>
                  <a:srgbClr val="64748B"/>
                </a:solidFill>
                <a:latin typeface="Roboto" pitchFamily="34" charset="0"/>
                <a:ea typeface="Roboto" pitchFamily="34" charset="-122"/>
                <a:cs typeface="Roboto" pitchFamily="34" charset="-120"/>
              </a:rPr>
              <a:t>Applies, uploads documents, confirms what the agents read, takes a selfie and submits.</a:t>
            </a:r>
            <a:endParaRPr lang="en-US" sz="1400" dirty="0"/>
          </a:p>
        </p:txBody>
      </p:sp>
      <p:sp>
        <p:nvSpPr>
          <p:cNvPr id="17" name="Shape 11"/>
          <p:cNvSpPr/>
          <p:nvPr/>
        </p:nvSpPr>
        <p:spPr>
          <a:xfrm>
            <a:off x="5897880" y="2862072"/>
            <a:ext cx="5742432" cy="932688"/>
          </a:xfrm>
          <a:prstGeom prst="roundRect">
            <a:avLst>
              <a:gd name="adj" fmla="val 9804"/>
            </a:avLst>
          </a:prstGeom>
          <a:solidFill>
            <a:srgbClr val="F8FAFC"/>
          </a:solidFill>
          <a:ln w="12700">
            <a:solidFill>
              <a:srgbClr val="E2E8F0"/>
            </a:solidFill>
            <a:prstDash val="solid"/>
          </a:ln>
        </p:spPr>
      </p:sp>
      <p:sp>
        <p:nvSpPr>
          <p:cNvPr id="18" name="Shape 12"/>
          <p:cNvSpPr/>
          <p:nvPr/>
        </p:nvSpPr>
        <p:spPr>
          <a:xfrm>
            <a:off x="6080760" y="3044952"/>
            <a:ext cx="566928" cy="566928"/>
          </a:xfrm>
          <a:prstGeom prst="ellipse">
            <a:avLst/>
          </a:prstGeom>
          <a:solidFill>
            <a:srgbClr val="EEF2FF"/>
          </a:solidFill>
          <a:ln w="12700">
            <a:solidFill>
              <a:srgbClr val="EEF2FF"/>
            </a:solidFill>
            <a:prstDash val="solid"/>
          </a:ln>
        </p:spPr>
      </p:sp>
      <p:pic>
        <p:nvPicPr>
          <p:cNvPr id="19" name="Image 3" descr="preencoded.png">    </p:cNvPr>
          <p:cNvPicPr>
            <a:picLocks noChangeAspect="1"/>
          </p:cNvPicPr>
          <p:nvPr/>
        </p:nvPicPr>
        <p:blipFill>
          <a:blip r:embed="rId4"/>
          <a:stretch>
            <a:fillRect/>
          </a:stretch>
        </p:blipFill>
        <p:spPr>
          <a:xfrm>
            <a:off x="6205484" y="3169676"/>
            <a:ext cx="317480" cy="317480"/>
          </a:xfrm>
          <a:prstGeom prst="rect">
            <a:avLst/>
          </a:prstGeom>
        </p:spPr>
      </p:pic>
      <p:sp>
        <p:nvSpPr>
          <p:cNvPr id="20" name="Text 13"/>
          <p:cNvSpPr txBox="1"/>
          <p:nvPr/>
        </p:nvSpPr>
        <p:spPr>
          <a:xfrm>
            <a:off x="6812280" y="2935224"/>
            <a:ext cx="4709160" cy="786384"/>
          </a:xfrm>
          <a:prstGeom prst="rect">
            <a:avLst/>
          </a:prstGeom>
          <a:noFill/>
          <a:ln/>
        </p:spPr>
        <p:txBody>
          <a:bodyPr wrap="square" lIns="0" tIns="0" rIns="0" bIns="0" rtlCol="0" anchor="ctr"/>
          <a:lstStyle/>
          <a:p>
            <a:pPr indent="0" marL="0">
              <a:spcAft>
                <a:spcPts val="200"/>
              </a:spcAft>
              <a:buNone/>
            </a:pPr>
            <a:r>
              <a:rPr lang="en-US" sz="1400" b="1" dirty="0">
                <a:solidFill>
                  <a:srgbClr val="0F172A"/>
                </a:solidFill>
                <a:latin typeface="Roboto" pitchFamily="34" charset="0"/>
                <a:ea typeface="Roboto" pitchFamily="34" charset="-122"/>
                <a:cs typeface="Roboto" pitchFamily="34" charset="-120"/>
              </a:rPr>
              <a:t>Underwriting Officer</a:t>
            </a:r>
            <a:endParaRPr lang="en-US" sz="1400" dirty="0"/>
          </a:p>
          <a:p>
            <a:pPr indent="0" marL="0">
              <a:spcAft>
                <a:spcPts val="200"/>
              </a:spcAft>
              <a:buNone/>
            </a:pPr>
            <a:r>
              <a:rPr lang="en-US" sz="1100" dirty="0">
                <a:solidFill>
                  <a:srgbClr val="64748B"/>
                </a:solidFill>
                <a:latin typeface="Roboto" pitchFamily="34" charset="0"/>
                <a:ea typeface="Roboto" pitchFamily="34" charset="-122"/>
                <a:cs typeface="Roboto" pitchFamily="34" charset="-120"/>
              </a:rPr>
              <a:t>Works the queue: evidence, fraud report, policy check, credit memo — then recommends.</a:t>
            </a:r>
            <a:endParaRPr lang="en-US" sz="1400" dirty="0"/>
          </a:p>
        </p:txBody>
      </p:sp>
      <p:sp>
        <p:nvSpPr>
          <p:cNvPr id="21" name="Shape 14"/>
          <p:cNvSpPr/>
          <p:nvPr/>
        </p:nvSpPr>
        <p:spPr>
          <a:xfrm>
            <a:off x="5897880" y="3941064"/>
            <a:ext cx="5742432" cy="932688"/>
          </a:xfrm>
          <a:prstGeom prst="roundRect">
            <a:avLst>
              <a:gd name="adj" fmla="val 9804"/>
            </a:avLst>
          </a:prstGeom>
          <a:solidFill>
            <a:srgbClr val="F8FAFC"/>
          </a:solidFill>
          <a:ln w="12700">
            <a:solidFill>
              <a:srgbClr val="E2E8F0"/>
            </a:solidFill>
            <a:prstDash val="solid"/>
          </a:ln>
        </p:spPr>
      </p:sp>
      <p:sp>
        <p:nvSpPr>
          <p:cNvPr id="22" name="Shape 15"/>
          <p:cNvSpPr/>
          <p:nvPr/>
        </p:nvSpPr>
        <p:spPr>
          <a:xfrm>
            <a:off x="6080760" y="4123944"/>
            <a:ext cx="566928" cy="566928"/>
          </a:xfrm>
          <a:prstGeom prst="ellipse">
            <a:avLst/>
          </a:prstGeom>
          <a:solidFill>
            <a:srgbClr val="EEF2FF"/>
          </a:solidFill>
          <a:ln w="12700">
            <a:solidFill>
              <a:srgbClr val="EEF2FF"/>
            </a:solidFill>
            <a:prstDash val="solid"/>
          </a:ln>
        </p:spPr>
      </p:sp>
      <p:pic>
        <p:nvPicPr>
          <p:cNvPr id="23" name="Image 4" descr="preencoded.png">    </p:cNvPr>
          <p:cNvPicPr>
            <a:picLocks noChangeAspect="1"/>
          </p:cNvPicPr>
          <p:nvPr/>
        </p:nvPicPr>
        <p:blipFill>
          <a:blip r:embed="rId5"/>
          <a:stretch>
            <a:fillRect/>
          </a:stretch>
        </p:blipFill>
        <p:spPr>
          <a:xfrm>
            <a:off x="6205484" y="4248668"/>
            <a:ext cx="317480" cy="317480"/>
          </a:xfrm>
          <a:prstGeom prst="rect">
            <a:avLst/>
          </a:prstGeom>
        </p:spPr>
      </p:pic>
      <p:sp>
        <p:nvSpPr>
          <p:cNvPr id="24" name="Text 16"/>
          <p:cNvSpPr txBox="1"/>
          <p:nvPr/>
        </p:nvSpPr>
        <p:spPr>
          <a:xfrm>
            <a:off x="6812280" y="4014216"/>
            <a:ext cx="4709160" cy="786384"/>
          </a:xfrm>
          <a:prstGeom prst="rect">
            <a:avLst/>
          </a:prstGeom>
          <a:noFill/>
          <a:ln/>
        </p:spPr>
        <p:txBody>
          <a:bodyPr wrap="square" lIns="0" tIns="0" rIns="0" bIns="0" rtlCol="0" anchor="ctr"/>
          <a:lstStyle/>
          <a:p>
            <a:pPr indent="0" marL="0">
              <a:spcAft>
                <a:spcPts val="200"/>
              </a:spcAft>
              <a:buNone/>
            </a:pPr>
            <a:r>
              <a:rPr lang="en-US" sz="1400" b="1" dirty="0">
                <a:solidFill>
                  <a:srgbClr val="0F172A"/>
                </a:solidFill>
                <a:latin typeface="Roboto" pitchFamily="34" charset="0"/>
                <a:ea typeface="Roboto" pitchFamily="34" charset="-122"/>
                <a:cs typeface="Roboto" pitchFamily="34" charset="-120"/>
              </a:rPr>
              <a:t>Head Manager</a:t>
            </a:r>
            <a:endParaRPr lang="en-US" sz="1400" dirty="0"/>
          </a:p>
          <a:p>
            <a:pPr indent="0" marL="0">
              <a:spcAft>
                <a:spcPts val="200"/>
              </a:spcAft>
              <a:buNone/>
            </a:pPr>
            <a:r>
              <a:rPr lang="en-US" sz="1100" dirty="0">
                <a:solidFill>
                  <a:srgbClr val="64748B"/>
                </a:solidFill>
                <a:latin typeface="Roboto" pitchFamily="34" charset="0"/>
                <a:ea typeface="Roboto" pitchFamily="34" charset="-122"/>
                <a:cs typeface="Roboto" pitchFamily="34" charset="-120"/>
              </a:rPr>
              <a:t>Approves loans above ₹5 lakh, runs fraud triage, manages AI models and RBI rules.</a:t>
            </a:r>
            <a:endParaRPr lang="en-US" sz="1400" dirty="0"/>
          </a:p>
        </p:txBody>
      </p:sp>
      <p:sp>
        <p:nvSpPr>
          <p:cNvPr id="25" name="Text 17"/>
          <p:cNvSpPr txBox="1"/>
          <p:nvPr/>
        </p:nvSpPr>
        <p:spPr>
          <a:xfrm>
            <a:off x="5897880" y="5102352"/>
            <a:ext cx="3657600" cy="256032"/>
          </a:xfrm>
          <a:prstGeom prst="rect">
            <a:avLst/>
          </a:prstGeom>
          <a:noFill/>
          <a:ln/>
        </p:spPr>
        <p:txBody>
          <a:bodyPr wrap="square" lIns="0" tIns="0" rIns="0" bIns="0" rtlCol="0" anchor="ctr"/>
          <a:lstStyle/>
          <a:p>
            <a:pPr indent="0" marL="0">
              <a:buNone/>
            </a:pPr>
            <a:r>
              <a:rPr lang="en-US" sz="1050" b="1" spc="200" kern="0" dirty="0">
                <a:solidFill>
                  <a:srgbClr val="64748B"/>
                </a:solidFill>
                <a:latin typeface="Roboto" pitchFamily="34" charset="0"/>
                <a:ea typeface="Roboto" pitchFamily="34" charset="-122"/>
                <a:cs typeface="Roboto" pitchFamily="34" charset="-120"/>
              </a:rPr>
              <a:t>12 LOAN PRODUCTS</a:t>
            </a:r>
            <a:endParaRPr lang="en-US" sz="1050" dirty="0"/>
          </a:p>
        </p:txBody>
      </p:sp>
      <p:sp>
        <p:nvSpPr>
          <p:cNvPr id="26" name="Shape 18"/>
          <p:cNvSpPr/>
          <p:nvPr/>
        </p:nvSpPr>
        <p:spPr>
          <a:xfrm>
            <a:off x="5897880" y="5413248"/>
            <a:ext cx="893064" cy="274320"/>
          </a:xfrm>
          <a:prstGeom prst="roundRect">
            <a:avLst>
              <a:gd name="adj" fmla="val 50000"/>
            </a:avLst>
          </a:prstGeom>
          <a:solidFill>
            <a:srgbClr val="EEF2FF"/>
          </a:solidFill>
          <a:ln w="12700">
            <a:solidFill>
              <a:srgbClr val="EEF2FF"/>
            </a:solidFill>
            <a:prstDash val="solid"/>
          </a:ln>
        </p:spPr>
      </p:sp>
      <p:sp>
        <p:nvSpPr>
          <p:cNvPr id="27" name="Text 19"/>
          <p:cNvSpPr txBox="1"/>
          <p:nvPr/>
        </p:nvSpPr>
        <p:spPr>
          <a:xfrm>
            <a:off x="5897880" y="5413248"/>
            <a:ext cx="893064" cy="274320"/>
          </a:xfrm>
          <a:prstGeom prst="rect">
            <a:avLst/>
          </a:prstGeom>
          <a:noFill/>
          <a:ln/>
        </p:spPr>
        <p:txBody>
          <a:bodyPr wrap="square" lIns="0" tIns="0" rIns="0" bIns="0" rtlCol="0" anchor="ctr"/>
          <a:lstStyle/>
          <a:p>
            <a:pPr algn="ctr" indent="0" marL="0">
              <a:buNone/>
            </a:pPr>
            <a:r>
              <a:rPr lang="en-US" sz="950" b="1" dirty="0">
                <a:solidFill>
                  <a:srgbClr val="3730A3"/>
                </a:solidFill>
                <a:latin typeface="Roboto" pitchFamily="34" charset="0"/>
                <a:ea typeface="Roboto" pitchFamily="34" charset="-122"/>
                <a:cs typeface="Roboto" pitchFamily="34" charset="-120"/>
              </a:rPr>
              <a:t>Two Wheeler</a:t>
            </a:r>
            <a:endParaRPr lang="en-US" sz="950" dirty="0"/>
          </a:p>
        </p:txBody>
      </p:sp>
      <p:sp>
        <p:nvSpPr>
          <p:cNvPr id="28" name="Shape 20"/>
          <p:cNvSpPr/>
          <p:nvPr/>
        </p:nvSpPr>
        <p:spPr>
          <a:xfrm>
            <a:off x="6864096" y="5413248"/>
            <a:ext cx="661416" cy="274320"/>
          </a:xfrm>
          <a:prstGeom prst="roundRect">
            <a:avLst>
              <a:gd name="adj" fmla="val 50000"/>
            </a:avLst>
          </a:prstGeom>
          <a:solidFill>
            <a:srgbClr val="EEF2FF"/>
          </a:solidFill>
          <a:ln w="12700">
            <a:solidFill>
              <a:srgbClr val="EEF2FF"/>
            </a:solidFill>
            <a:prstDash val="solid"/>
          </a:ln>
        </p:spPr>
      </p:sp>
      <p:sp>
        <p:nvSpPr>
          <p:cNvPr id="29" name="Text 21"/>
          <p:cNvSpPr txBox="1"/>
          <p:nvPr/>
        </p:nvSpPr>
        <p:spPr>
          <a:xfrm>
            <a:off x="6864096" y="5413248"/>
            <a:ext cx="661416" cy="274320"/>
          </a:xfrm>
          <a:prstGeom prst="rect">
            <a:avLst/>
          </a:prstGeom>
          <a:noFill/>
          <a:ln/>
        </p:spPr>
        <p:txBody>
          <a:bodyPr wrap="square" lIns="0" tIns="0" rIns="0" bIns="0" rtlCol="0" anchor="ctr"/>
          <a:lstStyle/>
          <a:p>
            <a:pPr algn="ctr" indent="0" marL="0">
              <a:buNone/>
            </a:pPr>
            <a:r>
              <a:rPr lang="en-US" sz="950" b="1" dirty="0">
                <a:solidFill>
                  <a:srgbClr val="3730A3"/>
                </a:solidFill>
                <a:latin typeface="Roboto" pitchFamily="34" charset="0"/>
                <a:ea typeface="Roboto" pitchFamily="34" charset="-122"/>
                <a:cs typeface="Roboto" pitchFamily="34" charset="-120"/>
              </a:rPr>
              <a:t>Tractor</a:t>
            </a:r>
            <a:endParaRPr lang="en-US" sz="950" dirty="0"/>
          </a:p>
        </p:txBody>
      </p:sp>
      <p:sp>
        <p:nvSpPr>
          <p:cNvPr id="30" name="Shape 22"/>
          <p:cNvSpPr/>
          <p:nvPr/>
        </p:nvSpPr>
        <p:spPr>
          <a:xfrm>
            <a:off x="7598664" y="5413248"/>
            <a:ext cx="548640" cy="274320"/>
          </a:xfrm>
          <a:prstGeom prst="roundRect">
            <a:avLst>
              <a:gd name="adj" fmla="val 50000"/>
            </a:avLst>
          </a:prstGeom>
          <a:solidFill>
            <a:srgbClr val="EEF2FF"/>
          </a:solidFill>
          <a:ln w="12700">
            <a:solidFill>
              <a:srgbClr val="EEF2FF"/>
            </a:solidFill>
            <a:prstDash val="solid"/>
          </a:ln>
        </p:spPr>
      </p:sp>
      <p:sp>
        <p:nvSpPr>
          <p:cNvPr id="31" name="Text 23"/>
          <p:cNvSpPr txBox="1"/>
          <p:nvPr/>
        </p:nvSpPr>
        <p:spPr>
          <a:xfrm>
            <a:off x="7598664" y="5413248"/>
            <a:ext cx="548640" cy="274320"/>
          </a:xfrm>
          <a:prstGeom prst="rect">
            <a:avLst/>
          </a:prstGeom>
          <a:noFill/>
          <a:ln/>
        </p:spPr>
        <p:txBody>
          <a:bodyPr wrap="square" lIns="0" tIns="0" rIns="0" bIns="0" rtlCol="0" anchor="ctr"/>
          <a:lstStyle/>
          <a:p>
            <a:pPr algn="ctr" indent="0" marL="0">
              <a:buNone/>
            </a:pPr>
            <a:r>
              <a:rPr lang="en-US" sz="950" b="1" dirty="0">
                <a:solidFill>
                  <a:srgbClr val="3730A3"/>
                </a:solidFill>
                <a:latin typeface="Roboto" pitchFamily="34" charset="0"/>
                <a:ea typeface="Roboto" pitchFamily="34" charset="-122"/>
                <a:cs typeface="Roboto" pitchFamily="34" charset="-120"/>
              </a:rPr>
              <a:t>Gold</a:t>
            </a:r>
            <a:endParaRPr lang="en-US" sz="950" dirty="0"/>
          </a:p>
        </p:txBody>
      </p:sp>
      <p:sp>
        <p:nvSpPr>
          <p:cNvPr id="32" name="Shape 24"/>
          <p:cNvSpPr/>
          <p:nvPr/>
        </p:nvSpPr>
        <p:spPr>
          <a:xfrm>
            <a:off x="8220456" y="5413248"/>
            <a:ext cx="719328" cy="274320"/>
          </a:xfrm>
          <a:prstGeom prst="roundRect">
            <a:avLst>
              <a:gd name="adj" fmla="val 50000"/>
            </a:avLst>
          </a:prstGeom>
          <a:solidFill>
            <a:srgbClr val="EEF2FF"/>
          </a:solidFill>
          <a:ln w="12700">
            <a:solidFill>
              <a:srgbClr val="EEF2FF"/>
            </a:solidFill>
            <a:prstDash val="solid"/>
          </a:ln>
        </p:spPr>
      </p:sp>
      <p:sp>
        <p:nvSpPr>
          <p:cNvPr id="33" name="Text 25"/>
          <p:cNvSpPr txBox="1"/>
          <p:nvPr/>
        </p:nvSpPr>
        <p:spPr>
          <a:xfrm>
            <a:off x="8220456" y="5413248"/>
            <a:ext cx="719328" cy="274320"/>
          </a:xfrm>
          <a:prstGeom prst="rect">
            <a:avLst/>
          </a:prstGeom>
          <a:noFill/>
          <a:ln/>
        </p:spPr>
        <p:txBody>
          <a:bodyPr wrap="square" lIns="0" tIns="0" rIns="0" bIns="0" rtlCol="0" anchor="ctr"/>
          <a:lstStyle/>
          <a:p>
            <a:pPr algn="ctr" indent="0" marL="0">
              <a:buNone/>
            </a:pPr>
            <a:r>
              <a:rPr lang="en-US" sz="950" b="1" dirty="0">
                <a:solidFill>
                  <a:srgbClr val="3730A3"/>
                </a:solidFill>
                <a:latin typeface="Roboto" pitchFamily="34" charset="0"/>
                <a:ea typeface="Roboto" pitchFamily="34" charset="-122"/>
                <a:cs typeface="Roboto" pitchFamily="34" charset="-120"/>
              </a:rPr>
              <a:t>Personal</a:t>
            </a:r>
            <a:endParaRPr lang="en-US" sz="950" dirty="0"/>
          </a:p>
        </p:txBody>
      </p:sp>
      <p:sp>
        <p:nvSpPr>
          <p:cNvPr id="34" name="Shape 26"/>
          <p:cNvSpPr/>
          <p:nvPr/>
        </p:nvSpPr>
        <p:spPr>
          <a:xfrm>
            <a:off x="9012936" y="5413248"/>
            <a:ext cx="548640" cy="274320"/>
          </a:xfrm>
          <a:prstGeom prst="roundRect">
            <a:avLst>
              <a:gd name="adj" fmla="val 50000"/>
            </a:avLst>
          </a:prstGeom>
          <a:solidFill>
            <a:srgbClr val="EEF2FF"/>
          </a:solidFill>
          <a:ln w="12700">
            <a:solidFill>
              <a:srgbClr val="EEF2FF"/>
            </a:solidFill>
            <a:prstDash val="solid"/>
          </a:ln>
        </p:spPr>
      </p:sp>
      <p:sp>
        <p:nvSpPr>
          <p:cNvPr id="35" name="Text 27"/>
          <p:cNvSpPr txBox="1"/>
          <p:nvPr/>
        </p:nvSpPr>
        <p:spPr>
          <a:xfrm>
            <a:off x="9012936" y="5413248"/>
            <a:ext cx="548640" cy="274320"/>
          </a:xfrm>
          <a:prstGeom prst="rect">
            <a:avLst/>
          </a:prstGeom>
          <a:noFill/>
          <a:ln/>
        </p:spPr>
        <p:txBody>
          <a:bodyPr wrap="square" lIns="0" tIns="0" rIns="0" bIns="0" rtlCol="0" anchor="ctr"/>
          <a:lstStyle/>
          <a:p>
            <a:pPr algn="ctr" indent="0" marL="0">
              <a:buNone/>
            </a:pPr>
            <a:r>
              <a:rPr lang="en-US" sz="950" b="1" dirty="0">
                <a:solidFill>
                  <a:srgbClr val="3730A3"/>
                </a:solidFill>
                <a:latin typeface="Roboto" pitchFamily="34" charset="0"/>
                <a:ea typeface="Roboto" pitchFamily="34" charset="-122"/>
                <a:cs typeface="Roboto" pitchFamily="34" charset="-120"/>
              </a:rPr>
              <a:t>Home</a:t>
            </a:r>
            <a:endParaRPr lang="en-US" sz="950" dirty="0"/>
          </a:p>
        </p:txBody>
      </p:sp>
      <p:sp>
        <p:nvSpPr>
          <p:cNvPr id="36" name="Shape 28"/>
          <p:cNvSpPr/>
          <p:nvPr/>
        </p:nvSpPr>
        <p:spPr>
          <a:xfrm>
            <a:off x="9634728" y="5413248"/>
            <a:ext cx="1124712" cy="274320"/>
          </a:xfrm>
          <a:prstGeom prst="roundRect">
            <a:avLst>
              <a:gd name="adj" fmla="val 50000"/>
            </a:avLst>
          </a:prstGeom>
          <a:solidFill>
            <a:srgbClr val="EEF2FF"/>
          </a:solidFill>
          <a:ln w="12700">
            <a:solidFill>
              <a:srgbClr val="EEF2FF"/>
            </a:solidFill>
            <a:prstDash val="solid"/>
          </a:ln>
        </p:spPr>
      </p:sp>
      <p:sp>
        <p:nvSpPr>
          <p:cNvPr id="37" name="Text 29"/>
          <p:cNvSpPr txBox="1"/>
          <p:nvPr/>
        </p:nvSpPr>
        <p:spPr>
          <a:xfrm>
            <a:off x="9634728" y="5413248"/>
            <a:ext cx="1124712" cy="274320"/>
          </a:xfrm>
          <a:prstGeom prst="rect">
            <a:avLst/>
          </a:prstGeom>
          <a:noFill/>
          <a:ln/>
        </p:spPr>
        <p:txBody>
          <a:bodyPr wrap="square" lIns="0" tIns="0" rIns="0" bIns="0" rtlCol="0" anchor="ctr"/>
          <a:lstStyle/>
          <a:p>
            <a:pPr algn="ctr" indent="0" marL="0">
              <a:buNone/>
            </a:pPr>
            <a:r>
              <a:rPr lang="en-US" sz="950" b="1" dirty="0">
                <a:solidFill>
                  <a:srgbClr val="3730A3"/>
                </a:solidFill>
                <a:latin typeface="Roboto" pitchFamily="34" charset="0"/>
                <a:ea typeface="Roboto" pitchFamily="34" charset="-122"/>
                <a:cs typeface="Roboto" pitchFamily="34" charset="-120"/>
              </a:rPr>
              <a:t>MSME / Business</a:t>
            </a:r>
            <a:endParaRPr lang="en-US" sz="950" dirty="0"/>
          </a:p>
        </p:txBody>
      </p:sp>
      <p:sp>
        <p:nvSpPr>
          <p:cNvPr id="38" name="Shape 30"/>
          <p:cNvSpPr/>
          <p:nvPr/>
        </p:nvSpPr>
        <p:spPr>
          <a:xfrm>
            <a:off x="10832592" y="5413248"/>
            <a:ext cx="548640" cy="274320"/>
          </a:xfrm>
          <a:prstGeom prst="roundRect">
            <a:avLst>
              <a:gd name="adj" fmla="val 50000"/>
            </a:avLst>
          </a:prstGeom>
          <a:solidFill>
            <a:srgbClr val="EEF2FF"/>
          </a:solidFill>
          <a:ln w="12700">
            <a:solidFill>
              <a:srgbClr val="EEF2FF"/>
            </a:solidFill>
            <a:prstDash val="solid"/>
          </a:ln>
        </p:spPr>
      </p:sp>
      <p:sp>
        <p:nvSpPr>
          <p:cNvPr id="39" name="Text 31"/>
          <p:cNvSpPr txBox="1"/>
          <p:nvPr/>
        </p:nvSpPr>
        <p:spPr>
          <a:xfrm>
            <a:off x="10832592" y="5413248"/>
            <a:ext cx="548640" cy="274320"/>
          </a:xfrm>
          <a:prstGeom prst="rect">
            <a:avLst/>
          </a:prstGeom>
          <a:noFill/>
          <a:ln/>
        </p:spPr>
        <p:txBody>
          <a:bodyPr wrap="square" lIns="0" tIns="0" rIns="0" bIns="0" rtlCol="0" anchor="ctr"/>
          <a:lstStyle/>
          <a:p>
            <a:pPr algn="ctr" indent="0" marL="0">
              <a:buNone/>
            </a:pPr>
            <a:r>
              <a:rPr lang="en-US" sz="950" b="1" dirty="0">
                <a:solidFill>
                  <a:srgbClr val="3730A3"/>
                </a:solidFill>
                <a:latin typeface="Roboto" pitchFamily="34" charset="0"/>
                <a:ea typeface="Roboto" pitchFamily="34" charset="-122"/>
                <a:cs typeface="Roboto" pitchFamily="34" charset="-120"/>
              </a:rPr>
              <a:t>Car</a:t>
            </a:r>
            <a:endParaRPr lang="en-US" sz="950" dirty="0"/>
          </a:p>
        </p:txBody>
      </p:sp>
      <p:sp>
        <p:nvSpPr>
          <p:cNvPr id="40" name="Shape 32"/>
          <p:cNvSpPr/>
          <p:nvPr/>
        </p:nvSpPr>
        <p:spPr>
          <a:xfrm>
            <a:off x="5897880" y="5760720"/>
            <a:ext cx="1298448" cy="274320"/>
          </a:xfrm>
          <a:prstGeom prst="roundRect">
            <a:avLst>
              <a:gd name="adj" fmla="val 50000"/>
            </a:avLst>
          </a:prstGeom>
          <a:solidFill>
            <a:srgbClr val="EEF2FF"/>
          </a:solidFill>
          <a:ln w="12700">
            <a:solidFill>
              <a:srgbClr val="EEF2FF"/>
            </a:solidFill>
            <a:prstDash val="solid"/>
          </a:ln>
        </p:spPr>
      </p:sp>
      <p:sp>
        <p:nvSpPr>
          <p:cNvPr id="41" name="Text 33"/>
          <p:cNvSpPr txBox="1"/>
          <p:nvPr/>
        </p:nvSpPr>
        <p:spPr>
          <a:xfrm>
            <a:off x="5897880" y="5760720"/>
            <a:ext cx="1298448" cy="274320"/>
          </a:xfrm>
          <a:prstGeom prst="rect">
            <a:avLst/>
          </a:prstGeom>
          <a:noFill/>
          <a:ln/>
        </p:spPr>
        <p:txBody>
          <a:bodyPr wrap="square" lIns="0" tIns="0" rIns="0" bIns="0" rtlCol="0" anchor="ctr"/>
          <a:lstStyle/>
          <a:p>
            <a:pPr algn="ctr" indent="0" marL="0">
              <a:buNone/>
            </a:pPr>
            <a:r>
              <a:rPr lang="en-US" sz="950" b="1" dirty="0">
                <a:solidFill>
                  <a:srgbClr val="3730A3"/>
                </a:solidFill>
                <a:latin typeface="Roboto" pitchFamily="34" charset="0"/>
                <a:ea typeface="Roboto" pitchFamily="34" charset="-122"/>
                <a:cs typeface="Roboto" pitchFamily="34" charset="-120"/>
              </a:rPr>
              <a:t>Commercial Vehicle</a:t>
            </a:r>
            <a:endParaRPr lang="en-US" sz="950" dirty="0"/>
          </a:p>
        </p:txBody>
      </p:sp>
      <p:sp>
        <p:nvSpPr>
          <p:cNvPr id="42" name="Shape 34"/>
          <p:cNvSpPr/>
          <p:nvPr/>
        </p:nvSpPr>
        <p:spPr>
          <a:xfrm>
            <a:off x="7269480" y="5760720"/>
            <a:ext cx="1472184" cy="274320"/>
          </a:xfrm>
          <a:prstGeom prst="roundRect">
            <a:avLst>
              <a:gd name="adj" fmla="val 50000"/>
            </a:avLst>
          </a:prstGeom>
          <a:solidFill>
            <a:srgbClr val="EEF2FF"/>
          </a:solidFill>
          <a:ln w="12700">
            <a:solidFill>
              <a:srgbClr val="EEF2FF"/>
            </a:solidFill>
            <a:prstDash val="solid"/>
          </a:ln>
        </p:spPr>
      </p:sp>
      <p:sp>
        <p:nvSpPr>
          <p:cNvPr id="43" name="Text 35"/>
          <p:cNvSpPr txBox="1"/>
          <p:nvPr/>
        </p:nvSpPr>
        <p:spPr>
          <a:xfrm>
            <a:off x="7269480" y="5760720"/>
            <a:ext cx="1472184" cy="274320"/>
          </a:xfrm>
          <a:prstGeom prst="rect">
            <a:avLst/>
          </a:prstGeom>
          <a:noFill/>
          <a:ln/>
        </p:spPr>
        <p:txBody>
          <a:bodyPr wrap="square" lIns="0" tIns="0" rIns="0" bIns="0" rtlCol="0" anchor="ctr"/>
          <a:lstStyle/>
          <a:p>
            <a:pPr algn="ctr" indent="0" marL="0">
              <a:buNone/>
            </a:pPr>
            <a:r>
              <a:rPr lang="en-US" sz="950" b="1" dirty="0">
                <a:solidFill>
                  <a:srgbClr val="3730A3"/>
                </a:solidFill>
                <a:latin typeface="Roboto" pitchFamily="34" charset="0"/>
                <a:ea typeface="Roboto" pitchFamily="34" charset="-122"/>
                <a:cs typeface="Roboto" pitchFamily="34" charset="-120"/>
              </a:rPr>
              <a:t>Loan Against Property</a:t>
            </a:r>
            <a:endParaRPr lang="en-US" sz="950" dirty="0"/>
          </a:p>
        </p:txBody>
      </p:sp>
      <p:sp>
        <p:nvSpPr>
          <p:cNvPr id="44" name="Shape 36"/>
          <p:cNvSpPr/>
          <p:nvPr/>
        </p:nvSpPr>
        <p:spPr>
          <a:xfrm>
            <a:off x="8814816" y="5760720"/>
            <a:ext cx="1414272" cy="274320"/>
          </a:xfrm>
          <a:prstGeom prst="roundRect">
            <a:avLst>
              <a:gd name="adj" fmla="val 50000"/>
            </a:avLst>
          </a:prstGeom>
          <a:solidFill>
            <a:srgbClr val="EEF2FF"/>
          </a:solidFill>
          <a:ln w="12700">
            <a:solidFill>
              <a:srgbClr val="EEF2FF"/>
            </a:solidFill>
            <a:prstDash val="solid"/>
          </a:ln>
        </p:spPr>
      </p:sp>
      <p:sp>
        <p:nvSpPr>
          <p:cNvPr id="45" name="Text 37"/>
          <p:cNvSpPr txBox="1"/>
          <p:nvPr/>
        </p:nvSpPr>
        <p:spPr>
          <a:xfrm>
            <a:off x="8814816" y="5760720"/>
            <a:ext cx="1414272" cy="274320"/>
          </a:xfrm>
          <a:prstGeom prst="rect">
            <a:avLst/>
          </a:prstGeom>
          <a:noFill/>
          <a:ln/>
        </p:spPr>
        <p:txBody>
          <a:bodyPr wrap="square" lIns="0" tIns="0" rIns="0" bIns="0" rtlCol="0" anchor="ctr"/>
          <a:lstStyle/>
          <a:p>
            <a:pPr algn="ctr" indent="0" marL="0">
              <a:buNone/>
            </a:pPr>
            <a:r>
              <a:rPr lang="en-US" sz="950" b="1" dirty="0">
                <a:solidFill>
                  <a:srgbClr val="3730A3"/>
                </a:solidFill>
                <a:latin typeface="Roboto" pitchFamily="34" charset="0"/>
                <a:ea typeface="Roboto" pitchFamily="34" charset="-122"/>
                <a:cs typeface="Roboto" pitchFamily="34" charset="-120"/>
              </a:rPr>
              <a:t>Microfinance / Rural</a:t>
            </a:r>
            <a:endParaRPr lang="en-US" sz="950" dirty="0"/>
          </a:p>
        </p:txBody>
      </p:sp>
      <p:sp>
        <p:nvSpPr>
          <p:cNvPr id="46" name="Shape 38"/>
          <p:cNvSpPr/>
          <p:nvPr/>
        </p:nvSpPr>
        <p:spPr>
          <a:xfrm>
            <a:off x="10302240" y="5760720"/>
            <a:ext cx="1124712" cy="274320"/>
          </a:xfrm>
          <a:prstGeom prst="roundRect">
            <a:avLst>
              <a:gd name="adj" fmla="val 50000"/>
            </a:avLst>
          </a:prstGeom>
          <a:solidFill>
            <a:srgbClr val="EEF2FF"/>
          </a:solidFill>
          <a:ln w="12700">
            <a:solidFill>
              <a:srgbClr val="EEF2FF"/>
            </a:solidFill>
            <a:prstDash val="solid"/>
          </a:ln>
        </p:spPr>
      </p:sp>
      <p:sp>
        <p:nvSpPr>
          <p:cNvPr id="47" name="Text 39"/>
          <p:cNvSpPr txBox="1"/>
          <p:nvPr/>
        </p:nvSpPr>
        <p:spPr>
          <a:xfrm>
            <a:off x="10302240" y="5760720"/>
            <a:ext cx="1124712" cy="274320"/>
          </a:xfrm>
          <a:prstGeom prst="rect">
            <a:avLst/>
          </a:prstGeom>
          <a:noFill/>
          <a:ln/>
        </p:spPr>
        <p:txBody>
          <a:bodyPr wrap="square" lIns="0" tIns="0" rIns="0" bIns="0" rtlCol="0" anchor="ctr"/>
          <a:lstStyle/>
          <a:p>
            <a:pPr algn="ctr" indent="0" marL="0">
              <a:buNone/>
            </a:pPr>
            <a:r>
              <a:rPr lang="en-US" sz="950" b="1" dirty="0">
                <a:solidFill>
                  <a:srgbClr val="3730A3"/>
                </a:solidFill>
                <a:latin typeface="Roboto" pitchFamily="34" charset="0"/>
                <a:ea typeface="Roboto" pitchFamily="34" charset="-122"/>
                <a:cs typeface="Roboto" pitchFamily="34" charset="-120"/>
              </a:rPr>
              <a:t>Working Capital</a:t>
            </a:r>
            <a:endParaRPr lang="en-US" sz="950" dirty="0"/>
          </a:p>
        </p:txBody>
      </p:sp>
      <p:sp>
        <p:nvSpPr>
          <p:cNvPr id="48" name="Shape 40"/>
          <p:cNvSpPr/>
          <p:nvPr/>
        </p:nvSpPr>
        <p:spPr>
          <a:xfrm>
            <a:off x="5897880" y="6108192"/>
            <a:ext cx="950976" cy="274320"/>
          </a:xfrm>
          <a:prstGeom prst="roundRect">
            <a:avLst>
              <a:gd name="adj" fmla="val 50000"/>
            </a:avLst>
          </a:prstGeom>
          <a:solidFill>
            <a:srgbClr val="EEF2FF"/>
          </a:solidFill>
          <a:ln w="12700">
            <a:solidFill>
              <a:srgbClr val="EEF2FF"/>
            </a:solidFill>
            <a:prstDash val="solid"/>
          </a:ln>
        </p:spPr>
      </p:sp>
      <p:sp>
        <p:nvSpPr>
          <p:cNvPr id="49" name="Text 41"/>
          <p:cNvSpPr txBox="1"/>
          <p:nvPr/>
        </p:nvSpPr>
        <p:spPr>
          <a:xfrm>
            <a:off x="5897880" y="6108192"/>
            <a:ext cx="950976" cy="274320"/>
          </a:xfrm>
          <a:prstGeom prst="rect">
            <a:avLst/>
          </a:prstGeom>
          <a:noFill/>
          <a:ln/>
        </p:spPr>
        <p:txBody>
          <a:bodyPr wrap="square" lIns="0" tIns="0" rIns="0" bIns="0" rtlCol="0" anchor="ctr"/>
          <a:lstStyle/>
          <a:p>
            <a:pPr algn="ctr" indent="0" marL="0">
              <a:buNone/>
            </a:pPr>
            <a:r>
              <a:rPr lang="en-US" sz="950" b="1" dirty="0">
                <a:solidFill>
                  <a:srgbClr val="3730A3"/>
                </a:solidFill>
                <a:latin typeface="Roboto" pitchFamily="34" charset="0"/>
                <a:ea typeface="Roboto" pitchFamily="34" charset="-122"/>
                <a:cs typeface="Roboto" pitchFamily="34" charset="-120"/>
              </a:rPr>
              <a:t>Used Vehicle</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8229600" cy="256032"/>
          </a:xfrm>
          <a:prstGeom prst="rect">
            <a:avLst/>
          </a:prstGeom>
          <a:noFill/>
          <a:ln/>
        </p:spPr>
        <p:txBody>
          <a:bodyPr wrap="square" lIns="0" tIns="0" rIns="0" bIns="0" rtlCol="0" anchor="ctr"/>
          <a:lstStyle/>
          <a:p>
            <a:pPr indent="0" marL="0">
              <a:buNone/>
            </a:pPr>
            <a:r>
              <a:rPr lang="en-US" sz="1100" b="1" spc="200" kern="0" dirty="0">
                <a:solidFill>
                  <a:srgbClr val="4F46E5"/>
                </a:solidFill>
                <a:latin typeface="Roboto" pitchFamily="34" charset="0"/>
                <a:ea typeface="Roboto" pitchFamily="34" charset="-122"/>
                <a:cs typeface="Roboto" pitchFamily="34" charset="-120"/>
              </a:rPr>
              <a:t>THE PRODUCT</a:t>
            </a:r>
            <a:endParaRPr lang="en-US" sz="1100" dirty="0"/>
          </a:p>
        </p:txBody>
      </p:sp>
      <p:sp>
        <p:nvSpPr>
          <p:cNvPr id="3" name="Text 1"/>
          <p:cNvSpPr txBox="1"/>
          <p:nvPr/>
        </p:nvSpPr>
        <p:spPr>
          <a:xfrm>
            <a:off x="548640" y="585216"/>
            <a:ext cx="11094415" cy="566928"/>
          </a:xfrm>
          <a:prstGeom prst="rect">
            <a:avLst/>
          </a:prstGeom>
          <a:noFill/>
          <a:ln/>
        </p:spPr>
        <p:txBody>
          <a:bodyPr wrap="square" lIns="0" tIns="0" rIns="0" bIns="0" rtlCol="0" anchor="ctr"/>
          <a:lstStyle/>
          <a:p>
            <a:pPr indent="0" marL="0">
              <a:buNone/>
            </a:pPr>
            <a:r>
              <a:rPr lang="en-US" sz="2800" b="1" dirty="0">
                <a:solidFill>
                  <a:srgbClr val="0F172A"/>
                </a:solidFill>
                <a:latin typeface="Roboto" pitchFamily="34" charset="0"/>
                <a:ea typeface="Roboto" pitchFamily="34" charset="-122"/>
                <a:cs typeface="Roboto" pitchFamily="34" charset="-120"/>
              </a:rPr>
              <a:t>A quick tour of the app</a:t>
            </a:r>
            <a:endParaRPr lang="en-US" sz="2800" dirty="0"/>
          </a:p>
        </p:txBody>
      </p:sp>
      <p:sp>
        <p:nvSpPr>
          <p:cNvPr id="4" name="Text 2"/>
          <p:cNvSpPr txBox="1"/>
          <p:nvPr/>
        </p:nvSpPr>
        <p:spPr>
          <a:xfrm>
            <a:off x="548640" y="1152144"/>
            <a:ext cx="11094415" cy="365760"/>
          </a:xfrm>
          <a:prstGeom prst="rect">
            <a:avLst/>
          </a:prstGeom>
          <a:noFill/>
          <a:ln/>
        </p:spPr>
        <p:txBody>
          <a:bodyPr wrap="square" lIns="0" tIns="0" rIns="0" bIns="0" rtlCol="0" anchor="ctr"/>
          <a:lstStyle/>
          <a:p>
            <a:pPr indent="0" marL="0">
              <a:buNone/>
            </a:pPr>
            <a:r>
              <a:rPr lang="en-US" sz="1400" dirty="0">
                <a:solidFill>
                  <a:srgbClr val="64748B"/>
                </a:solidFill>
                <a:latin typeface="Roboto" pitchFamily="34" charset="0"/>
                <a:ea typeface="Roboto" pitchFamily="34" charset="-122"/>
                <a:cs typeface="Roboto" pitchFamily="34" charset="-120"/>
              </a:rPr>
              <a:t>Screens captured from the running app (the application data shown is seeded demo data).</a:t>
            </a:r>
            <a:endParaRPr lang="en-US" sz="1400" dirty="0"/>
          </a:p>
        </p:txBody>
      </p:sp>
      <p:pic>
        <p:nvPicPr>
          <p:cNvPr id="5" name="Image 0" descr="C:\Users\shrey\AppData\Local\Temp\claude\D--novacinternship-finsight\ef4ecb45-e580-4bc0-9be4-060aa240a5b2\scratchpad\deck\img\logo_lockup.png">    </p:cNvPr>
          <p:cNvPicPr>
            <a:picLocks noChangeAspect="1"/>
          </p:cNvPicPr>
          <p:nvPr/>
        </p:nvPicPr>
        <p:blipFill>
          <a:blip r:embed="rId1"/>
          <a:stretch>
            <a:fillRect/>
          </a:stretch>
        </p:blipFill>
        <p:spPr>
          <a:xfrm>
            <a:off x="10360152" y="6464808"/>
            <a:ext cx="843991" cy="237744"/>
          </a:xfrm>
          <a:prstGeom prst="rect">
            <a:avLst/>
          </a:prstGeom>
        </p:spPr>
      </p:pic>
      <p:sp>
        <p:nvSpPr>
          <p:cNvPr id="6" name="Text 3"/>
          <p:cNvSpPr txBox="1"/>
          <p:nvPr/>
        </p:nvSpPr>
        <p:spPr>
          <a:xfrm>
            <a:off x="11277295" y="6473952"/>
            <a:ext cx="365760" cy="228600"/>
          </a:xfrm>
          <a:prstGeom prst="rect">
            <a:avLst/>
          </a:prstGeom>
          <a:noFill/>
          <a:ln/>
        </p:spPr>
        <p:txBody>
          <a:bodyPr wrap="square" lIns="0" tIns="0" rIns="0" bIns="0" rtlCol="0" anchor="ctr"/>
          <a:lstStyle/>
          <a:p>
            <a:pPr algn="r" indent="0" marL="0">
              <a:buNone/>
            </a:pPr>
            <a:r>
              <a:rPr lang="en-US" sz="900" dirty="0">
                <a:solidFill>
                  <a:srgbClr val="94A3B8"/>
                </a:solidFill>
                <a:latin typeface="Roboto" pitchFamily="34" charset="0"/>
                <a:ea typeface="Roboto" pitchFamily="34" charset="-122"/>
                <a:cs typeface="Roboto" pitchFamily="34" charset="-120"/>
              </a:rPr>
              <a:t>7</a:t>
            </a:r>
            <a:endParaRPr lang="en-US" sz="900" dirty="0"/>
          </a:p>
        </p:txBody>
      </p:sp>
      <p:sp>
        <p:nvSpPr>
          <p:cNvPr id="8" name="Shape 4"/>
          <p:cNvSpPr/>
          <p:nvPr/>
        </p:nvSpPr>
        <p:spPr>
          <a:xfrm>
            <a:off x="548640" y="1783080"/>
            <a:ext cx="3566160" cy="2455164"/>
          </a:xfrm>
          <a:prstGeom prst="roundRect">
            <a:avLst>
              <a:gd name="adj" fmla="val 2607"/>
            </a:avLst>
          </a:prstGeom>
          <a:solidFill>
            <a:srgbClr val="1E293B"/>
          </a:solidFill>
          <a:ln w="12700">
            <a:solidFill>
              <a:srgbClr val="1E293B"/>
            </a:solidFill>
            <a:prstDash val="solid"/>
          </a:ln>
          <a:effectLst>
            <a:outerShdw sx="100000" sy="100000" kx="0" ky="0" algn="bl" rotWithShape="0" blurRad="127000" dist="25400" dir="5400000">
              <a:srgbClr val="0F172A">
                <a:alpha val="12000"/>
              </a:srgbClr>
            </a:outerShdw>
          </a:effectLst>
        </p:spPr>
      </p:sp>
      <p:sp>
        <p:nvSpPr>
          <p:cNvPr id="9" name="Shape 5"/>
          <p:cNvSpPr/>
          <p:nvPr/>
        </p:nvSpPr>
        <p:spPr>
          <a:xfrm>
            <a:off x="667512" y="1860804"/>
            <a:ext cx="82296" cy="82296"/>
          </a:xfrm>
          <a:prstGeom prst="ellipse">
            <a:avLst/>
          </a:prstGeom>
          <a:solidFill>
            <a:srgbClr val="F87171"/>
          </a:solidFill>
          <a:ln w="12700">
            <a:solidFill>
              <a:srgbClr val="F87171"/>
            </a:solidFill>
            <a:prstDash val="solid"/>
          </a:ln>
        </p:spPr>
      </p:sp>
      <p:sp>
        <p:nvSpPr>
          <p:cNvPr id="10" name="Shape 6"/>
          <p:cNvSpPr/>
          <p:nvPr/>
        </p:nvSpPr>
        <p:spPr>
          <a:xfrm>
            <a:off x="804672" y="1860804"/>
            <a:ext cx="82296" cy="82296"/>
          </a:xfrm>
          <a:prstGeom prst="ellipse">
            <a:avLst/>
          </a:prstGeom>
          <a:solidFill>
            <a:srgbClr val="FBBF24"/>
          </a:solidFill>
          <a:ln w="12700">
            <a:solidFill>
              <a:srgbClr val="FBBF24"/>
            </a:solidFill>
            <a:prstDash val="solid"/>
          </a:ln>
        </p:spPr>
      </p:sp>
      <p:sp>
        <p:nvSpPr>
          <p:cNvPr id="11" name="Shape 7"/>
          <p:cNvSpPr/>
          <p:nvPr/>
        </p:nvSpPr>
        <p:spPr>
          <a:xfrm>
            <a:off x="941832" y="1860804"/>
            <a:ext cx="82296" cy="82296"/>
          </a:xfrm>
          <a:prstGeom prst="ellipse">
            <a:avLst/>
          </a:prstGeom>
          <a:solidFill>
            <a:srgbClr val="34D399"/>
          </a:solidFill>
          <a:ln w="12700">
            <a:solidFill>
              <a:srgbClr val="34D399"/>
            </a:solidFill>
            <a:prstDash val="solid"/>
          </a:ln>
        </p:spPr>
      </p:sp>
      <p:pic>
        <p:nvPicPr>
          <p:cNvPr id="12" name="Image 1" descr="C:\Users\shrey\AppData\Local\Temp\claude\D--novacinternship-finsight\ef4ecb45-e580-4bc0-9be4-060aa240a5b2\scratchpad\deck\img\borrower_home.png">    </p:cNvPr>
          <p:cNvPicPr>
            <a:picLocks noChangeAspect="1"/>
          </p:cNvPicPr>
          <p:nvPr/>
        </p:nvPicPr>
        <p:blipFill>
          <a:blip r:embed="rId2"/>
          <a:stretch>
            <a:fillRect/>
          </a:stretch>
        </p:blipFill>
        <p:spPr>
          <a:xfrm>
            <a:off x="594360" y="2020824"/>
            <a:ext cx="3474720" cy="2171700"/>
          </a:xfrm>
          <a:prstGeom prst="rect">
            <a:avLst/>
          </a:prstGeom>
        </p:spPr>
      </p:pic>
      <p:sp>
        <p:nvSpPr>
          <p:cNvPr id="13" name="Shape 8"/>
          <p:cNvSpPr/>
          <p:nvPr/>
        </p:nvSpPr>
        <p:spPr>
          <a:xfrm>
            <a:off x="548640" y="4421124"/>
            <a:ext cx="402336" cy="402336"/>
          </a:xfrm>
          <a:prstGeom prst="ellipse">
            <a:avLst/>
          </a:prstGeom>
          <a:solidFill>
            <a:srgbClr val="EEF2FF"/>
          </a:solidFill>
          <a:ln w="12700">
            <a:solidFill>
              <a:srgbClr val="EEF2FF"/>
            </a:solidFill>
            <a:prstDash val="solid"/>
          </a:ln>
        </p:spPr>
      </p:sp>
      <p:pic>
        <p:nvPicPr>
          <p:cNvPr id="14" name="Image 2" descr="preencoded.png">    </p:cNvPr>
          <p:cNvPicPr>
            <a:picLocks noChangeAspect="1"/>
          </p:cNvPicPr>
          <p:nvPr/>
        </p:nvPicPr>
        <p:blipFill>
          <a:blip r:embed="rId3"/>
          <a:stretch>
            <a:fillRect/>
          </a:stretch>
        </p:blipFill>
        <p:spPr>
          <a:xfrm>
            <a:off x="637154" y="4509638"/>
            <a:ext cx="225308" cy="225308"/>
          </a:xfrm>
          <a:prstGeom prst="rect">
            <a:avLst/>
          </a:prstGeom>
        </p:spPr>
      </p:pic>
      <p:sp>
        <p:nvSpPr>
          <p:cNvPr id="15" name="Text 9"/>
          <p:cNvSpPr txBox="1"/>
          <p:nvPr/>
        </p:nvSpPr>
        <p:spPr>
          <a:xfrm>
            <a:off x="1078992" y="4421124"/>
            <a:ext cx="3017520" cy="402336"/>
          </a:xfrm>
          <a:prstGeom prst="rect">
            <a:avLst/>
          </a:prstGeom>
          <a:noFill/>
          <a:ln/>
        </p:spPr>
        <p:txBody>
          <a:bodyPr wrap="square" lIns="0" tIns="0" rIns="0" bIns="0" rtlCol="0" anchor="ctr"/>
          <a:lstStyle/>
          <a:p>
            <a:pPr indent="0" marL="0">
              <a:buNone/>
            </a:pPr>
            <a:r>
              <a:rPr lang="en-US" sz="1500" b="1" dirty="0">
                <a:solidFill>
                  <a:srgbClr val="0F172A"/>
                </a:solidFill>
                <a:latin typeface="Roboto" pitchFamily="34" charset="0"/>
                <a:ea typeface="Roboto" pitchFamily="34" charset="-122"/>
                <a:cs typeface="Roboto" pitchFamily="34" charset="-120"/>
              </a:rPr>
              <a:t>Borrower portal</a:t>
            </a:r>
            <a:endParaRPr lang="en-US" sz="1500" dirty="0"/>
          </a:p>
        </p:txBody>
      </p:sp>
      <p:sp>
        <p:nvSpPr>
          <p:cNvPr id="16" name="Text 10"/>
          <p:cNvSpPr txBox="1"/>
          <p:nvPr/>
        </p:nvSpPr>
        <p:spPr>
          <a:xfrm>
            <a:off x="548640" y="4878324"/>
            <a:ext cx="3566160" cy="420624"/>
          </a:xfrm>
          <a:prstGeom prst="rect">
            <a:avLst/>
          </a:prstGeom>
          <a:noFill/>
          <a:ln/>
        </p:spPr>
        <p:txBody>
          <a:bodyPr wrap="square" lIns="0" tIns="0" rIns="0" bIns="0" rtlCol="0" anchor="t"/>
          <a:lstStyle/>
          <a:p>
            <a:pPr indent="0" marL="0">
              <a:buNone/>
            </a:pPr>
            <a:r>
              <a:rPr lang="en-US" sz="1100" dirty="0">
                <a:solidFill>
                  <a:srgbClr val="64748B"/>
                </a:solidFill>
                <a:latin typeface="Roboto" pitchFamily="34" charset="0"/>
                <a:ea typeface="Roboto" pitchFamily="34" charset="-122"/>
                <a:cs typeface="Roboto" pitchFamily="34" charset="-120"/>
              </a:rPr>
              <a:t>Status of every application and the 12 products to apply for.</a:t>
            </a:r>
            <a:endParaRPr lang="en-US" sz="1100" dirty="0"/>
          </a:p>
        </p:txBody>
      </p:sp>
      <p:sp>
        <p:nvSpPr>
          <p:cNvPr id="17" name="Shape 11"/>
          <p:cNvSpPr/>
          <p:nvPr/>
        </p:nvSpPr>
        <p:spPr>
          <a:xfrm>
            <a:off x="548640" y="5372100"/>
            <a:ext cx="3566160" cy="914400"/>
          </a:xfrm>
          <a:prstGeom prst="roundRect">
            <a:avLst>
              <a:gd name="adj" fmla="val 10000"/>
            </a:avLst>
          </a:prstGeom>
          <a:solidFill>
            <a:srgbClr val="F8FAFC"/>
          </a:solidFill>
          <a:ln w="12700">
            <a:solidFill>
              <a:srgbClr val="E2E8F0"/>
            </a:solidFill>
            <a:prstDash val="solid"/>
          </a:ln>
        </p:spPr>
      </p:sp>
      <p:sp>
        <p:nvSpPr>
          <p:cNvPr id="18" name="Text 12"/>
          <p:cNvSpPr txBox="1"/>
          <p:nvPr/>
        </p:nvSpPr>
        <p:spPr>
          <a:xfrm>
            <a:off x="685800" y="5408676"/>
            <a:ext cx="3337560" cy="841248"/>
          </a:xfrm>
          <a:prstGeom prst="rect">
            <a:avLst/>
          </a:prstGeom>
          <a:noFill/>
          <a:ln/>
        </p:spPr>
        <p:txBody>
          <a:bodyPr wrap="square" lIns="0" tIns="0" rIns="0" bIns="0" rtlCol="0" anchor="ctr"/>
          <a:lstStyle/>
          <a:p>
            <a:pPr marL="177800" indent="-177800">
              <a:spcAft>
                <a:spcPts val="300"/>
              </a:spcAft>
              <a:buSzPct val="100000"/>
              <a:buChar char="•"/>
            </a:pPr>
            <a:r>
              <a:rPr lang="en-US" sz="1100" dirty="0">
                <a:solidFill>
                  <a:srgbClr val="334155"/>
                </a:solidFill>
                <a:latin typeface="Roboto" pitchFamily="34" charset="0"/>
                <a:ea typeface="Roboto" pitchFamily="34" charset="-122"/>
                <a:cs typeface="Roboto" pitchFamily="34" charset="-120"/>
              </a:rPr>
              <a:t>Apply for any of the 12 products</a:t>
            </a:r>
            <a:endParaRPr lang="en-US" sz="1100" dirty="0"/>
          </a:p>
          <a:p>
            <a:pPr marL="177800" indent="-177800">
              <a:spcAft>
                <a:spcPts val="300"/>
              </a:spcAft>
              <a:buSzPct val="100000"/>
              <a:buChar char="•"/>
            </a:pPr>
            <a:r>
              <a:rPr lang="en-US" sz="1100" dirty="0">
                <a:solidFill>
                  <a:srgbClr val="334155"/>
                </a:solidFill>
                <a:latin typeface="Roboto" pitchFamily="34" charset="0"/>
                <a:ea typeface="Roboto" pitchFamily="34" charset="-122"/>
                <a:cs typeface="Roboto" pitchFamily="34" charset="-120"/>
              </a:rPr>
              <a:t>Upload, confirm fields, take a selfie</a:t>
            </a:r>
            <a:endParaRPr lang="en-US" sz="1100" dirty="0"/>
          </a:p>
          <a:p>
            <a:pPr marL="177800" indent="-177800">
              <a:spcAft>
                <a:spcPts val="300"/>
              </a:spcAft>
              <a:buSzPct val="100000"/>
              <a:buChar char="•"/>
            </a:pPr>
            <a:r>
              <a:rPr lang="en-US" sz="1100" dirty="0">
                <a:solidFill>
                  <a:srgbClr val="334155"/>
                </a:solidFill>
                <a:latin typeface="Roboto" pitchFamily="34" charset="0"/>
                <a:ea typeface="Roboto" pitchFamily="34" charset="-122"/>
                <a:cs typeface="Roboto" pitchFamily="34" charset="-120"/>
              </a:rPr>
              <a:t>Track status and offers</a:t>
            </a:r>
            <a:endParaRPr lang="en-US" sz="1100" dirty="0"/>
          </a:p>
        </p:txBody>
      </p:sp>
      <p:sp>
        <p:nvSpPr>
          <p:cNvPr id="19" name="Shape 13"/>
          <p:cNvSpPr/>
          <p:nvPr/>
        </p:nvSpPr>
        <p:spPr>
          <a:xfrm>
            <a:off x="4297680" y="1783080"/>
            <a:ext cx="3566160" cy="2455164"/>
          </a:xfrm>
          <a:prstGeom prst="roundRect">
            <a:avLst>
              <a:gd name="adj" fmla="val 2607"/>
            </a:avLst>
          </a:prstGeom>
          <a:solidFill>
            <a:srgbClr val="1E293B"/>
          </a:solidFill>
          <a:ln w="12700">
            <a:solidFill>
              <a:srgbClr val="1E293B"/>
            </a:solidFill>
            <a:prstDash val="solid"/>
          </a:ln>
          <a:effectLst>
            <a:outerShdw sx="100000" sy="100000" kx="0" ky="0" algn="bl" rotWithShape="0" blurRad="127000" dist="25400" dir="5400000">
              <a:srgbClr val="0F172A">
                <a:alpha val="12000"/>
              </a:srgbClr>
            </a:outerShdw>
          </a:effectLst>
        </p:spPr>
      </p:sp>
      <p:sp>
        <p:nvSpPr>
          <p:cNvPr id="20" name="Shape 14"/>
          <p:cNvSpPr/>
          <p:nvPr/>
        </p:nvSpPr>
        <p:spPr>
          <a:xfrm>
            <a:off x="4416552" y="1860804"/>
            <a:ext cx="82296" cy="82296"/>
          </a:xfrm>
          <a:prstGeom prst="ellipse">
            <a:avLst/>
          </a:prstGeom>
          <a:solidFill>
            <a:srgbClr val="F87171"/>
          </a:solidFill>
          <a:ln w="12700">
            <a:solidFill>
              <a:srgbClr val="F87171"/>
            </a:solidFill>
            <a:prstDash val="solid"/>
          </a:ln>
        </p:spPr>
      </p:sp>
      <p:sp>
        <p:nvSpPr>
          <p:cNvPr id="21" name="Shape 15"/>
          <p:cNvSpPr/>
          <p:nvPr/>
        </p:nvSpPr>
        <p:spPr>
          <a:xfrm>
            <a:off x="4553712" y="1860804"/>
            <a:ext cx="82296" cy="82296"/>
          </a:xfrm>
          <a:prstGeom prst="ellipse">
            <a:avLst/>
          </a:prstGeom>
          <a:solidFill>
            <a:srgbClr val="FBBF24"/>
          </a:solidFill>
          <a:ln w="12700">
            <a:solidFill>
              <a:srgbClr val="FBBF24"/>
            </a:solidFill>
            <a:prstDash val="solid"/>
          </a:ln>
        </p:spPr>
      </p:sp>
      <p:sp>
        <p:nvSpPr>
          <p:cNvPr id="22" name="Shape 16"/>
          <p:cNvSpPr/>
          <p:nvPr/>
        </p:nvSpPr>
        <p:spPr>
          <a:xfrm>
            <a:off x="4690872" y="1860804"/>
            <a:ext cx="82296" cy="82296"/>
          </a:xfrm>
          <a:prstGeom prst="ellipse">
            <a:avLst/>
          </a:prstGeom>
          <a:solidFill>
            <a:srgbClr val="34D399"/>
          </a:solidFill>
          <a:ln w="12700">
            <a:solidFill>
              <a:srgbClr val="34D399"/>
            </a:solidFill>
            <a:prstDash val="solid"/>
          </a:ln>
        </p:spPr>
      </p:sp>
      <p:pic>
        <p:nvPicPr>
          <p:cNvPr id="23" name="Image 3" descr="C:\Users\shrey\AppData\Local\Temp\claude\D--novacinternship-finsight\ef4ecb45-e580-4bc0-9be4-060aa240a5b2\scratchpad\deck\img\officer_queue.png">    </p:cNvPr>
          <p:cNvPicPr>
            <a:picLocks noChangeAspect="1"/>
          </p:cNvPicPr>
          <p:nvPr/>
        </p:nvPicPr>
        <p:blipFill>
          <a:blip r:embed="rId4"/>
          <a:stretch>
            <a:fillRect/>
          </a:stretch>
        </p:blipFill>
        <p:spPr>
          <a:xfrm>
            <a:off x="4343400" y="2020824"/>
            <a:ext cx="3474720" cy="2171700"/>
          </a:xfrm>
          <a:prstGeom prst="rect">
            <a:avLst/>
          </a:prstGeom>
        </p:spPr>
      </p:pic>
      <p:sp>
        <p:nvSpPr>
          <p:cNvPr id="24" name="Shape 17"/>
          <p:cNvSpPr/>
          <p:nvPr/>
        </p:nvSpPr>
        <p:spPr>
          <a:xfrm>
            <a:off x="4297680" y="4421124"/>
            <a:ext cx="402336" cy="402336"/>
          </a:xfrm>
          <a:prstGeom prst="ellipse">
            <a:avLst/>
          </a:prstGeom>
          <a:solidFill>
            <a:srgbClr val="EEF2FF"/>
          </a:solidFill>
          <a:ln w="12700">
            <a:solidFill>
              <a:srgbClr val="EEF2FF"/>
            </a:solidFill>
            <a:prstDash val="solid"/>
          </a:ln>
        </p:spPr>
      </p:sp>
      <p:pic>
        <p:nvPicPr>
          <p:cNvPr id="25" name="Image 4" descr="preencoded.png">    </p:cNvPr>
          <p:cNvPicPr>
            <a:picLocks noChangeAspect="1"/>
          </p:cNvPicPr>
          <p:nvPr/>
        </p:nvPicPr>
        <p:blipFill>
          <a:blip r:embed="rId5"/>
          <a:stretch>
            <a:fillRect/>
          </a:stretch>
        </p:blipFill>
        <p:spPr>
          <a:xfrm>
            <a:off x="4386194" y="4509638"/>
            <a:ext cx="225308" cy="225308"/>
          </a:xfrm>
          <a:prstGeom prst="rect">
            <a:avLst/>
          </a:prstGeom>
        </p:spPr>
      </p:pic>
      <p:sp>
        <p:nvSpPr>
          <p:cNvPr id="26" name="Text 18"/>
          <p:cNvSpPr txBox="1"/>
          <p:nvPr/>
        </p:nvSpPr>
        <p:spPr>
          <a:xfrm>
            <a:off x="4828032" y="4421124"/>
            <a:ext cx="3017520" cy="402336"/>
          </a:xfrm>
          <a:prstGeom prst="rect">
            <a:avLst/>
          </a:prstGeom>
          <a:noFill/>
          <a:ln/>
        </p:spPr>
        <p:txBody>
          <a:bodyPr wrap="square" lIns="0" tIns="0" rIns="0" bIns="0" rtlCol="0" anchor="ctr"/>
          <a:lstStyle/>
          <a:p>
            <a:pPr indent="0" marL="0">
              <a:buNone/>
            </a:pPr>
            <a:r>
              <a:rPr lang="en-US" sz="1500" b="1" dirty="0">
                <a:solidFill>
                  <a:srgbClr val="0F172A"/>
                </a:solidFill>
                <a:latin typeface="Roboto" pitchFamily="34" charset="0"/>
                <a:ea typeface="Roboto" pitchFamily="34" charset="-122"/>
                <a:cs typeface="Roboto" pitchFamily="34" charset="-120"/>
              </a:rPr>
              <a:t>Officer queue</a:t>
            </a:r>
            <a:endParaRPr lang="en-US" sz="1500" dirty="0"/>
          </a:p>
        </p:txBody>
      </p:sp>
      <p:sp>
        <p:nvSpPr>
          <p:cNvPr id="27" name="Text 19"/>
          <p:cNvSpPr txBox="1"/>
          <p:nvPr/>
        </p:nvSpPr>
        <p:spPr>
          <a:xfrm>
            <a:off x="4297680" y="4878324"/>
            <a:ext cx="3566160" cy="420624"/>
          </a:xfrm>
          <a:prstGeom prst="rect">
            <a:avLst/>
          </a:prstGeom>
          <a:noFill/>
          <a:ln/>
        </p:spPr>
        <p:txBody>
          <a:bodyPr wrap="square" lIns="0" tIns="0" rIns="0" bIns="0" rtlCol="0" anchor="t"/>
          <a:lstStyle/>
          <a:p>
            <a:pPr indent="0" marL="0">
              <a:buNone/>
            </a:pPr>
            <a:r>
              <a:rPr lang="en-US" sz="1100" dirty="0">
                <a:solidFill>
                  <a:srgbClr val="64748B"/>
                </a:solidFill>
                <a:latin typeface="Roboto" pitchFamily="34" charset="0"/>
                <a:ea typeface="Roboto" pitchFamily="34" charset="-122"/>
                <a:cs typeface="Roboto" pitchFamily="34" charset="-120"/>
              </a:rPr>
              <a:t>Assigned cases with risk, fraud, SLA timer and next action.</a:t>
            </a:r>
            <a:endParaRPr lang="en-US" sz="1100" dirty="0"/>
          </a:p>
        </p:txBody>
      </p:sp>
      <p:sp>
        <p:nvSpPr>
          <p:cNvPr id="28" name="Shape 20"/>
          <p:cNvSpPr/>
          <p:nvPr/>
        </p:nvSpPr>
        <p:spPr>
          <a:xfrm>
            <a:off x="4297680" y="5372100"/>
            <a:ext cx="3566160" cy="914400"/>
          </a:xfrm>
          <a:prstGeom prst="roundRect">
            <a:avLst>
              <a:gd name="adj" fmla="val 10000"/>
            </a:avLst>
          </a:prstGeom>
          <a:solidFill>
            <a:srgbClr val="F8FAFC"/>
          </a:solidFill>
          <a:ln w="12700">
            <a:solidFill>
              <a:srgbClr val="E2E8F0"/>
            </a:solidFill>
            <a:prstDash val="solid"/>
          </a:ln>
        </p:spPr>
      </p:sp>
      <p:sp>
        <p:nvSpPr>
          <p:cNvPr id="29" name="Text 21"/>
          <p:cNvSpPr txBox="1"/>
          <p:nvPr/>
        </p:nvSpPr>
        <p:spPr>
          <a:xfrm>
            <a:off x="4434840" y="5408676"/>
            <a:ext cx="3337560" cy="841248"/>
          </a:xfrm>
          <a:prstGeom prst="rect">
            <a:avLst/>
          </a:prstGeom>
          <a:noFill/>
          <a:ln/>
        </p:spPr>
        <p:txBody>
          <a:bodyPr wrap="square" lIns="0" tIns="0" rIns="0" bIns="0" rtlCol="0" anchor="ctr"/>
          <a:lstStyle/>
          <a:p>
            <a:pPr marL="177800" indent="-177800">
              <a:spcAft>
                <a:spcPts val="300"/>
              </a:spcAft>
              <a:buSzPct val="100000"/>
              <a:buChar char="•"/>
            </a:pPr>
            <a:r>
              <a:rPr lang="en-US" sz="1100" dirty="0">
                <a:solidFill>
                  <a:srgbClr val="334155"/>
                </a:solidFill>
                <a:latin typeface="Roboto" pitchFamily="34" charset="0"/>
                <a:ea typeface="Roboto" pitchFamily="34" charset="-122"/>
                <a:cs typeface="Roboto" pitchFamily="34" charset="-120"/>
              </a:rPr>
              <a:t>Risk and fraud column for every case</a:t>
            </a:r>
            <a:endParaRPr lang="en-US" sz="1100" dirty="0"/>
          </a:p>
          <a:p>
            <a:pPr marL="177800" indent="-177800">
              <a:spcAft>
                <a:spcPts val="300"/>
              </a:spcAft>
              <a:buSzPct val="100000"/>
              <a:buChar char="•"/>
            </a:pPr>
            <a:r>
              <a:rPr lang="en-US" sz="1100" dirty="0">
                <a:solidFill>
                  <a:srgbClr val="334155"/>
                </a:solidFill>
                <a:latin typeface="Roboto" pitchFamily="34" charset="0"/>
                <a:ea typeface="Roboto" pitchFamily="34" charset="-122"/>
                <a:cs typeface="Roboto" pitchFamily="34" charset="-120"/>
              </a:rPr>
              <a:t>SLA timer and the next action</a:t>
            </a:r>
            <a:endParaRPr lang="en-US" sz="1100" dirty="0"/>
          </a:p>
          <a:p>
            <a:pPr marL="177800" indent="-177800">
              <a:spcAft>
                <a:spcPts val="300"/>
              </a:spcAft>
              <a:buSzPct val="100000"/>
              <a:buChar char="•"/>
            </a:pPr>
            <a:r>
              <a:rPr lang="en-US" sz="1100" dirty="0">
                <a:solidFill>
                  <a:srgbClr val="334155"/>
                </a:solidFill>
                <a:latin typeface="Roboto" pitchFamily="34" charset="0"/>
                <a:ea typeface="Roboto" pitchFamily="34" charset="-122"/>
                <a:cs typeface="Roboto" pitchFamily="34" charset="-120"/>
              </a:rPr>
              <a:t>Open a case: 8 tabs of evidence</a:t>
            </a:r>
            <a:endParaRPr lang="en-US" sz="1100" dirty="0"/>
          </a:p>
        </p:txBody>
      </p:sp>
      <p:sp>
        <p:nvSpPr>
          <p:cNvPr id="30" name="Shape 22"/>
          <p:cNvSpPr/>
          <p:nvPr/>
        </p:nvSpPr>
        <p:spPr>
          <a:xfrm>
            <a:off x="8046720" y="1783080"/>
            <a:ext cx="3566160" cy="2455164"/>
          </a:xfrm>
          <a:prstGeom prst="roundRect">
            <a:avLst>
              <a:gd name="adj" fmla="val 2607"/>
            </a:avLst>
          </a:prstGeom>
          <a:solidFill>
            <a:srgbClr val="1E293B"/>
          </a:solidFill>
          <a:ln w="12700">
            <a:solidFill>
              <a:srgbClr val="1E293B"/>
            </a:solidFill>
            <a:prstDash val="solid"/>
          </a:ln>
          <a:effectLst>
            <a:outerShdw sx="100000" sy="100000" kx="0" ky="0" algn="bl" rotWithShape="0" blurRad="127000" dist="25400" dir="5400000">
              <a:srgbClr val="0F172A">
                <a:alpha val="12000"/>
              </a:srgbClr>
            </a:outerShdw>
          </a:effectLst>
        </p:spPr>
      </p:sp>
      <p:sp>
        <p:nvSpPr>
          <p:cNvPr id="31" name="Shape 23"/>
          <p:cNvSpPr/>
          <p:nvPr/>
        </p:nvSpPr>
        <p:spPr>
          <a:xfrm>
            <a:off x="8165592" y="1860804"/>
            <a:ext cx="82296" cy="82296"/>
          </a:xfrm>
          <a:prstGeom prst="ellipse">
            <a:avLst/>
          </a:prstGeom>
          <a:solidFill>
            <a:srgbClr val="F87171"/>
          </a:solidFill>
          <a:ln w="12700">
            <a:solidFill>
              <a:srgbClr val="F87171"/>
            </a:solidFill>
            <a:prstDash val="solid"/>
          </a:ln>
        </p:spPr>
      </p:sp>
      <p:sp>
        <p:nvSpPr>
          <p:cNvPr id="32" name="Shape 24"/>
          <p:cNvSpPr/>
          <p:nvPr/>
        </p:nvSpPr>
        <p:spPr>
          <a:xfrm>
            <a:off x="8302752" y="1860804"/>
            <a:ext cx="82296" cy="82296"/>
          </a:xfrm>
          <a:prstGeom prst="ellipse">
            <a:avLst/>
          </a:prstGeom>
          <a:solidFill>
            <a:srgbClr val="FBBF24"/>
          </a:solidFill>
          <a:ln w="12700">
            <a:solidFill>
              <a:srgbClr val="FBBF24"/>
            </a:solidFill>
            <a:prstDash val="solid"/>
          </a:ln>
        </p:spPr>
      </p:sp>
      <p:sp>
        <p:nvSpPr>
          <p:cNvPr id="33" name="Shape 25"/>
          <p:cNvSpPr/>
          <p:nvPr/>
        </p:nvSpPr>
        <p:spPr>
          <a:xfrm>
            <a:off x="8439912" y="1860804"/>
            <a:ext cx="82296" cy="82296"/>
          </a:xfrm>
          <a:prstGeom prst="ellipse">
            <a:avLst/>
          </a:prstGeom>
          <a:solidFill>
            <a:srgbClr val="34D399"/>
          </a:solidFill>
          <a:ln w="12700">
            <a:solidFill>
              <a:srgbClr val="34D399"/>
            </a:solidFill>
            <a:prstDash val="solid"/>
          </a:ln>
        </p:spPr>
      </p:sp>
      <p:pic>
        <p:nvPicPr>
          <p:cNvPr id="34" name="Image 5" descr="C:\Users\shrey\AppData\Local\Temp\claude\D--novacinternship-finsight\ef4ecb45-e580-4bc0-9be4-060aa240a5b2\scratchpad\deck\img\head_dashboard.png">    </p:cNvPr>
          <p:cNvPicPr>
            <a:picLocks noChangeAspect="1"/>
          </p:cNvPicPr>
          <p:nvPr/>
        </p:nvPicPr>
        <p:blipFill>
          <a:blip r:embed="rId6"/>
          <a:stretch>
            <a:fillRect/>
          </a:stretch>
        </p:blipFill>
        <p:spPr>
          <a:xfrm>
            <a:off x="8092440" y="2020824"/>
            <a:ext cx="3474720" cy="2171700"/>
          </a:xfrm>
          <a:prstGeom prst="rect">
            <a:avLst/>
          </a:prstGeom>
        </p:spPr>
      </p:pic>
      <p:sp>
        <p:nvSpPr>
          <p:cNvPr id="35" name="Shape 26"/>
          <p:cNvSpPr/>
          <p:nvPr/>
        </p:nvSpPr>
        <p:spPr>
          <a:xfrm>
            <a:off x="8046720" y="4421124"/>
            <a:ext cx="402336" cy="402336"/>
          </a:xfrm>
          <a:prstGeom prst="ellipse">
            <a:avLst/>
          </a:prstGeom>
          <a:solidFill>
            <a:srgbClr val="EEF2FF"/>
          </a:solidFill>
          <a:ln w="12700">
            <a:solidFill>
              <a:srgbClr val="EEF2FF"/>
            </a:solidFill>
            <a:prstDash val="solid"/>
          </a:ln>
        </p:spPr>
      </p:sp>
      <p:pic>
        <p:nvPicPr>
          <p:cNvPr id="36" name="Image 6" descr="preencoded.png">    </p:cNvPr>
          <p:cNvPicPr>
            <a:picLocks noChangeAspect="1"/>
          </p:cNvPicPr>
          <p:nvPr/>
        </p:nvPicPr>
        <p:blipFill>
          <a:blip r:embed="rId7"/>
          <a:stretch>
            <a:fillRect/>
          </a:stretch>
        </p:blipFill>
        <p:spPr>
          <a:xfrm>
            <a:off x="8135234" y="4509638"/>
            <a:ext cx="225308" cy="225308"/>
          </a:xfrm>
          <a:prstGeom prst="rect">
            <a:avLst/>
          </a:prstGeom>
        </p:spPr>
      </p:pic>
      <p:sp>
        <p:nvSpPr>
          <p:cNvPr id="37" name="Text 27"/>
          <p:cNvSpPr txBox="1"/>
          <p:nvPr/>
        </p:nvSpPr>
        <p:spPr>
          <a:xfrm>
            <a:off x="8577072" y="4421124"/>
            <a:ext cx="3017520" cy="402336"/>
          </a:xfrm>
          <a:prstGeom prst="rect">
            <a:avLst/>
          </a:prstGeom>
          <a:noFill/>
          <a:ln/>
        </p:spPr>
        <p:txBody>
          <a:bodyPr wrap="square" lIns="0" tIns="0" rIns="0" bIns="0" rtlCol="0" anchor="ctr"/>
          <a:lstStyle/>
          <a:p>
            <a:pPr indent="0" marL="0">
              <a:buNone/>
            </a:pPr>
            <a:r>
              <a:rPr lang="en-US" sz="1500" b="1" dirty="0">
                <a:solidFill>
                  <a:srgbClr val="0F172A"/>
                </a:solidFill>
                <a:latin typeface="Roboto" pitchFamily="34" charset="0"/>
                <a:ea typeface="Roboto" pitchFamily="34" charset="-122"/>
                <a:cs typeface="Roboto" pitchFamily="34" charset="-120"/>
              </a:rPr>
              <a:t>Head dashboard</a:t>
            </a:r>
            <a:endParaRPr lang="en-US" sz="1500" dirty="0"/>
          </a:p>
        </p:txBody>
      </p:sp>
      <p:sp>
        <p:nvSpPr>
          <p:cNvPr id="38" name="Text 28"/>
          <p:cNvSpPr txBox="1"/>
          <p:nvPr/>
        </p:nvSpPr>
        <p:spPr>
          <a:xfrm>
            <a:off x="8046720" y="4878324"/>
            <a:ext cx="3566160" cy="420624"/>
          </a:xfrm>
          <a:prstGeom prst="rect">
            <a:avLst/>
          </a:prstGeom>
          <a:noFill/>
          <a:ln/>
        </p:spPr>
        <p:txBody>
          <a:bodyPr wrap="square" lIns="0" tIns="0" rIns="0" bIns="0" rtlCol="0" anchor="t"/>
          <a:lstStyle/>
          <a:p>
            <a:pPr indent="0" marL="0">
              <a:buNone/>
            </a:pPr>
            <a:r>
              <a:rPr lang="en-US" sz="1100" dirty="0">
                <a:solidFill>
                  <a:srgbClr val="64748B"/>
                </a:solidFill>
                <a:latin typeface="Roboto" pitchFamily="34" charset="0"/>
                <a:ea typeface="Roboto" pitchFamily="34" charset="-122"/>
                <a:cs typeface="Roboto" pitchFamily="34" charset="-120"/>
              </a:rPr>
              <a:t>Portfolio view: approvals waiting, fraud alerts, model health.</a:t>
            </a:r>
            <a:endParaRPr lang="en-US" sz="1100" dirty="0"/>
          </a:p>
        </p:txBody>
      </p:sp>
      <p:sp>
        <p:nvSpPr>
          <p:cNvPr id="39" name="Shape 29"/>
          <p:cNvSpPr/>
          <p:nvPr/>
        </p:nvSpPr>
        <p:spPr>
          <a:xfrm>
            <a:off x="8046720" y="5372100"/>
            <a:ext cx="3566160" cy="914400"/>
          </a:xfrm>
          <a:prstGeom prst="roundRect">
            <a:avLst>
              <a:gd name="adj" fmla="val 10000"/>
            </a:avLst>
          </a:prstGeom>
          <a:solidFill>
            <a:srgbClr val="F8FAFC"/>
          </a:solidFill>
          <a:ln w="12700">
            <a:solidFill>
              <a:srgbClr val="E2E8F0"/>
            </a:solidFill>
            <a:prstDash val="solid"/>
          </a:ln>
        </p:spPr>
      </p:sp>
      <p:sp>
        <p:nvSpPr>
          <p:cNvPr id="40" name="Text 30"/>
          <p:cNvSpPr txBox="1"/>
          <p:nvPr/>
        </p:nvSpPr>
        <p:spPr>
          <a:xfrm>
            <a:off x="8183880" y="5408676"/>
            <a:ext cx="3337560" cy="841248"/>
          </a:xfrm>
          <a:prstGeom prst="rect">
            <a:avLst/>
          </a:prstGeom>
          <a:noFill/>
          <a:ln/>
        </p:spPr>
        <p:txBody>
          <a:bodyPr wrap="square" lIns="0" tIns="0" rIns="0" bIns="0" rtlCol="0" anchor="ctr"/>
          <a:lstStyle/>
          <a:p>
            <a:pPr marL="177800" indent="-177800">
              <a:spcAft>
                <a:spcPts val="300"/>
              </a:spcAft>
              <a:buSzPct val="100000"/>
              <a:buChar char="•"/>
            </a:pPr>
            <a:r>
              <a:rPr lang="en-US" sz="1100" dirty="0">
                <a:solidFill>
                  <a:srgbClr val="334155"/>
                </a:solidFill>
                <a:latin typeface="Roboto" pitchFamily="34" charset="0"/>
                <a:ea typeface="Roboto" pitchFamily="34" charset="-122"/>
                <a:cs typeface="Roboto" pitchFamily="34" charset="-120"/>
              </a:rPr>
              <a:t>Approvals waiting above ₹5 lakh</a:t>
            </a:r>
            <a:endParaRPr lang="en-US" sz="1100" dirty="0"/>
          </a:p>
          <a:p>
            <a:pPr marL="177800" indent="-177800">
              <a:spcAft>
                <a:spcPts val="300"/>
              </a:spcAft>
              <a:buSzPct val="100000"/>
              <a:buChar char="•"/>
            </a:pPr>
            <a:r>
              <a:rPr lang="en-US" sz="1100" dirty="0">
                <a:solidFill>
                  <a:srgbClr val="334155"/>
                </a:solidFill>
                <a:latin typeface="Roboto" pitchFamily="34" charset="0"/>
                <a:ea typeface="Roboto" pitchFamily="34" charset="-122"/>
                <a:cs typeface="Roboto" pitchFamily="34" charset="-120"/>
              </a:rPr>
              <a:t>Fraud alerts and ring triage</a:t>
            </a:r>
            <a:endParaRPr lang="en-US" sz="1100" dirty="0"/>
          </a:p>
          <a:p>
            <a:pPr marL="177800" indent="-177800">
              <a:spcAft>
                <a:spcPts val="300"/>
              </a:spcAft>
              <a:buSzPct val="100000"/>
              <a:buChar char="•"/>
            </a:pPr>
            <a:r>
              <a:rPr lang="en-US" sz="1100" dirty="0">
                <a:solidFill>
                  <a:srgbClr val="334155"/>
                </a:solidFill>
                <a:latin typeface="Roboto" pitchFamily="34" charset="0"/>
                <a:ea typeface="Roboto" pitchFamily="34" charset="-122"/>
                <a:cs typeface="Roboto" pitchFamily="34" charset="-120"/>
              </a:rPr>
              <a:t>AI model and RBI rule control</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1417320"/>
            <a:ext cx="3657600" cy="1188720"/>
          </a:xfrm>
          <a:prstGeom prst="rect">
            <a:avLst/>
          </a:prstGeom>
          <a:noFill/>
          <a:ln/>
        </p:spPr>
        <p:txBody>
          <a:bodyPr wrap="square" lIns="0" tIns="0" rIns="0" bIns="0" rtlCol="0" anchor="ctr"/>
          <a:lstStyle/>
          <a:p>
            <a:pPr indent="0" marL="0">
              <a:buNone/>
            </a:pPr>
            <a:r>
              <a:rPr lang="en-US" sz="8800" b="1" dirty="0">
                <a:solidFill>
                  <a:srgbClr val="818CF8"/>
                </a:solidFill>
                <a:latin typeface="Roboto" pitchFamily="34" charset="0"/>
                <a:ea typeface="Roboto" pitchFamily="34" charset="-122"/>
                <a:cs typeface="Roboto" pitchFamily="34" charset="-120"/>
              </a:rPr>
              <a:t>01</a:t>
            </a:r>
            <a:endParaRPr lang="en-US" sz="8800" dirty="0"/>
          </a:p>
        </p:txBody>
      </p:sp>
      <p:sp>
        <p:nvSpPr>
          <p:cNvPr id="3" name="Text 1"/>
          <p:cNvSpPr txBox="1"/>
          <p:nvPr/>
        </p:nvSpPr>
        <p:spPr>
          <a:xfrm>
            <a:off x="548640" y="2697480"/>
            <a:ext cx="7772400" cy="822960"/>
          </a:xfrm>
          <a:prstGeom prst="rect">
            <a:avLst/>
          </a:prstGeom>
          <a:noFill/>
          <a:ln/>
        </p:spPr>
        <p:txBody>
          <a:bodyPr wrap="square" lIns="0" tIns="0" rIns="0" bIns="0" rtlCol="0" anchor="ctr"/>
          <a:lstStyle/>
          <a:p>
            <a:pPr indent="0" marL="0">
              <a:buNone/>
            </a:pPr>
            <a:r>
              <a:rPr lang="en-US" sz="4000" b="1" dirty="0">
                <a:solidFill>
                  <a:srgbClr val="FFFFFF"/>
                </a:solidFill>
                <a:latin typeface="Roboto" pitchFamily="34" charset="0"/>
                <a:ea typeface="Roboto" pitchFamily="34" charset="-122"/>
                <a:cs typeface="Roboto" pitchFamily="34" charset="-120"/>
              </a:rPr>
              <a:t>Architecture</a:t>
            </a:r>
            <a:endParaRPr lang="en-US" sz="4000" dirty="0"/>
          </a:p>
        </p:txBody>
      </p:sp>
      <p:sp>
        <p:nvSpPr>
          <p:cNvPr id="4" name="Text 2"/>
          <p:cNvSpPr txBox="1"/>
          <p:nvPr/>
        </p:nvSpPr>
        <p:spPr>
          <a:xfrm>
            <a:off x="548640" y="3520440"/>
            <a:ext cx="7132320" cy="822960"/>
          </a:xfrm>
          <a:prstGeom prst="rect">
            <a:avLst/>
          </a:prstGeom>
          <a:noFill/>
          <a:ln/>
        </p:spPr>
        <p:txBody>
          <a:bodyPr wrap="square" lIns="0" tIns="0" rIns="0" bIns="0" rtlCol="0" anchor="t"/>
          <a:lstStyle/>
          <a:p>
            <a:pPr indent="0" marL="0">
              <a:buNone/>
            </a:pPr>
            <a:r>
              <a:rPr lang="en-US" sz="1700" dirty="0">
                <a:solidFill>
                  <a:srgbClr val="CBD5E1"/>
                </a:solidFill>
                <a:latin typeface="Roboto" pitchFamily="34" charset="0"/>
                <a:ea typeface="Roboto" pitchFamily="34" charset="-122"/>
                <a:cs typeface="Roboto" pitchFamily="34" charset="-120"/>
              </a:rPr>
              <a:t>Six layers, one gateway to the language model, and one rule for every agent: tools decide, the model only explains.</a:t>
            </a:r>
            <a:endParaRPr lang="en-US" sz="1700" dirty="0"/>
          </a:p>
        </p:txBody>
      </p:sp>
      <p:sp>
        <p:nvSpPr>
          <p:cNvPr id="5" name="Text 3"/>
          <p:cNvSpPr txBox="1"/>
          <p:nvPr/>
        </p:nvSpPr>
        <p:spPr>
          <a:xfrm>
            <a:off x="548640" y="4754880"/>
            <a:ext cx="3657600" cy="274320"/>
          </a:xfrm>
          <a:prstGeom prst="rect">
            <a:avLst/>
          </a:prstGeom>
          <a:noFill/>
          <a:ln/>
        </p:spPr>
        <p:txBody>
          <a:bodyPr wrap="square" lIns="0" tIns="0" rIns="0" bIns="0" rtlCol="0" anchor="ctr"/>
          <a:lstStyle/>
          <a:p>
            <a:pPr indent="0" marL="0">
              <a:buNone/>
            </a:pPr>
            <a:r>
              <a:rPr lang="en-US" sz="1050" b="1" spc="200" kern="0" dirty="0">
                <a:solidFill>
                  <a:srgbClr val="94A3B8"/>
                </a:solidFill>
                <a:latin typeface="Roboto" pitchFamily="34" charset="0"/>
                <a:ea typeface="Roboto" pitchFamily="34" charset="-122"/>
                <a:cs typeface="Roboto" pitchFamily="34" charset="-120"/>
              </a:rPr>
              <a:t>IN THIS SECTION</a:t>
            </a:r>
            <a:endParaRPr lang="en-US" sz="1050" dirty="0"/>
          </a:p>
        </p:txBody>
      </p:sp>
      <p:sp>
        <p:nvSpPr>
          <p:cNvPr id="6" name="Shape 4"/>
          <p:cNvSpPr/>
          <p:nvPr/>
        </p:nvSpPr>
        <p:spPr>
          <a:xfrm>
            <a:off x="548640" y="5102352"/>
            <a:ext cx="1207008" cy="384048"/>
          </a:xfrm>
          <a:prstGeom prst="roundRect">
            <a:avLst>
              <a:gd name="adj" fmla="val 50000"/>
            </a:avLst>
          </a:prstGeom>
          <a:solidFill>
            <a:srgbClr val="1E293B"/>
          </a:solidFill>
          <a:ln w="12700">
            <a:solidFill>
              <a:srgbClr val="334155"/>
            </a:solidFill>
            <a:prstDash val="solid"/>
          </a:ln>
        </p:spPr>
      </p:sp>
      <p:sp>
        <p:nvSpPr>
          <p:cNvPr id="7" name="Text 5"/>
          <p:cNvSpPr txBox="1"/>
          <p:nvPr/>
        </p:nvSpPr>
        <p:spPr>
          <a:xfrm>
            <a:off x="548640" y="5102352"/>
            <a:ext cx="1207008" cy="384048"/>
          </a:xfrm>
          <a:prstGeom prst="rect">
            <a:avLst/>
          </a:prstGeom>
          <a:noFill/>
          <a:ln/>
        </p:spPr>
        <p:txBody>
          <a:bodyPr wrap="square" lIns="0" tIns="0" rIns="0" bIns="0" rtlCol="0" anchor="ctr"/>
          <a:lstStyle/>
          <a:p>
            <a:pPr algn="ctr" indent="0" marL="0">
              <a:buNone/>
            </a:pPr>
            <a:r>
              <a:rPr lang="en-US" sz="1200" dirty="0">
                <a:solidFill>
                  <a:srgbClr val="E2E8F0"/>
                </a:solidFill>
                <a:latin typeface="Roboto" pitchFamily="34" charset="0"/>
                <a:ea typeface="Roboto" pitchFamily="34" charset="-122"/>
                <a:cs typeface="Roboto" pitchFamily="34" charset="-120"/>
              </a:rPr>
              <a:t>System layers</a:t>
            </a:r>
            <a:endParaRPr lang="en-US" sz="1200" dirty="0"/>
          </a:p>
        </p:txBody>
      </p:sp>
      <p:sp>
        <p:nvSpPr>
          <p:cNvPr id="8" name="Shape 6"/>
          <p:cNvSpPr/>
          <p:nvPr/>
        </p:nvSpPr>
        <p:spPr>
          <a:xfrm>
            <a:off x="1883664" y="5102352"/>
            <a:ext cx="987552" cy="384048"/>
          </a:xfrm>
          <a:prstGeom prst="roundRect">
            <a:avLst>
              <a:gd name="adj" fmla="val 50000"/>
            </a:avLst>
          </a:prstGeom>
          <a:solidFill>
            <a:srgbClr val="1E293B"/>
          </a:solidFill>
          <a:ln w="12700">
            <a:solidFill>
              <a:srgbClr val="334155"/>
            </a:solidFill>
            <a:prstDash val="solid"/>
          </a:ln>
        </p:spPr>
      </p:sp>
      <p:sp>
        <p:nvSpPr>
          <p:cNvPr id="9" name="Text 7"/>
          <p:cNvSpPr txBox="1"/>
          <p:nvPr/>
        </p:nvSpPr>
        <p:spPr>
          <a:xfrm>
            <a:off x="1883664" y="5102352"/>
            <a:ext cx="987552" cy="384048"/>
          </a:xfrm>
          <a:prstGeom prst="rect">
            <a:avLst/>
          </a:prstGeom>
          <a:noFill/>
          <a:ln/>
        </p:spPr>
        <p:txBody>
          <a:bodyPr wrap="square" lIns="0" tIns="0" rIns="0" bIns="0" rtlCol="0" anchor="ctr"/>
          <a:lstStyle/>
          <a:p>
            <a:pPr algn="ctr" indent="0" marL="0">
              <a:buNone/>
            </a:pPr>
            <a:r>
              <a:rPr lang="en-US" sz="1200" dirty="0">
                <a:solidFill>
                  <a:srgbClr val="E2E8F0"/>
                </a:solidFill>
                <a:latin typeface="Roboto" pitchFamily="34" charset="0"/>
                <a:ea typeface="Roboto" pitchFamily="34" charset="-122"/>
                <a:cs typeface="Roboto" pitchFamily="34" charset="-120"/>
              </a:rPr>
              <a:t>Tech stack</a:t>
            </a:r>
            <a:endParaRPr lang="en-US" sz="1200" dirty="0"/>
          </a:p>
        </p:txBody>
      </p:sp>
      <p:sp>
        <p:nvSpPr>
          <p:cNvPr id="10" name="Shape 8"/>
          <p:cNvSpPr/>
          <p:nvPr/>
        </p:nvSpPr>
        <p:spPr>
          <a:xfrm>
            <a:off x="2999232" y="5102352"/>
            <a:ext cx="1572768" cy="384048"/>
          </a:xfrm>
          <a:prstGeom prst="roundRect">
            <a:avLst>
              <a:gd name="adj" fmla="val 50000"/>
            </a:avLst>
          </a:prstGeom>
          <a:solidFill>
            <a:srgbClr val="1E293B"/>
          </a:solidFill>
          <a:ln w="12700">
            <a:solidFill>
              <a:srgbClr val="334155"/>
            </a:solidFill>
            <a:prstDash val="solid"/>
          </a:ln>
        </p:spPr>
      </p:sp>
      <p:sp>
        <p:nvSpPr>
          <p:cNvPr id="11" name="Text 9"/>
          <p:cNvSpPr txBox="1"/>
          <p:nvPr/>
        </p:nvSpPr>
        <p:spPr>
          <a:xfrm>
            <a:off x="2999232" y="5102352"/>
            <a:ext cx="1572768" cy="384048"/>
          </a:xfrm>
          <a:prstGeom prst="rect">
            <a:avLst/>
          </a:prstGeom>
          <a:noFill/>
          <a:ln/>
        </p:spPr>
        <p:txBody>
          <a:bodyPr wrap="square" lIns="0" tIns="0" rIns="0" bIns="0" rtlCol="0" anchor="ctr"/>
          <a:lstStyle/>
          <a:p>
            <a:pPr algn="ctr" indent="0" marL="0">
              <a:buNone/>
            </a:pPr>
            <a:r>
              <a:rPr lang="en-US" sz="1200" dirty="0">
                <a:solidFill>
                  <a:srgbClr val="E2E8F0"/>
                </a:solidFill>
                <a:latin typeface="Roboto" pitchFamily="34" charset="0"/>
                <a:ea typeface="Roboto" pitchFamily="34" charset="-122"/>
                <a:cs typeface="Roboto" pitchFamily="34" charset="-120"/>
              </a:rPr>
              <a:t>How one agent runs</a:t>
            </a:r>
            <a:endParaRPr lang="en-US" sz="1200" dirty="0"/>
          </a:p>
        </p:txBody>
      </p:sp>
      <p:sp>
        <p:nvSpPr>
          <p:cNvPr id="12" name="Shape 10"/>
          <p:cNvSpPr/>
          <p:nvPr/>
        </p:nvSpPr>
        <p:spPr>
          <a:xfrm>
            <a:off x="8549640" y="1600200"/>
            <a:ext cx="3108960" cy="3108960"/>
          </a:xfrm>
          <a:prstGeom prst="ellipse">
            <a:avLst/>
          </a:prstGeom>
          <a:solidFill>
            <a:srgbClr val="1E293B"/>
          </a:solidFill>
          <a:ln w="12700">
            <a:solidFill>
              <a:srgbClr val="334155"/>
            </a:solidFill>
            <a:prstDash val="solid"/>
          </a:ln>
        </p:spPr>
      </p:sp>
      <p:pic>
        <p:nvPicPr>
          <p:cNvPr id="13" name="Image 0" descr="preencoded.png">    </p:cNvPr>
          <p:cNvPicPr>
            <a:picLocks noChangeAspect="1"/>
          </p:cNvPicPr>
          <p:nvPr/>
        </p:nvPicPr>
        <p:blipFill>
          <a:blip r:embed="rId1"/>
          <a:stretch>
            <a:fillRect/>
          </a:stretch>
        </p:blipFill>
        <p:spPr>
          <a:xfrm>
            <a:off x="9326880" y="2377440"/>
            <a:ext cx="1554480" cy="1554480"/>
          </a:xfrm>
          <a:prstGeom prst="rect">
            <a:avLst/>
          </a:prstGeom>
        </p:spPr>
      </p:pic>
      <p:pic>
        <p:nvPicPr>
          <p:cNvPr id="14" name="Image 1" descr="C:\Users\shrey\AppData\Local\Temp\claude\D--novacinternship-finsight\ef4ecb45-e580-4bc0-9be4-060aa240a5b2\scratchpad\deck\img\logo_mark_light.png">    </p:cNvPr>
          <p:cNvPicPr>
            <a:picLocks noChangeAspect="1"/>
          </p:cNvPicPr>
          <p:nvPr/>
        </p:nvPicPr>
        <p:blipFill>
          <a:blip r:embed="rId2"/>
          <a:stretch>
            <a:fillRect/>
          </a:stretch>
        </p:blipFill>
        <p:spPr>
          <a:xfrm>
            <a:off x="548640" y="502920"/>
            <a:ext cx="354509" cy="457200"/>
          </a:xfrm>
          <a:prstGeom prst="rect">
            <a:avLst/>
          </a:prstGeom>
        </p:spPr>
      </p:pic>
      <p:pic>
        <p:nvPicPr>
          <p:cNvPr id="15" name="Image 2" descr="C:\Users\shrey\AppData\Local\Temp\claude\D--novacinternship-finsight\ef4ecb45-e580-4bc0-9be4-060aa240a5b2\scratchpad\deck\img\logo_lockup_light.png">    </p:cNvPr>
          <p:cNvPicPr>
            <a:picLocks noChangeAspect="1"/>
          </p:cNvPicPr>
          <p:nvPr/>
        </p:nvPicPr>
        <p:blipFill>
          <a:blip r:embed="rId3"/>
          <a:stretch>
            <a:fillRect/>
          </a:stretch>
        </p:blipFill>
        <p:spPr>
          <a:xfrm>
            <a:off x="10360152" y="6464808"/>
            <a:ext cx="843991" cy="237744"/>
          </a:xfrm>
          <a:prstGeom prst="rect">
            <a:avLst/>
          </a:prstGeom>
        </p:spPr>
      </p:pic>
      <p:sp>
        <p:nvSpPr>
          <p:cNvPr id="16" name="Text 11"/>
          <p:cNvSpPr txBox="1"/>
          <p:nvPr/>
        </p:nvSpPr>
        <p:spPr>
          <a:xfrm>
            <a:off x="11277295" y="6473952"/>
            <a:ext cx="365760" cy="228600"/>
          </a:xfrm>
          <a:prstGeom prst="rect">
            <a:avLst/>
          </a:prstGeom>
          <a:noFill/>
          <a:ln/>
        </p:spPr>
        <p:txBody>
          <a:bodyPr wrap="square" lIns="0" tIns="0" rIns="0" bIns="0" rtlCol="0" anchor="ctr"/>
          <a:lstStyle/>
          <a:p>
            <a:pPr algn="r" indent="0" marL="0">
              <a:buNone/>
            </a:pPr>
            <a:r>
              <a:rPr lang="en-US" sz="900" dirty="0">
                <a:solidFill>
                  <a:srgbClr val="64748B"/>
                </a:solidFill>
                <a:latin typeface="Roboto" pitchFamily="34" charset="0"/>
                <a:ea typeface="Roboto" pitchFamily="34" charset="-122"/>
                <a:cs typeface="Roboto"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8229600" cy="256032"/>
          </a:xfrm>
          <a:prstGeom prst="rect">
            <a:avLst/>
          </a:prstGeom>
          <a:noFill/>
          <a:ln/>
        </p:spPr>
        <p:txBody>
          <a:bodyPr wrap="square" lIns="0" tIns="0" rIns="0" bIns="0" rtlCol="0" anchor="ctr"/>
          <a:lstStyle/>
          <a:p>
            <a:pPr indent="0" marL="0">
              <a:buNone/>
            </a:pPr>
            <a:r>
              <a:rPr lang="en-US" sz="1100" b="1" spc="200" kern="0" dirty="0">
                <a:solidFill>
                  <a:srgbClr val="4F46E5"/>
                </a:solidFill>
                <a:latin typeface="Roboto" pitchFamily="34" charset="0"/>
                <a:ea typeface="Roboto" pitchFamily="34" charset="-122"/>
                <a:cs typeface="Roboto" pitchFamily="34" charset="-120"/>
              </a:rPr>
              <a:t>ARCHITECTURE</a:t>
            </a:r>
            <a:endParaRPr lang="en-US" sz="1100" dirty="0"/>
          </a:p>
        </p:txBody>
      </p:sp>
      <p:sp>
        <p:nvSpPr>
          <p:cNvPr id="3" name="Text 1"/>
          <p:cNvSpPr txBox="1"/>
          <p:nvPr/>
        </p:nvSpPr>
        <p:spPr>
          <a:xfrm>
            <a:off x="548640" y="585216"/>
            <a:ext cx="11094415" cy="566928"/>
          </a:xfrm>
          <a:prstGeom prst="rect">
            <a:avLst/>
          </a:prstGeom>
          <a:noFill/>
          <a:ln/>
        </p:spPr>
        <p:txBody>
          <a:bodyPr wrap="square" lIns="0" tIns="0" rIns="0" bIns="0" rtlCol="0" anchor="ctr"/>
          <a:lstStyle/>
          <a:p>
            <a:pPr indent="0" marL="0">
              <a:buNone/>
            </a:pPr>
            <a:r>
              <a:rPr lang="en-US" sz="2800" b="1" dirty="0">
                <a:solidFill>
                  <a:srgbClr val="0F172A"/>
                </a:solidFill>
                <a:latin typeface="Roboto" pitchFamily="34" charset="0"/>
                <a:ea typeface="Roboto" pitchFamily="34" charset="-122"/>
                <a:cs typeface="Roboto" pitchFamily="34" charset="-120"/>
              </a:rPr>
              <a:t>System architecture</a:t>
            </a:r>
            <a:endParaRPr lang="en-US" sz="2800" dirty="0"/>
          </a:p>
        </p:txBody>
      </p:sp>
      <p:pic>
        <p:nvPicPr>
          <p:cNvPr id="4" name="Image 0" descr="C:\Users\shrey\AppData\Local\Temp\claude\D--novacinternship-finsight\ef4ecb45-e580-4bc0-9be4-060aa240a5b2\scratchpad\deck\img\logo_lockup.png">    </p:cNvPr>
          <p:cNvPicPr>
            <a:picLocks noChangeAspect="1"/>
          </p:cNvPicPr>
          <p:nvPr/>
        </p:nvPicPr>
        <p:blipFill>
          <a:blip r:embed="rId1"/>
          <a:stretch>
            <a:fillRect/>
          </a:stretch>
        </p:blipFill>
        <p:spPr>
          <a:xfrm>
            <a:off x="10360152" y="6464808"/>
            <a:ext cx="843991" cy="237744"/>
          </a:xfrm>
          <a:prstGeom prst="rect">
            <a:avLst/>
          </a:prstGeom>
        </p:spPr>
      </p:pic>
      <p:sp>
        <p:nvSpPr>
          <p:cNvPr id="5" name="Text 2"/>
          <p:cNvSpPr txBox="1"/>
          <p:nvPr/>
        </p:nvSpPr>
        <p:spPr>
          <a:xfrm>
            <a:off x="11277295" y="6473952"/>
            <a:ext cx="365760" cy="228600"/>
          </a:xfrm>
          <a:prstGeom prst="rect">
            <a:avLst/>
          </a:prstGeom>
          <a:noFill/>
          <a:ln/>
        </p:spPr>
        <p:txBody>
          <a:bodyPr wrap="square" lIns="0" tIns="0" rIns="0" bIns="0" rtlCol="0" anchor="ctr"/>
          <a:lstStyle/>
          <a:p>
            <a:pPr algn="r" indent="0" marL="0">
              <a:buNone/>
            </a:pPr>
            <a:r>
              <a:rPr lang="en-US" sz="900" dirty="0">
                <a:solidFill>
                  <a:srgbClr val="94A3B8"/>
                </a:solidFill>
                <a:latin typeface="Roboto" pitchFamily="34" charset="0"/>
                <a:ea typeface="Roboto" pitchFamily="34" charset="-122"/>
                <a:cs typeface="Roboto" pitchFamily="34" charset="-120"/>
              </a:rPr>
              <a:t>9</a:t>
            </a:r>
            <a:endParaRPr lang="en-US" sz="900" dirty="0"/>
          </a:p>
        </p:txBody>
      </p:sp>
      <p:sp>
        <p:nvSpPr>
          <p:cNvPr id="7" name="Shape 3"/>
          <p:cNvSpPr/>
          <p:nvPr/>
        </p:nvSpPr>
        <p:spPr>
          <a:xfrm>
            <a:off x="548640" y="1371600"/>
            <a:ext cx="1965960" cy="603504"/>
          </a:xfrm>
          <a:prstGeom prst="roundRect">
            <a:avLst>
              <a:gd name="adj" fmla="val 12121"/>
            </a:avLst>
          </a:prstGeom>
          <a:solidFill>
            <a:srgbClr val="4F46E5"/>
          </a:solidFill>
          <a:ln w="12700">
            <a:solidFill>
              <a:srgbClr val="4F46E5"/>
            </a:solidFill>
            <a:prstDash val="solid"/>
          </a:ln>
        </p:spPr>
      </p:sp>
      <p:sp>
        <p:nvSpPr>
          <p:cNvPr id="8" name="Text 4"/>
          <p:cNvSpPr txBox="1"/>
          <p:nvPr/>
        </p:nvSpPr>
        <p:spPr>
          <a:xfrm>
            <a:off x="685800" y="1371600"/>
            <a:ext cx="1783080" cy="603504"/>
          </a:xfrm>
          <a:prstGeom prst="rect">
            <a:avLst/>
          </a:prstGeom>
          <a:noFill/>
          <a:ln/>
        </p:spPr>
        <p:txBody>
          <a:bodyPr wrap="square" lIns="0" tIns="0" rIns="0" bIns="0" rtlCol="0" anchor="ctr"/>
          <a:lstStyle/>
          <a:p>
            <a:pPr indent="0" marL="0">
              <a:buNone/>
            </a:pPr>
            <a:r>
              <a:rPr lang="en-US" sz="1300" b="1" dirty="0">
                <a:solidFill>
                  <a:srgbClr val="FFFFFF"/>
                </a:solidFill>
                <a:latin typeface="Roboto" pitchFamily="34" charset="0"/>
                <a:ea typeface="Roboto" pitchFamily="34" charset="-122"/>
                <a:cs typeface="Roboto" pitchFamily="34" charset="-120"/>
              </a:rPr>
              <a:t>Users</a:t>
            </a:r>
            <a:endParaRPr lang="en-US" sz="1300" dirty="0"/>
          </a:p>
          <a:p>
            <a:pPr indent="0" marL="0">
              <a:buNone/>
            </a:pPr>
            <a:r>
              <a:rPr lang="en-US" sz="950" dirty="0">
                <a:solidFill>
                  <a:srgbClr val="E2E8F0"/>
                </a:solidFill>
                <a:latin typeface="Roboto" pitchFamily="34" charset="0"/>
                <a:ea typeface="Roboto" pitchFamily="34" charset="-122"/>
                <a:cs typeface="Roboto" pitchFamily="34" charset="-120"/>
              </a:rPr>
              <a:t>3 roles</a:t>
            </a:r>
            <a:endParaRPr lang="en-US" sz="1300" dirty="0"/>
          </a:p>
        </p:txBody>
      </p:sp>
      <p:sp>
        <p:nvSpPr>
          <p:cNvPr id="9" name="Shape 5"/>
          <p:cNvSpPr/>
          <p:nvPr/>
        </p:nvSpPr>
        <p:spPr>
          <a:xfrm>
            <a:off x="2697480" y="1371600"/>
            <a:ext cx="8945575" cy="603504"/>
          </a:xfrm>
          <a:prstGeom prst="roundRect">
            <a:avLst>
              <a:gd name="adj" fmla="val 12121"/>
            </a:avLst>
          </a:prstGeom>
          <a:solidFill>
            <a:srgbClr val="F8FAFC"/>
          </a:solidFill>
          <a:ln w="12700">
            <a:solidFill>
              <a:srgbClr val="E2E8F0"/>
            </a:solidFill>
            <a:prstDash val="solid"/>
          </a:ln>
        </p:spPr>
      </p:sp>
      <p:sp>
        <p:nvSpPr>
          <p:cNvPr id="10" name="Shape 6"/>
          <p:cNvSpPr/>
          <p:nvPr/>
        </p:nvSpPr>
        <p:spPr>
          <a:xfrm>
            <a:off x="2834640" y="1499616"/>
            <a:ext cx="768096" cy="347472"/>
          </a:xfrm>
          <a:prstGeom prst="roundRect">
            <a:avLst>
              <a:gd name="adj" fmla="val 50000"/>
            </a:avLst>
          </a:prstGeom>
          <a:solidFill>
            <a:srgbClr val="FFFFFF"/>
          </a:solidFill>
          <a:ln w="12700">
            <a:solidFill>
              <a:srgbClr val="E2E8F0"/>
            </a:solidFill>
            <a:prstDash val="solid"/>
          </a:ln>
        </p:spPr>
      </p:sp>
      <p:sp>
        <p:nvSpPr>
          <p:cNvPr id="11" name="Text 7"/>
          <p:cNvSpPr txBox="1"/>
          <p:nvPr/>
        </p:nvSpPr>
        <p:spPr>
          <a:xfrm>
            <a:off x="2834640" y="1499616"/>
            <a:ext cx="768096" cy="347472"/>
          </a:xfrm>
          <a:prstGeom prst="rect">
            <a:avLst/>
          </a:prstGeom>
          <a:noFill/>
          <a:ln/>
        </p:spPr>
        <p:txBody>
          <a:bodyPr wrap="square" lIns="0" tIns="0" rIns="0" bIns="0" rtlCol="0" anchor="ctr"/>
          <a:lstStyle/>
          <a:p>
            <a:pPr algn="ctr" indent="0" marL="0">
              <a:buNone/>
            </a:pPr>
            <a:r>
              <a:rPr lang="en-US" sz="1050" dirty="0">
                <a:solidFill>
                  <a:srgbClr val="0F172A"/>
                </a:solidFill>
                <a:latin typeface="Roboto" pitchFamily="34" charset="0"/>
                <a:ea typeface="Roboto" pitchFamily="34" charset="-122"/>
                <a:cs typeface="Roboto" pitchFamily="34" charset="-120"/>
              </a:rPr>
              <a:t>Borrower</a:t>
            </a:r>
            <a:endParaRPr lang="en-US" sz="1050" dirty="0"/>
          </a:p>
        </p:txBody>
      </p:sp>
      <p:sp>
        <p:nvSpPr>
          <p:cNvPr id="12" name="Shape 8"/>
          <p:cNvSpPr/>
          <p:nvPr/>
        </p:nvSpPr>
        <p:spPr>
          <a:xfrm>
            <a:off x="3694176" y="1499616"/>
            <a:ext cx="1536192" cy="347472"/>
          </a:xfrm>
          <a:prstGeom prst="roundRect">
            <a:avLst>
              <a:gd name="adj" fmla="val 50000"/>
            </a:avLst>
          </a:prstGeom>
          <a:solidFill>
            <a:srgbClr val="FFFFFF"/>
          </a:solidFill>
          <a:ln w="12700">
            <a:solidFill>
              <a:srgbClr val="E2E8F0"/>
            </a:solidFill>
            <a:prstDash val="solid"/>
          </a:ln>
        </p:spPr>
      </p:sp>
      <p:sp>
        <p:nvSpPr>
          <p:cNvPr id="13" name="Text 9"/>
          <p:cNvSpPr txBox="1"/>
          <p:nvPr/>
        </p:nvSpPr>
        <p:spPr>
          <a:xfrm>
            <a:off x="3694176" y="1499616"/>
            <a:ext cx="1536192" cy="347472"/>
          </a:xfrm>
          <a:prstGeom prst="rect">
            <a:avLst/>
          </a:prstGeom>
          <a:noFill/>
          <a:ln/>
        </p:spPr>
        <p:txBody>
          <a:bodyPr wrap="square" lIns="0" tIns="0" rIns="0" bIns="0" rtlCol="0" anchor="ctr"/>
          <a:lstStyle/>
          <a:p>
            <a:pPr algn="ctr" indent="0" marL="0">
              <a:buNone/>
            </a:pPr>
            <a:r>
              <a:rPr lang="en-US" sz="1050" dirty="0">
                <a:solidFill>
                  <a:srgbClr val="0F172A"/>
                </a:solidFill>
                <a:latin typeface="Roboto" pitchFamily="34" charset="0"/>
                <a:ea typeface="Roboto" pitchFamily="34" charset="-122"/>
                <a:cs typeface="Roboto" pitchFamily="34" charset="-120"/>
              </a:rPr>
              <a:t>Underwriting Officer</a:t>
            </a:r>
            <a:endParaRPr lang="en-US" sz="1050" dirty="0"/>
          </a:p>
        </p:txBody>
      </p:sp>
      <p:sp>
        <p:nvSpPr>
          <p:cNvPr id="14" name="Shape 10"/>
          <p:cNvSpPr/>
          <p:nvPr/>
        </p:nvSpPr>
        <p:spPr>
          <a:xfrm>
            <a:off x="5321808" y="1499616"/>
            <a:ext cx="1024128" cy="347472"/>
          </a:xfrm>
          <a:prstGeom prst="roundRect">
            <a:avLst>
              <a:gd name="adj" fmla="val 50000"/>
            </a:avLst>
          </a:prstGeom>
          <a:solidFill>
            <a:srgbClr val="FFFFFF"/>
          </a:solidFill>
          <a:ln w="12700">
            <a:solidFill>
              <a:srgbClr val="E2E8F0"/>
            </a:solidFill>
            <a:prstDash val="solid"/>
          </a:ln>
        </p:spPr>
      </p:sp>
      <p:sp>
        <p:nvSpPr>
          <p:cNvPr id="15" name="Text 11"/>
          <p:cNvSpPr txBox="1"/>
          <p:nvPr/>
        </p:nvSpPr>
        <p:spPr>
          <a:xfrm>
            <a:off x="5321808" y="1499616"/>
            <a:ext cx="1024128" cy="347472"/>
          </a:xfrm>
          <a:prstGeom prst="rect">
            <a:avLst/>
          </a:prstGeom>
          <a:noFill/>
          <a:ln/>
        </p:spPr>
        <p:txBody>
          <a:bodyPr wrap="square" lIns="0" tIns="0" rIns="0" bIns="0" rtlCol="0" anchor="ctr"/>
          <a:lstStyle/>
          <a:p>
            <a:pPr algn="ctr" indent="0" marL="0">
              <a:buNone/>
            </a:pPr>
            <a:r>
              <a:rPr lang="en-US" sz="1050" dirty="0">
                <a:solidFill>
                  <a:srgbClr val="0F172A"/>
                </a:solidFill>
                <a:latin typeface="Roboto" pitchFamily="34" charset="0"/>
                <a:ea typeface="Roboto" pitchFamily="34" charset="-122"/>
                <a:cs typeface="Roboto" pitchFamily="34" charset="-120"/>
              </a:rPr>
              <a:t>Head Manager</a:t>
            </a:r>
            <a:endParaRPr lang="en-US" sz="1050" dirty="0"/>
          </a:p>
        </p:txBody>
      </p:sp>
      <p:sp>
        <p:nvSpPr>
          <p:cNvPr id="16" name="Shape 12"/>
          <p:cNvSpPr/>
          <p:nvPr/>
        </p:nvSpPr>
        <p:spPr>
          <a:xfrm>
            <a:off x="7170268" y="1993392"/>
            <a:ext cx="0" cy="128016"/>
          </a:xfrm>
          <a:prstGeom prst="line">
            <a:avLst/>
          </a:prstGeom>
          <a:noFill/>
          <a:ln w="19050">
            <a:solidFill>
              <a:srgbClr val="94A3B8"/>
            </a:solidFill>
            <a:prstDash val="solid"/>
            <a:tailEnd type="triangle"/>
          </a:ln>
        </p:spPr>
      </p:sp>
      <p:sp>
        <p:nvSpPr>
          <p:cNvPr id="17" name="Shape 13"/>
          <p:cNvSpPr/>
          <p:nvPr/>
        </p:nvSpPr>
        <p:spPr>
          <a:xfrm>
            <a:off x="548640" y="2139696"/>
            <a:ext cx="1965960" cy="603504"/>
          </a:xfrm>
          <a:prstGeom prst="roundRect">
            <a:avLst>
              <a:gd name="adj" fmla="val 12121"/>
            </a:avLst>
          </a:prstGeom>
          <a:solidFill>
            <a:srgbClr val="0891B2"/>
          </a:solidFill>
          <a:ln w="12700">
            <a:solidFill>
              <a:srgbClr val="0891B2"/>
            </a:solidFill>
            <a:prstDash val="solid"/>
          </a:ln>
        </p:spPr>
      </p:sp>
      <p:sp>
        <p:nvSpPr>
          <p:cNvPr id="18" name="Text 14"/>
          <p:cNvSpPr txBox="1"/>
          <p:nvPr/>
        </p:nvSpPr>
        <p:spPr>
          <a:xfrm>
            <a:off x="685800" y="2139696"/>
            <a:ext cx="1783080" cy="603504"/>
          </a:xfrm>
          <a:prstGeom prst="rect">
            <a:avLst/>
          </a:prstGeom>
          <a:noFill/>
          <a:ln/>
        </p:spPr>
        <p:txBody>
          <a:bodyPr wrap="square" lIns="0" tIns="0" rIns="0" bIns="0" rtlCol="0" anchor="ctr"/>
          <a:lstStyle/>
          <a:p>
            <a:pPr indent="0" marL="0">
              <a:buNone/>
            </a:pPr>
            <a:r>
              <a:rPr lang="en-US" sz="1300" b="1" dirty="0">
                <a:solidFill>
                  <a:srgbClr val="FFFFFF"/>
                </a:solidFill>
                <a:latin typeface="Roboto" pitchFamily="34" charset="0"/>
                <a:ea typeface="Roboto" pitchFamily="34" charset="-122"/>
                <a:cs typeface="Roboto" pitchFamily="34" charset="-120"/>
              </a:rPr>
              <a:t>Frontend</a:t>
            </a:r>
            <a:endParaRPr lang="en-US" sz="1300" dirty="0"/>
          </a:p>
          <a:p>
            <a:pPr indent="0" marL="0">
              <a:buNone/>
            </a:pPr>
            <a:r>
              <a:rPr lang="en-US" sz="950" dirty="0">
                <a:solidFill>
                  <a:srgbClr val="E2E8F0"/>
                </a:solidFill>
                <a:latin typeface="Roboto" pitchFamily="34" charset="0"/>
                <a:ea typeface="Roboto" pitchFamily="34" charset="-122"/>
                <a:cs typeface="Roboto" pitchFamily="34" charset="-120"/>
              </a:rPr>
              <a:t>React 18 · Vite 5</a:t>
            </a:r>
            <a:endParaRPr lang="en-US" sz="1300" dirty="0"/>
          </a:p>
        </p:txBody>
      </p:sp>
      <p:sp>
        <p:nvSpPr>
          <p:cNvPr id="19" name="Shape 15"/>
          <p:cNvSpPr/>
          <p:nvPr/>
        </p:nvSpPr>
        <p:spPr>
          <a:xfrm>
            <a:off x="2697480" y="2139696"/>
            <a:ext cx="8945575" cy="603504"/>
          </a:xfrm>
          <a:prstGeom prst="roundRect">
            <a:avLst>
              <a:gd name="adj" fmla="val 12121"/>
            </a:avLst>
          </a:prstGeom>
          <a:solidFill>
            <a:srgbClr val="F8FAFC"/>
          </a:solidFill>
          <a:ln w="12700">
            <a:solidFill>
              <a:srgbClr val="E2E8F0"/>
            </a:solidFill>
            <a:prstDash val="solid"/>
          </a:ln>
        </p:spPr>
      </p:sp>
      <p:sp>
        <p:nvSpPr>
          <p:cNvPr id="20" name="Shape 16"/>
          <p:cNvSpPr/>
          <p:nvPr/>
        </p:nvSpPr>
        <p:spPr>
          <a:xfrm>
            <a:off x="2834640" y="2267712"/>
            <a:ext cx="960120" cy="347472"/>
          </a:xfrm>
          <a:prstGeom prst="roundRect">
            <a:avLst>
              <a:gd name="adj" fmla="val 50000"/>
            </a:avLst>
          </a:prstGeom>
          <a:solidFill>
            <a:srgbClr val="FFFFFF"/>
          </a:solidFill>
          <a:ln w="12700">
            <a:solidFill>
              <a:srgbClr val="E2E8F0"/>
            </a:solidFill>
            <a:prstDash val="solid"/>
          </a:ln>
        </p:spPr>
      </p:sp>
      <p:sp>
        <p:nvSpPr>
          <p:cNvPr id="21" name="Text 17"/>
          <p:cNvSpPr txBox="1"/>
          <p:nvPr/>
        </p:nvSpPr>
        <p:spPr>
          <a:xfrm>
            <a:off x="2834640" y="2267712"/>
            <a:ext cx="960120" cy="347472"/>
          </a:xfrm>
          <a:prstGeom prst="rect">
            <a:avLst/>
          </a:prstGeom>
          <a:noFill/>
          <a:ln/>
        </p:spPr>
        <p:txBody>
          <a:bodyPr wrap="square" lIns="0" tIns="0" rIns="0" bIns="0" rtlCol="0" anchor="ctr"/>
          <a:lstStyle/>
          <a:p>
            <a:pPr algn="ctr" indent="0" marL="0">
              <a:buNone/>
            </a:pPr>
            <a:r>
              <a:rPr lang="en-US" sz="1050" dirty="0">
                <a:solidFill>
                  <a:srgbClr val="0F172A"/>
                </a:solidFill>
                <a:latin typeface="Roboto" pitchFamily="34" charset="0"/>
                <a:ea typeface="Roboto" pitchFamily="34" charset="-122"/>
                <a:cs typeface="Roboto" pitchFamily="34" charset="-120"/>
              </a:rPr>
              <a:t>Loan wizard</a:t>
            </a:r>
            <a:endParaRPr lang="en-US" sz="1050" dirty="0"/>
          </a:p>
        </p:txBody>
      </p:sp>
      <p:sp>
        <p:nvSpPr>
          <p:cNvPr id="22" name="Shape 18"/>
          <p:cNvSpPr/>
          <p:nvPr/>
        </p:nvSpPr>
        <p:spPr>
          <a:xfrm>
            <a:off x="3886200" y="2267712"/>
            <a:ext cx="1984248" cy="347472"/>
          </a:xfrm>
          <a:prstGeom prst="roundRect">
            <a:avLst>
              <a:gd name="adj" fmla="val 50000"/>
            </a:avLst>
          </a:prstGeom>
          <a:solidFill>
            <a:srgbClr val="FFFFFF"/>
          </a:solidFill>
          <a:ln w="12700">
            <a:solidFill>
              <a:srgbClr val="E2E8F0"/>
            </a:solidFill>
            <a:prstDash val="solid"/>
          </a:ln>
        </p:spPr>
      </p:sp>
      <p:sp>
        <p:nvSpPr>
          <p:cNvPr id="23" name="Text 19"/>
          <p:cNvSpPr txBox="1"/>
          <p:nvPr/>
        </p:nvSpPr>
        <p:spPr>
          <a:xfrm>
            <a:off x="3886200" y="2267712"/>
            <a:ext cx="1984248" cy="347472"/>
          </a:xfrm>
          <a:prstGeom prst="rect">
            <a:avLst/>
          </a:prstGeom>
          <a:noFill/>
          <a:ln/>
        </p:spPr>
        <p:txBody>
          <a:bodyPr wrap="square" lIns="0" tIns="0" rIns="0" bIns="0" rtlCol="0" anchor="ctr"/>
          <a:lstStyle/>
          <a:p>
            <a:pPr algn="ctr" indent="0" marL="0">
              <a:buNone/>
            </a:pPr>
            <a:r>
              <a:rPr lang="en-US" sz="1050" dirty="0">
                <a:solidFill>
                  <a:srgbClr val="0F172A"/>
                </a:solidFill>
                <a:latin typeface="Roboto" pitchFamily="34" charset="0"/>
                <a:ea typeface="Roboto" pitchFamily="34" charset="-122"/>
                <a:cs typeface="Roboto" pitchFamily="34" charset="-120"/>
              </a:rPr>
              <a:t>Application detail (8 tabs)</a:t>
            </a:r>
            <a:endParaRPr lang="en-US" sz="1050" dirty="0"/>
          </a:p>
        </p:txBody>
      </p:sp>
      <p:sp>
        <p:nvSpPr>
          <p:cNvPr id="24" name="Shape 20"/>
          <p:cNvSpPr/>
          <p:nvPr/>
        </p:nvSpPr>
        <p:spPr>
          <a:xfrm>
            <a:off x="5961888" y="2267712"/>
            <a:ext cx="1152144" cy="347472"/>
          </a:xfrm>
          <a:prstGeom prst="roundRect">
            <a:avLst>
              <a:gd name="adj" fmla="val 50000"/>
            </a:avLst>
          </a:prstGeom>
          <a:solidFill>
            <a:srgbClr val="FFFFFF"/>
          </a:solidFill>
          <a:ln w="12700">
            <a:solidFill>
              <a:srgbClr val="E2E8F0"/>
            </a:solidFill>
            <a:prstDash val="solid"/>
          </a:ln>
        </p:spPr>
      </p:sp>
      <p:sp>
        <p:nvSpPr>
          <p:cNvPr id="25" name="Text 21"/>
          <p:cNvSpPr txBox="1"/>
          <p:nvPr/>
        </p:nvSpPr>
        <p:spPr>
          <a:xfrm>
            <a:off x="5961888" y="2267712"/>
            <a:ext cx="1152144" cy="347472"/>
          </a:xfrm>
          <a:prstGeom prst="rect">
            <a:avLst/>
          </a:prstGeom>
          <a:noFill/>
          <a:ln/>
        </p:spPr>
        <p:txBody>
          <a:bodyPr wrap="square" lIns="0" tIns="0" rIns="0" bIns="0" rtlCol="0" anchor="ctr"/>
          <a:lstStyle/>
          <a:p>
            <a:pPr algn="ctr" indent="0" marL="0">
              <a:buNone/>
            </a:pPr>
            <a:r>
              <a:rPr lang="en-US" sz="1050" dirty="0">
                <a:solidFill>
                  <a:srgbClr val="0F172A"/>
                </a:solidFill>
                <a:latin typeface="Roboto" pitchFamily="34" charset="0"/>
                <a:ea typeface="Roboto" pitchFamily="34" charset="-122"/>
                <a:cs typeface="Roboto" pitchFamily="34" charset="-120"/>
              </a:rPr>
              <a:t>Agent Activity</a:t>
            </a:r>
            <a:endParaRPr lang="en-US" sz="1050" dirty="0"/>
          </a:p>
        </p:txBody>
      </p:sp>
      <p:sp>
        <p:nvSpPr>
          <p:cNvPr id="26" name="Shape 22"/>
          <p:cNvSpPr/>
          <p:nvPr/>
        </p:nvSpPr>
        <p:spPr>
          <a:xfrm>
            <a:off x="7205472" y="2267712"/>
            <a:ext cx="1344168" cy="347472"/>
          </a:xfrm>
          <a:prstGeom prst="roundRect">
            <a:avLst>
              <a:gd name="adj" fmla="val 50000"/>
            </a:avLst>
          </a:prstGeom>
          <a:solidFill>
            <a:srgbClr val="FFFFFF"/>
          </a:solidFill>
          <a:ln w="12700">
            <a:solidFill>
              <a:srgbClr val="E2E8F0"/>
            </a:solidFill>
            <a:prstDash val="solid"/>
          </a:ln>
        </p:spPr>
      </p:sp>
      <p:sp>
        <p:nvSpPr>
          <p:cNvPr id="27" name="Text 23"/>
          <p:cNvSpPr txBox="1"/>
          <p:nvPr/>
        </p:nvSpPr>
        <p:spPr>
          <a:xfrm>
            <a:off x="7205472" y="2267712"/>
            <a:ext cx="1344168" cy="347472"/>
          </a:xfrm>
          <a:prstGeom prst="rect">
            <a:avLst/>
          </a:prstGeom>
          <a:noFill/>
          <a:ln/>
        </p:spPr>
        <p:txBody>
          <a:bodyPr wrap="square" lIns="0" tIns="0" rIns="0" bIns="0" rtlCol="0" anchor="ctr"/>
          <a:lstStyle/>
          <a:p>
            <a:pPr algn="ctr" indent="0" marL="0">
              <a:buNone/>
            </a:pPr>
            <a:r>
              <a:rPr lang="en-US" sz="1050" dirty="0">
                <a:solidFill>
                  <a:srgbClr val="0F172A"/>
                </a:solidFill>
                <a:latin typeface="Roboto" pitchFamily="34" charset="0"/>
                <a:ea typeface="Roboto" pitchFamily="34" charset="-122"/>
                <a:cs typeface="Roboto" pitchFamily="34" charset="-120"/>
              </a:rPr>
              <a:t>AI model settings</a:t>
            </a:r>
            <a:endParaRPr lang="en-US" sz="1050" dirty="0"/>
          </a:p>
        </p:txBody>
      </p:sp>
      <p:sp>
        <p:nvSpPr>
          <p:cNvPr id="28" name="Shape 24"/>
          <p:cNvSpPr/>
          <p:nvPr/>
        </p:nvSpPr>
        <p:spPr>
          <a:xfrm>
            <a:off x="8641080" y="2267712"/>
            <a:ext cx="1728216" cy="347472"/>
          </a:xfrm>
          <a:prstGeom prst="roundRect">
            <a:avLst>
              <a:gd name="adj" fmla="val 50000"/>
            </a:avLst>
          </a:prstGeom>
          <a:solidFill>
            <a:srgbClr val="FFFFFF"/>
          </a:solidFill>
          <a:ln w="12700">
            <a:solidFill>
              <a:srgbClr val="E2E8F0"/>
            </a:solidFill>
            <a:prstDash val="solid"/>
          </a:ln>
        </p:spPr>
      </p:sp>
      <p:sp>
        <p:nvSpPr>
          <p:cNvPr id="29" name="Text 25"/>
          <p:cNvSpPr txBox="1"/>
          <p:nvPr/>
        </p:nvSpPr>
        <p:spPr>
          <a:xfrm>
            <a:off x="8641080" y="2267712"/>
            <a:ext cx="1728216" cy="347472"/>
          </a:xfrm>
          <a:prstGeom prst="rect">
            <a:avLst/>
          </a:prstGeom>
          <a:noFill/>
          <a:ln/>
        </p:spPr>
        <p:txBody>
          <a:bodyPr wrap="square" lIns="0" tIns="0" rIns="0" bIns="0" rtlCol="0" anchor="ctr"/>
          <a:lstStyle/>
          <a:p>
            <a:pPr algn="ctr" indent="0" marL="0">
              <a:buNone/>
            </a:pPr>
            <a:r>
              <a:rPr lang="en-US" sz="1050" dirty="0">
                <a:solidFill>
                  <a:srgbClr val="0F172A"/>
                </a:solidFill>
                <a:latin typeface="Roboto" pitchFamily="34" charset="0"/>
                <a:ea typeface="Roboto" pitchFamily="34" charset="-122"/>
                <a:cs typeface="Roboto" pitchFamily="34" charset="-120"/>
              </a:rPr>
              <a:t>RBI compliance &amp; policy</a:t>
            </a:r>
            <a:endParaRPr lang="en-US" sz="1050" dirty="0"/>
          </a:p>
        </p:txBody>
      </p:sp>
      <p:sp>
        <p:nvSpPr>
          <p:cNvPr id="30" name="Shape 26"/>
          <p:cNvSpPr/>
          <p:nvPr/>
        </p:nvSpPr>
        <p:spPr>
          <a:xfrm>
            <a:off x="7170268" y="2761488"/>
            <a:ext cx="0" cy="128016"/>
          </a:xfrm>
          <a:prstGeom prst="line">
            <a:avLst/>
          </a:prstGeom>
          <a:noFill/>
          <a:ln w="19050">
            <a:solidFill>
              <a:srgbClr val="94A3B8"/>
            </a:solidFill>
            <a:prstDash val="solid"/>
            <a:tailEnd type="triangle"/>
          </a:ln>
        </p:spPr>
      </p:sp>
      <p:sp>
        <p:nvSpPr>
          <p:cNvPr id="31" name="Shape 27"/>
          <p:cNvSpPr/>
          <p:nvPr/>
        </p:nvSpPr>
        <p:spPr>
          <a:xfrm>
            <a:off x="548640" y="2907792"/>
            <a:ext cx="1965960" cy="603504"/>
          </a:xfrm>
          <a:prstGeom prst="roundRect">
            <a:avLst>
              <a:gd name="adj" fmla="val 12121"/>
            </a:avLst>
          </a:prstGeom>
          <a:solidFill>
            <a:srgbClr val="0F766E"/>
          </a:solidFill>
          <a:ln w="12700">
            <a:solidFill>
              <a:srgbClr val="0F766E"/>
            </a:solidFill>
            <a:prstDash val="solid"/>
          </a:ln>
        </p:spPr>
      </p:sp>
      <p:sp>
        <p:nvSpPr>
          <p:cNvPr id="32" name="Text 28"/>
          <p:cNvSpPr txBox="1"/>
          <p:nvPr/>
        </p:nvSpPr>
        <p:spPr>
          <a:xfrm>
            <a:off x="685800" y="2907792"/>
            <a:ext cx="1783080" cy="603504"/>
          </a:xfrm>
          <a:prstGeom prst="rect">
            <a:avLst/>
          </a:prstGeom>
          <a:noFill/>
          <a:ln/>
        </p:spPr>
        <p:txBody>
          <a:bodyPr wrap="square" lIns="0" tIns="0" rIns="0" bIns="0" rtlCol="0" anchor="ctr"/>
          <a:lstStyle/>
          <a:p>
            <a:pPr indent="0" marL="0">
              <a:buNone/>
            </a:pPr>
            <a:r>
              <a:rPr lang="en-US" sz="1300" b="1" dirty="0">
                <a:solidFill>
                  <a:srgbClr val="FFFFFF"/>
                </a:solidFill>
                <a:latin typeface="Roboto" pitchFamily="34" charset="0"/>
                <a:ea typeface="Roboto" pitchFamily="34" charset="-122"/>
                <a:cs typeface="Roboto" pitchFamily="34" charset="-120"/>
              </a:rPr>
              <a:t>API</a:t>
            </a:r>
            <a:endParaRPr lang="en-US" sz="1300" dirty="0"/>
          </a:p>
          <a:p>
            <a:pPr indent="0" marL="0">
              <a:buNone/>
            </a:pPr>
            <a:r>
              <a:rPr lang="en-US" sz="950" dirty="0">
                <a:solidFill>
                  <a:srgbClr val="E2E8F0"/>
                </a:solidFill>
                <a:latin typeface="Roboto" pitchFamily="34" charset="0"/>
                <a:ea typeface="Roboto" pitchFamily="34" charset="-122"/>
                <a:cs typeface="Roboto" pitchFamily="34" charset="-120"/>
              </a:rPr>
              <a:t>FastAPI · Uvicorn :8000</a:t>
            </a:r>
            <a:endParaRPr lang="en-US" sz="1300" dirty="0"/>
          </a:p>
        </p:txBody>
      </p:sp>
      <p:sp>
        <p:nvSpPr>
          <p:cNvPr id="33" name="Shape 29"/>
          <p:cNvSpPr/>
          <p:nvPr/>
        </p:nvSpPr>
        <p:spPr>
          <a:xfrm>
            <a:off x="2697480" y="2907792"/>
            <a:ext cx="8945575" cy="603504"/>
          </a:xfrm>
          <a:prstGeom prst="roundRect">
            <a:avLst>
              <a:gd name="adj" fmla="val 12121"/>
            </a:avLst>
          </a:prstGeom>
          <a:solidFill>
            <a:srgbClr val="F8FAFC"/>
          </a:solidFill>
          <a:ln w="12700">
            <a:solidFill>
              <a:srgbClr val="E2E8F0"/>
            </a:solidFill>
            <a:prstDash val="solid"/>
          </a:ln>
        </p:spPr>
      </p:sp>
      <p:sp>
        <p:nvSpPr>
          <p:cNvPr id="34" name="Shape 30"/>
          <p:cNvSpPr/>
          <p:nvPr/>
        </p:nvSpPr>
        <p:spPr>
          <a:xfrm>
            <a:off x="2834640" y="3035808"/>
            <a:ext cx="804672" cy="347472"/>
          </a:xfrm>
          <a:prstGeom prst="roundRect">
            <a:avLst>
              <a:gd name="adj" fmla="val 50000"/>
            </a:avLst>
          </a:prstGeom>
          <a:solidFill>
            <a:srgbClr val="FFFFFF"/>
          </a:solidFill>
          <a:ln w="12700">
            <a:solidFill>
              <a:srgbClr val="E2E8F0"/>
            </a:solidFill>
            <a:prstDash val="solid"/>
          </a:ln>
        </p:spPr>
      </p:sp>
      <p:sp>
        <p:nvSpPr>
          <p:cNvPr id="35" name="Text 31"/>
          <p:cNvSpPr txBox="1"/>
          <p:nvPr/>
        </p:nvSpPr>
        <p:spPr>
          <a:xfrm>
            <a:off x="2834640" y="3035808"/>
            <a:ext cx="804672" cy="347472"/>
          </a:xfrm>
          <a:prstGeom prst="rect">
            <a:avLst/>
          </a:prstGeom>
          <a:noFill/>
          <a:ln/>
        </p:spPr>
        <p:txBody>
          <a:bodyPr wrap="square" lIns="0" tIns="0" rIns="0" bIns="0" rtlCol="0" anchor="ctr"/>
          <a:lstStyle/>
          <a:p>
            <a:pPr algn="ctr" indent="0" marL="0">
              <a:buNone/>
            </a:pPr>
            <a:r>
              <a:rPr lang="en-US" sz="1000" dirty="0">
                <a:solidFill>
                  <a:srgbClr val="0F172A"/>
                </a:solidFill>
                <a:latin typeface="Consolas" pitchFamily="34" charset="0"/>
                <a:ea typeface="Consolas" pitchFamily="34" charset="-122"/>
                <a:cs typeface="Consolas" pitchFamily="34" charset="-120"/>
              </a:rPr>
              <a:t>/extract</a:t>
            </a:r>
            <a:endParaRPr lang="en-US" sz="1000" dirty="0"/>
          </a:p>
        </p:txBody>
      </p:sp>
      <p:sp>
        <p:nvSpPr>
          <p:cNvPr id="36" name="Shape 32"/>
          <p:cNvSpPr/>
          <p:nvPr/>
        </p:nvSpPr>
        <p:spPr>
          <a:xfrm>
            <a:off x="3730752" y="3035808"/>
            <a:ext cx="1559052" cy="347472"/>
          </a:xfrm>
          <a:prstGeom prst="roundRect">
            <a:avLst>
              <a:gd name="adj" fmla="val 50000"/>
            </a:avLst>
          </a:prstGeom>
          <a:solidFill>
            <a:srgbClr val="FFFFFF"/>
          </a:solidFill>
          <a:ln w="12700">
            <a:solidFill>
              <a:srgbClr val="E2E8F0"/>
            </a:solidFill>
            <a:prstDash val="solid"/>
          </a:ln>
        </p:spPr>
      </p:sp>
      <p:sp>
        <p:nvSpPr>
          <p:cNvPr id="37" name="Text 33"/>
          <p:cNvSpPr txBox="1"/>
          <p:nvPr/>
        </p:nvSpPr>
        <p:spPr>
          <a:xfrm>
            <a:off x="3730752" y="3035808"/>
            <a:ext cx="1559052" cy="347472"/>
          </a:xfrm>
          <a:prstGeom prst="rect">
            <a:avLst/>
          </a:prstGeom>
          <a:noFill/>
          <a:ln/>
        </p:spPr>
        <p:txBody>
          <a:bodyPr wrap="square" lIns="0" tIns="0" rIns="0" bIns="0" rtlCol="0" anchor="ctr"/>
          <a:lstStyle/>
          <a:p>
            <a:pPr algn="ctr" indent="0" marL="0">
              <a:buNone/>
            </a:pPr>
            <a:r>
              <a:rPr lang="en-US" sz="1000" dirty="0">
                <a:solidFill>
                  <a:srgbClr val="0F172A"/>
                </a:solidFill>
                <a:latin typeface="Consolas" pitchFamily="34" charset="0"/>
                <a:ea typeface="Consolas" pitchFamily="34" charset="-122"/>
                <a:cs typeface="Consolas" pitchFamily="34" charset="-120"/>
              </a:rPr>
              <a:t>/document/integrity</a:t>
            </a:r>
            <a:endParaRPr lang="en-US" sz="1000" dirty="0"/>
          </a:p>
        </p:txBody>
      </p:sp>
      <p:sp>
        <p:nvSpPr>
          <p:cNvPr id="38" name="Shape 34"/>
          <p:cNvSpPr/>
          <p:nvPr/>
        </p:nvSpPr>
        <p:spPr>
          <a:xfrm>
            <a:off x="5381244" y="3035808"/>
            <a:ext cx="1216152" cy="347472"/>
          </a:xfrm>
          <a:prstGeom prst="roundRect">
            <a:avLst>
              <a:gd name="adj" fmla="val 50000"/>
            </a:avLst>
          </a:prstGeom>
          <a:solidFill>
            <a:srgbClr val="FFFFFF"/>
          </a:solidFill>
          <a:ln w="12700">
            <a:solidFill>
              <a:srgbClr val="E2E8F0"/>
            </a:solidFill>
            <a:prstDash val="solid"/>
          </a:ln>
        </p:spPr>
      </p:sp>
      <p:sp>
        <p:nvSpPr>
          <p:cNvPr id="39" name="Text 35"/>
          <p:cNvSpPr txBox="1"/>
          <p:nvPr/>
        </p:nvSpPr>
        <p:spPr>
          <a:xfrm>
            <a:off x="5381244" y="3035808"/>
            <a:ext cx="1216152" cy="347472"/>
          </a:xfrm>
          <a:prstGeom prst="rect">
            <a:avLst/>
          </a:prstGeom>
          <a:noFill/>
          <a:ln/>
        </p:spPr>
        <p:txBody>
          <a:bodyPr wrap="square" lIns="0" tIns="0" rIns="0" bIns="0" rtlCol="0" anchor="ctr"/>
          <a:lstStyle/>
          <a:p>
            <a:pPr algn="ctr" indent="0" marL="0">
              <a:buNone/>
            </a:pPr>
            <a:r>
              <a:rPr lang="en-US" sz="1000" dirty="0">
                <a:solidFill>
                  <a:srgbClr val="0F172A"/>
                </a:solidFill>
                <a:latin typeface="Consolas" pitchFamily="34" charset="0"/>
                <a:ea typeface="Consolas" pitchFamily="34" charset="-122"/>
                <a:cs typeface="Consolas" pitchFamily="34" charset="-120"/>
              </a:rPr>
              <a:t>/document/mask</a:t>
            </a:r>
            <a:endParaRPr lang="en-US" sz="1000" dirty="0"/>
          </a:p>
        </p:txBody>
      </p:sp>
      <p:sp>
        <p:nvSpPr>
          <p:cNvPr id="40" name="Shape 36"/>
          <p:cNvSpPr/>
          <p:nvPr/>
        </p:nvSpPr>
        <p:spPr>
          <a:xfrm>
            <a:off x="6688836" y="3035808"/>
            <a:ext cx="1078992" cy="347472"/>
          </a:xfrm>
          <a:prstGeom prst="roundRect">
            <a:avLst>
              <a:gd name="adj" fmla="val 50000"/>
            </a:avLst>
          </a:prstGeom>
          <a:solidFill>
            <a:srgbClr val="FFFFFF"/>
          </a:solidFill>
          <a:ln w="12700">
            <a:solidFill>
              <a:srgbClr val="E2E8F0"/>
            </a:solidFill>
            <a:prstDash val="solid"/>
          </a:ln>
        </p:spPr>
      </p:sp>
      <p:sp>
        <p:nvSpPr>
          <p:cNvPr id="41" name="Text 37"/>
          <p:cNvSpPr txBox="1"/>
          <p:nvPr/>
        </p:nvSpPr>
        <p:spPr>
          <a:xfrm>
            <a:off x="6688836" y="3035808"/>
            <a:ext cx="1078992" cy="347472"/>
          </a:xfrm>
          <a:prstGeom prst="rect">
            <a:avLst/>
          </a:prstGeom>
          <a:noFill/>
          <a:ln/>
        </p:spPr>
        <p:txBody>
          <a:bodyPr wrap="square" lIns="0" tIns="0" rIns="0" bIns="0" rtlCol="0" anchor="ctr"/>
          <a:lstStyle/>
          <a:p>
            <a:pPr algn="ctr" indent="0" marL="0">
              <a:buNone/>
            </a:pPr>
            <a:r>
              <a:rPr lang="en-US" sz="1000" dirty="0">
                <a:solidFill>
                  <a:srgbClr val="0F172A"/>
                </a:solidFill>
                <a:latin typeface="Consolas" pitchFamily="34" charset="0"/>
                <a:ea typeface="Consolas" pitchFamily="34" charset="-122"/>
                <a:cs typeface="Consolas" pitchFamily="34" charset="-120"/>
              </a:rPr>
              <a:t>/face/verify</a:t>
            </a:r>
            <a:endParaRPr lang="en-US" sz="1000" dirty="0"/>
          </a:p>
        </p:txBody>
      </p:sp>
      <p:sp>
        <p:nvSpPr>
          <p:cNvPr id="42" name="Shape 38"/>
          <p:cNvSpPr/>
          <p:nvPr/>
        </p:nvSpPr>
        <p:spPr>
          <a:xfrm>
            <a:off x="7859268" y="3035808"/>
            <a:ext cx="1284732" cy="347472"/>
          </a:xfrm>
          <a:prstGeom prst="roundRect">
            <a:avLst>
              <a:gd name="adj" fmla="val 50000"/>
            </a:avLst>
          </a:prstGeom>
          <a:solidFill>
            <a:srgbClr val="FFFFFF"/>
          </a:solidFill>
          <a:ln w="12700">
            <a:solidFill>
              <a:srgbClr val="E2E8F0"/>
            </a:solidFill>
            <a:prstDash val="solid"/>
          </a:ln>
        </p:spPr>
      </p:sp>
      <p:sp>
        <p:nvSpPr>
          <p:cNvPr id="43" name="Text 39"/>
          <p:cNvSpPr txBox="1"/>
          <p:nvPr/>
        </p:nvSpPr>
        <p:spPr>
          <a:xfrm>
            <a:off x="7859268" y="3035808"/>
            <a:ext cx="1284732" cy="347472"/>
          </a:xfrm>
          <a:prstGeom prst="rect">
            <a:avLst/>
          </a:prstGeom>
          <a:noFill/>
          <a:ln/>
        </p:spPr>
        <p:txBody>
          <a:bodyPr wrap="square" lIns="0" tIns="0" rIns="0" bIns="0" rtlCol="0" anchor="ctr"/>
          <a:lstStyle/>
          <a:p>
            <a:pPr algn="ctr" indent="0" marL="0">
              <a:buNone/>
            </a:pPr>
            <a:r>
              <a:rPr lang="en-US" sz="1000" dirty="0">
                <a:solidFill>
                  <a:srgbClr val="0F172A"/>
                </a:solidFill>
                <a:latin typeface="Consolas" pitchFamily="34" charset="0"/>
                <a:ea typeface="Consolas" pitchFamily="34" charset="-122"/>
                <a:cs typeface="Consolas" pitchFamily="34" charset="-120"/>
              </a:rPr>
              <a:t>/liveness/check</a:t>
            </a:r>
            <a:endParaRPr lang="en-US" sz="1000" dirty="0"/>
          </a:p>
        </p:txBody>
      </p:sp>
      <p:sp>
        <p:nvSpPr>
          <p:cNvPr id="44" name="Shape 40"/>
          <p:cNvSpPr/>
          <p:nvPr/>
        </p:nvSpPr>
        <p:spPr>
          <a:xfrm>
            <a:off x="9235440" y="3035808"/>
            <a:ext cx="873252" cy="347472"/>
          </a:xfrm>
          <a:prstGeom prst="roundRect">
            <a:avLst>
              <a:gd name="adj" fmla="val 50000"/>
            </a:avLst>
          </a:prstGeom>
          <a:solidFill>
            <a:srgbClr val="FFFFFF"/>
          </a:solidFill>
          <a:ln w="12700">
            <a:solidFill>
              <a:srgbClr val="E2E8F0"/>
            </a:solidFill>
            <a:prstDash val="solid"/>
          </a:ln>
        </p:spPr>
      </p:sp>
      <p:sp>
        <p:nvSpPr>
          <p:cNvPr id="45" name="Text 41"/>
          <p:cNvSpPr txBox="1"/>
          <p:nvPr/>
        </p:nvSpPr>
        <p:spPr>
          <a:xfrm>
            <a:off x="9235440" y="3035808"/>
            <a:ext cx="873252" cy="347472"/>
          </a:xfrm>
          <a:prstGeom prst="rect">
            <a:avLst/>
          </a:prstGeom>
          <a:noFill/>
          <a:ln/>
        </p:spPr>
        <p:txBody>
          <a:bodyPr wrap="square" lIns="0" tIns="0" rIns="0" bIns="0" rtlCol="0" anchor="ctr"/>
          <a:lstStyle/>
          <a:p>
            <a:pPr algn="ctr" indent="0" marL="0">
              <a:buNone/>
            </a:pPr>
            <a:r>
              <a:rPr lang="en-US" sz="1000" dirty="0">
                <a:solidFill>
                  <a:srgbClr val="0F172A"/>
                </a:solidFill>
                <a:latin typeface="Consolas" pitchFamily="34" charset="0"/>
                <a:ea typeface="Consolas" pitchFamily="34" charset="-122"/>
                <a:cs typeface="Consolas" pitchFamily="34" charset="-120"/>
              </a:rPr>
              <a:t>/agents/*</a:t>
            </a:r>
            <a:endParaRPr lang="en-US" sz="1000" dirty="0"/>
          </a:p>
        </p:txBody>
      </p:sp>
      <p:sp>
        <p:nvSpPr>
          <p:cNvPr id="46" name="Shape 42"/>
          <p:cNvSpPr/>
          <p:nvPr/>
        </p:nvSpPr>
        <p:spPr>
          <a:xfrm>
            <a:off x="10200132" y="3035808"/>
            <a:ext cx="1147572" cy="347472"/>
          </a:xfrm>
          <a:prstGeom prst="roundRect">
            <a:avLst>
              <a:gd name="adj" fmla="val 50000"/>
            </a:avLst>
          </a:prstGeom>
          <a:solidFill>
            <a:srgbClr val="FFFFFF"/>
          </a:solidFill>
          <a:ln w="12700">
            <a:solidFill>
              <a:srgbClr val="E2E8F0"/>
            </a:solidFill>
            <a:prstDash val="solid"/>
          </a:ln>
        </p:spPr>
      </p:sp>
      <p:sp>
        <p:nvSpPr>
          <p:cNvPr id="47" name="Text 43"/>
          <p:cNvSpPr txBox="1"/>
          <p:nvPr/>
        </p:nvSpPr>
        <p:spPr>
          <a:xfrm>
            <a:off x="10200132" y="3035808"/>
            <a:ext cx="1147572" cy="347472"/>
          </a:xfrm>
          <a:prstGeom prst="rect">
            <a:avLst/>
          </a:prstGeom>
          <a:noFill/>
          <a:ln/>
        </p:spPr>
        <p:txBody>
          <a:bodyPr wrap="square" lIns="0" tIns="0" rIns="0" bIns="0" rtlCol="0" anchor="ctr"/>
          <a:lstStyle/>
          <a:p>
            <a:pPr algn="ctr" indent="0" marL="0">
              <a:buNone/>
            </a:pPr>
            <a:r>
              <a:rPr lang="en-US" sz="1000" dirty="0">
                <a:solidFill>
                  <a:srgbClr val="0F172A"/>
                </a:solidFill>
                <a:latin typeface="Consolas" pitchFamily="34" charset="0"/>
                <a:ea typeface="Consolas" pitchFamily="34" charset="-122"/>
                <a:cs typeface="Consolas" pitchFamily="34" charset="-120"/>
              </a:rPr>
              <a:t>/settings/llm</a:t>
            </a:r>
            <a:endParaRPr lang="en-US" sz="1000" dirty="0"/>
          </a:p>
        </p:txBody>
      </p:sp>
      <p:sp>
        <p:nvSpPr>
          <p:cNvPr id="48" name="Shape 44"/>
          <p:cNvSpPr/>
          <p:nvPr/>
        </p:nvSpPr>
        <p:spPr>
          <a:xfrm>
            <a:off x="7170268" y="3529584"/>
            <a:ext cx="0" cy="128016"/>
          </a:xfrm>
          <a:prstGeom prst="line">
            <a:avLst/>
          </a:prstGeom>
          <a:noFill/>
          <a:ln w="19050">
            <a:solidFill>
              <a:srgbClr val="94A3B8"/>
            </a:solidFill>
            <a:prstDash val="solid"/>
            <a:tailEnd type="triangle"/>
          </a:ln>
        </p:spPr>
      </p:sp>
      <p:sp>
        <p:nvSpPr>
          <p:cNvPr id="49" name="Shape 45"/>
          <p:cNvSpPr/>
          <p:nvPr/>
        </p:nvSpPr>
        <p:spPr>
          <a:xfrm>
            <a:off x="548640" y="3675888"/>
            <a:ext cx="1965960" cy="603504"/>
          </a:xfrm>
          <a:prstGeom prst="roundRect">
            <a:avLst>
              <a:gd name="adj" fmla="val 12121"/>
            </a:avLst>
          </a:prstGeom>
          <a:solidFill>
            <a:srgbClr val="E11D48"/>
          </a:solidFill>
          <a:ln w="12700">
            <a:solidFill>
              <a:srgbClr val="E11D48"/>
            </a:solidFill>
            <a:prstDash val="solid"/>
          </a:ln>
        </p:spPr>
      </p:sp>
      <p:sp>
        <p:nvSpPr>
          <p:cNvPr id="50" name="Text 46"/>
          <p:cNvSpPr txBox="1"/>
          <p:nvPr/>
        </p:nvSpPr>
        <p:spPr>
          <a:xfrm>
            <a:off x="685800" y="3675888"/>
            <a:ext cx="1783080" cy="603504"/>
          </a:xfrm>
          <a:prstGeom prst="rect">
            <a:avLst/>
          </a:prstGeom>
          <a:noFill/>
          <a:ln/>
        </p:spPr>
        <p:txBody>
          <a:bodyPr wrap="square" lIns="0" tIns="0" rIns="0" bIns="0" rtlCol="0" anchor="ctr"/>
          <a:lstStyle/>
          <a:p>
            <a:pPr indent="0" marL="0">
              <a:buNone/>
            </a:pPr>
            <a:r>
              <a:rPr lang="en-US" sz="1300" b="1" dirty="0">
                <a:solidFill>
                  <a:srgbClr val="FFFFFF"/>
                </a:solidFill>
                <a:latin typeface="Roboto" pitchFamily="34" charset="0"/>
                <a:ea typeface="Roboto" pitchFamily="34" charset="-122"/>
                <a:cs typeface="Roboto" pitchFamily="34" charset="-120"/>
              </a:rPr>
              <a:t>Agent layer</a:t>
            </a:r>
            <a:endParaRPr lang="en-US" sz="1300" dirty="0"/>
          </a:p>
          <a:p>
            <a:pPr indent="0" marL="0">
              <a:buNone/>
            </a:pPr>
            <a:r>
              <a:rPr lang="en-US" sz="950" dirty="0">
                <a:solidFill>
                  <a:srgbClr val="E2E8F0"/>
                </a:solidFill>
                <a:latin typeface="Roboto" pitchFamily="34" charset="0"/>
                <a:ea typeface="Roboto" pitchFamily="34" charset="-122"/>
                <a:cs typeface="Roboto" pitchFamily="34" charset="-120"/>
              </a:rPr>
              <a:t>CrewAI 1.15 flows</a:t>
            </a:r>
            <a:endParaRPr lang="en-US" sz="1300" dirty="0"/>
          </a:p>
        </p:txBody>
      </p:sp>
      <p:sp>
        <p:nvSpPr>
          <p:cNvPr id="51" name="Shape 47"/>
          <p:cNvSpPr/>
          <p:nvPr/>
        </p:nvSpPr>
        <p:spPr>
          <a:xfrm>
            <a:off x="2697480" y="3675888"/>
            <a:ext cx="8945575" cy="603504"/>
          </a:xfrm>
          <a:prstGeom prst="roundRect">
            <a:avLst>
              <a:gd name="adj" fmla="val 12121"/>
            </a:avLst>
          </a:prstGeom>
          <a:solidFill>
            <a:srgbClr val="F8FAFC"/>
          </a:solidFill>
          <a:ln w="12700">
            <a:solidFill>
              <a:srgbClr val="E2E8F0"/>
            </a:solidFill>
            <a:prstDash val="solid"/>
          </a:ln>
        </p:spPr>
      </p:sp>
      <p:sp>
        <p:nvSpPr>
          <p:cNvPr id="52" name="Shape 48"/>
          <p:cNvSpPr/>
          <p:nvPr/>
        </p:nvSpPr>
        <p:spPr>
          <a:xfrm>
            <a:off x="2834640" y="3803904"/>
            <a:ext cx="865632" cy="347472"/>
          </a:xfrm>
          <a:prstGeom prst="roundRect">
            <a:avLst>
              <a:gd name="adj" fmla="val 50000"/>
            </a:avLst>
          </a:prstGeom>
          <a:solidFill>
            <a:srgbClr val="FFFFFF"/>
          </a:solidFill>
          <a:ln w="12700">
            <a:solidFill>
              <a:srgbClr val="E2E8F0"/>
            </a:solidFill>
            <a:prstDash val="solid"/>
          </a:ln>
        </p:spPr>
      </p:sp>
      <p:sp>
        <p:nvSpPr>
          <p:cNvPr id="53" name="Text 49"/>
          <p:cNvSpPr txBox="1"/>
          <p:nvPr/>
        </p:nvSpPr>
        <p:spPr>
          <a:xfrm>
            <a:off x="2834640" y="3803904"/>
            <a:ext cx="865632" cy="347472"/>
          </a:xfrm>
          <a:prstGeom prst="rect">
            <a:avLst/>
          </a:prstGeom>
          <a:noFill/>
          <a:ln/>
        </p:spPr>
        <p:txBody>
          <a:bodyPr wrap="square" lIns="0" tIns="0" rIns="0" bIns="0" rtlCol="0" anchor="ctr"/>
          <a:lstStyle/>
          <a:p>
            <a:pPr algn="ctr" indent="0" marL="0">
              <a:buNone/>
            </a:pPr>
            <a:r>
              <a:rPr lang="en-US" sz="1000" dirty="0">
                <a:solidFill>
                  <a:srgbClr val="0F172A"/>
                </a:solidFill>
                <a:latin typeface="Roboto" pitchFamily="34" charset="0"/>
                <a:ea typeface="Roboto" pitchFamily="34" charset="-122"/>
                <a:cs typeface="Roboto" pitchFamily="34" charset="-120"/>
              </a:rPr>
              <a:t>IntakeFlow</a:t>
            </a:r>
            <a:endParaRPr lang="en-US" sz="1000" dirty="0"/>
          </a:p>
        </p:txBody>
      </p:sp>
      <p:sp>
        <p:nvSpPr>
          <p:cNvPr id="54" name="Shape 50"/>
          <p:cNvSpPr/>
          <p:nvPr/>
        </p:nvSpPr>
        <p:spPr>
          <a:xfrm>
            <a:off x="3764280" y="3803904"/>
            <a:ext cx="1353312" cy="347472"/>
          </a:xfrm>
          <a:prstGeom prst="roundRect">
            <a:avLst>
              <a:gd name="adj" fmla="val 50000"/>
            </a:avLst>
          </a:prstGeom>
          <a:solidFill>
            <a:srgbClr val="FFFFFF"/>
          </a:solidFill>
          <a:ln w="12700">
            <a:solidFill>
              <a:srgbClr val="E2E8F0"/>
            </a:solidFill>
            <a:prstDash val="solid"/>
          </a:ln>
        </p:spPr>
      </p:sp>
      <p:sp>
        <p:nvSpPr>
          <p:cNvPr id="55" name="Text 51"/>
          <p:cNvSpPr txBox="1"/>
          <p:nvPr/>
        </p:nvSpPr>
        <p:spPr>
          <a:xfrm>
            <a:off x="3764280" y="3803904"/>
            <a:ext cx="1353312" cy="347472"/>
          </a:xfrm>
          <a:prstGeom prst="rect">
            <a:avLst/>
          </a:prstGeom>
          <a:noFill/>
          <a:ln/>
        </p:spPr>
        <p:txBody>
          <a:bodyPr wrap="square" lIns="0" tIns="0" rIns="0" bIns="0" rtlCol="0" anchor="ctr"/>
          <a:lstStyle/>
          <a:p>
            <a:pPr algn="ctr" indent="0" marL="0">
              <a:buNone/>
            </a:pPr>
            <a:r>
              <a:rPr lang="en-US" sz="1000" dirty="0">
                <a:solidFill>
                  <a:srgbClr val="0F172A"/>
                </a:solidFill>
                <a:latin typeface="Roboto" pitchFamily="34" charset="0"/>
                <a:ea typeface="Roboto" pitchFamily="34" charset="-122"/>
                <a:cs typeface="Roboto" pitchFamily="34" charset="-120"/>
              </a:rPr>
              <a:t>CaseAssessmentFlow</a:t>
            </a:r>
            <a:endParaRPr lang="en-US" sz="1000" dirty="0"/>
          </a:p>
        </p:txBody>
      </p:sp>
      <p:sp>
        <p:nvSpPr>
          <p:cNvPr id="56" name="Shape 52"/>
          <p:cNvSpPr/>
          <p:nvPr/>
        </p:nvSpPr>
        <p:spPr>
          <a:xfrm>
            <a:off x="5181600" y="3803904"/>
            <a:ext cx="1658112" cy="347472"/>
          </a:xfrm>
          <a:prstGeom prst="roundRect">
            <a:avLst>
              <a:gd name="adj" fmla="val 50000"/>
            </a:avLst>
          </a:prstGeom>
          <a:solidFill>
            <a:srgbClr val="FFFFFF"/>
          </a:solidFill>
          <a:ln w="12700">
            <a:solidFill>
              <a:srgbClr val="E2E8F0"/>
            </a:solidFill>
            <a:prstDash val="solid"/>
          </a:ln>
        </p:spPr>
      </p:sp>
      <p:sp>
        <p:nvSpPr>
          <p:cNvPr id="57" name="Text 53"/>
          <p:cNvSpPr txBox="1"/>
          <p:nvPr/>
        </p:nvSpPr>
        <p:spPr>
          <a:xfrm>
            <a:off x="5181600" y="3803904"/>
            <a:ext cx="1658112" cy="347472"/>
          </a:xfrm>
          <a:prstGeom prst="rect">
            <a:avLst/>
          </a:prstGeom>
          <a:noFill/>
          <a:ln/>
        </p:spPr>
        <p:txBody>
          <a:bodyPr wrap="square" lIns="0" tIns="0" rIns="0" bIns="0" rtlCol="0" anchor="ctr"/>
          <a:lstStyle/>
          <a:p>
            <a:pPr algn="ctr" indent="0" marL="0">
              <a:buNone/>
            </a:pPr>
            <a:r>
              <a:rPr lang="en-US" sz="1000" dirty="0">
                <a:solidFill>
                  <a:srgbClr val="0F172A"/>
                </a:solidFill>
                <a:latin typeface="Roboto" pitchFamily="34" charset="0"/>
                <a:ea typeface="Roboto" pitchFamily="34" charset="-122"/>
                <a:cs typeface="Roboto" pitchFamily="34" charset="-120"/>
              </a:rPr>
              <a:t>UnderwritingFlow + crew</a:t>
            </a:r>
            <a:endParaRPr lang="en-US" sz="1000" dirty="0"/>
          </a:p>
        </p:txBody>
      </p:sp>
      <p:sp>
        <p:nvSpPr>
          <p:cNvPr id="58" name="Shape 54"/>
          <p:cNvSpPr/>
          <p:nvPr/>
        </p:nvSpPr>
        <p:spPr>
          <a:xfrm>
            <a:off x="6903720" y="3803904"/>
            <a:ext cx="1231392" cy="347472"/>
          </a:xfrm>
          <a:prstGeom prst="roundRect">
            <a:avLst>
              <a:gd name="adj" fmla="val 50000"/>
            </a:avLst>
          </a:prstGeom>
          <a:solidFill>
            <a:srgbClr val="FFFFFF"/>
          </a:solidFill>
          <a:ln w="12700">
            <a:solidFill>
              <a:srgbClr val="E2E8F0"/>
            </a:solidFill>
            <a:prstDash val="solid"/>
          </a:ln>
        </p:spPr>
      </p:sp>
      <p:sp>
        <p:nvSpPr>
          <p:cNvPr id="59" name="Text 55"/>
          <p:cNvSpPr txBox="1"/>
          <p:nvPr/>
        </p:nvSpPr>
        <p:spPr>
          <a:xfrm>
            <a:off x="6903720" y="3803904"/>
            <a:ext cx="1231392" cy="347472"/>
          </a:xfrm>
          <a:prstGeom prst="rect">
            <a:avLst/>
          </a:prstGeom>
          <a:noFill/>
          <a:ln/>
        </p:spPr>
        <p:txBody>
          <a:bodyPr wrap="square" lIns="0" tIns="0" rIns="0" bIns="0" rtlCol="0" anchor="ctr"/>
          <a:lstStyle/>
          <a:p>
            <a:pPr algn="ctr" indent="0" marL="0">
              <a:buNone/>
            </a:pPr>
            <a:r>
              <a:rPr lang="en-US" sz="1000" dirty="0">
                <a:solidFill>
                  <a:srgbClr val="0F172A"/>
                </a:solidFill>
                <a:latin typeface="Roboto" pitchFamily="34" charset="0"/>
                <a:ea typeface="Roboto" pitchFamily="34" charset="-122"/>
                <a:cs typeface="Roboto" pitchFamily="34" charset="-120"/>
              </a:rPr>
              <a:t>Triage · process</a:t>
            </a:r>
            <a:endParaRPr lang="en-US" sz="1000" dirty="0"/>
          </a:p>
        </p:txBody>
      </p:sp>
      <p:sp>
        <p:nvSpPr>
          <p:cNvPr id="60" name="Shape 56"/>
          <p:cNvSpPr/>
          <p:nvPr/>
        </p:nvSpPr>
        <p:spPr>
          <a:xfrm>
            <a:off x="8199120" y="3803904"/>
            <a:ext cx="1292352" cy="347472"/>
          </a:xfrm>
          <a:prstGeom prst="roundRect">
            <a:avLst>
              <a:gd name="adj" fmla="val 50000"/>
            </a:avLst>
          </a:prstGeom>
          <a:solidFill>
            <a:srgbClr val="FFFFFF"/>
          </a:solidFill>
          <a:ln w="12700">
            <a:solidFill>
              <a:srgbClr val="E2E8F0"/>
            </a:solidFill>
            <a:prstDash val="solid"/>
          </a:ln>
        </p:spPr>
      </p:sp>
      <p:sp>
        <p:nvSpPr>
          <p:cNvPr id="61" name="Text 57"/>
          <p:cNvSpPr txBox="1"/>
          <p:nvPr/>
        </p:nvSpPr>
        <p:spPr>
          <a:xfrm>
            <a:off x="8199120" y="3803904"/>
            <a:ext cx="1292352" cy="347472"/>
          </a:xfrm>
          <a:prstGeom prst="rect">
            <a:avLst/>
          </a:prstGeom>
          <a:noFill/>
          <a:ln/>
        </p:spPr>
        <p:txBody>
          <a:bodyPr wrap="square" lIns="0" tIns="0" rIns="0" bIns="0" rtlCol="0" anchor="ctr"/>
          <a:lstStyle/>
          <a:p>
            <a:pPr algn="ctr" indent="0" marL="0">
              <a:buNone/>
            </a:pPr>
            <a:r>
              <a:rPr lang="en-US" sz="1000" dirty="0">
                <a:solidFill>
                  <a:srgbClr val="0F172A"/>
                </a:solidFill>
                <a:latin typeface="Roboto" pitchFamily="34" charset="0"/>
                <a:ea typeface="Roboto" pitchFamily="34" charset="-122"/>
                <a:cs typeface="Roboto" pitchFamily="34" charset="-120"/>
              </a:rPr>
              <a:t>29-agent registry</a:t>
            </a:r>
            <a:endParaRPr lang="en-US" sz="1000" dirty="0"/>
          </a:p>
        </p:txBody>
      </p:sp>
      <p:sp>
        <p:nvSpPr>
          <p:cNvPr id="62" name="Shape 58"/>
          <p:cNvSpPr/>
          <p:nvPr/>
        </p:nvSpPr>
        <p:spPr>
          <a:xfrm>
            <a:off x="9555480" y="3803904"/>
            <a:ext cx="1109472" cy="347472"/>
          </a:xfrm>
          <a:prstGeom prst="roundRect">
            <a:avLst>
              <a:gd name="adj" fmla="val 50000"/>
            </a:avLst>
          </a:prstGeom>
          <a:solidFill>
            <a:srgbClr val="FFFFFF"/>
          </a:solidFill>
          <a:ln w="12700">
            <a:solidFill>
              <a:srgbClr val="E2E8F0"/>
            </a:solidFill>
            <a:prstDash val="solid"/>
          </a:ln>
        </p:spPr>
      </p:sp>
      <p:sp>
        <p:nvSpPr>
          <p:cNvPr id="63" name="Text 59"/>
          <p:cNvSpPr txBox="1"/>
          <p:nvPr/>
        </p:nvSpPr>
        <p:spPr>
          <a:xfrm>
            <a:off x="9555480" y="3803904"/>
            <a:ext cx="1109472" cy="347472"/>
          </a:xfrm>
          <a:prstGeom prst="rect">
            <a:avLst/>
          </a:prstGeom>
          <a:noFill/>
          <a:ln/>
        </p:spPr>
        <p:txBody>
          <a:bodyPr wrap="square" lIns="0" tIns="0" rIns="0" bIns="0" rtlCol="0" anchor="ctr"/>
          <a:lstStyle/>
          <a:p>
            <a:pPr algn="ctr" indent="0" marL="0">
              <a:buNone/>
            </a:pPr>
            <a:r>
              <a:rPr lang="en-US" sz="1000" dirty="0">
                <a:solidFill>
                  <a:srgbClr val="0F172A"/>
                </a:solidFill>
                <a:latin typeface="Roboto" pitchFamily="34" charset="0"/>
                <a:ea typeface="Roboto" pitchFamily="34" charset="-122"/>
                <a:cs typeface="Roboto" pitchFamily="34" charset="-120"/>
              </a:rPr>
              <a:t>Grounding gate</a:t>
            </a:r>
            <a:endParaRPr lang="en-US" sz="1000" dirty="0"/>
          </a:p>
        </p:txBody>
      </p:sp>
      <p:sp>
        <p:nvSpPr>
          <p:cNvPr id="64" name="Shape 60"/>
          <p:cNvSpPr/>
          <p:nvPr/>
        </p:nvSpPr>
        <p:spPr>
          <a:xfrm>
            <a:off x="10728960" y="3803904"/>
            <a:ext cx="621792" cy="347472"/>
          </a:xfrm>
          <a:prstGeom prst="roundRect">
            <a:avLst>
              <a:gd name="adj" fmla="val 50000"/>
            </a:avLst>
          </a:prstGeom>
          <a:solidFill>
            <a:srgbClr val="FFFFFF"/>
          </a:solidFill>
          <a:ln w="12700">
            <a:solidFill>
              <a:srgbClr val="E2E8F0"/>
            </a:solidFill>
            <a:prstDash val="solid"/>
          </a:ln>
        </p:spPr>
      </p:sp>
      <p:sp>
        <p:nvSpPr>
          <p:cNvPr id="65" name="Text 61"/>
          <p:cNvSpPr txBox="1"/>
          <p:nvPr/>
        </p:nvSpPr>
        <p:spPr>
          <a:xfrm>
            <a:off x="10728960" y="3803904"/>
            <a:ext cx="621792" cy="347472"/>
          </a:xfrm>
          <a:prstGeom prst="rect">
            <a:avLst/>
          </a:prstGeom>
          <a:noFill/>
          <a:ln/>
        </p:spPr>
        <p:txBody>
          <a:bodyPr wrap="square" lIns="0" tIns="0" rIns="0" bIns="0" rtlCol="0" anchor="ctr"/>
          <a:lstStyle/>
          <a:p>
            <a:pPr algn="ctr" indent="0" marL="0">
              <a:buNone/>
            </a:pPr>
            <a:r>
              <a:rPr lang="en-US" sz="1000" dirty="0">
                <a:solidFill>
                  <a:srgbClr val="0F172A"/>
                </a:solidFill>
                <a:latin typeface="Roboto" pitchFamily="34" charset="0"/>
                <a:ea typeface="Roboto" pitchFamily="34" charset="-122"/>
                <a:cs typeface="Roboto" pitchFamily="34" charset="-120"/>
              </a:rPr>
              <a:t>Tracer</a:t>
            </a:r>
            <a:endParaRPr lang="en-US" sz="1000" dirty="0"/>
          </a:p>
        </p:txBody>
      </p:sp>
      <p:sp>
        <p:nvSpPr>
          <p:cNvPr id="66" name="Shape 62"/>
          <p:cNvSpPr/>
          <p:nvPr/>
        </p:nvSpPr>
        <p:spPr>
          <a:xfrm>
            <a:off x="7170268" y="4297680"/>
            <a:ext cx="0" cy="128016"/>
          </a:xfrm>
          <a:prstGeom prst="line">
            <a:avLst/>
          </a:prstGeom>
          <a:noFill/>
          <a:ln w="19050">
            <a:solidFill>
              <a:srgbClr val="94A3B8"/>
            </a:solidFill>
            <a:prstDash val="solid"/>
            <a:tailEnd type="triangle"/>
          </a:ln>
        </p:spPr>
      </p:sp>
      <p:sp>
        <p:nvSpPr>
          <p:cNvPr id="67" name="Shape 63"/>
          <p:cNvSpPr/>
          <p:nvPr/>
        </p:nvSpPr>
        <p:spPr>
          <a:xfrm>
            <a:off x="548640" y="4443984"/>
            <a:ext cx="1965960" cy="932688"/>
          </a:xfrm>
          <a:prstGeom prst="roundRect">
            <a:avLst>
              <a:gd name="adj" fmla="val 7843"/>
            </a:avLst>
          </a:prstGeom>
          <a:solidFill>
            <a:srgbClr val="D97706"/>
          </a:solidFill>
          <a:ln w="12700">
            <a:solidFill>
              <a:srgbClr val="D97706"/>
            </a:solidFill>
            <a:prstDash val="solid"/>
          </a:ln>
        </p:spPr>
      </p:sp>
      <p:sp>
        <p:nvSpPr>
          <p:cNvPr id="68" name="Text 64"/>
          <p:cNvSpPr txBox="1"/>
          <p:nvPr/>
        </p:nvSpPr>
        <p:spPr>
          <a:xfrm>
            <a:off x="685800" y="4443984"/>
            <a:ext cx="1783080" cy="932688"/>
          </a:xfrm>
          <a:prstGeom prst="rect">
            <a:avLst/>
          </a:prstGeom>
          <a:noFill/>
          <a:ln/>
        </p:spPr>
        <p:txBody>
          <a:bodyPr wrap="square" lIns="0" tIns="0" rIns="0" bIns="0" rtlCol="0" anchor="ctr"/>
          <a:lstStyle/>
          <a:p>
            <a:pPr indent="0" marL="0">
              <a:buNone/>
            </a:pPr>
            <a:r>
              <a:rPr lang="en-US" sz="1300" b="1" dirty="0">
                <a:solidFill>
                  <a:srgbClr val="FFFFFF"/>
                </a:solidFill>
                <a:latin typeface="Roboto" pitchFamily="34" charset="0"/>
                <a:ea typeface="Roboto" pitchFamily="34" charset="-122"/>
                <a:cs typeface="Roboto" pitchFamily="34" charset="-120"/>
              </a:rPr>
              <a:t>Engines &amp; model</a:t>
            </a:r>
            <a:endParaRPr lang="en-US" sz="1300" dirty="0"/>
          </a:p>
          <a:p>
            <a:pPr indent="0" marL="0">
              <a:buNone/>
            </a:pPr>
            <a:r>
              <a:rPr lang="en-US" sz="950" dirty="0">
                <a:solidFill>
                  <a:srgbClr val="FEF3C7"/>
                </a:solidFill>
                <a:latin typeface="Roboto" pitchFamily="34" charset="0"/>
                <a:ea typeface="Roboto" pitchFamily="34" charset="-122"/>
                <a:cs typeface="Roboto" pitchFamily="34" charset="-120"/>
              </a:rPr>
              <a:t>deterministic tools · one LLM gateway</a:t>
            </a:r>
            <a:endParaRPr lang="en-US" sz="1300" dirty="0"/>
          </a:p>
        </p:txBody>
      </p:sp>
      <p:sp>
        <p:nvSpPr>
          <p:cNvPr id="69" name="Shape 65"/>
          <p:cNvSpPr/>
          <p:nvPr/>
        </p:nvSpPr>
        <p:spPr>
          <a:xfrm>
            <a:off x="2697480" y="4443984"/>
            <a:ext cx="5806440" cy="932688"/>
          </a:xfrm>
          <a:prstGeom prst="roundRect">
            <a:avLst>
              <a:gd name="adj" fmla="val 7843"/>
            </a:avLst>
          </a:prstGeom>
          <a:solidFill>
            <a:srgbClr val="F8FAFC"/>
          </a:solidFill>
          <a:ln w="12700">
            <a:solidFill>
              <a:srgbClr val="E2E8F0"/>
            </a:solidFill>
            <a:prstDash val="solid"/>
          </a:ln>
        </p:spPr>
      </p:sp>
      <p:sp>
        <p:nvSpPr>
          <p:cNvPr id="70" name="Shape 66"/>
          <p:cNvSpPr/>
          <p:nvPr/>
        </p:nvSpPr>
        <p:spPr>
          <a:xfrm>
            <a:off x="2807208" y="4535424"/>
            <a:ext cx="1292352" cy="338328"/>
          </a:xfrm>
          <a:prstGeom prst="roundRect">
            <a:avLst>
              <a:gd name="adj" fmla="val 50000"/>
            </a:avLst>
          </a:prstGeom>
          <a:solidFill>
            <a:srgbClr val="FFFFFF"/>
          </a:solidFill>
          <a:ln w="12700">
            <a:solidFill>
              <a:srgbClr val="E2E8F0"/>
            </a:solidFill>
            <a:prstDash val="solid"/>
          </a:ln>
        </p:spPr>
      </p:sp>
      <p:sp>
        <p:nvSpPr>
          <p:cNvPr id="71" name="Text 67"/>
          <p:cNvSpPr txBox="1"/>
          <p:nvPr/>
        </p:nvSpPr>
        <p:spPr>
          <a:xfrm>
            <a:off x="2807208" y="4535424"/>
            <a:ext cx="1292352" cy="338328"/>
          </a:xfrm>
          <a:prstGeom prst="rect">
            <a:avLst/>
          </a:prstGeom>
          <a:noFill/>
          <a:ln/>
        </p:spPr>
        <p:txBody>
          <a:bodyPr wrap="square" lIns="0" tIns="0" rIns="0" bIns="0" rtlCol="0" anchor="ctr"/>
          <a:lstStyle/>
          <a:p>
            <a:pPr algn="ctr" indent="0" marL="0">
              <a:buNone/>
            </a:pPr>
            <a:r>
              <a:rPr lang="en-US" sz="1000" dirty="0">
                <a:solidFill>
                  <a:srgbClr val="0F172A"/>
                </a:solidFill>
                <a:latin typeface="Roboto" pitchFamily="34" charset="0"/>
                <a:ea typeface="Roboto" pitchFamily="34" charset="-122"/>
                <a:cs typeface="Roboto" pitchFamily="34" charset="-120"/>
              </a:rPr>
              <a:t>OpenCV + RapidOCR</a:t>
            </a:r>
            <a:endParaRPr lang="en-US" sz="1000" dirty="0"/>
          </a:p>
        </p:txBody>
      </p:sp>
      <p:sp>
        <p:nvSpPr>
          <p:cNvPr id="72" name="Shape 68"/>
          <p:cNvSpPr/>
          <p:nvPr/>
        </p:nvSpPr>
        <p:spPr>
          <a:xfrm>
            <a:off x="4172712" y="4535424"/>
            <a:ext cx="2084832" cy="338328"/>
          </a:xfrm>
          <a:prstGeom prst="roundRect">
            <a:avLst>
              <a:gd name="adj" fmla="val 50000"/>
            </a:avLst>
          </a:prstGeom>
          <a:solidFill>
            <a:srgbClr val="FFFFFF"/>
          </a:solidFill>
          <a:ln w="12700">
            <a:solidFill>
              <a:srgbClr val="E2E8F0"/>
            </a:solidFill>
            <a:prstDash val="solid"/>
          </a:ln>
        </p:spPr>
      </p:sp>
      <p:sp>
        <p:nvSpPr>
          <p:cNvPr id="73" name="Text 69"/>
          <p:cNvSpPr txBox="1"/>
          <p:nvPr/>
        </p:nvSpPr>
        <p:spPr>
          <a:xfrm>
            <a:off x="4172712" y="4535424"/>
            <a:ext cx="2084832" cy="338328"/>
          </a:xfrm>
          <a:prstGeom prst="rect">
            <a:avLst/>
          </a:prstGeom>
          <a:noFill/>
          <a:ln/>
        </p:spPr>
        <p:txBody>
          <a:bodyPr wrap="square" lIns="0" tIns="0" rIns="0" bIns="0" rtlCol="0" anchor="ctr"/>
          <a:lstStyle/>
          <a:p>
            <a:pPr algn="ctr" indent="0" marL="0">
              <a:buNone/>
            </a:pPr>
            <a:r>
              <a:rPr lang="en-US" sz="1000" dirty="0">
                <a:solidFill>
                  <a:srgbClr val="0F172A"/>
                </a:solidFill>
                <a:latin typeface="Roboto" pitchFamily="34" charset="0"/>
                <a:ea typeface="Roboto" pitchFamily="34" charset="-122"/>
                <a:cs typeface="Roboto" pitchFamily="34" charset="-120"/>
              </a:rPr>
              <a:t>Tampering cascade (10 signals)</a:t>
            </a:r>
            <a:endParaRPr lang="en-US" sz="1000" dirty="0"/>
          </a:p>
        </p:txBody>
      </p:sp>
      <p:sp>
        <p:nvSpPr>
          <p:cNvPr id="74" name="Shape 70"/>
          <p:cNvSpPr/>
          <p:nvPr/>
        </p:nvSpPr>
        <p:spPr>
          <a:xfrm>
            <a:off x="6330696" y="4535424"/>
            <a:ext cx="1414272" cy="338328"/>
          </a:xfrm>
          <a:prstGeom prst="roundRect">
            <a:avLst>
              <a:gd name="adj" fmla="val 50000"/>
            </a:avLst>
          </a:prstGeom>
          <a:solidFill>
            <a:srgbClr val="FFFFFF"/>
          </a:solidFill>
          <a:ln w="12700">
            <a:solidFill>
              <a:srgbClr val="E2E8F0"/>
            </a:solidFill>
            <a:prstDash val="solid"/>
          </a:ln>
        </p:spPr>
      </p:sp>
      <p:sp>
        <p:nvSpPr>
          <p:cNvPr id="75" name="Text 71"/>
          <p:cNvSpPr txBox="1"/>
          <p:nvPr/>
        </p:nvSpPr>
        <p:spPr>
          <a:xfrm>
            <a:off x="6330696" y="4535424"/>
            <a:ext cx="1414272" cy="338328"/>
          </a:xfrm>
          <a:prstGeom prst="rect">
            <a:avLst/>
          </a:prstGeom>
          <a:noFill/>
          <a:ln/>
        </p:spPr>
        <p:txBody>
          <a:bodyPr wrap="square" lIns="0" tIns="0" rIns="0" bIns="0" rtlCol="0" anchor="ctr"/>
          <a:lstStyle/>
          <a:p>
            <a:pPr algn="ctr" indent="0" marL="0">
              <a:buNone/>
            </a:pPr>
            <a:r>
              <a:rPr lang="en-US" sz="1000" dirty="0">
                <a:solidFill>
                  <a:srgbClr val="0F172A"/>
                </a:solidFill>
                <a:latin typeface="Roboto" pitchFamily="34" charset="0"/>
                <a:ea typeface="Roboto" pitchFamily="34" charset="-122"/>
                <a:cs typeface="Roboto" pitchFamily="34" charset="-120"/>
              </a:rPr>
              <a:t>YuNet + SFace faces</a:t>
            </a:r>
            <a:endParaRPr lang="en-US" sz="1000" dirty="0"/>
          </a:p>
        </p:txBody>
      </p:sp>
      <p:sp>
        <p:nvSpPr>
          <p:cNvPr id="76" name="Shape 72"/>
          <p:cNvSpPr/>
          <p:nvPr/>
        </p:nvSpPr>
        <p:spPr>
          <a:xfrm>
            <a:off x="2807208" y="4946904"/>
            <a:ext cx="1414272" cy="338328"/>
          </a:xfrm>
          <a:prstGeom prst="roundRect">
            <a:avLst>
              <a:gd name="adj" fmla="val 50000"/>
            </a:avLst>
          </a:prstGeom>
          <a:solidFill>
            <a:srgbClr val="FFFFFF"/>
          </a:solidFill>
          <a:ln w="12700">
            <a:solidFill>
              <a:srgbClr val="E2E8F0"/>
            </a:solidFill>
            <a:prstDash val="solid"/>
          </a:ln>
        </p:spPr>
      </p:sp>
      <p:sp>
        <p:nvSpPr>
          <p:cNvPr id="77" name="Text 73"/>
          <p:cNvSpPr txBox="1"/>
          <p:nvPr/>
        </p:nvSpPr>
        <p:spPr>
          <a:xfrm>
            <a:off x="2807208" y="4946904"/>
            <a:ext cx="1414272" cy="338328"/>
          </a:xfrm>
          <a:prstGeom prst="rect">
            <a:avLst/>
          </a:prstGeom>
          <a:noFill/>
          <a:ln/>
        </p:spPr>
        <p:txBody>
          <a:bodyPr wrap="square" lIns="0" tIns="0" rIns="0" bIns="0" rtlCol="0" anchor="ctr"/>
          <a:lstStyle/>
          <a:p>
            <a:pPr algn="ctr" indent="0" marL="0">
              <a:buNone/>
            </a:pPr>
            <a:r>
              <a:rPr lang="en-US" sz="1000" dirty="0">
                <a:solidFill>
                  <a:srgbClr val="0F172A"/>
                </a:solidFill>
                <a:latin typeface="Roboto" pitchFamily="34" charset="0"/>
                <a:ea typeface="Roboto" pitchFamily="34" charset="-122"/>
                <a:cs typeface="Roboto" pitchFamily="34" charset="-120"/>
              </a:rPr>
              <a:t>MiniFASNet liveness</a:t>
            </a:r>
            <a:endParaRPr lang="en-US" sz="1000" dirty="0"/>
          </a:p>
        </p:txBody>
      </p:sp>
      <p:sp>
        <p:nvSpPr>
          <p:cNvPr id="78" name="Shape 74"/>
          <p:cNvSpPr/>
          <p:nvPr/>
        </p:nvSpPr>
        <p:spPr>
          <a:xfrm>
            <a:off x="4294632" y="4946904"/>
            <a:ext cx="1536192" cy="338328"/>
          </a:xfrm>
          <a:prstGeom prst="roundRect">
            <a:avLst>
              <a:gd name="adj" fmla="val 50000"/>
            </a:avLst>
          </a:prstGeom>
          <a:solidFill>
            <a:srgbClr val="FFFFFF"/>
          </a:solidFill>
          <a:ln w="12700">
            <a:solidFill>
              <a:srgbClr val="E2E8F0"/>
            </a:solidFill>
            <a:prstDash val="solid"/>
          </a:ln>
        </p:spPr>
      </p:sp>
      <p:sp>
        <p:nvSpPr>
          <p:cNvPr id="79" name="Text 75"/>
          <p:cNvSpPr txBox="1"/>
          <p:nvPr/>
        </p:nvSpPr>
        <p:spPr>
          <a:xfrm>
            <a:off x="4294632" y="4946904"/>
            <a:ext cx="1536192" cy="338328"/>
          </a:xfrm>
          <a:prstGeom prst="rect">
            <a:avLst/>
          </a:prstGeom>
          <a:noFill/>
          <a:ln/>
        </p:spPr>
        <p:txBody>
          <a:bodyPr wrap="square" lIns="0" tIns="0" rIns="0" bIns="0" rtlCol="0" anchor="ctr"/>
          <a:lstStyle/>
          <a:p>
            <a:pPr algn="ctr" indent="0" marL="0">
              <a:buNone/>
            </a:pPr>
            <a:r>
              <a:rPr lang="en-US" sz="1000" dirty="0">
                <a:solidFill>
                  <a:srgbClr val="0F172A"/>
                </a:solidFill>
                <a:latin typeface="Roboto" pitchFamily="34" charset="0"/>
                <a:ea typeface="Roboto" pitchFamily="34" charset="-122"/>
                <a:cs typeface="Roboto" pitchFamily="34" charset="-120"/>
              </a:rPr>
              <a:t>Risk engine + XGBoost</a:t>
            </a:r>
            <a:endParaRPr lang="en-US" sz="1000" dirty="0"/>
          </a:p>
        </p:txBody>
      </p:sp>
      <p:sp>
        <p:nvSpPr>
          <p:cNvPr id="80" name="Shape 76"/>
          <p:cNvSpPr/>
          <p:nvPr/>
        </p:nvSpPr>
        <p:spPr>
          <a:xfrm>
            <a:off x="5903976" y="4946904"/>
            <a:ext cx="1109472" cy="338328"/>
          </a:xfrm>
          <a:prstGeom prst="roundRect">
            <a:avLst>
              <a:gd name="adj" fmla="val 50000"/>
            </a:avLst>
          </a:prstGeom>
          <a:solidFill>
            <a:srgbClr val="FFFFFF"/>
          </a:solidFill>
          <a:ln w="12700">
            <a:solidFill>
              <a:srgbClr val="E2E8F0"/>
            </a:solidFill>
            <a:prstDash val="solid"/>
          </a:ln>
        </p:spPr>
      </p:sp>
      <p:sp>
        <p:nvSpPr>
          <p:cNvPr id="81" name="Text 77"/>
          <p:cNvSpPr txBox="1"/>
          <p:nvPr/>
        </p:nvSpPr>
        <p:spPr>
          <a:xfrm>
            <a:off x="5903976" y="4946904"/>
            <a:ext cx="1109472" cy="338328"/>
          </a:xfrm>
          <a:prstGeom prst="rect">
            <a:avLst/>
          </a:prstGeom>
          <a:noFill/>
          <a:ln/>
        </p:spPr>
        <p:txBody>
          <a:bodyPr wrap="square" lIns="0" tIns="0" rIns="0" bIns="0" rtlCol="0" anchor="ctr"/>
          <a:lstStyle/>
          <a:p>
            <a:pPr algn="ctr" indent="0" marL="0">
              <a:buNone/>
            </a:pPr>
            <a:r>
              <a:rPr lang="en-US" sz="1000" dirty="0">
                <a:solidFill>
                  <a:srgbClr val="0F172A"/>
                </a:solidFill>
                <a:latin typeface="Roboto" pitchFamily="34" charset="0"/>
                <a:ea typeface="Roboto" pitchFamily="34" charset="-122"/>
                <a:cs typeface="Roboto" pitchFamily="34" charset="-120"/>
              </a:rPr>
              <a:t>Compliance RAG</a:t>
            </a:r>
            <a:endParaRPr lang="en-US" sz="1000" dirty="0"/>
          </a:p>
        </p:txBody>
      </p:sp>
      <p:sp>
        <p:nvSpPr>
          <p:cNvPr id="82" name="Shape 78"/>
          <p:cNvSpPr/>
          <p:nvPr/>
        </p:nvSpPr>
        <p:spPr>
          <a:xfrm>
            <a:off x="7086600" y="4946904"/>
            <a:ext cx="1231392" cy="338328"/>
          </a:xfrm>
          <a:prstGeom prst="roundRect">
            <a:avLst>
              <a:gd name="adj" fmla="val 50000"/>
            </a:avLst>
          </a:prstGeom>
          <a:solidFill>
            <a:srgbClr val="FFFFFF"/>
          </a:solidFill>
          <a:ln w="12700">
            <a:solidFill>
              <a:srgbClr val="E2E8F0"/>
            </a:solidFill>
            <a:prstDash val="solid"/>
          </a:ln>
        </p:spPr>
      </p:sp>
      <p:sp>
        <p:nvSpPr>
          <p:cNvPr id="83" name="Text 79"/>
          <p:cNvSpPr txBox="1"/>
          <p:nvPr/>
        </p:nvSpPr>
        <p:spPr>
          <a:xfrm>
            <a:off x="7086600" y="4946904"/>
            <a:ext cx="1231392" cy="338328"/>
          </a:xfrm>
          <a:prstGeom prst="rect">
            <a:avLst/>
          </a:prstGeom>
          <a:noFill/>
          <a:ln/>
        </p:spPr>
        <p:txBody>
          <a:bodyPr wrap="square" lIns="0" tIns="0" rIns="0" bIns="0" rtlCol="0" anchor="ctr"/>
          <a:lstStyle/>
          <a:p>
            <a:pPr algn="ctr" indent="0" marL="0">
              <a:buNone/>
            </a:pPr>
            <a:r>
              <a:rPr lang="en-US" sz="1000" dirty="0">
                <a:solidFill>
                  <a:srgbClr val="0F172A"/>
                </a:solidFill>
                <a:latin typeface="Roboto" pitchFamily="34" charset="0"/>
                <a:ea typeface="Roboto" pitchFamily="34" charset="-122"/>
                <a:cs typeface="Roboto" pitchFamily="34" charset="-120"/>
              </a:rPr>
              <a:t>Statement parser</a:t>
            </a:r>
            <a:endParaRPr lang="en-US" sz="1000" dirty="0"/>
          </a:p>
        </p:txBody>
      </p:sp>
      <p:sp>
        <p:nvSpPr>
          <p:cNvPr id="84" name="Shape 80"/>
          <p:cNvSpPr/>
          <p:nvPr/>
        </p:nvSpPr>
        <p:spPr>
          <a:xfrm>
            <a:off x="8641080" y="4443984"/>
            <a:ext cx="3001975" cy="932688"/>
          </a:xfrm>
          <a:prstGeom prst="roundRect">
            <a:avLst>
              <a:gd name="adj" fmla="val 7843"/>
            </a:avLst>
          </a:prstGeom>
          <a:solidFill>
            <a:srgbClr val="FEF3C7"/>
          </a:solidFill>
          <a:ln w="12700">
            <a:solidFill>
              <a:srgbClr val="FCD34D"/>
            </a:solidFill>
            <a:prstDash val="solid"/>
          </a:ln>
        </p:spPr>
      </p:sp>
      <p:sp>
        <p:nvSpPr>
          <p:cNvPr id="85" name="Text 81"/>
          <p:cNvSpPr txBox="1"/>
          <p:nvPr/>
        </p:nvSpPr>
        <p:spPr>
          <a:xfrm>
            <a:off x="8778240" y="4498848"/>
            <a:ext cx="2743200" cy="274320"/>
          </a:xfrm>
          <a:prstGeom prst="rect">
            <a:avLst/>
          </a:prstGeom>
          <a:noFill/>
          <a:ln/>
        </p:spPr>
        <p:txBody>
          <a:bodyPr wrap="square" lIns="0" tIns="0" rIns="0" bIns="0" rtlCol="0" anchor="ctr"/>
          <a:lstStyle/>
          <a:p>
            <a:pPr indent="0" marL="0">
              <a:buNone/>
            </a:pPr>
            <a:r>
              <a:rPr lang="en-US" sz="1200" b="1" dirty="0">
                <a:solidFill>
                  <a:srgbClr val="92400E"/>
                </a:solidFill>
                <a:latin typeface="Roboto" pitchFamily="34" charset="0"/>
                <a:ea typeface="Roboto" pitchFamily="34" charset="-122"/>
                <a:cs typeface="Roboto" pitchFamily="34" charset="-120"/>
              </a:rPr>
              <a:t>LLM gateway</a:t>
            </a:r>
            <a:endParaRPr lang="en-US" sz="1200" dirty="0"/>
          </a:p>
        </p:txBody>
      </p:sp>
      <p:sp>
        <p:nvSpPr>
          <p:cNvPr id="86" name="Shape 82"/>
          <p:cNvSpPr/>
          <p:nvPr/>
        </p:nvSpPr>
        <p:spPr>
          <a:xfrm>
            <a:off x="8778240" y="4846320"/>
            <a:ext cx="1554480" cy="402336"/>
          </a:xfrm>
          <a:prstGeom prst="roundRect">
            <a:avLst>
              <a:gd name="adj" fmla="val 18182"/>
            </a:avLst>
          </a:prstGeom>
          <a:solidFill>
            <a:srgbClr val="FFFFFF"/>
          </a:solidFill>
          <a:ln w="12700">
            <a:solidFill>
              <a:srgbClr val="FCD34D"/>
            </a:solidFill>
            <a:prstDash val="solid"/>
          </a:ln>
        </p:spPr>
      </p:sp>
      <p:sp>
        <p:nvSpPr>
          <p:cNvPr id="87" name="Text 83"/>
          <p:cNvSpPr txBox="1"/>
          <p:nvPr/>
        </p:nvSpPr>
        <p:spPr>
          <a:xfrm>
            <a:off x="8778240" y="4846320"/>
            <a:ext cx="1554480" cy="402336"/>
          </a:xfrm>
          <a:prstGeom prst="rect">
            <a:avLst/>
          </a:prstGeom>
          <a:noFill/>
          <a:ln/>
        </p:spPr>
        <p:txBody>
          <a:bodyPr wrap="square" lIns="0" tIns="0" rIns="0" bIns="0" rtlCol="0" anchor="ctr"/>
          <a:lstStyle/>
          <a:p>
            <a:pPr algn="ctr" indent="0" marL="0">
              <a:buNone/>
            </a:pPr>
            <a:r>
              <a:rPr lang="en-US" sz="950" b="1" dirty="0">
                <a:solidFill>
                  <a:srgbClr val="0F172A"/>
                </a:solidFill>
                <a:latin typeface="Roboto" pitchFamily="34" charset="0"/>
                <a:ea typeface="Roboto" pitchFamily="34" charset="-122"/>
                <a:cs typeface="Roboto" pitchFamily="34" charset="-120"/>
              </a:rPr>
              <a:t>Ollama · qwen2.5vl:7b</a:t>
            </a:r>
            <a:endParaRPr lang="en-US" sz="950" dirty="0"/>
          </a:p>
        </p:txBody>
      </p:sp>
      <p:sp>
        <p:nvSpPr>
          <p:cNvPr id="88" name="Shape 84"/>
          <p:cNvSpPr/>
          <p:nvPr/>
        </p:nvSpPr>
        <p:spPr>
          <a:xfrm>
            <a:off x="10424160" y="4846320"/>
            <a:ext cx="1081735" cy="402336"/>
          </a:xfrm>
          <a:prstGeom prst="roundRect">
            <a:avLst>
              <a:gd name="adj" fmla="val 18182"/>
            </a:avLst>
          </a:prstGeom>
          <a:solidFill>
            <a:srgbClr val="FFFFFF"/>
          </a:solidFill>
          <a:ln w="12700">
            <a:solidFill>
              <a:srgbClr val="FCD34D"/>
            </a:solidFill>
            <a:prstDash val="solid"/>
          </a:ln>
        </p:spPr>
      </p:sp>
      <p:sp>
        <p:nvSpPr>
          <p:cNvPr id="89" name="Text 85"/>
          <p:cNvSpPr txBox="1"/>
          <p:nvPr/>
        </p:nvSpPr>
        <p:spPr>
          <a:xfrm>
            <a:off x="10424160" y="4846320"/>
            <a:ext cx="1081735" cy="402336"/>
          </a:xfrm>
          <a:prstGeom prst="rect">
            <a:avLst/>
          </a:prstGeom>
          <a:noFill/>
          <a:ln/>
        </p:spPr>
        <p:txBody>
          <a:bodyPr wrap="square" lIns="0" tIns="0" rIns="0" bIns="0" rtlCol="0" anchor="ctr"/>
          <a:lstStyle/>
          <a:p>
            <a:pPr algn="ctr" indent="0" marL="0">
              <a:buNone/>
            </a:pPr>
            <a:r>
              <a:rPr lang="en-US" sz="950" dirty="0">
                <a:solidFill>
                  <a:srgbClr val="64748B"/>
                </a:solidFill>
                <a:latin typeface="Roboto" pitchFamily="34" charset="0"/>
                <a:ea typeface="Roboto" pitchFamily="34" charset="-122"/>
                <a:cs typeface="Roboto" pitchFamily="34" charset="-120"/>
              </a:rPr>
              <a:t>Claude (optional)</a:t>
            </a:r>
            <a:endParaRPr lang="en-US" sz="950" dirty="0"/>
          </a:p>
        </p:txBody>
      </p:sp>
      <p:sp>
        <p:nvSpPr>
          <p:cNvPr id="90" name="Shape 86"/>
          <p:cNvSpPr/>
          <p:nvPr/>
        </p:nvSpPr>
        <p:spPr>
          <a:xfrm>
            <a:off x="7170268" y="5394960"/>
            <a:ext cx="0" cy="128016"/>
          </a:xfrm>
          <a:prstGeom prst="line">
            <a:avLst/>
          </a:prstGeom>
          <a:noFill/>
          <a:ln w="19050">
            <a:solidFill>
              <a:srgbClr val="94A3B8"/>
            </a:solidFill>
            <a:prstDash val="solid"/>
            <a:tailEnd type="triangle"/>
          </a:ln>
        </p:spPr>
      </p:sp>
      <p:sp>
        <p:nvSpPr>
          <p:cNvPr id="91" name="Shape 87"/>
          <p:cNvSpPr/>
          <p:nvPr/>
        </p:nvSpPr>
        <p:spPr>
          <a:xfrm>
            <a:off x="548640" y="5541264"/>
            <a:ext cx="1965960" cy="603504"/>
          </a:xfrm>
          <a:prstGeom prst="roundRect">
            <a:avLst>
              <a:gd name="adj" fmla="val 12121"/>
            </a:avLst>
          </a:prstGeom>
          <a:solidFill>
            <a:srgbClr val="1E293B"/>
          </a:solidFill>
          <a:ln w="12700">
            <a:solidFill>
              <a:srgbClr val="1E293B"/>
            </a:solidFill>
            <a:prstDash val="solid"/>
          </a:ln>
        </p:spPr>
      </p:sp>
      <p:sp>
        <p:nvSpPr>
          <p:cNvPr id="92" name="Text 88"/>
          <p:cNvSpPr txBox="1"/>
          <p:nvPr/>
        </p:nvSpPr>
        <p:spPr>
          <a:xfrm>
            <a:off x="685800" y="5541264"/>
            <a:ext cx="1783080" cy="603504"/>
          </a:xfrm>
          <a:prstGeom prst="rect">
            <a:avLst/>
          </a:prstGeom>
          <a:noFill/>
          <a:ln/>
        </p:spPr>
        <p:txBody>
          <a:bodyPr wrap="square" lIns="0" tIns="0" rIns="0" bIns="0" rtlCol="0" anchor="ctr"/>
          <a:lstStyle/>
          <a:p>
            <a:pPr indent="0" marL="0">
              <a:buNone/>
            </a:pPr>
            <a:r>
              <a:rPr lang="en-US" sz="1300" b="1" dirty="0">
                <a:solidFill>
                  <a:srgbClr val="FFFFFF"/>
                </a:solidFill>
                <a:latin typeface="Roboto" pitchFamily="34" charset="0"/>
                <a:ea typeface="Roboto" pitchFamily="34" charset="-122"/>
                <a:cs typeface="Roboto" pitchFamily="34" charset="-120"/>
              </a:rPr>
              <a:t>Data</a:t>
            </a:r>
            <a:endParaRPr lang="en-US" sz="1300" dirty="0"/>
          </a:p>
          <a:p>
            <a:pPr indent="0" marL="0">
              <a:buNone/>
            </a:pPr>
            <a:r>
              <a:rPr lang="en-US" sz="950" dirty="0">
                <a:solidFill>
                  <a:srgbClr val="CBD5E1"/>
                </a:solidFill>
                <a:latin typeface="Roboto" pitchFamily="34" charset="0"/>
                <a:ea typeface="Roboto" pitchFamily="34" charset="-122"/>
                <a:cs typeface="Roboto" pitchFamily="34" charset="-120"/>
              </a:rPr>
              <a:t>SQL Server · files</a:t>
            </a:r>
            <a:endParaRPr lang="en-US" sz="1300" dirty="0"/>
          </a:p>
        </p:txBody>
      </p:sp>
      <p:sp>
        <p:nvSpPr>
          <p:cNvPr id="93" name="Shape 89"/>
          <p:cNvSpPr/>
          <p:nvPr/>
        </p:nvSpPr>
        <p:spPr>
          <a:xfrm>
            <a:off x="2697480" y="5541264"/>
            <a:ext cx="8945575" cy="603504"/>
          </a:xfrm>
          <a:prstGeom prst="roundRect">
            <a:avLst>
              <a:gd name="adj" fmla="val 12121"/>
            </a:avLst>
          </a:prstGeom>
          <a:solidFill>
            <a:srgbClr val="F8FAFC"/>
          </a:solidFill>
          <a:ln w="12700">
            <a:solidFill>
              <a:srgbClr val="E2E8F0"/>
            </a:solidFill>
            <a:prstDash val="solid"/>
          </a:ln>
        </p:spPr>
      </p:sp>
      <p:sp>
        <p:nvSpPr>
          <p:cNvPr id="94" name="Shape 90"/>
          <p:cNvSpPr/>
          <p:nvPr/>
        </p:nvSpPr>
        <p:spPr>
          <a:xfrm>
            <a:off x="2834640" y="5669280"/>
            <a:ext cx="4352544" cy="347472"/>
          </a:xfrm>
          <a:prstGeom prst="roundRect">
            <a:avLst>
              <a:gd name="adj" fmla="val 50000"/>
            </a:avLst>
          </a:prstGeom>
          <a:solidFill>
            <a:srgbClr val="FFFFFF"/>
          </a:solidFill>
          <a:ln w="12700">
            <a:solidFill>
              <a:srgbClr val="E2E8F0"/>
            </a:solidFill>
            <a:prstDash val="solid"/>
          </a:ln>
        </p:spPr>
      </p:sp>
      <p:sp>
        <p:nvSpPr>
          <p:cNvPr id="95" name="Text 91"/>
          <p:cNvSpPr txBox="1"/>
          <p:nvPr/>
        </p:nvSpPr>
        <p:spPr>
          <a:xfrm>
            <a:off x="2834640" y="5669280"/>
            <a:ext cx="4352544" cy="347472"/>
          </a:xfrm>
          <a:prstGeom prst="rect">
            <a:avLst/>
          </a:prstGeom>
          <a:noFill/>
          <a:ln/>
        </p:spPr>
        <p:txBody>
          <a:bodyPr wrap="square" lIns="0" tIns="0" rIns="0" bIns="0" rtlCol="0" anchor="ctr"/>
          <a:lstStyle/>
          <a:p>
            <a:pPr algn="ctr" indent="0" marL="0">
              <a:buNone/>
            </a:pPr>
            <a:r>
              <a:rPr lang="en-US" sz="1050" dirty="0">
                <a:solidFill>
                  <a:srgbClr val="0F172A"/>
                </a:solidFill>
                <a:latin typeface="Roboto" pitchFamily="34" charset="0"/>
                <a:ea typeface="Roboto" pitchFamily="34" charset="-122"/>
                <a:cs typeface="Roboto" pitchFamily="34" charset="-120"/>
              </a:rPr>
              <a:t>SQL Server LocalDB 'FinSight' — 9 schemas · 82 tables · 17 views</a:t>
            </a:r>
            <a:endParaRPr lang="en-US" sz="1050" dirty="0"/>
          </a:p>
        </p:txBody>
      </p:sp>
      <p:sp>
        <p:nvSpPr>
          <p:cNvPr id="96" name="Shape 92"/>
          <p:cNvSpPr/>
          <p:nvPr/>
        </p:nvSpPr>
        <p:spPr>
          <a:xfrm>
            <a:off x="7278624" y="5669280"/>
            <a:ext cx="1728216" cy="347472"/>
          </a:xfrm>
          <a:prstGeom prst="roundRect">
            <a:avLst>
              <a:gd name="adj" fmla="val 50000"/>
            </a:avLst>
          </a:prstGeom>
          <a:solidFill>
            <a:srgbClr val="FFFFFF"/>
          </a:solidFill>
          <a:ln w="12700">
            <a:solidFill>
              <a:srgbClr val="E2E8F0"/>
            </a:solidFill>
            <a:prstDash val="solid"/>
          </a:ln>
        </p:spPr>
      </p:sp>
      <p:sp>
        <p:nvSpPr>
          <p:cNvPr id="97" name="Text 93"/>
          <p:cNvSpPr txBox="1"/>
          <p:nvPr/>
        </p:nvSpPr>
        <p:spPr>
          <a:xfrm>
            <a:off x="7278624" y="5669280"/>
            <a:ext cx="1728216" cy="347472"/>
          </a:xfrm>
          <a:prstGeom prst="rect">
            <a:avLst/>
          </a:prstGeom>
          <a:noFill/>
          <a:ln/>
        </p:spPr>
        <p:txBody>
          <a:bodyPr wrap="square" lIns="0" tIns="0" rIns="0" bIns="0" rtlCol="0" anchor="ctr"/>
          <a:lstStyle/>
          <a:p>
            <a:pPr algn="ctr" indent="0" marL="0">
              <a:buNone/>
            </a:pPr>
            <a:r>
              <a:rPr lang="en-US" sz="1050" dirty="0">
                <a:solidFill>
                  <a:srgbClr val="0F172A"/>
                </a:solidFill>
                <a:latin typeface="Roboto" pitchFamily="34" charset="0"/>
                <a:ea typeface="Roboto" pitchFamily="34" charset="-122"/>
                <a:cs typeface="Roboto" pitchFamily="34" charset="-120"/>
              </a:rPr>
              <a:t>Uploads &amp; masked copies</a:t>
            </a:r>
            <a:endParaRPr lang="en-US" sz="1050" dirty="0"/>
          </a:p>
        </p:txBody>
      </p:sp>
      <p:sp>
        <p:nvSpPr>
          <p:cNvPr id="98" name="Shape 94"/>
          <p:cNvSpPr/>
          <p:nvPr/>
        </p:nvSpPr>
        <p:spPr>
          <a:xfrm>
            <a:off x="9098280" y="5669280"/>
            <a:ext cx="1472184" cy="347472"/>
          </a:xfrm>
          <a:prstGeom prst="roundRect">
            <a:avLst>
              <a:gd name="adj" fmla="val 50000"/>
            </a:avLst>
          </a:prstGeom>
          <a:solidFill>
            <a:srgbClr val="FFFFFF"/>
          </a:solidFill>
          <a:ln w="12700">
            <a:solidFill>
              <a:srgbClr val="E2E8F0"/>
            </a:solidFill>
            <a:prstDash val="solid"/>
          </a:ln>
        </p:spPr>
      </p:sp>
      <p:sp>
        <p:nvSpPr>
          <p:cNvPr id="99" name="Text 95"/>
          <p:cNvSpPr txBox="1"/>
          <p:nvPr/>
        </p:nvSpPr>
        <p:spPr>
          <a:xfrm>
            <a:off x="9098280" y="5669280"/>
            <a:ext cx="1472184" cy="347472"/>
          </a:xfrm>
          <a:prstGeom prst="rect">
            <a:avLst/>
          </a:prstGeom>
          <a:noFill/>
          <a:ln/>
        </p:spPr>
        <p:txBody>
          <a:bodyPr wrap="square" lIns="0" tIns="0" rIns="0" bIns="0" rtlCol="0" anchor="ctr"/>
          <a:lstStyle/>
          <a:p>
            <a:pPr algn="ctr" indent="0" marL="0">
              <a:buNone/>
            </a:pPr>
            <a:r>
              <a:rPr lang="en-US" sz="1050" dirty="0">
                <a:solidFill>
                  <a:srgbClr val="0F172A"/>
                </a:solidFill>
                <a:latin typeface="Roboto" pitchFamily="34" charset="0"/>
                <a:ea typeface="Roboto" pitchFamily="34" charset="-122"/>
                <a:cs typeface="Roboto" pitchFamily="34" charset="-120"/>
              </a:rPr>
              <a:t>Agent traces (JSON)</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8229600" cy="256032"/>
          </a:xfrm>
          <a:prstGeom prst="rect">
            <a:avLst/>
          </a:prstGeom>
          <a:noFill/>
          <a:ln/>
        </p:spPr>
        <p:txBody>
          <a:bodyPr wrap="square" lIns="0" tIns="0" rIns="0" bIns="0" rtlCol="0" anchor="ctr"/>
          <a:lstStyle/>
          <a:p>
            <a:pPr indent="0" marL="0">
              <a:buNone/>
            </a:pPr>
            <a:r>
              <a:rPr lang="en-US" sz="1100" b="1" spc="200" kern="0" dirty="0">
                <a:solidFill>
                  <a:srgbClr val="4F46E5"/>
                </a:solidFill>
                <a:latin typeface="Roboto" pitchFamily="34" charset="0"/>
                <a:ea typeface="Roboto" pitchFamily="34" charset="-122"/>
                <a:cs typeface="Roboto" pitchFamily="34" charset="-120"/>
              </a:rPr>
              <a:t>ARCHITECTURE</a:t>
            </a:r>
            <a:endParaRPr lang="en-US" sz="1100" dirty="0"/>
          </a:p>
        </p:txBody>
      </p:sp>
      <p:sp>
        <p:nvSpPr>
          <p:cNvPr id="3" name="Text 1"/>
          <p:cNvSpPr txBox="1"/>
          <p:nvPr/>
        </p:nvSpPr>
        <p:spPr>
          <a:xfrm>
            <a:off x="548640" y="585216"/>
            <a:ext cx="11094415" cy="566928"/>
          </a:xfrm>
          <a:prstGeom prst="rect">
            <a:avLst/>
          </a:prstGeom>
          <a:noFill/>
          <a:ln/>
        </p:spPr>
        <p:txBody>
          <a:bodyPr wrap="square" lIns="0" tIns="0" rIns="0" bIns="0" rtlCol="0" anchor="ctr"/>
          <a:lstStyle/>
          <a:p>
            <a:pPr indent="0" marL="0">
              <a:buNone/>
            </a:pPr>
            <a:r>
              <a:rPr lang="en-US" sz="2800" b="1" dirty="0">
                <a:solidFill>
                  <a:srgbClr val="0F172A"/>
                </a:solidFill>
                <a:latin typeface="Roboto" pitchFamily="34" charset="0"/>
                <a:ea typeface="Roboto" pitchFamily="34" charset="-122"/>
                <a:cs typeface="Roboto" pitchFamily="34" charset="-120"/>
              </a:rPr>
              <a:t>Tech stack</a:t>
            </a:r>
            <a:endParaRPr lang="en-US" sz="2800" dirty="0"/>
          </a:p>
        </p:txBody>
      </p:sp>
      <p:sp>
        <p:nvSpPr>
          <p:cNvPr id="4" name="Text 2"/>
          <p:cNvSpPr txBox="1"/>
          <p:nvPr/>
        </p:nvSpPr>
        <p:spPr>
          <a:xfrm>
            <a:off x="548640" y="1152144"/>
            <a:ext cx="11094415" cy="365760"/>
          </a:xfrm>
          <a:prstGeom prst="rect">
            <a:avLst/>
          </a:prstGeom>
          <a:noFill/>
          <a:ln/>
        </p:spPr>
        <p:txBody>
          <a:bodyPr wrap="square" lIns="0" tIns="0" rIns="0" bIns="0" rtlCol="0" anchor="ctr"/>
          <a:lstStyle/>
          <a:p>
            <a:pPr indent="0" marL="0">
              <a:buNone/>
            </a:pPr>
            <a:r>
              <a:rPr lang="en-US" sz="1400" dirty="0">
                <a:solidFill>
                  <a:srgbClr val="64748B"/>
                </a:solidFill>
                <a:latin typeface="Roboto" pitchFamily="34" charset="0"/>
                <a:ea typeface="Roboto" pitchFamily="34" charset="-122"/>
                <a:cs typeface="Roboto" pitchFamily="34" charset="-120"/>
              </a:rPr>
              <a:t>Everything runs on one laptop — the local model uses an RTX 4060 (8 GB).</a:t>
            </a:r>
            <a:endParaRPr lang="en-US" sz="1400" dirty="0"/>
          </a:p>
        </p:txBody>
      </p:sp>
      <p:pic>
        <p:nvPicPr>
          <p:cNvPr id="5" name="Image 0" descr="C:\Users\shrey\AppData\Local\Temp\claude\D--novacinternship-finsight\ef4ecb45-e580-4bc0-9be4-060aa240a5b2\scratchpad\deck\img\logo_lockup.png">    </p:cNvPr>
          <p:cNvPicPr>
            <a:picLocks noChangeAspect="1"/>
          </p:cNvPicPr>
          <p:nvPr/>
        </p:nvPicPr>
        <p:blipFill>
          <a:blip r:embed="rId1"/>
          <a:stretch>
            <a:fillRect/>
          </a:stretch>
        </p:blipFill>
        <p:spPr>
          <a:xfrm>
            <a:off x="10360152" y="6464808"/>
            <a:ext cx="843991" cy="237744"/>
          </a:xfrm>
          <a:prstGeom prst="rect">
            <a:avLst/>
          </a:prstGeom>
        </p:spPr>
      </p:pic>
      <p:sp>
        <p:nvSpPr>
          <p:cNvPr id="6" name="Text 3"/>
          <p:cNvSpPr txBox="1"/>
          <p:nvPr/>
        </p:nvSpPr>
        <p:spPr>
          <a:xfrm>
            <a:off x="11277295" y="6473952"/>
            <a:ext cx="365760" cy="228600"/>
          </a:xfrm>
          <a:prstGeom prst="rect">
            <a:avLst/>
          </a:prstGeom>
          <a:noFill/>
          <a:ln/>
        </p:spPr>
        <p:txBody>
          <a:bodyPr wrap="square" lIns="0" tIns="0" rIns="0" bIns="0" rtlCol="0" anchor="ctr"/>
          <a:lstStyle/>
          <a:p>
            <a:pPr algn="r" indent="0" marL="0">
              <a:buNone/>
            </a:pPr>
            <a:r>
              <a:rPr lang="en-US" sz="900" dirty="0">
                <a:solidFill>
                  <a:srgbClr val="94A3B8"/>
                </a:solidFill>
                <a:latin typeface="Roboto" pitchFamily="34" charset="0"/>
                <a:ea typeface="Roboto" pitchFamily="34" charset="-122"/>
                <a:cs typeface="Roboto" pitchFamily="34" charset="-120"/>
              </a:rPr>
              <a:t>10</a:t>
            </a:r>
            <a:endParaRPr lang="en-US" sz="900" dirty="0"/>
          </a:p>
        </p:txBody>
      </p:sp>
      <p:sp>
        <p:nvSpPr>
          <p:cNvPr id="8" name="Shape 4"/>
          <p:cNvSpPr/>
          <p:nvPr/>
        </p:nvSpPr>
        <p:spPr>
          <a:xfrm>
            <a:off x="548640" y="1783080"/>
            <a:ext cx="3566160" cy="1353312"/>
          </a:xfrm>
          <a:prstGeom prst="roundRect">
            <a:avLst>
              <a:gd name="adj" fmla="val 6757"/>
            </a:avLst>
          </a:prstGeom>
          <a:solidFill>
            <a:srgbClr val="F8FAFC"/>
          </a:solidFill>
          <a:ln w="12700">
            <a:solidFill>
              <a:srgbClr val="E2E8F0"/>
            </a:solidFill>
            <a:prstDash val="solid"/>
          </a:ln>
        </p:spPr>
      </p:sp>
      <p:sp>
        <p:nvSpPr>
          <p:cNvPr id="9" name="Shape 5"/>
          <p:cNvSpPr/>
          <p:nvPr/>
        </p:nvSpPr>
        <p:spPr>
          <a:xfrm>
            <a:off x="777240" y="2039112"/>
            <a:ext cx="603504" cy="603504"/>
          </a:xfrm>
          <a:prstGeom prst="ellipse">
            <a:avLst/>
          </a:prstGeom>
          <a:solidFill>
            <a:srgbClr val="EEF2FF"/>
          </a:solidFill>
          <a:ln w="12700">
            <a:solidFill>
              <a:srgbClr val="EEF2FF"/>
            </a:solidFill>
            <a:prstDash val="solid"/>
          </a:ln>
        </p:spPr>
      </p:sp>
      <p:pic>
        <p:nvPicPr>
          <p:cNvPr id="10" name="Image 1" descr="preencoded.png">    </p:cNvPr>
          <p:cNvPicPr>
            <a:picLocks noChangeAspect="1"/>
          </p:cNvPicPr>
          <p:nvPr/>
        </p:nvPicPr>
        <p:blipFill>
          <a:blip r:embed="rId2"/>
          <a:stretch>
            <a:fillRect/>
          </a:stretch>
        </p:blipFill>
        <p:spPr>
          <a:xfrm>
            <a:off x="910011" y="2171883"/>
            <a:ext cx="337962" cy="337962"/>
          </a:xfrm>
          <a:prstGeom prst="rect">
            <a:avLst/>
          </a:prstGeom>
        </p:spPr>
      </p:pic>
      <p:sp>
        <p:nvSpPr>
          <p:cNvPr id="11" name="Text 6"/>
          <p:cNvSpPr txBox="1"/>
          <p:nvPr/>
        </p:nvSpPr>
        <p:spPr>
          <a:xfrm>
            <a:off x="1554480" y="1892808"/>
            <a:ext cx="2468880" cy="1143000"/>
          </a:xfrm>
          <a:prstGeom prst="rect">
            <a:avLst/>
          </a:prstGeom>
          <a:noFill/>
          <a:ln/>
        </p:spPr>
        <p:txBody>
          <a:bodyPr wrap="square" lIns="0" tIns="0" rIns="0" bIns="0" rtlCol="0" anchor="ctr"/>
          <a:lstStyle/>
          <a:p>
            <a:pPr indent="0" marL="0">
              <a:spcAft>
                <a:spcPts val="200"/>
              </a:spcAft>
              <a:buNone/>
            </a:pPr>
            <a:r>
              <a:rPr lang="en-US" sz="1400" b="1" dirty="0">
                <a:solidFill>
                  <a:srgbClr val="0F172A"/>
                </a:solidFill>
                <a:latin typeface="Roboto" pitchFamily="34" charset="0"/>
                <a:ea typeface="Roboto" pitchFamily="34" charset="-122"/>
                <a:cs typeface="Roboto" pitchFamily="34" charset="-120"/>
              </a:rPr>
              <a:t>Frontend</a:t>
            </a:r>
            <a:endParaRPr lang="en-US" sz="1400" dirty="0"/>
          </a:p>
          <a:p>
            <a:pPr indent="0" marL="0">
              <a:spcAft>
                <a:spcPts val="200"/>
              </a:spcAft>
              <a:buNone/>
            </a:pPr>
            <a:r>
              <a:rPr lang="en-US" sz="1150" dirty="0">
                <a:solidFill>
                  <a:srgbClr val="334155"/>
                </a:solidFill>
                <a:latin typeface="Roboto" pitchFamily="34" charset="0"/>
                <a:ea typeface="Roboto" pitchFamily="34" charset="-122"/>
                <a:cs typeface="Roboto" pitchFamily="34" charset="-120"/>
              </a:rPr>
              <a:t>React 18 · Vite 5 · lucide icons</a:t>
            </a:r>
            <a:endParaRPr lang="en-US" sz="1400" dirty="0"/>
          </a:p>
          <a:p>
            <a:pPr indent="0" marL="0">
              <a:spcAft>
                <a:spcPts val="200"/>
              </a:spcAft>
              <a:buNone/>
            </a:pPr>
            <a:r>
              <a:rPr lang="en-US" sz="1050" dirty="0">
                <a:solidFill>
                  <a:srgbClr val="64748B"/>
                </a:solidFill>
                <a:latin typeface="Roboto" pitchFamily="34" charset="0"/>
                <a:ea typeface="Roboto" pitchFamily="34" charset="-122"/>
                <a:cs typeface="Roboto" pitchFamily="34" charset="-120"/>
              </a:rPr>
              <a:t>Role-based single-page app</a:t>
            </a:r>
            <a:endParaRPr lang="en-US" sz="1400" dirty="0"/>
          </a:p>
        </p:txBody>
      </p:sp>
      <p:sp>
        <p:nvSpPr>
          <p:cNvPr id="12" name="Shape 7"/>
          <p:cNvSpPr/>
          <p:nvPr/>
        </p:nvSpPr>
        <p:spPr>
          <a:xfrm>
            <a:off x="4297680" y="1783080"/>
            <a:ext cx="3566160" cy="1353312"/>
          </a:xfrm>
          <a:prstGeom prst="roundRect">
            <a:avLst>
              <a:gd name="adj" fmla="val 6757"/>
            </a:avLst>
          </a:prstGeom>
          <a:solidFill>
            <a:srgbClr val="F8FAFC"/>
          </a:solidFill>
          <a:ln w="12700">
            <a:solidFill>
              <a:srgbClr val="E2E8F0"/>
            </a:solidFill>
            <a:prstDash val="solid"/>
          </a:ln>
        </p:spPr>
      </p:sp>
      <p:sp>
        <p:nvSpPr>
          <p:cNvPr id="13" name="Shape 8"/>
          <p:cNvSpPr/>
          <p:nvPr/>
        </p:nvSpPr>
        <p:spPr>
          <a:xfrm>
            <a:off x="4526280" y="2039112"/>
            <a:ext cx="603504" cy="603504"/>
          </a:xfrm>
          <a:prstGeom prst="ellipse">
            <a:avLst/>
          </a:prstGeom>
          <a:solidFill>
            <a:srgbClr val="EEF2FF"/>
          </a:solidFill>
          <a:ln w="12700">
            <a:solidFill>
              <a:srgbClr val="EEF2FF"/>
            </a:solidFill>
            <a:prstDash val="solid"/>
          </a:ln>
        </p:spPr>
      </p:sp>
      <p:pic>
        <p:nvPicPr>
          <p:cNvPr id="14" name="Image 2" descr="preencoded.png">    </p:cNvPr>
          <p:cNvPicPr>
            <a:picLocks noChangeAspect="1"/>
          </p:cNvPicPr>
          <p:nvPr/>
        </p:nvPicPr>
        <p:blipFill>
          <a:blip r:embed="rId3"/>
          <a:stretch>
            <a:fillRect/>
          </a:stretch>
        </p:blipFill>
        <p:spPr>
          <a:xfrm>
            <a:off x="4659051" y="2171883"/>
            <a:ext cx="337962" cy="337962"/>
          </a:xfrm>
          <a:prstGeom prst="rect">
            <a:avLst/>
          </a:prstGeom>
        </p:spPr>
      </p:pic>
      <p:sp>
        <p:nvSpPr>
          <p:cNvPr id="15" name="Text 9"/>
          <p:cNvSpPr txBox="1"/>
          <p:nvPr/>
        </p:nvSpPr>
        <p:spPr>
          <a:xfrm>
            <a:off x="5303520" y="1892808"/>
            <a:ext cx="2468880" cy="1143000"/>
          </a:xfrm>
          <a:prstGeom prst="rect">
            <a:avLst/>
          </a:prstGeom>
          <a:noFill/>
          <a:ln/>
        </p:spPr>
        <p:txBody>
          <a:bodyPr wrap="square" lIns="0" tIns="0" rIns="0" bIns="0" rtlCol="0" anchor="ctr"/>
          <a:lstStyle/>
          <a:p>
            <a:pPr indent="0" marL="0">
              <a:spcAft>
                <a:spcPts val="200"/>
              </a:spcAft>
              <a:buNone/>
            </a:pPr>
            <a:r>
              <a:rPr lang="en-US" sz="1400" b="1" dirty="0">
                <a:solidFill>
                  <a:srgbClr val="0F172A"/>
                </a:solidFill>
                <a:latin typeface="Roboto" pitchFamily="34" charset="0"/>
                <a:ea typeface="Roboto" pitchFamily="34" charset="-122"/>
                <a:cs typeface="Roboto" pitchFamily="34" charset="-120"/>
              </a:rPr>
              <a:t>API</a:t>
            </a:r>
            <a:endParaRPr lang="en-US" sz="1400" dirty="0"/>
          </a:p>
          <a:p>
            <a:pPr indent="0" marL="0">
              <a:spcAft>
                <a:spcPts val="200"/>
              </a:spcAft>
              <a:buNone/>
            </a:pPr>
            <a:r>
              <a:rPr lang="en-US" sz="1150" dirty="0">
                <a:solidFill>
                  <a:srgbClr val="334155"/>
                </a:solidFill>
                <a:latin typeface="Roboto" pitchFamily="34" charset="0"/>
                <a:ea typeface="Roboto" pitchFamily="34" charset="-122"/>
                <a:cs typeface="Roboto" pitchFamily="34" charset="-120"/>
              </a:rPr>
              <a:t>FastAPI 0.115 · Uvicorn · Pydantic 2</a:t>
            </a:r>
            <a:endParaRPr lang="en-US" sz="1400" dirty="0"/>
          </a:p>
          <a:p>
            <a:pPr indent="0" marL="0">
              <a:spcAft>
                <a:spcPts val="200"/>
              </a:spcAft>
              <a:buNone/>
            </a:pPr>
            <a:r>
              <a:rPr lang="en-US" sz="1050" dirty="0">
                <a:solidFill>
                  <a:srgbClr val="64748B"/>
                </a:solidFill>
                <a:latin typeface="Roboto" pitchFamily="34" charset="0"/>
                <a:ea typeface="Roboto" pitchFamily="34" charset="-122"/>
                <a:cs typeface="Roboto" pitchFamily="34" charset="-120"/>
              </a:rPr>
              <a:t>Python 3.13</a:t>
            </a:r>
            <a:endParaRPr lang="en-US" sz="1400" dirty="0"/>
          </a:p>
        </p:txBody>
      </p:sp>
      <p:sp>
        <p:nvSpPr>
          <p:cNvPr id="16" name="Shape 10"/>
          <p:cNvSpPr/>
          <p:nvPr/>
        </p:nvSpPr>
        <p:spPr>
          <a:xfrm>
            <a:off x="8046720" y="1783080"/>
            <a:ext cx="3566160" cy="1353312"/>
          </a:xfrm>
          <a:prstGeom prst="roundRect">
            <a:avLst>
              <a:gd name="adj" fmla="val 6757"/>
            </a:avLst>
          </a:prstGeom>
          <a:solidFill>
            <a:srgbClr val="F8FAFC"/>
          </a:solidFill>
          <a:ln w="12700">
            <a:solidFill>
              <a:srgbClr val="E2E8F0"/>
            </a:solidFill>
            <a:prstDash val="solid"/>
          </a:ln>
        </p:spPr>
      </p:sp>
      <p:sp>
        <p:nvSpPr>
          <p:cNvPr id="17" name="Shape 11"/>
          <p:cNvSpPr/>
          <p:nvPr/>
        </p:nvSpPr>
        <p:spPr>
          <a:xfrm>
            <a:off x="8275320" y="2039112"/>
            <a:ext cx="603504" cy="603504"/>
          </a:xfrm>
          <a:prstGeom prst="ellipse">
            <a:avLst/>
          </a:prstGeom>
          <a:solidFill>
            <a:srgbClr val="EEF2FF"/>
          </a:solidFill>
          <a:ln w="12700">
            <a:solidFill>
              <a:srgbClr val="EEF2FF"/>
            </a:solidFill>
            <a:prstDash val="solid"/>
          </a:ln>
        </p:spPr>
      </p:sp>
      <p:pic>
        <p:nvPicPr>
          <p:cNvPr id="18" name="Image 3" descr="preencoded.png">    </p:cNvPr>
          <p:cNvPicPr>
            <a:picLocks noChangeAspect="1"/>
          </p:cNvPicPr>
          <p:nvPr/>
        </p:nvPicPr>
        <p:blipFill>
          <a:blip r:embed="rId4"/>
          <a:stretch>
            <a:fillRect/>
          </a:stretch>
        </p:blipFill>
        <p:spPr>
          <a:xfrm>
            <a:off x="8408091" y="2171883"/>
            <a:ext cx="337962" cy="337962"/>
          </a:xfrm>
          <a:prstGeom prst="rect">
            <a:avLst/>
          </a:prstGeom>
        </p:spPr>
      </p:pic>
      <p:sp>
        <p:nvSpPr>
          <p:cNvPr id="19" name="Text 12"/>
          <p:cNvSpPr txBox="1"/>
          <p:nvPr/>
        </p:nvSpPr>
        <p:spPr>
          <a:xfrm>
            <a:off x="9052560" y="1892808"/>
            <a:ext cx="2468880" cy="1143000"/>
          </a:xfrm>
          <a:prstGeom prst="rect">
            <a:avLst/>
          </a:prstGeom>
          <a:noFill/>
          <a:ln/>
        </p:spPr>
        <p:txBody>
          <a:bodyPr wrap="square" lIns="0" tIns="0" rIns="0" bIns="0" rtlCol="0" anchor="ctr"/>
          <a:lstStyle/>
          <a:p>
            <a:pPr indent="0" marL="0">
              <a:spcAft>
                <a:spcPts val="200"/>
              </a:spcAft>
              <a:buNone/>
            </a:pPr>
            <a:r>
              <a:rPr lang="en-US" sz="1400" b="1" dirty="0">
                <a:solidFill>
                  <a:srgbClr val="0F172A"/>
                </a:solidFill>
                <a:latin typeface="Roboto" pitchFamily="34" charset="0"/>
                <a:ea typeface="Roboto" pitchFamily="34" charset="-122"/>
                <a:cs typeface="Roboto" pitchFamily="34" charset="-120"/>
              </a:rPr>
              <a:t>Agents</a:t>
            </a:r>
            <a:endParaRPr lang="en-US" sz="1400" dirty="0"/>
          </a:p>
          <a:p>
            <a:pPr indent="0" marL="0">
              <a:spcAft>
                <a:spcPts val="200"/>
              </a:spcAft>
              <a:buNone/>
            </a:pPr>
            <a:r>
              <a:rPr lang="en-US" sz="1150" dirty="0">
                <a:solidFill>
                  <a:srgbClr val="334155"/>
                </a:solidFill>
                <a:latin typeface="Roboto" pitchFamily="34" charset="0"/>
                <a:ea typeface="Roboto" pitchFamily="34" charset="-122"/>
                <a:cs typeface="Roboto" pitchFamily="34" charset="-120"/>
              </a:rPr>
              <a:t>CrewAI 1.15.22</a:t>
            </a:r>
            <a:endParaRPr lang="en-US" sz="1400" dirty="0"/>
          </a:p>
          <a:p>
            <a:pPr indent="0" marL="0">
              <a:spcAft>
                <a:spcPts val="200"/>
              </a:spcAft>
              <a:buNone/>
            </a:pPr>
            <a:r>
              <a:rPr lang="en-US" sz="1050" dirty="0">
                <a:solidFill>
                  <a:srgbClr val="64748B"/>
                </a:solidFill>
                <a:latin typeface="Roboto" pitchFamily="34" charset="0"/>
                <a:ea typeface="Roboto" pitchFamily="34" charset="-122"/>
                <a:cs typeface="Roboto" pitchFamily="34" charset="-120"/>
              </a:rPr>
              <a:t>Flows, crews and 29 registered agents</a:t>
            </a:r>
            <a:endParaRPr lang="en-US" sz="1400" dirty="0"/>
          </a:p>
        </p:txBody>
      </p:sp>
      <p:sp>
        <p:nvSpPr>
          <p:cNvPr id="20" name="Shape 13"/>
          <p:cNvSpPr/>
          <p:nvPr/>
        </p:nvSpPr>
        <p:spPr>
          <a:xfrm>
            <a:off x="548640" y="3319272"/>
            <a:ext cx="3566160" cy="1353312"/>
          </a:xfrm>
          <a:prstGeom prst="roundRect">
            <a:avLst>
              <a:gd name="adj" fmla="val 6757"/>
            </a:avLst>
          </a:prstGeom>
          <a:solidFill>
            <a:srgbClr val="F8FAFC"/>
          </a:solidFill>
          <a:ln w="12700">
            <a:solidFill>
              <a:srgbClr val="E2E8F0"/>
            </a:solidFill>
            <a:prstDash val="solid"/>
          </a:ln>
        </p:spPr>
      </p:sp>
      <p:sp>
        <p:nvSpPr>
          <p:cNvPr id="21" name="Shape 14"/>
          <p:cNvSpPr/>
          <p:nvPr/>
        </p:nvSpPr>
        <p:spPr>
          <a:xfrm>
            <a:off x="777240" y="3575304"/>
            <a:ext cx="603504" cy="603504"/>
          </a:xfrm>
          <a:prstGeom prst="ellipse">
            <a:avLst/>
          </a:prstGeom>
          <a:solidFill>
            <a:srgbClr val="EEF2FF"/>
          </a:solidFill>
          <a:ln w="12700">
            <a:solidFill>
              <a:srgbClr val="EEF2FF"/>
            </a:solidFill>
            <a:prstDash val="solid"/>
          </a:ln>
        </p:spPr>
      </p:sp>
      <p:pic>
        <p:nvPicPr>
          <p:cNvPr id="22" name="Image 4" descr="preencoded.png">    </p:cNvPr>
          <p:cNvPicPr>
            <a:picLocks noChangeAspect="1"/>
          </p:cNvPicPr>
          <p:nvPr/>
        </p:nvPicPr>
        <p:blipFill>
          <a:blip r:embed="rId5"/>
          <a:stretch>
            <a:fillRect/>
          </a:stretch>
        </p:blipFill>
        <p:spPr>
          <a:xfrm>
            <a:off x="910011" y="3708075"/>
            <a:ext cx="337962" cy="337962"/>
          </a:xfrm>
          <a:prstGeom prst="rect">
            <a:avLst/>
          </a:prstGeom>
        </p:spPr>
      </p:pic>
      <p:sp>
        <p:nvSpPr>
          <p:cNvPr id="23" name="Text 15"/>
          <p:cNvSpPr txBox="1"/>
          <p:nvPr/>
        </p:nvSpPr>
        <p:spPr>
          <a:xfrm>
            <a:off x="1554480" y="3429000"/>
            <a:ext cx="2468880" cy="1143000"/>
          </a:xfrm>
          <a:prstGeom prst="rect">
            <a:avLst/>
          </a:prstGeom>
          <a:noFill/>
          <a:ln/>
        </p:spPr>
        <p:txBody>
          <a:bodyPr wrap="square" lIns="0" tIns="0" rIns="0" bIns="0" rtlCol="0" anchor="ctr"/>
          <a:lstStyle/>
          <a:p>
            <a:pPr indent="0" marL="0">
              <a:spcAft>
                <a:spcPts val="200"/>
              </a:spcAft>
              <a:buNone/>
            </a:pPr>
            <a:r>
              <a:rPr lang="en-US" sz="1400" b="1" dirty="0">
                <a:solidFill>
                  <a:srgbClr val="0F172A"/>
                </a:solidFill>
                <a:latin typeface="Roboto" pitchFamily="34" charset="0"/>
                <a:ea typeface="Roboto" pitchFamily="34" charset="-122"/>
                <a:cs typeface="Roboto" pitchFamily="34" charset="-120"/>
              </a:rPr>
              <a:t>Language models</a:t>
            </a:r>
            <a:endParaRPr lang="en-US" sz="1400" dirty="0"/>
          </a:p>
          <a:p>
            <a:pPr indent="0" marL="0">
              <a:spcAft>
                <a:spcPts val="200"/>
              </a:spcAft>
              <a:buNone/>
            </a:pPr>
            <a:r>
              <a:rPr lang="en-US" sz="1150" dirty="0">
                <a:solidFill>
                  <a:srgbClr val="334155"/>
                </a:solidFill>
                <a:latin typeface="Roboto" pitchFamily="34" charset="0"/>
                <a:ea typeface="Roboto" pitchFamily="34" charset="-122"/>
                <a:cs typeface="Roboto" pitchFamily="34" charset="-120"/>
              </a:rPr>
              <a:t>Ollama · qwen2.5vl:7b (default)</a:t>
            </a:r>
            <a:endParaRPr lang="en-US" sz="1400" dirty="0"/>
          </a:p>
          <a:p>
            <a:pPr indent="0" marL="0">
              <a:spcAft>
                <a:spcPts val="200"/>
              </a:spcAft>
              <a:buNone/>
            </a:pPr>
            <a:r>
              <a:rPr lang="en-US" sz="1050" dirty="0">
                <a:solidFill>
                  <a:srgbClr val="64748B"/>
                </a:solidFill>
                <a:latin typeface="Roboto" pitchFamily="34" charset="0"/>
                <a:ea typeface="Roboto" pitchFamily="34" charset="-122"/>
                <a:cs typeface="Roboto" pitchFamily="34" charset="-120"/>
              </a:rPr>
              <a:t>qwen3-vl:4b option · Claude optional</a:t>
            </a:r>
            <a:endParaRPr lang="en-US" sz="1400" dirty="0"/>
          </a:p>
        </p:txBody>
      </p:sp>
      <p:sp>
        <p:nvSpPr>
          <p:cNvPr id="24" name="Shape 16"/>
          <p:cNvSpPr/>
          <p:nvPr/>
        </p:nvSpPr>
        <p:spPr>
          <a:xfrm>
            <a:off x="4297680" y="3319272"/>
            <a:ext cx="3566160" cy="1353312"/>
          </a:xfrm>
          <a:prstGeom prst="roundRect">
            <a:avLst>
              <a:gd name="adj" fmla="val 6757"/>
            </a:avLst>
          </a:prstGeom>
          <a:solidFill>
            <a:srgbClr val="F8FAFC"/>
          </a:solidFill>
          <a:ln w="12700">
            <a:solidFill>
              <a:srgbClr val="E2E8F0"/>
            </a:solidFill>
            <a:prstDash val="solid"/>
          </a:ln>
        </p:spPr>
      </p:sp>
      <p:sp>
        <p:nvSpPr>
          <p:cNvPr id="25" name="Shape 17"/>
          <p:cNvSpPr/>
          <p:nvPr/>
        </p:nvSpPr>
        <p:spPr>
          <a:xfrm>
            <a:off x="4526280" y="3575304"/>
            <a:ext cx="603504" cy="603504"/>
          </a:xfrm>
          <a:prstGeom prst="ellipse">
            <a:avLst/>
          </a:prstGeom>
          <a:solidFill>
            <a:srgbClr val="EEF2FF"/>
          </a:solidFill>
          <a:ln w="12700">
            <a:solidFill>
              <a:srgbClr val="EEF2FF"/>
            </a:solidFill>
            <a:prstDash val="solid"/>
          </a:ln>
        </p:spPr>
      </p:sp>
      <p:pic>
        <p:nvPicPr>
          <p:cNvPr id="26" name="Image 5" descr="preencoded.png">    </p:cNvPr>
          <p:cNvPicPr>
            <a:picLocks noChangeAspect="1"/>
          </p:cNvPicPr>
          <p:nvPr/>
        </p:nvPicPr>
        <p:blipFill>
          <a:blip r:embed="rId6"/>
          <a:stretch>
            <a:fillRect/>
          </a:stretch>
        </p:blipFill>
        <p:spPr>
          <a:xfrm>
            <a:off x="4659051" y="3708075"/>
            <a:ext cx="337962" cy="337962"/>
          </a:xfrm>
          <a:prstGeom prst="rect">
            <a:avLst/>
          </a:prstGeom>
        </p:spPr>
      </p:pic>
      <p:sp>
        <p:nvSpPr>
          <p:cNvPr id="27" name="Text 18"/>
          <p:cNvSpPr txBox="1"/>
          <p:nvPr/>
        </p:nvSpPr>
        <p:spPr>
          <a:xfrm>
            <a:off x="5303520" y="3429000"/>
            <a:ext cx="2468880" cy="1143000"/>
          </a:xfrm>
          <a:prstGeom prst="rect">
            <a:avLst/>
          </a:prstGeom>
          <a:noFill/>
          <a:ln/>
        </p:spPr>
        <p:txBody>
          <a:bodyPr wrap="square" lIns="0" tIns="0" rIns="0" bIns="0" rtlCol="0" anchor="ctr"/>
          <a:lstStyle/>
          <a:p>
            <a:pPr indent="0" marL="0">
              <a:spcAft>
                <a:spcPts val="200"/>
              </a:spcAft>
              <a:buNone/>
            </a:pPr>
            <a:r>
              <a:rPr lang="en-US" sz="1400" b="1" dirty="0">
                <a:solidFill>
                  <a:srgbClr val="0F172A"/>
                </a:solidFill>
                <a:latin typeface="Roboto" pitchFamily="34" charset="0"/>
                <a:ea typeface="Roboto" pitchFamily="34" charset="-122"/>
                <a:cs typeface="Roboto" pitchFamily="34" charset="-120"/>
              </a:rPr>
              <a:t>Vision &amp; OCR</a:t>
            </a:r>
            <a:endParaRPr lang="en-US" sz="1400" dirty="0"/>
          </a:p>
          <a:p>
            <a:pPr indent="0" marL="0">
              <a:spcAft>
                <a:spcPts val="200"/>
              </a:spcAft>
              <a:buNone/>
            </a:pPr>
            <a:r>
              <a:rPr lang="en-US" sz="1150" dirty="0">
                <a:solidFill>
                  <a:srgbClr val="334155"/>
                </a:solidFill>
                <a:latin typeface="Roboto" pitchFamily="34" charset="0"/>
                <a:ea typeface="Roboto" pitchFamily="34" charset="-122"/>
                <a:cs typeface="Roboto" pitchFamily="34" charset="-120"/>
              </a:rPr>
              <a:t>OpenCV 4.10 · RapidOCR (ONNX)</a:t>
            </a:r>
            <a:endParaRPr lang="en-US" sz="1400" dirty="0"/>
          </a:p>
          <a:p>
            <a:pPr indent="0" marL="0">
              <a:spcAft>
                <a:spcPts val="200"/>
              </a:spcAft>
              <a:buNone/>
            </a:pPr>
            <a:r>
              <a:rPr lang="en-US" sz="1050" dirty="0">
                <a:solidFill>
                  <a:srgbClr val="64748B"/>
                </a:solidFill>
                <a:latin typeface="Roboto" pitchFamily="34" charset="0"/>
                <a:ea typeface="Roboto" pitchFamily="34" charset="-122"/>
                <a:cs typeface="Roboto" pitchFamily="34" charset="-120"/>
              </a:rPr>
              <a:t>PDFium (pypdfium2) for PDFs</a:t>
            </a:r>
            <a:endParaRPr lang="en-US" sz="1400" dirty="0"/>
          </a:p>
        </p:txBody>
      </p:sp>
      <p:sp>
        <p:nvSpPr>
          <p:cNvPr id="28" name="Shape 19"/>
          <p:cNvSpPr/>
          <p:nvPr/>
        </p:nvSpPr>
        <p:spPr>
          <a:xfrm>
            <a:off x="8046720" y="3319272"/>
            <a:ext cx="3566160" cy="1353312"/>
          </a:xfrm>
          <a:prstGeom prst="roundRect">
            <a:avLst>
              <a:gd name="adj" fmla="val 6757"/>
            </a:avLst>
          </a:prstGeom>
          <a:solidFill>
            <a:srgbClr val="F8FAFC"/>
          </a:solidFill>
          <a:ln w="12700">
            <a:solidFill>
              <a:srgbClr val="E2E8F0"/>
            </a:solidFill>
            <a:prstDash val="solid"/>
          </a:ln>
        </p:spPr>
      </p:sp>
      <p:sp>
        <p:nvSpPr>
          <p:cNvPr id="29" name="Shape 20"/>
          <p:cNvSpPr/>
          <p:nvPr/>
        </p:nvSpPr>
        <p:spPr>
          <a:xfrm>
            <a:off x="8275320" y="3575304"/>
            <a:ext cx="603504" cy="603504"/>
          </a:xfrm>
          <a:prstGeom prst="ellipse">
            <a:avLst/>
          </a:prstGeom>
          <a:solidFill>
            <a:srgbClr val="EEF2FF"/>
          </a:solidFill>
          <a:ln w="12700">
            <a:solidFill>
              <a:srgbClr val="EEF2FF"/>
            </a:solidFill>
            <a:prstDash val="solid"/>
          </a:ln>
        </p:spPr>
      </p:sp>
      <p:pic>
        <p:nvPicPr>
          <p:cNvPr id="30" name="Image 6" descr="preencoded.png">    </p:cNvPr>
          <p:cNvPicPr>
            <a:picLocks noChangeAspect="1"/>
          </p:cNvPicPr>
          <p:nvPr/>
        </p:nvPicPr>
        <p:blipFill>
          <a:blip r:embed="rId7"/>
          <a:stretch>
            <a:fillRect/>
          </a:stretch>
        </p:blipFill>
        <p:spPr>
          <a:xfrm>
            <a:off x="8408091" y="3708075"/>
            <a:ext cx="337962" cy="337962"/>
          </a:xfrm>
          <a:prstGeom prst="rect">
            <a:avLst/>
          </a:prstGeom>
        </p:spPr>
      </p:pic>
      <p:sp>
        <p:nvSpPr>
          <p:cNvPr id="31" name="Text 21"/>
          <p:cNvSpPr txBox="1"/>
          <p:nvPr/>
        </p:nvSpPr>
        <p:spPr>
          <a:xfrm>
            <a:off x="9052560" y="3429000"/>
            <a:ext cx="2468880" cy="1143000"/>
          </a:xfrm>
          <a:prstGeom prst="rect">
            <a:avLst/>
          </a:prstGeom>
          <a:noFill/>
          <a:ln/>
        </p:spPr>
        <p:txBody>
          <a:bodyPr wrap="square" lIns="0" tIns="0" rIns="0" bIns="0" rtlCol="0" anchor="ctr"/>
          <a:lstStyle/>
          <a:p>
            <a:pPr indent="0" marL="0">
              <a:spcAft>
                <a:spcPts val="200"/>
              </a:spcAft>
              <a:buNone/>
            </a:pPr>
            <a:r>
              <a:rPr lang="en-US" sz="1400" b="1" dirty="0">
                <a:solidFill>
                  <a:srgbClr val="0F172A"/>
                </a:solidFill>
                <a:latin typeface="Roboto" pitchFamily="34" charset="0"/>
                <a:ea typeface="Roboto" pitchFamily="34" charset="-122"/>
                <a:cs typeface="Roboto" pitchFamily="34" charset="-120"/>
              </a:rPr>
              <a:t>Face &amp; liveness</a:t>
            </a:r>
            <a:endParaRPr lang="en-US" sz="1400" dirty="0"/>
          </a:p>
          <a:p>
            <a:pPr indent="0" marL="0">
              <a:spcAft>
                <a:spcPts val="200"/>
              </a:spcAft>
              <a:buNone/>
            </a:pPr>
            <a:r>
              <a:rPr lang="en-US" sz="1150" dirty="0">
                <a:solidFill>
                  <a:srgbClr val="334155"/>
                </a:solidFill>
                <a:latin typeface="Roboto" pitchFamily="34" charset="0"/>
                <a:ea typeface="Roboto" pitchFamily="34" charset="-122"/>
                <a:cs typeface="Roboto" pitchFamily="34" charset="-120"/>
              </a:rPr>
              <a:t>YuNet · SFace · MiniFASNet</a:t>
            </a:r>
            <a:endParaRPr lang="en-US" sz="1400" dirty="0"/>
          </a:p>
          <a:p>
            <a:pPr indent="0" marL="0">
              <a:spcAft>
                <a:spcPts val="200"/>
              </a:spcAft>
              <a:buNone/>
            </a:pPr>
            <a:r>
              <a:rPr lang="en-US" sz="1050" dirty="0">
                <a:solidFill>
                  <a:srgbClr val="64748B"/>
                </a:solidFill>
                <a:latin typeface="Roboto" pitchFamily="34" charset="0"/>
                <a:ea typeface="Roboto" pitchFamily="34" charset="-122"/>
                <a:cs typeface="Roboto" pitchFamily="34" charset="-120"/>
              </a:rPr>
              <a:t>ONNX Runtime 1.27, all local</a:t>
            </a:r>
            <a:endParaRPr lang="en-US" sz="1400" dirty="0"/>
          </a:p>
        </p:txBody>
      </p:sp>
      <p:sp>
        <p:nvSpPr>
          <p:cNvPr id="32" name="Shape 22"/>
          <p:cNvSpPr/>
          <p:nvPr/>
        </p:nvSpPr>
        <p:spPr>
          <a:xfrm>
            <a:off x="548640" y="4855464"/>
            <a:ext cx="3566160" cy="1353312"/>
          </a:xfrm>
          <a:prstGeom prst="roundRect">
            <a:avLst>
              <a:gd name="adj" fmla="val 6757"/>
            </a:avLst>
          </a:prstGeom>
          <a:solidFill>
            <a:srgbClr val="F8FAFC"/>
          </a:solidFill>
          <a:ln w="12700">
            <a:solidFill>
              <a:srgbClr val="E2E8F0"/>
            </a:solidFill>
            <a:prstDash val="solid"/>
          </a:ln>
        </p:spPr>
      </p:sp>
      <p:sp>
        <p:nvSpPr>
          <p:cNvPr id="33" name="Shape 23"/>
          <p:cNvSpPr/>
          <p:nvPr/>
        </p:nvSpPr>
        <p:spPr>
          <a:xfrm>
            <a:off x="777240" y="5111496"/>
            <a:ext cx="603504" cy="603504"/>
          </a:xfrm>
          <a:prstGeom prst="ellipse">
            <a:avLst/>
          </a:prstGeom>
          <a:solidFill>
            <a:srgbClr val="EEF2FF"/>
          </a:solidFill>
          <a:ln w="12700">
            <a:solidFill>
              <a:srgbClr val="EEF2FF"/>
            </a:solidFill>
            <a:prstDash val="solid"/>
          </a:ln>
        </p:spPr>
      </p:sp>
      <p:pic>
        <p:nvPicPr>
          <p:cNvPr id="34" name="Image 7" descr="preencoded.png">    </p:cNvPr>
          <p:cNvPicPr>
            <a:picLocks noChangeAspect="1"/>
          </p:cNvPicPr>
          <p:nvPr/>
        </p:nvPicPr>
        <p:blipFill>
          <a:blip r:embed="rId8"/>
          <a:stretch>
            <a:fillRect/>
          </a:stretch>
        </p:blipFill>
        <p:spPr>
          <a:xfrm>
            <a:off x="910011" y="5244267"/>
            <a:ext cx="337962" cy="337962"/>
          </a:xfrm>
          <a:prstGeom prst="rect">
            <a:avLst/>
          </a:prstGeom>
        </p:spPr>
      </p:pic>
      <p:sp>
        <p:nvSpPr>
          <p:cNvPr id="35" name="Text 24"/>
          <p:cNvSpPr txBox="1"/>
          <p:nvPr/>
        </p:nvSpPr>
        <p:spPr>
          <a:xfrm>
            <a:off x="1554480" y="4965192"/>
            <a:ext cx="2468880" cy="1143000"/>
          </a:xfrm>
          <a:prstGeom prst="rect">
            <a:avLst/>
          </a:prstGeom>
          <a:noFill/>
          <a:ln/>
        </p:spPr>
        <p:txBody>
          <a:bodyPr wrap="square" lIns="0" tIns="0" rIns="0" bIns="0" rtlCol="0" anchor="ctr"/>
          <a:lstStyle/>
          <a:p>
            <a:pPr indent="0" marL="0">
              <a:spcAft>
                <a:spcPts val="200"/>
              </a:spcAft>
              <a:buNone/>
            </a:pPr>
            <a:r>
              <a:rPr lang="en-US" sz="1400" b="1" dirty="0">
                <a:solidFill>
                  <a:srgbClr val="0F172A"/>
                </a:solidFill>
                <a:latin typeface="Roboto" pitchFamily="34" charset="0"/>
                <a:ea typeface="Roboto" pitchFamily="34" charset="-122"/>
                <a:cs typeface="Roboto" pitchFamily="34" charset="-120"/>
              </a:rPr>
              <a:t>ML &amp; scoring</a:t>
            </a:r>
            <a:endParaRPr lang="en-US" sz="1400" dirty="0"/>
          </a:p>
          <a:p>
            <a:pPr indent="0" marL="0">
              <a:spcAft>
                <a:spcPts val="200"/>
              </a:spcAft>
              <a:buNone/>
            </a:pPr>
            <a:r>
              <a:rPr lang="en-US" sz="1150" dirty="0">
                <a:solidFill>
                  <a:srgbClr val="334155"/>
                </a:solidFill>
                <a:latin typeface="Roboto" pitchFamily="34" charset="0"/>
                <a:ea typeface="Roboto" pitchFamily="34" charset="-122"/>
                <a:cs typeface="Roboto" pitchFamily="34" charset="-120"/>
              </a:rPr>
              <a:t>XGBoost 3.3 · scikit-learn · PyTorch</a:t>
            </a:r>
            <a:endParaRPr lang="en-US" sz="1400" dirty="0"/>
          </a:p>
          <a:p>
            <a:pPr indent="0" marL="0">
              <a:spcAft>
                <a:spcPts val="200"/>
              </a:spcAft>
              <a:buNone/>
            </a:pPr>
            <a:r>
              <a:rPr lang="en-US" sz="1050" dirty="0">
                <a:solidFill>
                  <a:srgbClr val="64748B"/>
                </a:solidFill>
                <a:latin typeface="Roboto" pitchFamily="34" charset="0"/>
                <a:ea typeface="Roboto" pitchFamily="34" charset="-122"/>
                <a:cs typeface="Roboto" pitchFamily="34" charset="-120"/>
              </a:rPr>
              <a:t>Two-wheeler default model · patch forgery detector</a:t>
            </a:r>
            <a:endParaRPr lang="en-US" sz="1400" dirty="0"/>
          </a:p>
        </p:txBody>
      </p:sp>
      <p:sp>
        <p:nvSpPr>
          <p:cNvPr id="36" name="Shape 25"/>
          <p:cNvSpPr/>
          <p:nvPr/>
        </p:nvSpPr>
        <p:spPr>
          <a:xfrm>
            <a:off x="4297680" y="4855464"/>
            <a:ext cx="3566160" cy="1353312"/>
          </a:xfrm>
          <a:prstGeom prst="roundRect">
            <a:avLst>
              <a:gd name="adj" fmla="val 6757"/>
            </a:avLst>
          </a:prstGeom>
          <a:solidFill>
            <a:srgbClr val="F8FAFC"/>
          </a:solidFill>
          <a:ln w="12700">
            <a:solidFill>
              <a:srgbClr val="E2E8F0"/>
            </a:solidFill>
            <a:prstDash val="solid"/>
          </a:ln>
        </p:spPr>
      </p:sp>
      <p:sp>
        <p:nvSpPr>
          <p:cNvPr id="37" name="Shape 26"/>
          <p:cNvSpPr/>
          <p:nvPr/>
        </p:nvSpPr>
        <p:spPr>
          <a:xfrm>
            <a:off x="4526280" y="5111496"/>
            <a:ext cx="603504" cy="603504"/>
          </a:xfrm>
          <a:prstGeom prst="ellipse">
            <a:avLst/>
          </a:prstGeom>
          <a:solidFill>
            <a:srgbClr val="EEF2FF"/>
          </a:solidFill>
          <a:ln w="12700">
            <a:solidFill>
              <a:srgbClr val="EEF2FF"/>
            </a:solidFill>
            <a:prstDash val="solid"/>
          </a:ln>
        </p:spPr>
      </p:sp>
      <p:pic>
        <p:nvPicPr>
          <p:cNvPr id="38" name="Image 8" descr="preencoded.png">    </p:cNvPr>
          <p:cNvPicPr>
            <a:picLocks noChangeAspect="1"/>
          </p:cNvPicPr>
          <p:nvPr/>
        </p:nvPicPr>
        <p:blipFill>
          <a:blip r:embed="rId9"/>
          <a:stretch>
            <a:fillRect/>
          </a:stretch>
        </p:blipFill>
        <p:spPr>
          <a:xfrm>
            <a:off x="4659051" y="5244267"/>
            <a:ext cx="337962" cy="337962"/>
          </a:xfrm>
          <a:prstGeom prst="rect">
            <a:avLst/>
          </a:prstGeom>
        </p:spPr>
      </p:pic>
      <p:sp>
        <p:nvSpPr>
          <p:cNvPr id="39" name="Text 27"/>
          <p:cNvSpPr txBox="1"/>
          <p:nvPr/>
        </p:nvSpPr>
        <p:spPr>
          <a:xfrm>
            <a:off x="5303520" y="4965192"/>
            <a:ext cx="2468880" cy="1143000"/>
          </a:xfrm>
          <a:prstGeom prst="rect">
            <a:avLst/>
          </a:prstGeom>
          <a:noFill/>
          <a:ln/>
        </p:spPr>
        <p:txBody>
          <a:bodyPr wrap="square" lIns="0" tIns="0" rIns="0" bIns="0" rtlCol="0" anchor="ctr"/>
          <a:lstStyle/>
          <a:p>
            <a:pPr indent="0" marL="0">
              <a:spcAft>
                <a:spcPts val="200"/>
              </a:spcAft>
              <a:buNone/>
            </a:pPr>
            <a:r>
              <a:rPr lang="en-US" sz="1400" b="1" dirty="0">
                <a:solidFill>
                  <a:srgbClr val="0F172A"/>
                </a:solidFill>
                <a:latin typeface="Roboto" pitchFamily="34" charset="0"/>
                <a:ea typeface="Roboto" pitchFamily="34" charset="-122"/>
                <a:cs typeface="Roboto" pitchFamily="34" charset="-120"/>
              </a:rPr>
              <a:t>Data</a:t>
            </a:r>
            <a:endParaRPr lang="en-US" sz="1400" dirty="0"/>
          </a:p>
          <a:p>
            <a:pPr indent="0" marL="0">
              <a:spcAft>
                <a:spcPts val="200"/>
              </a:spcAft>
              <a:buNone/>
            </a:pPr>
            <a:r>
              <a:rPr lang="en-US" sz="1150" dirty="0">
                <a:solidFill>
                  <a:srgbClr val="334155"/>
                </a:solidFill>
                <a:latin typeface="Roboto" pitchFamily="34" charset="0"/>
                <a:ea typeface="Roboto" pitchFamily="34" charset="-122"/>
                <a:cs typeface="Roboto" pitchFamily="34" charset="-120"/>
              </a:rPr>
              <a:t>SQL Server LocalDB · pyodbc</a:t>
            </a:r>
            <a:endParaRPr lang="en-US" sz="1400" dirty="0"/>
          </a:p>
          <a:p>
            <a:pPr indent="0" marL="0">
              <a:spcAft>
                <a:spcPts val="200"/>
              </a:spcAft>
              <a:buNone/>
            </a:pPr>
            <a:r>
              <a:rPr lang="en-US" sz="1050" dirty="0">
                <a:solidFill>
                  <a:srgbClr val="64748B"/>
                </a:solidFill>
                <a:latin typeface="Roboto" pitchFamily="34" charset="0"/>
                <a:ea typeface="Roboto" pitchFamily="34" charset="-122"/>
                <a:cs typeface="Roboto" pitchFamily="34" charset="-120"/>
              </a:rPr>
              <a:t>9 schemas · 82 tables · 17 views</a:t>
            </a:r>
            <a:endParaRPr lang="en-US" sz="1400" dirty="0"/>
          </a:p>
        </p:txBody>
      </p:sp>
      <p:sp>
        <p:nvSpPr>
          <p:cNvPr id="40" name="Shape 28"/>
          <p:cNvSpPr/>
          <p:nvPr/>
        </p:nvSpPr>
        <p:spPr>
          <a:xfrm>
            <a:off x="8046720" y="4855464"/>
            <a:ext cx="3566160" cy="1353312"/>
          </a:xfrm>
          <a:prstGeom prst="roundRect">
            <a:avLst>
              <a:gd name="adj" fmla="val 6757"/>
            </a:avLst>
          </a:prstGeom>
          <a:solidFill>
            <a:srgbClr val="F8FAFC"/>
          </a:solidFill>
          <a:ln w="12700">
            <a:solidFill>
              <a:srgbClr val="E2E8F0"/>
            </a:solidFill>
            <a:prstDash val="solid"/>
          </a:ln>
        </p:spPr>
      </p:sp>
      <p:sp>
        <p:nvSpPr>
          <p:cNvPr id="41" name="Shape 29"/>
          <p:cNvSpPr/>
          <p:nvPr/>
        </p:nvSpPr>
        <p:spPr>
          <a:xfrm>
            <a:off x="8275320" y="5111496"/>
            <a:ext cx="603504" cy="603504"/>
          </a:xfrm>
          <a:prstGeom prst="ellipse">
            <a:avLst/>
          </a:prstGeom>
          <a:solidFill>
            <a:srgbClr val="EEF2FF"/>
          </a:solidFill>
          <a:ln w="12700">
            <a:solidFill>
              <a:srgbClr val="EEF2FF"/>
            </a:solidFill>
            <a:prstDash val="solid"/>
          </a:ln>
        </p:spPr>
      </p:sp>
      <p:pic>
        <p:nvPicPr>
          <p:cNvPr id="42" name="Image 9" descr="preencoded.png">    </p:cNvPr>
          <p:cNvPicPr>
            <a:picLocks noChangeAspect="1"/>
          </p:cNvPicPr>
          <p:nvPr/>
        </p:nvPicPr>
        <p:blipFill>
          <a:blip r:embed="rId10"/>
          <a:stretch>
            <a:fillRect/>
          </a:stretch>
        </p:blipFill>
        <p:spPr>
          <a:xfrm>
            <a:off x="8408091" y="5244267"/>
            <a:ext cx="337962" cy="337962"/>
          </a:xfrm>
          <a:prstGeom prst="rect">
            <a:avLst/>
          </a:prstGeom>
        </p:spPr>
      </p:pic>
      <p:sp>
        <p:nvSpPr>
          <p:cNvPr id="43" name="Text 30"/>
          <p:cNvSpPr txBox="1"/>
          <p:nvPr/>
        </p:nvSpPr>
        <p:spPr>
          <a:xfrm>
            <a:off x="9052560" y="4965192"/>
            <a:ext cx="2468880" cy="1143000"/>
          </a:xfrm>
          <a:prstGeom prst="rect">
            <a:avLst/>
          </a:prstGeom>
          <a:noFill/>
          <a:ln/>
        </p:spPr>
        <p:txBody>
          <a:bodyPr wrap="square" lIns="0" tIns="0" rIns="0" bIns="0" rtlCol="0" anchor="ctr"/>
          <a:lstStyle/>
          <a:p>
            <a:pPr indent="0" marL="0">
              <a:spcAft>
                <a:spcPts val="200"/>
              </a:spcAft>
              <a:buNone/>
            </a:pPr>
            <a:r>
              <a:rPr lang="en-US" sz="1400" b="1" dirty="0">
                <a:solidFill>
                  <a:srgbClr val="0F172A"/>
                </a:solidFill>
                <a:latin typeface="Roboto" pitchFamily="34" charset="0"/>
                <a:ea typeface="Roboto" pitchFamily="34" charset="-122"/>
                <a:cs typeface="Roboto" pitchFamily="34" charset="-120"/>
              </a:rPr>
              <a:t>Quality</a:t>
            </a:r>
            <a:endParaRPr lang="en-US" sz="1400" dirty="0"/>
          </a:p>
          <a:p>
            <a:pPr indent="0" marL="0">
              <a:spcAft>
                <a:spcPts val="200"/>
              </a:spcAft>
              <a:buNone/>
            </a:pPr>
            <a:r>
              <a:rPr lang="en-US" sz="1150" dirty="0">
                <a:solidFill>
                  <a:srgbClr val="334155"/>
                </a:solidFill>
                <a:latin typeface="Roboto" pitchFamily="34" charset="0"/>
                <a:ea typeface="Roboto" pitchFamily="34" charset="-122"/>
                <a:cs typeface="Roboto" pitchFamily="34" charset="-120"/>
              </a:rPr>
              <a:t>pytest · two evaluation harnesses</a:t>
            </a:r>
            <a:endParaRPr lang="en-US" sz="1400" dirty="0"/>
          </a:p>
          <a:p>
            <a:pPr indent="0" marL="0">
              <a:spcAft>
                <a:spcPts val="200"/>
              </a:spcAft>
              <a:buNone/>
            </a:pPr>
            <a:r>
              <a:rPr lang="en-US" sz="1050" dirty="0">
                <a:solidFill>
                  <a:srgbClr val="64748B"/>
                </a:solidFill>
                <a:latin typeface="Roboto" pitchFamily="34" charset="0"/>
                <a:ea typeface="Roboto" pitchFamily="34" charset="-122"/>
                <a:cs typeface="Roboto" pitchFamily="34" charset="-120"/>
              </a:rPr>
              <a:t>130 tests · all 29 agents scored on real data</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8229600" cy="256032"/>
          </a:xfrm>
          <a:prstGeom prst="rect">
            <a:avLst/>
          </a:prstGeom>
          <a:noFill/>
          <a:ln/>
        </p:spPr>
        <p:txBody>
          <a:bodyPr wrap="square" lIns="0" tIns="0" rIns="0" bIns="0" rtlCol="0" anchor="ctr"/>
          <a:lstStyle/>
          <a:p>
            <a:pPr indent="0" marL="0">
              <a:buNone/>
            </a:pPr>
            <a:r>
              <a:rPr lang="en-US" sz="1100" b="1" spc="200" kern="0" dirty="0">
                <a:solidFill>
                  <a:srgbClr val="4F46E5"/>
                </a:solidFill>
                <a:latin typeface="Roboto" pitchFamily="34" charset="0"/>
                <a:ea typeface="Roboto" pitchFamily="34" charset="-122"/>
                <a:cs typeface="Roboto" pitchFamily="34" charset="-120"/>
              </a:rPr>
              <a:t>ARCHITECTURE</a:t>
            </a:r>
            <a:endParaRPr lang="en-US" sz="1100" dirty="0"/>
          </a:p>
        </p:txBody>
      </p:sp>
      <p:sp>
        <p:nvSpPr>
          <p:cNvPr id="3" name="Text 1"/>
          <p:cNvSpPr txBox="1"/>
          <p:nvPr/>
        </p:nvSpPr>
        <p:spPr>
          <a:xfrm>
            <a:off x="548640" y="585216"/>
            <a:ext cx="11094415" cy="566928"/>
          </a:xfrm>
          <a:prstGeom prst="rect">
            <a:avLst/>
          </a:prstGeom>
          <a:noFill/>
          <a:ln/>
        </p:spPr>
        <p:txBody>
          <a:bodyPr wrap="square" lIns="0" tIns="0" rIns="0" bIns="0" rtlCol="0" anchor="ctr"/>
          <a:lstStyle/>
          <a:p>
            <a:pPr indent="0" marL="0">
              <a:buNone/>
            </a:pPr>
            <a:r>
              <a:rPr lang="en-US" sz="2800" b="1" dirty="0">
                <a:solidFill>
                  <a:srgbClr val="0F172A"/>
                </a:solidFill>
                <a:latin typeface="Roboto" pitchFamily="34" charset="0"/>
                <a:ea typeface="Roboto" pitchFamily="34" charset="-122"/>
                <a:cs typeface="Roboto" pitchFamily="34" charset="-120"/>
              </a:rPr>
              <a:t>How one agent runs: tools decide, the model only explains</a:t>
            </a:r>
            <a:endParaRPr lang="en-US" sz="2800" dirty="0"/>
          </a:p>
        </p:txBody>
      </p:sp>
      <p:sp>
        <p:nvSpPr>
          <p:cNvPr id="4" name="Text 2"/>
          <p:cNvSpPr txBox="1"/>
          <p:nvPr/>
        </p:nvSpPr>
        <p:spPr>
          <a:xfrm>
            <a:off x="548640" y="1152144"/>
            <a:ext cx="11094415" cy="365760"/>
          </a:xfrm>
          <a:prstGeom prst="rect">
            <a:avLst/>
          </a:prstGeom>
          <a:noFill/>
          <a:ln/>
        </p:spPr>
        <p:txBody>
          <a:bodyPr wrap="square" lIns="0" tIns="0" rIns="0" bIns="0" rtlCol="0" anchor="ctr"/>
          <a:lstStyle/>
          <a:p>
            <a:pPr indent="0" marL="0">
              <a:buNone/>
            </a:pPr>
            <a:r>
              <a:rPr lang="en-US" sz="1400" dirty="0">
                <a:solidFill>
                  <a:srgbClr val="64748B"/>
                </a:solidFill>
                <a:latin typeface="Roboto" pitchFamily="34" charset="0"/>
                <a:ea typeface="Roboto" pitchFamily="34" charset="-122"/>
                <a:cs typeface="Roboto" pitchFamily="34" charset="-120"/>
              </a:rPr>
              <a:t>Every agent follows the same four steps. A score is fixed before any language model is involved.</a:t>
            </a:r>
            <a:endParaRPr lang="en-US" sz="1400" dirty="0"/>
          </a:p>
        </p:txBody>
      </p:sp>
      <p:pic>
        <p:nvPicPr>
          <p:cNvPr id="5" name="Image 0" descr="C:\Users\shrey\AppData\Local\Temp\claude\D--novacinternship-finsight\ef4ecb45-e580-4bc0-9be4-060aa240a5b2\scratchpad\deck\img\logo_lockup.png">    </p:cNvPr>
          <p:cNvPicPr>
            <a:picLocks noChangeAspect="1"/>
          </p:cNvPicPr>
          <p:nvPr/>
        </p:nvPicPr>
        <p:blipFill>
          <a:blip r:embed="rId1"/>
          <a:stretch>
            <a:fillRect/>
          </a:stretch>
        </p:blipFill>
        <p:spPr>
          <a:xfrm>
            <a:off x="10360152" y="6464808"/>
            <a:ext cx="843991" cy="237744"/>
          </a:xfrm>
          <a:prstGeom prst="rect">
            <a:avLst/>
          </a:prstGeom>
        </p:spPr>
      </p:pic>
      <p:sp>
        <p:nvSpPr>
          <p:cNvPr id="6" name="Text 3"/>
          <p:cNvSpPr txBox="1"/>
          <p:nvPr/>
        </p:nvSpPr>
        <p:spPr>
          <a:xfrm>
            <a:off x="11277295" y="6473952"/>
            <a:ext cx="365760" cy="228600"/>
          </a:xfrm>
          <a:prstGeom prst="rect">
            <a:avLst/>
          </a:prstGeom>
          <a:noFill/>
          <a:ln/>
        </p:spPr>
        <p:txBody>
          <a:bodyPr wrap="square" lIns="0" tIns="0" rIns="0" bIns="0" rtlCol="0" anchor="ctr"/>
          <a:lstStyle/>
          <a:p>
            <a:pPr algn="r" indent="0" marL="0">
              <a:buNone/>
            </a:pPr>
            <a:r>
              <a:rPr lang="en-US" sz="900" dirty="0">
                <a:solidFill>
                  <a:srgbClr val="94A3B8"/>
                </a:solidFill>
                <a:latin typeface="Roboto" pitchFamily="34" charset="0"/>
                <a:ea typeface="Roboto" pitchFamily="34" charset="-122"/>
                <a:cs typeface="Roboto" pitchFamily="34" charset="-120"/>
              </a:rPr>
              <a:t>11</a:t>
            </a:r>
            <a:endParaRPr lang="en-US" sz="900" dirty="0"/>
          </a:p>
        </p:txBody>
      </p:sp>
      <p:sp>
        <p:nvSpPr>
          <p:cNvPr id="8" name="Shape 4"/>
          <p:cNvSpPr/>
          <p:nvPr/>
        </p:nvSpPr>
        <p:spPr>
          <a:xfrm>
            <a:off x="548640" y="1783080"/>
            <a:ext cx="1554480" cy="1234440"/>
          </a:xfrm>
          <a:prstGeom prst="roundRect">
            <a:avLst>
              <a:gd name="adj" fmla="val 5926"/>
            </a:avLst>
          </a:prstGeom>
          <a:solidFill>
            <a:srgbClr val="F8FAFC"/>
          </a:solidFill>
          <a:ln w="12700">
            <a:solidFill>
              <a:srgbClr val="E2E8F0"/>
            </a:solidFill>
            <a:prstDash val="solid"/>
          </a:ln>
        </p:spPr>
      </p:sp>
      <p:sp>
        <p:nvSpPr>
          <p:cNvPr id="9" name="Text 5"/>
          <p:cNvSpPr txBox="1"/>
          <p:nvPr/>
        </p:nvSpPr>
        <p:spPr>
          <a:xfrm>
            <a:off x="621792" y="1801368"/>
            <a:ext cx="1408176" cy="1197864"/>
          </a:xfrm>
          <a:prstGeom prst="rect">
            <a:avLst/>
          </a:prstGeom>
          <a:noFill/>
          <a:ln/>
        </p:spPr>
        <p:txBody>
          <a:bodyPr wrap="square" lIns="0" tIns="0" rIns="0" bIns="0" rtlCol="0" anchor="ctr"/>
          <a:lstStyle/>
          <a:p>
            <a:pPr algn="ctr" indent="0" marL="0">
              <a:spcAft>
                <a:spcPts val="200"/>
              </a:spcAft>
              <a:buNone/>
            </a:pPr>
            <a:r>
              <a:rPr lang="en-US" sz="1350" b="1" dirty="0">
                <a:solidFill>
                  <a:srgbClr val="0F172A"/>
                </a:solidFill>
                <a:latin typeface="Roboto" pitchFamily="34" charset="0"/>
                <a:ea typeface="Roboto" pitchFamily="34" charset="-122"/>
                <a:cs typeface="Roboto" pitchFamily="34" charset="-120"/>
              </a:rPr>
              <a:t>Inputs</a:t>
            </a:r>
            <a:endParaRPr lang="en-US" sz="1350" dirty="0"/>
          </a:p>
          <a:p>
            <a:pPr algn="ctr" indent="0" marL="0">
              <a:spcAft>
                <a:spcPts val="200"/>
              </a:spcAft>
              <a:buNone/>
            </a:pPr>
            <a:r>
              <a:rPr lang="en-US" sz="1100" dirty="0">
                <a:solidFill>
                  <a:srgbClr val="64748B"/>
                </a:solidFill>
                <a:latin typeface="Roboto" pitchFamily="34" charset="0"/>
                <a:ea typeface="Roboto" pitchFamily="34" charset="-122"/>
                <a:cs typeface="Roboto" pitchFamily="34" charset="-120"/>
              </a:rPr>
              <a:t>a document, or the case's evidence</a:t>
            </a:r>
            <a:endParaRPr lang="en-US" sz="1350" dirty="0"/>
          </a:p>
        </p:txBody>
      </p:sp>
      <p:sp>
        <p:nvSpPr>
          <p:cNvPr id="10" name="Shape 6"/>
          <p:cNvSpPr/>
          <p:nvPr/>
        </p:nvSpPr>
        <p:spPr>
          <a:xfrm>
            <a:off x="2121408" y="2400300"/>
            <a:ext cx="256032" cy="0"/>
          </a:xfrm>
          <a:prstGeom prst="line">
            <a:avLst/>
          </a:prstGeom>
          <a:noFill/>
          <a:ln w="19050">
            <a:solidFill>
              <a:srgbClr val="94A3B8"/>
            </a:solidFill>
            <a:prstDash val="solid"/>
            <a:tailEnd type="triangle"/>
          </a:ln>
        </p:spPr>
      </p:sp>
      <p:sp>
        <p:nvSpPr>
          <p:cNvPr id="11" name="Shape 7"/>
          <p:cNvSpPr/>
          <p:nvPr/>
        </p:nvSpPr>
        <p:spPr>
          <a:xfrm>
            <a:off x="2395728" y="1783080"/>
            <a:ext cx="2148840" cy="1234440"/>
          </a:xfrm>
          <a:prstGeom prst="roundRect">
            <a:avLst>
              <a:gd name="adj" fmla="val 5926"/>
            </a:avLst>
          </a:prstGeom>
          <a:solidFill>
            <a:srgbClr val="EEF2FF"/>
          </a:solidFill>
          <a:ln w="12700">
            <a:solidFill>
              <a:srgbClr val="C7D2FE"/>
            </a:solidFill>
            <a:prstDash val="solid"/>
          </a:ln>
        </p:spPr>
      </p:sp>
      <p:sp>
        <p:nvSpPr>
          <p:cNvPr id="12" name="Text 8"/>
          <p:cNvSpPr txBox="1"/>
          <p:nvPr/>
        </p:nvSpPr>
        <p:spPr>
          <a:xfrm>
            <a:off x="2468880" y="1801368"/>
            <a:ext cx="2002536" cy="1197864"/>
          </a:xfrm>
          <a:prstGeom prst="rect">
            <a:avLst/>
          </a:prstGeom>
          <a:noFill/>
          <a:ln/>
        </p:spPr>
        <p:txBody>
          <a:bodyPr wrap="square" lIns="0" tIns="0" rIns="0" bIns="0" rtlCol="0" anchor="ctr"/>
          <a:lstStyle/>
          <a:p>
            <a:pPr algn="ctr" indent="0" marL="0">
              <a:spcAft>
                <a:spcPts val="200"/>
              </a:spcAft>
              <a:buNone/>
            </a:pPr>
            <a:r>
              <a:rPr lang="en-US" sz="1350" b="1" dirty="0">
                <a:solidFill>
                  <a:srgbClr val="3730A3"/>
                </a:solidFill>
                <a:latin typeface="Roboto" pitchFamily="34" charset="0"/>
                <a:ea typeface="Roboto" pitchFamily="34" charset="-122"/>
                <a:cs typeface="Roboto" pitchFamily="34" charset="-120"/>
              </a:rPr>
              <a:t>1 · Deterministic tool</a:t>
            </a:r>
            <a:endParaRPr lang="en-US" sz="1350" dirty="0"/>
          </a:p>
          <a:p>
            <a:pPr algn="ctr" indent="0" marL="0">
              <a:spcAft>
                <a:spcPts val="200"/>
              </a:spcAft>
              <a:buNone/>
            </a:pPr>
            <a:r>
              <a:rPr lang="en-US" sz="1100" dirty="0">
                <a:solidFill>
                  <a:srgbClr val="64748B"/>
                </a:solidFill>
                <a:latin typeface="Roboto" pitchFamily="34" charset="0"/>
                <a:ea typeface="Roboto" pitchFamily="34" charset="-122"/>
                <a:cs typeface="Roboto" pitchFamily="34" charset="-120"/>
              </a:rPr>
              <a:t>execute() sets the score, tier or verdict — locked</a:t>
            </a:r>
            <a:endParaRPr lang="en-US" sz="1350" dirty="0"/>
          </a:p>
        </p:txBody>
      </p:sp>
      <p:sp>
        <p:nvSpPr>
          <p:cNvPr id="13" name="Shape 9"/>
          <p:cNvSpPr/>
          <p:nvPr/>
        </p:nvSpPr>
        <p:spPr>
          <a:xfrm>
            <a:off x="4562856" y="2400300"/>
            <a:ext cx="256032" cy="0"/>
          </a:xfrm>
          <a:prstGeom prst="line">
            <a:avLst/>
          </a:prstGeom>
          <a:noFill/>
          <a:ln w="19050">
            <a:solidFill>
              <a:srgbClr val="94A3B8"/>
            </a:solidFill>
            <a:prstDash val="solid"/>
            <a:tailEnd type="triangle"/>
          </a:ln>
        </p:spPr>
      </p:sp>
      <p:sp>
        <p:nvSpPr>
          <p:cNvPr id="14" name="Shape 10"/>
          <p:cNvSpPr/>
          <p:nvPr/>
        </p:nvSpPr>
        <p:spPr>
          <a:xfrm>
            <a:off x="4846320" y="1783080"/>
            <a:ext cx="2148840" cy="1234440"/>
          </a:xfrm>
          <a:prstGeom prst="roundRect">
            <a:avLst>
              <a:gd name="adj" fmla="val 5926"/>
            </a:avLst>
          </a:prstGeom>
          <a:solidFill>
            <a:srgbClr val="FEF3C7"/>
          </a:solidFill>
          <a:ln w="12700">
            <a:solidFill>
              <a:srgbClr val="FCD34D"/>
            </a:solidFill>
            <a:prstDash val="solid"/>
          </a:ln>
        </p:spPr>
      </p:sp>
      <p:sp>
        <p:nvSpPr>
          <p:cNvPr id="15" name="Text 11"/>
          <p:cNvSpPr txBox="1"/>
          <p:nvPr/>
        </p:nvSpPr>
        <p:spPr>
          <a:xfrm>
            <a:off x="4919472" y="1801368"/>
            <a:ext cx="2002536" cy="1197864"/>
          </a:xfrm>
          <a:prstGeom prst="rect">
            <a:avLst/>
          </a:prstGeom>
          <a:noFill/>
          <a:ln/>
        </p:spPr>
        <p:txBody>
          <a:bodyPr wrap="square" lIns="0" tIns="0" rIns="0" bIns="0" rtlCol="0" anchor="ctr"/>
          <a:lstStyle/>
          <a:p>
            <a:pPr algn="ctr" indent="0" marL="0">
              <a:spcAft>
                <a:spcPts val="200"/>
              </a:spcAft>
              <a:buNone/>
            </a:pPr>
            <a:r>
              <a:rPr lang="en-US" sz="1350" b="1" dirty="0">
                <a:solidFill>
                  <a:srgbClr val="92400E"/>
                </a:solidFill>
                <a:latin typeface="Roboto" pitchFamily="34" charset="0"/>
                <a:ea typeface="Roboto" pitchFamily="34" charset="-122"/>
                <a:cs typeface="Roboto" pitchFamily="34" charset="-120"/>
              </a:rPr>
              <a:t>2 · One LLM call</a:t>
            </a:r>
            <a:endParaRPr lang="en-US" sz="1350" dirty="0"/>
          </a:p>
          <a:p>
            <a:pPr algn="ctr" indent="0" marL="0">
              <a:spcAft>
                <a:spcPts val="200"/>
              </a:spcAft>
              <a:buNone/>
            </a:pPr>
            <a:r>
              <a:rPr lang="en-US" sz="1100" dirty="0">
                <a:solidFill>
                  <a:srgbClr val="64748B"/>
                </a:solidFill>
                <a:latin typeface="Roboto" pitchFamily="34" charset="0"/>
                <a:ea typeface="Roboto" pitchFamily="34" charset="-122"/>
                <a:cs typeface="Roboto" pitchFamily="34" charset="-120"/>
              </a:rPr>
              <a:t>optional · narrate or judge · JSON schema enforced</a:t>
            </a:r>
            <a:endParaRPr lang="en-US" sz="1350" dirty="0"/>
          </a:p>
        </p:txBody>
      </p:sp>
      <p:sp>
        <p:nvSpPr>
          <p:cNvPr id="16" name="Shape 12"/>
          <p:cNvSpPr/>
          <p:nvPr/>
        </p:nvSpPr>
        <p:spPr>
          <a:xfrm>
            <a:off x="7013448" y="2400300"/>
            <a:ext cx="256032" cy="0"/>
          </a:xfrm>
          <a:prstGeom prst="line">
            <a:avLst/>
          </a:prstGeom>
          <a:noFill/>
          <a:ln w="19050">
            <a:solidFill>
              <a:srgbClr val="94A3B8"/>
            </a:solidFill>
            <a:prstDash val="solid"/>
            <a:tailEnd type="triangle"/>
          </a:ln>
        </p:spPr>
      </p:sp>
      <p:sp>
        <p:nvSpPr>
          <p:cNvPr id="17" name="Shape 13"/>
          <p:cNvSpPr/>
          <p:nvPr/>
        </p:nvSpPr>
        <p:spPr>
          <a:xfrm>
            <a:off x="7296912" y="1673352"/>
            <a:ext cx="2011680" cy="1453896"/>
          </a:xfrm>
          <a:prstGeom prst="diamond">
            <a:avLst/>
          </a:prstGeom>
          <a:solidFill>
            <a:srgbClr val="FFFFFF"/>
          </a:solidFill>
          <a:ln w="19050">
            <a:solidFill>
              <a:srgbClr val="4F46E5"/>
            </a:solidFill>
            <a:prstDash val="solid"/>
          </a:ln>
        </p:spPr>
      </p:sp>
      <p:sp>
        <p:nvSpPr>
          <p:cNvPr id="18" name="Text 14"/>
          <p:cNvSpPr txBox="1"/>
          <p:nvPr/>
        </p:nvSpPr>
        <p:spPr>
          <a:xfrm>
            <a:off x="7616952" y="1783080"/>
            <a:ext cx="1371600" cy="1234440"/>
          </a:xfrm>
          <a:prstGeom prst="rect">
            <a:avLst/>
          </a:prstGeom>
          <a:noFill/>
          <a:ln/>
        </p:spPr>
        <p:txBody>
          <a:bodyPr wrap="square" lIns="0" tIns="0" rIns="0" bIns="0" rtlCol="0" anchor="ctr"/>
          <a:lstStyle/>
          <a:p>
            <a:pPr algn="ctr" indent="0" marL="0">
              <a:buNone/>
            </a:pPr>
            <a:r>
              <a:rPr lang="en-US" sz="1150" b="1" dirty="0">
                <a:solidFill>
                  <a:srgbClr val="0F172A"/>
                </a:solidFill>
                <a:latin typeface="Roboto" pitchFamily="34" charset="0"/>
                <a:ea typeface="Roboto" pitchFamily="34" charset="-122"/>
                <a:cs typeface="Roboto" pitchFamily="34" charset="-120"/>
              </a:rPr>
              <a:t>3 · Grounding gate</a:t>
            </a:r>
            <a:endParaRPr lang="en-US" sz="1150" dirty="0"/>
          </a:p>
          <a:p>
            <a:pPr algn="ctr" indent="0" marL="0">
              <a:buNone/>
            </a:pPr>
            <a:r>
              <a:rPr lang="en-US" sz="950" dirty="0">
                <a:solidFill>
                  <a:srgbClr val="64748B"/>
                </a:solidFill>
                <a:latin typeface="Roboto" pitchFamily="34" charset="0"/>
                <a:ea typeface="Roboto" pitchFamily="34" charset="-122"/>
                <a:cs typeface="Roboto" pitchFamily="34" charset="-120"/>
              </a:rPr>
              <a:t>is every number ≥ 10 in the evidence?</a:t>
            </a:r>
            <a:endParaRPr lang="en-US" sz="1150" dirty="0"/>
          </a:p>
        </p:txBody>
      </p:sp>
      <p:sp>
        <p:nvSpPr>
          <p:cNvPr id="19" name="Shape 15"/>
          <p:cNvSpPr/>
          <p:nvPr/>
        </p:nvSpPr>
        <p:spPr>
          <a:xfrm>
            <a:off x="9326880" y="2400300"/>
            <a:ext cx="246888" cy="0"/>
          </a:xfrm>
          <a:prstGeom prst="line">
            <a:avLst/>
          </a:prstGeom>
          <a:noFill/>
          <a:ln w="19050">
            <a:solidFill>
              <a:srgbClr val="16A34A"/>
            </a:solidFill>
            <a:prstDash val="solid"/>
            <a:tailEnd type="triangle"/>
          </a:ln>
        </p:spPr>
      </p:sp>
      <p:sp>
        <p:nvSpPr>
          <p:cNvPr id="20" name="Text 16"/>
          <p:cNvSpPr txBox="1"/>
          <p:nvPr/>
        </p:nvSpPr>
        <p:spPr>
          <a:xfrm>
            <a:off x="9308592" y="2107692"/>
            <a:ext cx="365760" cy="228600"/>
          </a:xfrm>
          <a:prstGeom prst="rect">
            <a:avLst/>
          </a:prstGeom>
          <a:noFill/>
          <a:ln/>
        </p:spPr>
        <p:txBody>
          <a:bodyPr wrap="square" lIns="0" tIns="0" rIns="0" bIns="0" rtlCol="0" anchor="ctr"/>
          <a:lstStyle/>
          <a:p>
            <a:pPr indent="0" marL="0">
              <a:buNone/>
            </a:pPr>
            <a:r>
              <a:rPr lang="en-US" sz="1000" b="1" dirty="0">
                <a:solidFill>
                  <a:srgbClr val="16A34A"/>
                </a:solidFill>
                <a:latin typeface="Roboto" pitchFamily="34" charset="0"/>
                <a:ea typeface="Roboto" pitchFamily="34" charset="-122"/>
                <a:cs typeface="Roboto" pitchFamily="34" charset="-120"/>
              </a:rPr>
              <a:t>yes</a:t>
            </a:r>
            <a:endParaRPr lang="en-US" sz="1000" dirty="0"/>
          </a:p>
        </p:txBody>
      </p:sp>
      <p:sp>
        <p:nvSpPr>
          <p:cNvPr id="21" name="Shape 17"/>
          <p:cNvSpPr/>
          <p:nvPr/>
        </p:nvSpPr>
        <p:spPr>
          <a:xfrm>
            <a:off x="9601200" y="1783080"/>
            <a:ext cx="2039112" cy="1234440"/>
          </a:xfrm>
          <a:prstGeom prst="roundRect">
            <a:avLst>
              <a:gd name="adj" fmla="val 5926"/>
            </a:avLst>
          </a:prstGeom>
          <a:solidFill>
            <a:srgbClr val="DCFCE7"/>
          </a:solidFill>
          <a:ln w="12700">
            <a:solidFill>
              <a:srgbClr val="86EFAC"/>
            </a:solidFill>
            <a:prstDash val="solid"/>
          </a:ln>
        </p:spPr>
      </p:sp>
      <p:sp>
        <p:nvSpPr>
          <p:cNvPr id="22" name="Text 18"/>
          <p:cNvSpPr txBox="1"/>
          <p:nvPr/>
        </p:nvSpPr>
        <p:spPr>
          <a:xfrm>
            <a:off x="9674352" y="1801368"/>
            <a:ext cx="1892808" cy="1197864"/>
          </a:xfrm>
          <a:prstGeom prst="rect">
            <a:avLst/>
          </a:prstGeom>
          <a:noFill/>
          <a:ln/>
        </p:spPr>
        <p:txBody>
          <a:bodyPr wrap="square" lIns="0" tIns="0" rIns="0" bIns="0" rtlCol="0" anchor="ctr"/>
          <a:lstStyle/>
          <a:p>
            <a:pPr algn="ctr" indent="0" marL="0">
              <a:spcAft>
                <a:spcPts val="200"/>
              </a:spcAft>
              <a:buNone/>
            </a:pPr>
            <a:r>
              <a:rPr lang="en-US" sz="1350" b="1" dirty="0">
                <a:solidFill>
                  <a:srgbClr val="166534"/>
                </a:solidFill>
                <a:latin typeface="Roboto" pitchFamily="34" charset="0"/>
                <a:ea typeface="Roboto" pitchFamily="34" charset="-122"/>
                <a:cs typeface="Roboto" pitchFamily="34" charset="-120"/>
              </a:rPr>
              <a:t>4 · Result + trace</a:t>
            </a:r>
            <a:endParaRPr lang="en-US" sz="1350" dirty="0"/>
          </a:p>
          <a:p>
            <a:pPr algn="ctr" indent="0" marL="0">
              <a:spcAft>
                <a:spcPts val="200"/>
              </a:spcAft>
              <a:buNone/>
            </a:pPr>
            <a:r>
              <a:rPr lang="en-US" sz="1100" dirty="0">
                <a:solidFill>
                  <a:srgbClr val="64748B"/>
                </a:solidFill>
                <a:latin typeface="Roboto" pitchFamily="34" charset="0"/>
                <a:ea typeface="Roboto" pitchFamily="34" charset="-122"/>
                <a:cs typeface="Roboto" pitchFamily="34" charset="-120"/>
              </a:rPr>
              <a:t>model text shown · run, step and tool call recorded</a:t>
            </a:r>
            <a:endParaRPr lang="en-US" sz="1350" dirty="0"/>
          </a:p>
        </p:txBody>
      </p:sp>
      <p:sp>
        <p:nvSpPr>
          <p:cNvPr id="23" name="Shape 19"/>
          <p:cNvSpPr/>
          <p:nvPr/>
        </p:nvSpPr>
        <p:spPr>
          <a:xfrm>
            <a:off x="8302752" y="3136392"/>
            <a:ext cx="0" cy="265176"/>
          </a:xfrm>
          <a:prstGeom prst="line">
            <a:avLst/>
          </a:prstGeom>
          <a:noFill/>
          <a:ln w="19050">
            <a:solidFill>
              <a:srgbClr val="DC2626"/>
            </a:solidFill>
            <a:prstDash val="solid"/>
            <a:tailEnd type="triangle"/>
          </a:ln>
        </p:spPr>
      </p:sp>
      <p:sp>
        <p:nvSpPr>
          <p:cNvPr id="24" name="Text 20"/>
          <p:cNvSpPr txBox="1"/>
          <p:nvPr/>
        </p:nvSpPr>
        <p:spPr>
          <a:xfrm>
            <a:off x="8394192" y="3154680"/>
            <a:ext cx="365760" cy="228600"/>
          </a:xfrm>
          <a:prstGeom prst="rect">
            <a:avLst/>
          </a:prstGeom>
          <a:noFill/>
          <a:ln/>
        </p:spPr>
        <p:txBody>
          <a:bodyPr wrap="square" lIns="0" tIns="0" rIns="0" bIns="0" rtlCol="0" anchor="ctr"/>
          <a:lstStyle/>
          <a:p>
            <a:pPr indent="0" marL="0">
              <a:buNone/>
            </a:pPr>
            <a:r>
              <a:rPr lang="en-US" sz="1000" b="1" dirty="0">
                <a:solidFill>
                  <a:srgbClr val="DC2626"/>
                </a:solidFill>
                <a:latin typeface="Roboto" pitchFamily="34" charset="0"/>
                <a:ea typeface="Roboto" pitchFamily="34" charset="-122"/>
                <a:cs typeface="Roboto" pitchFamily="34" charset="-120"/>
              </a:rPr>
              <a:t>no</a:t>
            </a:r>
            <a:endParaRPr lang="en-US" sz="1000" dirty="0"/>
          </a:p>
        </p:txBody>
      </p:sp>
      <p:sp>
        <p:nvSpPr>
          <p:cNvPr id="25" name="Shape 21"/>
          <p:cNvSpPr/>
          <p:nvPr/>
        </p:nvSpPr>
        <p:spPr>
          <a:xfrm>
            <a:off x="7296912" y="3419856"/>
            <a:ext cx="2011680" cy="457200"/>
          </a:xfrm>
          <a:prstGeom prst="roundRect">
            <a:avLst>
              <a:gd name="adj" fmla="val 16000"/>
            </a:avLst>
          </a:prstGeom>
          <a:solidFill>
            <a:srgbClr val="FEE2E2"/>
          </a:solidFill>
          <a:ln w="12700">
            <a:solidFill>
              <a:srgbClr val="FCA5A5"/>
            </a:solidFill>
            <a:prstDash val="solid"/>
          </a:ln>
        </p:spPr>
      </p:sp>
      <p:sp>
        <p:nvSpPr>
          <p:cNvPr id="26" name="Text 22"/>
          <p:cNvSpPr txBox="1"/>
          <p:nvPr/>
        </p:nvSpPr>
        <p:spPr>
          <a:xfrm>
            <a:off x="7370064" y="3438144"/>
            <a:ext cx="1865376" cy="420624"/>
          </a:xfrm>
          <a:prstGeom prst="rect">
            <a:avLst/>
          </a:prstGeom>
          <a:noFill/>
          <a:ln/>
        </p:spPr>
        <p:txBody>
          <a:bodyPr wrap="square" lIns="0" tIns="0" rIns="0" bIns="0" rtlCol="0" anchor="ctr"/>
          <a:lstStyle/>
          <a:p>
            <a:pPr algn="ctr" indent="0" marL="0">
              <a:spcAft>
                <a:spcPts val="200"/>
              </a:spcAft>
              <a:buNone/>
            </a:pPr>
            <a:r>
              <a:rPr lang="en-US" sz="1100" b="1" dirty="0">
                <a:solidFill>
                  <a:srgbClr val="991B1B"/>
                </a:solidFill>
                <a:latin typeface="Roboto" pitchFamily="34" charset="0"/>
                <a:ea typeface="Roboto" pitchFamily="34" charset="-122"/>
                <a:cs typeface="Roboto" pitchFamily="34" charset="-120"/>
              </a:rPr>
              <a:t>Keep the tool's own text</a:t>
            </a:r>
            <a:endParaRPr lang="en-US" sz="1100" dirty="0"/>
          </a:p>
        </p:txBody>
      </p:sp>
      <p:sp>
        <p:nvSpPr>
          <p:cNvPr id="27" name="Text 23"/>
          <p:cNvSpPr txBox="1"/>
          <p:nvPr/>
        </p:nvSpPr>
        <p:spPr>
          <a:xfrm>
            <a:off x="548640" y="3840480"/>
            <a:ext cx="4572000" cy="256032"/>
          </a:xfrm>
          <a:prstGeom prst="rect">
            <a:avLst/>
          </a:prstGeom>
          <a:noFill/>
          <a:ln/>
        </p:spPr>
        <p:txBody>
          <a:bodyPr wrap="square" lIns="0" tIns="0" rIns="0" bIns="0" rtlCol="0" anchor="ctr"/>
          <a:lstStyle/>
          <a:p>
            <a:pPr indent="0" marL="0">
              <a:buNone/>
            </a:pPr>
            <a:r>
              <a:rPr lang="en-US" sz="1050" b="1" spc="200" kern="0" dirty="0">
                <a:solidFill>
                  <a:srgbClr val="64748B"/>
                </a:solidFill>
                <a:latin typeface="Roboto" pitchFamily="34" charset="0"/>
                <a:ea typeface="Roboto" pitchFamily="34" charset="-122"/>
                <a:cs typeface="Roboto" pitchFamily="34" charset="-120"/>
              </a:rPr>
              <a:t>THREE KINDS OF AGENT</a:t>
            </a:r>
            <a:endParaRPr lang="en-US" sz="1050" dirty="0"/>
          </a:p>
        </p:txBody>
      </p:sp>
      <p:sp>
        <p:nvSpPr>
          <p:cNvPr id="28" name="Shape 24"/>
          <p:cNvSpPr/>
          <p:nvPr/>
        </p:nvSpPr>
        <p:spPr>
          <a:xfrm>
            <a:off x="548640" y="4187952"/>
            <a:ext cx="3566160" cy="2057400"/>
          </a:xfrm>
          <a:prstGeom prst="roundRect">
            <a:avLst>
              <a:gd name="adj" fmla="val 4444"/>
            </a:avLst>
          </a:prstGeom>
          <a:solidFill>
            <a:srgbClr val="F8FAFC"/>
          </a:solidFill>
          <a:ln w="12700">
            <a:solidFill>
              <a:srgbClr val="E2E8F0"/>
            </a:solidFill>
            <a:prstDash val="solid"/>
          </a:ln>
        </p:spPr>
      </p:sp>
      <p:sp>
        <p:nvSpPr>
          <p:cNvPr id="29" name="Text 25"/>
          <p:cNvSpPr txBox="1"/>
          <p:nvPr/>
        </p:nvSpPr>
        <p:spPr>
          <a:xfrm>
            <a:off x="777240" y="4297680"/>
            <a:ext cx="914400" cy="685800"/>
          </a:xfrm>
          <a:prstGeom prst="rect">
            <a:avLst/>
          </a:prstGeom>
          <a:noFill/>
          <a:ln/>
        </p:spPr>
        <p:txBody>
          <a:bodyPr wrap="square" lIns="0" tIns="0" rIns="0" bIns="0" rtlCol="0" anchor="ctr"/>
          <a:lstStyle/>
          <a:p>
            <a:pPr indent="0" marL="0">
              <a:buNone/>
            </a:pPr>
            <a:r>
              <a:rPr lang="en-US" sz="3600" b="1" dirty="0">
                <a:solidFill>
                  <a:srgbClr val="4F46E5"/>
                </a:solidFill>
                <a:latin typeface="Roboto" pitchFamily="34" charset="0"/>
                <a:ea typeface="Roboto" pitchFamily="34" charset="-122"/>
                <a:cs typeface="Roboto" pitchFamily="34" charset="-120"/>
              </a:rPr>
              <a:t>18</a:t>
            </a:r>
            <a:endParaRPr lang="en-US" sz="3600" dirty="0"/>
          </a:p>
        </p:txBody>
      </p:sp>
      <p:sp>
        <p:nvSpPr>
          <p:cNvPr id="30" name="Text 26"/>
          <p:cNvSpPr txBox="1"/>
          <p:nvPr/>
        </p:nvSpPr>
        <p:spPr>
          <a:xfrm>
            <a:off x="1645920" y="4370832"/>
            <a:ext cx="2286000" cy="502920"/>
          </a:xfrm>
          <a:prstGeom prst="rect">
            <a:avLst/>
          </a:prstGeom>
          <a:noFill/>
          <a:ln/>
        </p:spPr>
        <p:txBody>
          <a:bodyPr wrap="square" lIns="0" tIns="0" rIns="0" bIns="0" rtlCol="0" anchor="ctr"/>
          <a:lstStyle/>
          <a:p>
            <a:pPr indent="0" marL="0">
              <a:buNone/>
            </a:pPr>
            <a:r>
              <a:rPr lang="en-US" sz="1600" b="1" dirty="0">
                <a:solidFill>
                  <a:srgbClr val="0F172A"/>
                </a:solidFill>
                <a:latin typeface="Roboto" pitchFamily="34" charset="0"/>
                <a:ea typeface="Roboto" pitchFamily="34" charset="-122"/>
                <a:cs typeface="Roboto" pitchFamily="34" charset="-120"/>
              </a:rPr>
              <a:t>Deterministic</a:t>
            </a:r>
            <a:endParaRPr lang="en-US" sz="1600" dirty="0"/>
          </a:p>
        </p:txBody>
      </p:sp>
      <p:sp>
        <p:nvSpPr>
          <p:cNvPr id="31" name="Text 27"/>
          <p:cNvSpPr txBox="1"/>
          <p:nvPr/>
        </p:nvSpPr>
        <p:spPr>
          <a:xfrm>
            <a:off x="777240" y="5029200"/>
            <a:ext cx="3154680" cy="1097280"/>
          </a:xfrm>
          <a:prstGeom prst="rect">
            <a:avLst/>
          </a:prstGeom>
          <a:noFill/>
          <a:ln/>
        </p:spPr>
        <p:txBody>
          <a:bodyPr wrap="square" lIns="0" tIns="0" rIns="0" bIns="0" rtlCol="0" anchor="t"/>
          <a:lstStyle/>
          <a:p>
            <a:pPr indent="0" marL="0">
              <a:spcAft>
                <a:spcPts val="400"/>
              </a:spcAft>
              <a:buNone/>
            </a:pPr>
            <a:r>
              <a:rPr lang="en-US" sz="1150" dirty="0">
                <a:solidFill>
                  <a:srgbClr val="0F172A"/>
                </a:solidFill>
                <a:latin typeface="Roboto" pitchFamily="34" charset="0"/>
                <a:ea typeface="Roboto" pitchFamily="34" charset="-122"/>
                <a:cs typeface="Roboto" pitchFamily="34" charset="-120"/>
              </a:rPr>
              <a:t>Tool only — no model at all.</a:t>
            </a:r>
            <a:endParaRPr lang="en-US" sz="1150" dirty="0"/>
          </a:p>
          <a:p>
            <a:pPr indent="0" marL="0">
              <a:spcAft>
                <a:spcPts val="400"/>
              </a:spcAft>
              <a:buNone/>
            </a:pPr>
            <a:r>
              <a:rPr lang="en-US" sz="1000" dirty="0">
                <a:solidFill>
                  <a:srgbClr val="64748B"/>
                </a:solidFill>
                <a:latin typeface="Roboto" pitchFamily="34" charset="0"/>
                <a:ea typeface="Roboto" pitchFamily="34" charset="-122"/>
                <a:cs typeface="Roboto" pitchFamily="34" charset="-120"/>
              </a:rPr>
              <a:t>Validation, masking, face match, tampering signals, fraud fusion, policy rules, risk, offer…</a:t>
            </a:r>
            <a:endParaRPr lang="en-US" sz="1150" dirty="0"/>
          </a:p>
        </p:txBody>
      </p:sp>
      <p:sp>
        <p:nvSpPr>
          <p:cNvPr id="32" name="Shape 28"/>
          <p:cNvSpPr/>
          <p:nvPr/>
        </p:nvSpPr>
        <p:spPr>
          <a:xfrm>
            <a:off x="4297680" y="4187952"/>
            <a:ext cx="3566160" cy="2057400"/>
          </a:xfrm>
          <a:prstGeom prst="roundRect">
            <a:avLst>
              <a:gd name="adj" fmla="val 4444"/>
            </a:avLst>
          </a:prstGeom>
          <a:solidFill>
            <a:srgbClr val="F8FAFC"/>
          </a:solidFill>
          <a:ln w="12700">
            <a:solidFill>
              <a:srgbClr val="E2E8F0"/>
            </a:solidFill>
            <a:prstDash val="solid"/>
          </a:ln>
        </p:spPr>
      </p:sp>
      <p:sp>
        <p:nvSpPr>
          <p:cNvPr id="33" name="Text 29"/>
          <p:cNvSpPr txBox="1"/>
          <p:nvPr/>
        </p:nvSpPr>
        <p:spPr>
          <a:xfrm>
            <a:off x="4526280" y="4297680"/>
            <a:ext cx="914400" cy="685800"/>
          </a:xfrm>
          <a:prstGeom prst="rect">
            <a:avLst/>
          </a:prstGeom>
          <a:noFill/>
          <a:ln/>
        </p:spPr>
        <p:txBody>
          <a:bodyPr wrap="square" lIns="0" tIns="0" rIns="0" bIns="0" rtlCol="0" anchor="ctr"/>
          <a:lstStyle/>
          <a:p>
            <a:pPr indent="0" marL="0">
              <a:buNone/>
            </a:pPr>
            <a:r>
              <a:rPr lang="en-US" sz="3600" b="1" dirty="0">
                <a:solidFill>
                  <a:srgbClr val="D97706"/>
                </a:solidFill>
                <a:latin typeface="Roboto" pitchFamily="34" charset="0"/>
                <a:ea typeface="Roboto" pitchFamily="34" charset="-122"/>
                <a:cs typeface="Roboto" pitchFamily="34" charset="-120"/>
              </a:rPr>
              <a:t>7</a:t>
            </a:r>
            <a:endParaRPr lang="en-US" sz="3600" dirty="0"/>
          </a:p>
        </p:txBody>
      </p:sp>
      <p:sp>
        <p:nvSpPr>
          <p:cNvPr id="34" name="Text 30"/>
          <p:cNvSpPr txBox="1"/>
          <p:nvPr/>
        </p:nvSpPr>
        <p:spPr>
          <a:xfrm>
            <a:off x="5394960" y="4370832"/>
            <a:ext cx="2286000" cy="502920"/>
          </a:xfrm>
          <a:prstGeom prst="rect">
            <a:avLst/>
          </a:prstGeom>
          <a:noFill/>
          <a:ln/>
        </p:spPr>
        <p:txBody>
          <a:bodyPr wrap="square" lIns="0" tIns="0" rIns="0" bIns="0" rtlCol="0" anchor="ctr"/>
          <a:lstStyle/>
          <a:p>
            <a:pPr indent="0" marL="0">
              <a:buNone/>
            </a:pPr>
            <a:r>
              <a:rPr lang="en-US" sz="1600" b="1" dirty="0">
                <a:solidFill>
                  <a:srgbClr val="0F172A"/>
                </a:solidFill>
                <a:latin typeface="Roboto" pitchFamily="34" charset="0"/>
                <a:ea typeface="Roboto" pitchFamily="34" charset="-122"/>
                <a:cs typeface="Roboto" pitchFamily="34" charset="-120"/>
              </a:rPr>
              <a:t>Hybrid</a:t>
            </a:r>
            <a:endParaRPr lang="en-US" sz="1600" dirty="0"/>
          </a:p>
        </p:txBody>
      </p:sp>
      <p:sp>
        <p:nvSpPr>
          <p:cNvPr id="35" name="Text 31"/>
          <p:cNvSpPr txBox="1"/>
          <p:nvPr/>
        </p:nvSpPr>
        <p:spPr>
          <a:xfrm>
            <a:off x="4526280" y="5029200"/>
            <a:ext cx="3154680" cy="1097280"/>
          </a:xfrm>
          <a:prstGeom prst="rect">
            <a:avLst/>
          </a:prstGeom>
          <a:noFill/>
          <a:ln/>
        </p:spPr>
        <p:txBody>
          <a:bodyPr wrap="square" lIns="0" tIns="0" rIns="0" bIns="0" rtlCol="0" anchor="t"/>
          <a:lstStyle/>
          <a:p>
            <a:pPr indent="0" marL="0">
              <a:spcAft>
                <a:spcPts val="400"/>
              </a:spcAft>
              <a:buNone/>
            </a:pPr>
            <a:r>
              <a:rPr lang="en-US" sz="1150" dirty="0">
                <a:solidFill>
                  <a:srgbClr val="0F172A"/>
                </a:solidFill>
                <a:latin typeface="Roboto" pitchFamily="34" charset="0"/>
                <a:ea typeface="Roboto" pitchFamily="34" charset="-122"/>
                <a:cs typeface="Roboto" pitchFamily="34" charset="-120"/>
              </a:rPr>
              <a:t>Tool decides, model narrates or judges within limits.</a:t>
            </a:r>
            <a:endParaRPr lang="en-US" sz="1150" dirty="0"/>
          </a:p>
          <a:p>
            <a:pPr indent="0" marL="0">
              <a:spcAft>
                <a:spcPts val="400"/>
              </a:spcAft>
              <a:buNone/>
            </a:pPr>
            <a:r>
              <a:rPr lang="en-US" sz="1000" dirty="0">
                <a:solidFill>
                  <a:srgbClr val="64748B"/>
                </a:solidFill>
                <a:latin typeface="Roboto" pitchFamily="34" charset="0"/>
                <a:ea typeface="Roboto" pitchFamily="34" charset="-122"/>
                <a:cs typeface="Roboto" pitchFamily="34" charset="-120"/>
              </a:rPr>
              <a:t>Authenticity, tamper explainer, fraud patterns, triage, rule authoring, income, process mining</a:t>
            </a:r>
            <a:endParaRPr lang="en-US" sz="1150" dirty="0"/>
          </a:p>
        </p:txBody>
      </p:sp>
      <p:sp>
        <p:nvSpPr>
          <p:cNvPr id="36" name="Shape 32"/>
          <p:cNvSpPr/>
          <p:nvPr/>
        </p:nvSpPr>
        <p:spPr>
          <a:xfrm>
            <a:off x="8046720" y="4187952"/>
            <a:ext cx="3566160" cy="2057400"/>
          </a:xfrm>
          <a:prstGeom prst="roundRect">
            <a:avLst>
              <a:gd name="adj" fmla="val 4444"/>
            </a:avLst>
          </a:prstGeom>
          <a:solidFill>
            <a:srgbClr val="F8FAFC"/>
          </a:solidFill>
          <a:ln w="12700">
            <a:solidFill>
              <a:srgbClr val="E2E8F0"/>
            </a:solidFill>
            <a:prstDash val="solid"/>
          </a:ln>
        </p:spPr>
      </p:sp>
      <p:sp>
        <p:nvSpPr>
          <p:cNvPr id="37" name="Text 33"/>
          <p:cNvSpPr txBox="1"/>
          <p:nvPr/>
        </p:nvSpPr>
        <p:spPr>
          <a:xfrm>
            <a:off x="8275320" y="4297680"/>
            <a:ext cx="914400" cy="685800"/>
          </a:xfrm>
          <a:prstGeom prst="rect">
            <a:avLst/>
          </a:prstGeom>
          <a:noFill/>
          <a:ln/>
        </p:spPr>
        <p:txBody>
          <a:bodyPr wrap="square" lIns="0" tIns="0" rIns="0" bIns="0" rtlCol="0" anchor="ctr"/>
          <a:lstStyle/>
          <a:p>
            <a:pPr indent="0" marL="0">
              <a:buNone/>
            </a:pPr>
            <a:r>
              <a:rPr lang="en-US" sz="3600" b="1" dirty="0">
                <a:solidFill>
                  <a:srgbClr val="E11D48"/>
                </a:solidFill>
                <a:latin typeface="Roboto" pitchFamily="34" charset="0"/>
                <a:ea typeface="Roboto" pitchFamily="34" charset="-122"/>
                <a:cs typeface="Roboto" pitchFamily="34" charset="-120"/>
              </a:rPr>
              <a:t>4</a:t>
            </a:r>
            <a:endParaRPr lang="en-US" sz="3600" dirty="0"/>
          </a:p>
        </p:txBody>
      </p:sp>
      <p:sp>
        <p:nvSpPr>
          <p:cNvPr id="38" name="Text 34"/>
          <p:cNvSpPr txBox="1"/>
          <p:nvPr/>
        </p:nvSpPr>
        <p:spPr>
          <a:xfrm>
            <a:off x="9144000" y="4370832"/>
            <a:ext cx="2286000" cy="502920"/>
          </a:xfrm>
          <a:prstGeom prst="rect">
            <a:avLst/>
          </a:prstGeom>
          <a:noFill/>
          <a:ln/>
        </p:spPr>
        <p:txBody>
          <a:bodyPr wrap="square" lIns="0" tIns="0" rIns="0" bIns="0" rtlCol="0" anchor="ctr"/>
          <a:lstStyle/>
          <a:p>
            <a:pPr indent="0" marL="0">
              <a:buNone/>
            </a:pPr>
            <a:r>
              <a:rPr lang="en-US" sz="1600" b="1" dirty="0">
                <a:solidFill>
                  <a:srgbClr val="0F172A"/>
                </a:solidFill>
                <a:latin typeface="Roboto" pitchFamily="34" charset="0"/>
                <a:ea typeface="Roboto" pitchFamily="34" charset="-122"/>
                <a:cs typeface="Roboto" pitchFamily="34" charset="-120"/>
              </a:rPr>
              <a:t>LLM</a:t>
            </a:r>
            <a:endParaRPr lang="en-US" sz="1600" dirty="0"/>
          </a:p>
        </p:txBody>
      </p:sp>
      <p:sp>
        <p:nvSpPr>
          <p:cNvPr id="39" name="Text 35"/>
          <p:cNvSpPr txBox="1"/>
          <p:nvPr/>
        </p:nvSpPr>
        <p:spPr>
          <a:xfrm>
            <a:off x="8275320" y="5029200"/>
            <a:ext cx="3154680" cy="1097280"/>
          </a:xfrm>
          <a:prstGeom prst="rect">
            <a:avLst/>
          </a:prstGeom>
          <a:noFill/>
          <a:ln/>
        </p:spPr>
        <p:txBody>
          <a:bodyPr wrap="square" lIns="0" tIns="0" rIns="0" bIns="0" rtlCol="0" anchor="t"/>
          <a:lstStyle/>
          <a:p>
            <a:pPr indent="0" marL="0">
              <a:spcAft>
                <a:spcPts val="400"/>
              </a:spcAft>
              <a:buNone/>
            </a:pPr>
            <a:r>
              <a:rPr lang="en-US" sz="1150" dirty="0">
                <a:solidFill>
                  <a:srgbClr val="0F172A"/>
                </a:solidFill>
                <a:latin typeface="Roboto" pitchFamily="34" charset="0"/>
                <a:ea typeface="Roboto" pitchFamily="34" charset="-122"/>
                <a:cs typeface="Roboto" pitchFamily="34" charset="-120"/>
              </a:rPr>
              <a:t>The model does the core task inside a fenced call.</a:t>
            </a:r>
            <a:endParaRPr lang="en-US" sz="1150" dirty="0"/>
          </a:p>
          <a:p>
            <a:pPr indent="0" marL="0">
              <a:spcAft>
                <a:spcPts val="400"/>
              </a:spcAft>
              <a:buNone/>
            </a:pPr>
            <a:r>
              <a:rPr lang="en-US" sz="1000" dirty="0">
                <a:solidFill>
                  <a:srgbClr val="64748B"/>
                </a:solidFill>
                <a:latin typeface="Roboto" pitchFamily="34" charset="0"/>
                <a:ea typeface="Roboto" pitchFamily="34" charset="-122"/>
                <a:cs typeface="Roboto" pitchFamily="34" charset="-120"/>
              </a:rPr>
              <a:t>Extraction, regulatory Q&amp;A, credit memo, underwriting supervisor</a:t>
            </a:r>
            <a:endParaRPr lang="en-US" sz="11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1417320"/>
            <a:ext cx="3657600" cy="1188720"/>
          </a:xfrm>
          <a:prstGeom prst="rect">
            <a:avLst/>
          </a:prstGeom>
          <a:noFill/>
          <a:ln/>
        </p:spPr>
        <p:txBody>
          <a:bodyPr wrap="square" lIns="0" tIns="0" rIns="0" bIns="0" rtlCol="0" anchor="ctr"/>
          <a:lstStyle/>
          <a:p>
            <a:pPr indent="0" marL="0">
              <a:buNone/>
            </a:pPr>
            <a:r>
              <a:rPr lang="en-US" sz="8800" b="1" dirty="0">
                <a:solidFill>
                  <a:srgbClr val="818CF8"/>
                </a:solidFill>
                <a:latin typeface="Roboto" pitchFamily="34" charset="0"/>
                <a:ea typeface="Roboto" pitchFamily="34" charset="-122"/>
                <a:cs typeface="Roboto" pitchFamily="34" charset="-120"/>
              </a:rPr>
              <a:t>02</a:t>
            </a:r>
            <a:endParaRPr lang="en-US" sz="8800" dirty="0"/>
          </a:p>
        </p:txBody>
      </p:sp>
      <p:sp>
        <p:nvSpPr>
          <p:cNvPr id="3" name="Text 1"/>
          <p:cNvSpPr txBox="1"/>
          <p:nvPr/>
        </p:nvSpPr>
        <p:spPr>
          <a:xfrm>
            <a:off x="548640" y="2697480"/>
            <a:ext cx="7772400" cy="822960"/>
          </a:xfrm>
          <a:prstGeom prst="rect">
            <a:avLst/>
          </a:prstGeom>
          <a:noFill/>
          <a:ln/>
        </p:spPr>
        <p:txBody>
          <a:bodyPr wrap="square" lIns="0" tIns="0" rIns="0" bIns="0" rtlCol="0" anchor="ctr"/>
          <a:lstStyle/>
          <a:p>
            <a:pPr indent="0" marL="0">
              <a:buNone/>
            </a:pPr>
            <a:r>
              <a:rPr lang="en-US" sz="4000" b="1" dirty="0">
                <a:solidFill>
                  <a:srgbClr val="FFFFFF"/>
                </a:solidFill>
                <a:latin typeface="Roboto" pitchFamily="34" charset="0"/>
                <a:ea typeface="Roboto" pitchFamily="34" charset="-122"/>
                <a:cs typeface="Roboto" pitchFamily="34" charset="-120"/>
              </a:rPr>
              <a:t>The 29 agents</a:t>
            </a:r>
            <a:endParaRPr lang="en-US" sz="4000" dirty="0"/>
          </a:p>
        </p:txBody>
      </p:sp>
      <p:sp>
        <p:nvSpPr>
          <p:cNvPr id="4" name="Text 2"/>
          <p:cNvSpPr txBox="1"/>
          <p:nvPr/>
        </p:nvSpPr>
        <p:spPr>
          <a:xfrm>
            <a:off x="548640" y="3520440"/>
            <a:ext cx="7132320" cy="822960"/>
          </a:xfrm>
          <a:prstGeom prst="rect">
            <a:avLst/>
          </a:prstGeom>
          <a:noFill/>
          <a:ln/>
        </p:spPr>
        <p:txBody>
          <a:bodyPr wrap="square" lIns="0" tIns="0" rIns="0" bIns="0" rtlCol="0" anchor="t"/>
          <a:lstStyle/>
          <a:p>
            <a:pPr indent="0" marL="0">
              <a:buNone/>
            </a:pPr>
            <a:r>
              <a:rPr lang="en-US" sz="1700" dirty="0">
                <a:solidFill>
                  <a:srgbClr val="CBD5E1"/>
                </a:solidFill>
                <a:latin typeface="Roboto" pitchFamily="34" charset="0"/>
                <a:ea typeface="Roboto" pitchFamily="34" charset="-122"/>
                <a:cs typeface="Roboto" pitchFamily="34" charset="-120"/>
              </a:rPr>
              <a:t>Six crews. Each agent has one job, one set of tools and a pass mark fixed before it was tested. Scores shown are from real and public data.</a:t>
            </a:r>
            <a:endParaRPr lang="en-US" sz="1700" dirty="0"/>
          </a:p>
        </p:txBody>
      </p:sp>
      <p:sp>
        <p:nvSpPr>
          <p:cNvPr id="5" name="Text 3"/>
          <p:cNvSpPr txBox="1"/>
          <p:nvPr/>
        </p:nvSpPr>
        <p:spPr>
          <a:xfrm>
            <a:off x="548640" y="4754880"/>
            <a:ext cx="3657600" cy="274320"/>
          </a:xfrm>
          <a:prstGeom prst="rect">
            <a:avLst/>
          </a:prstGeom>
          <a:noFill/>
          <a:ln/>
        </p:spPr>
        <p:txBody>
          <a:bodyPr wrap="square" lIns="0" tIns="0" rIns="0" bIns="0" rtlCol="0" anchor="ctr"/>
          <a:lstStyle/>
          <a:p>
            <a:pPr indent="0" marL="0">
              <a:buNone/>
            </a:pPr>
            <a:r>
              <a:rPr lang="en-US" sz="1050" b="1" spc="200" kern="0" dirty="0">
                <a:solidFill>
                  <a:srgbClr val="94A3B8"/>
                </a:solidFill>
                <a:latin typeface="Roboto" pitchFamily="34" charset="0"/>
                <a:ea typeface="Roboto" pitchFamily="34" charset="-122"/>
                <a:cs typeface="Roboto" pitchFamily="34" charset="-120"/>
              </a:rPr>
              <a:t>IN THIS SECTION</a:t>
            </a:r>
            <a:endParaRPr lang="en-US" sz="1050" dirty="0"/>
          </a:p>
        </p:txBody>
      </p:sp>
      <p:sp>
        <p:nvSpPr>
          <p:cNvPr id="6" name="Shape 4"/>
          <p:cNvSpPr/>
          <p:nvPr/>
        </p:nvSpPr>
        <p:spPr>
          <a:xfrm>
            <a:off x="548640" y="5102352"/>
            <a:ext cx="914400" cy="384048"/>
          </a:xfrm>
          <a:prstGeom prst="roundRect">
            <a:avLst>
              <a:gd name="adj" fmla="val 50000"/>
            </a:avLst>
          </a:prstGeom>
          <a:solidFill>
            <a:srgbClr val="1E293B"/>
          </a:solidFill>
          <a:ln w="12700">
            <a:solidFill>
              <a:srgbClr val="334155"/>
            </a:solidFill>
            <a:prstDash val="solid"/>
          </a:ln>
        </p:spPr>
      </p:sp>
      <p:sp>
        <p:nvSpPr>
          <p:cNvPr id="7" name="Text 5"/>
          <p:cNvSpPr txBox="1"/>
          <p:nvPr/>
        </p:nvSpPr>
        <p:spPr>
          <a:xfrm>
            <a:off x="548640" y="5102352"/>
            <a:ext cx="914400" cy="384048"/>
          </a:xfrm>
          <a:prstGeom prst="rect">
            <a:avLst/>
          </a:prstGeom>
          <a:noFill/>
          <a:ln/>
        </p:spPr>
        <p:txBody>
          <a:bodyPr wrap="square" lIns="0" tIns="0" rIns="0" bIns="0" rtlCol="0" anchor="ctr"/>
          <a:lstStyle/>
          <a:p>
            <a:pPr algn="ctr" indent="0" marL="0">
              <a:buNone/>
            </a:pPr>
            <a:r>
              <a:rPr lang="en-US" sz="1200" dirty="0">
                <a:solidFill>
                  <a:srgbClr val="E2E8F0"/>
                </a:solidFill>
                <a:latin typeface="Roboto" pitchFamily="34" charset="0"/>
                <a:ea typeface="Roboto" pitchFamily="34" charset="-122"/>
                <a:cs typeface="Roboto" pitchFamily="34" charset="-120"/>
              </a:rPr>
              <a:t>Agent map</a:t>
            </a:r>
            <a:endParaRPr lang="en-US" sz="1200" dirty="0"/>
          </a:p>
        </p:txBody>
      </p:sp>
      <p:sp>
        <p:nvSpPr>
          <p:cNvPr id="8" name="Shape 6"/>
          <p:cNvSpPr/>
          <p:nvPr/>
        </p:nvSpPr>
        <p:spPr>
          <a:xfrm>
            <a:off x="1591056" y="5102352"/>
            <a:ext cx="694944" cy="384048"/>
          </a:xfrm>
          <a:prstGeom prst="roundRect">
            <a:avLst>
              <a:gd name="adj" fmla="val 50000"/>
            </a:avLst>
          </a:prstGeom>
          <a:solidFill>
            <a:srgbClr val="1E293B"/>
          </a:solidFill>
          <a:ln w="12700">
            <a:solidFill>
              <a:srgbClr val="334155"/>
            </a:solidFill>
            <a:prstDash val="solid"/>
          </a:ln>
        </p:spPr>
      </p:sp>
      <p:sp>
        <p:nvSpPr>
          <p:cNvPr id="9" name="Text 7"/>
          <p:cNvSpPr txBox="1"/>
          <p:nvPr/>
        </p:nvSpPr>
        <p:spPr>
          <a:xfrm>
            <a:off x="1591056" y="5102352"/>
            <a:ext cx="694944" cy="384048"/>
          </a:xfrm>
          <a:prstGeom prst="rect">
            <a:avLst/>
          </a:prstGeom>
          <a:noFill/>
          <a:ln/>
        </p:spPr>
        <p:txBody>
          <a:bodyPr wrap="square" lIns="0" tIns="0" rIns="0" bIns="0" rtlCol="0" anchor="ctr"/>
          <a:lstStyle/>
          <a:p>
            <a:pPr algn="ctr" indent="0" marL="0">
              <a:buNone/>
            </a:pPr>
            <a:r>
              <a:rPr lang="en-US" sz="1200" dirty="0">
                <a:solidFill>
                  <a:srgbClr val="E2E8F0"/>
                </a:solidFill>
                <a:latin typeface="Roboto" pitchFamily="34" charset="0"/>
                <a:ea typeface="Roboto" pitchFamily="34" charset="-122"/>
                <a:cs typeface="Roboto" pitchFamily="34" charset="-120"/>
              </a:rPr>
              <a:t>Intake</a:t>
            </a:r>
            <a:endParaRPr lang="en-US" sz="1200" dirty="0"/>
          </a:p>
        </p:txBody>
      </p:sp>
      <p:sp>
        <p:nvSpPr>
          <p:cNvPr id="10" name="Shape 8"/>
          <p:cNvSpPr/>
          <p:nvPr/>
        </p:nvSpPr>
        <p:spPr>
          <a:xfrm>
            <a:off x="2414016" y="5102352"/>
            <a:ext cx="1572768" cy="384048"/>
          </a:xfrm>
          <a:prstGeom prst="roundRect">
            <a:avLst>
              <a:gd name="adj" fmla="val 50000"/>
            </a:avLst>
          </a:prstGeom>
          <a:solidFill>
            <a:srgbClr val="1E293B"/>
          </a:solidFill>
          <a:ln w="12700">
            <a:solidFill>
              <a:srgbClr val="334155"/>
            </a:solidFill>
            <a:prstDash val="solid"/>
          </a:ln>
        </p:spPr>
      </p:sp>
      <p:sp>
        <p:nvSpPr>
          <p:cNvPr id="11" name="Text 9"/>
          <p:cNvSpPr txBox="1"/>
          <p:nvPr/>
        </p:nvSpPr>
        <p:spPr>
          <a:xfrm>
            <a:off x="2414016" y="5102352"/>
            <a:ext cx="1572768" cy="384048"/>
          </a:xfrm>
          <a:prstGeom prst="rect">
            <a:avLst/>
          </a:prstGeom>
          <a:noFill/>
          <a:ln/>
        </p:spPr>
        <p:txBody>
          <a:bodyPr wrap="square" lIns="0" tIns="0" rIns="0" bIns="0" rtlCol="0" anchor="ctr"/>
          <a:lstStyle/>
          <a:p>
            <a:pPr algn="ctr" indent="0" marL="0">
              <a:buNone/>
            </a:pPr>
            <a:r>
              <a:rPr lang="en-US" sz="1200" dirty="0">
                <a:solidFill>
                  <a:srgbClr val="E2E8F0"/>
                </a:solidFill>
                <a:latin typeface="Roboto" pitchFamily="34" charset="0"/>
                <a:ea typeface="Roboto" pitchFamily="34" charset="-122"/>
                <a:cs typeface="Roboto" pitchFamily="34" charset="-120"/>
              </a:rPr>
              <a:t>Privacy &amp; identity</a:t>
            </a:r>
            <a:endParaRPr lang="en-US" sz="1200" dirty="0"/>
          </a:p>
        </p:txBody>
      </p:sp>
      <p:sp>
        <p:nvSpPr>
          <p:cNvPr id="12" name="Shape 10"/>
          <p:cNvSpPr/>
          <p:nvPr/>
        </p:nvSpPr>
        <p:spPr>
          <a:xfrm>
            <a:off x="4114800" y="5102352"/>
            <a:ext cx="914400" cy="384048"/>
          </a:xfrm>
          <a:prstGeom prst="roundRect">
            <a:avLst>
              <a:gd name="adj" fmla="val 50000"/>
            </a:avLst>
          </a:prstGeom>
          <a:solidFill>
            <a:srgbClr val="1E293B"/>
          </a:solidFill>
          <a:ln w="12700">
            <a:solidFill>
              <a:srgbClr val="334155"/>
            </a:solidFill>
            <a:prstDash val="solid"/>
          </a:ln>
        </p:spPr>
      </p:sp>
      <p:sp>
        <p:nvSpPr>
          <p:cNvPr id="13" name="Text 11"/>
          <p:cNvSpPr txBox="1"/>
          <p:nvPr/>
        </p:nvSpPr>
        <p:spPr>
          <a:xfrm>
            <a:off x="4114800" y="5102352"/>
            <a:ext cx="914400" cy="384048"/>
          </a:xfrm>
          <a:prstGeom prst="rect">
            <a:avLst/>
          </a:prstGeom>
          <a:noFill/>
          <a:ln/>
        </p:spPr>
        <p:txBody>
          <a:bodyPr wrap="square" lIns="0" tIns="0" rIns="0" bIns="0" rtlCol="0" anchor="ctr"/>
          <a:lstStyle/>
          <a:p>
            <a:pPr algn="ctr" indent="0" marL="0">
              <a:buNone/>
            </a:pPr>
            <a:r>
              <a:rPr lang="en-US" sz="1200" dirty="0">
                <a:solidFill>
                  <a:srgbClr val="E2E8F0"/>
                </a:solidFill>
                <a:latin typeface="Roboto" pitchFamily="34" charset="0"/>
                <a:ea typeface="Roboto" pitchFamily="34" charset="-122"/>
                <a:cs typeface="Roboto" pitchFamily="34" charset="-120"/>
              </a:rPr>
              <a:t>Tampering</a:t>
            </a:r>
            <a:endParaRPr lang="en-US" sz="1200" dirty="0"/>
          </a:p>
        </p:txBody>
      </p:sp>
      <p:sp>
        <p:nvSpPr>
          <p:cNvPr id="14" name="Shape 12"/>
          <p:cNvSpPr/>
          <p:nvPr/>
        </p:nvSpPr>
        <p:spPr>
          <a:xfrm>
            <a:off x="5157216" y="5102352"/>
            <a:ext cx="1133856" cy="384048"/>
          </a:xfrm>
          <a:prstGeom prst="roundRect">
            <a:avLst>
              <a:gd name="adj" fmla="val 50000"/>
            </a:avLst>
          </a:prstGeom>
          <a:solidFill>
            <a:srgbClr val="1E293B"/>
          </a:solidFill>
          <a:ln w="12700">
            <a:solidFill>
              <a:srgbClr val="334155"/>
            </a:solidFill>
            <a:prstDash val="solid"/>
          </a:ln>
        </p:spPr>
      </p:sp>
      <p:sp>
        <p:nvSpPr>
          <p:cNvPr id="15" name="Text 13"/>
          <p:cNvSpPr txBox="1"/>
          <p:nvPr/>
        </p:nvSpPr>
        <p:spPr>
          <a:xfrm>
            <a:off x="5157216" y="5102352"/>
            <a:ext cx="1133856" cy="384048"/>
          </a:xfrm>
          <a:prstGeom prst="rect">
            <a:avLst/>
          </a:prstGeom>
          <a:noFill/>
          <a:ln/>
        </p:spPr>
        <p:txBody>
          <a:bodyPr wrap="square" lIns="0" tIns="0" rIns="0" bIns="0" rtlCol="0" anchor="ctr"/>
          <a:lstStyle/>
          <a:p>
            <a:pPr algn="ctr" indent="0" marL="0">
              <a:buNone/>
            </a:pPr>
            <a:r>
              <a:rPr lang="en-US" sz="1200" dirty="0">
                <a:solidFill>
                  <a:srgbClr val="E2E8F0"/>
                </a:solidFill>
                <a:latin typeface="Roboto" pitchFamily="34" charset="0"/>
                <a:ea typeface="Roboto" pitchFamily="34" charset="-122"/>
                <a:cs typeface="Roboto" pitchFamily="34" charset="-120"/>
              </a:rPr>
              <a:t>Fraud fusion</a:t>
            </a:r>
            <a:endParaRPr lang="en-US" sz="1200" dirty="0"/>
          </a:p>
        </p:txBody>
      </p:sp>
      <p:sp>
        <p:nvSpPr>
          <p:cNvPr id="16" name="Shape 14"/>
          <p:cNvSpPr/>
          <p:nvPr/>
        </p:nvSpPr>
        <p:spPr>
          <a:xfrm>
            <a:off x="6419088" y="5102352"/>
            <a:ext cx="1499616" cy="384048"/>
          </a:xfrm>
          <a:prstGeom prst="roundRect">
            <a:avLst>
              <a:gd name="adj" fmla="val 50000"/>
            </a:avLst>
          </a:prstGeom>
          <a:solidFill>
            <a:srgbClr val="1E293B"/>
          </a:solidFill>
          <a:ln w="12700">
            <a:solidFill>
              <a:srgbClr val="334155"/>
            </a:solidFill>
            <a:prstDash val="solid"/>
          </a:ln>
        </p:spPr>
      </p:sp>
      <p:sp>
        <p:nvSpPr>
          <p:cNvPr id="17" name="Text 15"/>
          <p:cNvSpPr txBox="1"/>
          <p:nvPr/>
        </p:nvSpPr>
        <p:spPr>
          <a:xfrm>
            <a:off x="6419088" y="5102352"/>
            <a:ext cx="1499616" cy="384048"/>
          </a:xfrm>
          <a:prstGeom prst="rect">
            <a:avLst/>
          </a:prstGeom>
          <a:noFill/>
          <a:ln/>
        </p:spPr>
        <p:txBody>
          <a:bodyPr wrap="square" lIns="0" tIns="0" rIns="0" bIns="0" rtlCol="0" anchor="ctr"/>
          <a:lstStyle/>
          <a:p>
            <a:pPr algn="ctr" indent="0" marL="0">
              <a:buNone/>
            </a:pPr>
            <a:r>
              <a:rPr lang="en-US" sz="1200" dirty="0">
                <a:solidFill>
                  <a:srgbClr val="E2E8F0"/>
                </a:solidFill>
                <a:latin typeface="Roboto" pitchFamily="34" charset="0"/>
                <a:ea typeface="Roboto" pitchFamily="34" charset="-122"/>
                <a:cs typeface="Roboto" pitchFamily="34" charset="-120"/>
              </a:rPr>
              <a:t>Patterns &amp; triage</a:t>
            </a:r>
            <a:endParaRPr lang="en-US" sz="1200" dirty="0"/>
          </a:p>
        </p:txBody>
      </p:sp>
      <p:sp>
        <p:nvSpPr>
          <p:cNvPr id="18" name="Shape 16"/>
          <p:cNvSpPr/>
          <p:nvPr/>
        </p:nvSpPr>
        <p:spPr>
          <a:xfrm>
            <a:off x="548640" y="5614416"/>
            <a:ext cx="987552" cy="384048"/>
          </a:xfrm>
          <a:prstGeom prst="roundRect">
            <a:avLst>
              <a:gd name="adj" fmla="val 50000"/>
            </a:avLst>
          </a:prstGeom>
          <a:solidFill>
            <a:srgbClr val="1E293B"/>
          </a:solidFill>
          <a:ln w="12700">
            <a:solidFill>
              <a:srgbClr val="334155"/>
            </a:solidFill>
            <a:prstDash val="solid"/>
          </a:ln>
        </p:spPr>
      </p:sp>
      <p:sp>
        <p:nvSpPr>
          <p:cNvPr id="19" name="Text 17"/>
          <p:cNvSpPr txBox="1"/>
          <p:nvPr/>
        </p:nvSpPr>
        <p:spPr>
          <a:xfrm>
            <a:off x="548640" y="5614416"/>
            <a:ext cx="987552" cy="384048"/>
          </a:xfrm>
          <a:prstGeom prst="rect">
            <a:avLst/>
          </a:prstGeom>
          <a:noFill/>
          <a:ln/>
        </p:spPr>
        <p:txBody>
          <a:bodyPr wrap="square" lIns="0" tIns="0" rIns="0" bIns="0" rtlCol="0" anchor="ctr"/>
          <a:lstStyle/>
          <a:p>
            <a:pPr algn="ctr" indent="0" marL="0">
              <a:buNone/>
            </a:pPr>
            <a:r>
              <a:rPr lang="en-US" sz="1200" dirty="0">
                <a:solidFill>
                  <a:srgbClr val="E2E8F0"/>
                </a:solidFill>
                <a:latin typeface="Roboto" pitchFamily="34" charset="0"/>
                <a:ea typeface="Roboto" pitchFamily="34" charset="-122"/>
                <a:cs typeface="Roboto" pitchFamily="34" charset="-120"/>
              </a:rPr>
              <a:t>Compliance</a:t>
            </a:r>
            <a:endParaRPr lang="en-US" sz="1200" dirty="0"/>
          </a:p>
        </p:txBody>
      </p:sp>
      <p:sp>
        <p:nvSpPr>
          <p:cNvPr id="20" name="Shape 18"/>
          <p:cNvSpPr/>
          <p:nvPr/>
        </p:nvSpPr>
        <p:spPr>
          <a:xfrm>
            <a:off x="1664208" y="5614416"/>
            <a:ext cx="1133856" cy="384048"/>
          </a:xfrm>
          <a:prstGeom prst="roundRect">
            <a:avLst>
              <a:gd name="adj" fmla="val 50000"/>
            </a:avLst>
          </a:prstGeom>
          <a:solidFill>
            <a:srgbClr val="1E293B"/>
          </a:solidFill>
          <a:ln w="12700">
            <a:solidFill>
              <a:srgbClr val="334155"/>
            </a:solidFill>
            <a:prstDash val="solid"/>
          </a:ln>
        </p:spPr>
      </p:sp>
      <p:sp>
        <p:nvSpPr>
          <p:cNvPr id="21" name="Text 19"/>
          <p:cNvSpPr txBox="1"/>
          <p:nvPr/>
        </p:nvSpPr>
        <p:spPr>
          <a:xfrm>
            <a:off x="1664208" y="5614416"/>
            <a:ext cx="1133856" cy="384048"/>
          </a:xfrm>
          <a:prstGeom prst="rect">
            <a:avLst/>
          </a:prstGeom>
          <a:noFill/>
          <a:ln/>
        </p:spPr>
        <p:txBody>
          <a:bodyPr wrap="square" lIns="0" tIns="0" rIns="0" bIns="0" rtlCol="0" anchor="ctr"/>
          <a:lstStyle/>
          <a:p>
            <a:pPr algn="ctr" indent="0" marL="0">
              <a:buNone/>
            </a:pPr>
            <a:r>
              <a:rPr lang="en-US" sz="1200" dirty="0">
                <a:solidFill>
                  <a:srgbClr val="E2E8F0"/>
                </a:solidFill>
                <a:latin typeface="Roboto" pitchFamily="34" charset="0"/>
                <a:ea typeface="Roboto" pitchFamily="34" charset="-122"/>
                <a:cs typeface="Roboto" pitchFamily="34" charset="-120"/>
              </a:rPr>
              <a:t>Underwriting</a:t>
            </a:r>
            <a:endParaRPr lang="en-US" sz="1200" dirty="0"/>
          </a:p>
        </p:txBody>
      </p:sp>
      <p:sp>
        <p:nvSpPr>
          <p:cNvPr id="22" name="Shape 20"/>
          <p:cNvSpPr/>
          <p:nvPr/>
        </p:nvSpPr>
        <p:spPr>
          <a:xfrm>
            <a:off x="2926080" y="5614416"/>
            <a:ext cx="548640" cy="384048"/>
          </a:xfrm>
          <a:prstGeom prst="roundRect">
            <a:avLst>
              <a:gd name="adj" fmla="val 50000"/>
            </a:avLst>
          </a:prstGeom>
          <a:solidFill>
            <a:srgbClr val="1E293B"/>
          </a:solidFill>
          <a:ln w="12700">
            <a:solidFill>
              <a:srgbClr val="334155"/>
            </a:solidFill>
            <a:prstDash val="solid"/>
          </a:ln>
        </p:spPr>
      </p:sp>
      <p:sp>
        <p:nvSpPr>
          <p:cNvPr id="23" name="Text 21"/>
          <p:cNvSpPr txBox="1"/>
          <p:nvPr/>
        </p:nvSpPr>
        <p:spPr>
          <a:xfrm>
            <a:off x="2926080" y="5614416"/>
            <a:ext cx="548640" cy="384048"/>
          </a:xfrm>
          <a:prstGeom prst="rect">
            <a:avLst/>
          </a:prstGeom>
          <a:noFill/>
          <a:ln/>
        </p:spPr>
        <p:txBody>
          <a:bodyPr wrap="square" lIns="0" tIns="0" rIns="0" bIns="0" rtlCol="0" anchor="ctr"/>
          <a:lstStyle/>
          <a:p>
            <a:pPr algn="ctr" indent="0" marL="0">
              <a:buNone/>
            </a:pPr>
            <a:r>
              <a:rPr lang="en-US" sz="1200" dirty="0">
                <a:solidFill>
                  <a:srgbClr val="E2E8F0"/>
                </a:solidFill>
                <a:latin typeface="Roboto" pitchFamily="34" charset="0"/>
                <a:ea typeface="Roboto" pitchFamily="34" charset="-122"/>
                <a:cs typeface="Roboto" pitchFamily="34" charset="-120"/>
              </a:rPr>
              <a:t>Risk</a:t>
            </a:r>
            <a:endParaRPr lang="en-US" sz="1200" dirty="0"/>
          </a:p>
        </p:txBody>
      </p:sp>
      <p:sp>
        <p:nvSpPr>
          <p:cNvPr id="24" name="Shape 22"/>
          <p:cNvSpPr/>
          <p:nvPr/>
        </p:nvSpPr>
        <p:spPr>
          <a:xfrm>
            <a:off x="3602736" y="5614416"/>
            <a:ext cx="987552" cy="384048"/>
          </a:xfrm>
          <a:prstGeom prst="roundRect">
            <a:avLst>
              <a:gd name="adj" fmla="val 50000"/>
            </a:avLst>
          </a:prstGeom>
          <a:solidFill>
            <a:srgbClr val="1E293B"/>
          </a:solidFill>
          <a:ln w="12700">
            <a:solidFill>
              <a:srgbClr val="334155"/>
            </a:solidFill>
            <a:prstDash val="solid"/>
          </a:ln>
        </p:spPr>
      </p:sp>
      <p:sp>
        <p:nvSpPr>
          <p:cNvPr id="25" name="Text 23"/>
          <p:cNvSpPr txBox="1"/>
          <p:nvPr/>
        </p:nvSpPr>
        <p:spPr>
          <a:xfrm>
            <a:off x="3602736" y="5614416"/>
            <a:ext cx="987552" cy="384048"/>
          </a:xfrm>
          <a:prstGeom prst="rect">
            <a:avLst/>
          </a:prstGeom>
          <a:noFill/>
          <a:ln/>
        </p:spPr>
        <p:txBody>
          <a:bodyPr wrap="square" lIns="0" tIns="0" rIns="0" bIns="0" rtlCol="0" anchor="ctr"/>
          <a:lstStyle/>
          <a:p>
            <a:pPr algn="ctr" indent="0" marL="0">
              <a:buNone/>
            </a:pPr>
            <a:r>
              <a:rPr lang="en-US" sz="1200" dirty="0">
                <a:solidFill>
                  <a:srgbClr val="E2E8F0"/>
                </a:solidFill>
                <a:latin typeface="Roboto" pitchFamily="34" charset="0"/>
                <a:ea typeface="Roboto" pitchFamily="34" charset="-122"/>
                <a:cs typeface="Roboto" pitchFamily="34" charset="-120"/>
              </a:rPr>
              <a:t>Operations</a:t>
            </a:r>
            <a:endParaRPr lang="en-US" sz="1200" dirty="0"/>
          </a:p>
        </p:txBody>
      </p:sp>
      <p:sp>
        <p:nvSpPr>
          <p:cNvPr id="26" name="Shape 24"/>
          <p:cNvSpPr/>
          <p:nvPr/>
        </p:nvSpPr>
        <p:spPr>
          <a:xfrm>
            <a:off x="8549640" y="1600200"/>
            <a:ext cx="3108960" cy="3108960"/>
          </a:xfrm>
          <a:prstGeom prst="ellipse">
            <a:avLst/>
          </a:prstGeom>
          <a:solidFill>
            <a:srgbClr val="1E293B"/>
          </a:solidFill>
          <a:ln w="12700">
            <a:solidFill>
              <a:srgbClr val="334155"/>
            </a:solidFill>
            <a:prstDash val="solid"/>
          </a:ln>
        </p:spPr>
      </p:sp>
      <p:pic>
        <p:nvPicPr>
          <p:cNvPr id="27" name="Image 0" descr="preencoded.png">    </p:cNvPr>
          <p:cNvPicPr>
            <a:picLocks noChangeAspect="1"/>
          </p:cNvPicPr>
          <p:nvPr/>
        </p:nvPicPr>
        <p:blipFill>
          <a:blip r:embed="rId1"/>
          <a:stretch>
            <a:fillRect/>
          </a:stretch>
        </p:blipFill>
        <p:spPr>
          <a:xfrm>
            <a:off x="9326880" y="2377440"/>
            <a:ext cx="1554480" cy="1554480"/>
          </a:xfrm>
          <a:prstGeom prst="rect">
            <a:avLst/>
          </a:prstGeom>
        </p:spPr>
      </p:pic>
      <p:pic>
        <p:nvPicPr>
          <p:cNvPr id="28" name="Image 1" descr="C:\Users\shrey\AppData\Local\Temp\claude\D--novacinternship-finsight\ef4ecb45-e580-4bc0-9be4-060aa240a5b2\scratchpad\deck\img\logo_mark_light.png">    </p:cNvPr>
          <p:cNvPicPr>
            <a:picLocks noChangeAspect="1"/>
          </p:cNvPicPr>
          <p:nvPr/>
        </p:nvPicPr>
        <p:blipFill>
          <a:blip r:embed="rId2"/>
          <a:stretch>
            <a:fillRect/>
          </a:stretch>
        </p:blipFill>
        <p:spPr>
          <a:xfrm>
            <a:off x="548640" y="502920"/>
            <a:ext cx="354509" cy="457200"/>
          </a:xfrm>
          <a:prstGeom prst="rect">
            <a:avLst/>
          </a:prstGeom>
        </p:spPr>
      </p:pic>
      <p:pic>
        <p:nvPicPr>
          <p:cNvPr id="29" name="Image 2" descr="C:\Users\shrey\AppData\Local\Temp\claude\D--novacinternship-finsight\ef4ecb45-e580-4bc0-9be4-060aa240a5b2\scratchpad\deck\img\logo_lockup_light.png">    </p:cNvPr>
          <p:cNvPicPr>
            <a:picLocks noChangeAspect="1"/>
          </p:cNvPicPr>
          <p:nvPr/>
        </p:nvPicPr>
        <p:blipFill>
          <a:blip r:embed="rId3"/>
          <a:stretch>
            <a:fillRect/>
          </a:stretch>
        </p:blipFill>
        <p:spPr>
          <a:xfrm>
            <a:off x="10360152" y="6464808"/>
            <a:ext cx="843991" cy="237744"/>
          </a:xfrm>
          <a:prstGeom prst="rect">
            <a:avLst/>
          </a:prstGeom>
        </p:spPr>
      </p:pic>
      <p:sp>
        <p:nvSpPr>
          <p:cNvPr id="30" name="Text 25"/>
          <p:cNvSpPr txBox="1"/>
          <p:nvPr/>
        </p:nvSpPr>
        <p:spPr>
          <a:xfrm>
            <a:off x="11277295" y="6473952"/>
            <a:ext cx="365760" cy="228600"/>
          </a:xfrm>
          <a:prstGeom prst="rect">
            <a:avLst/>
          </a:prstGeom>
          <a:noFill/>
          <a:ln/>
        </p:spPr>
        <p:txBody>
          <a:bodyPr wrap="square" lIns="0" tIns="0" rIns="0" bIns="0" rtlCol="0" anchor="ctr"/>
          <a:lstStyle/>
          <a:p>
            <a:pPr algn="r" indent="0" marL="0">
              <a:buNone/>
            </a:pPr>
            <a:r>
              <a:rPr lang="en-US" sz="900" dirty="0">
                <a:solidFill>
                  <a:srgbClr val="64748B"/>
                </a:solidFill>
                <a:latin typeface="Roboto" pitchFamily="34" charset="0"/>
                <a:ea typeface="Roboto" pitchFamily="34" charset="-122"/>
                <a:cs typeface="Roboto"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8229600" cy="256032"/>
          </a:xfrm>
          <a:prstGeom prst="rect">
            <a:avLst/>
          </a:prstGeom>
          <a:noFill/>
          <a:ln/>
        </p:spPr>
        <p:txBody>
          <a:bodyPr wrap="square" lIns="0" tIns="0" rIns="0" bIns="0" rtlCol="0" anchor="ctr"/>
          <a:lstStyle/>
          <a:p>
            <a:pPr indent="0" marL="0">
              <a:buNone/>
            </a:pPr>
            <a:r>
              <a:rPr lang="en-US" sz="1100" b="1" spc="200" kern="0" dirty="0">
                <a:solidFill>
                  <a:srgbClr val="4F46E5"/>
                </a:solidFill>
                <a:latin typeface="Roboto" pitchFamily="34" charset="0"/>
                <a:ea typeface="Roboto" pitchFamily="34" charset="-122"/>
                <a:cs typeface="Roboto" pitchFamily="34" charset="-120"/>
              </a:rPr>
              <a:t>THE 29 AGENTS</a:t>
            </a:r>
            <a:endParaRPr lang="en-US" sz="1100" dirty="0"/>
          </a:p>
        </p:txBody>
      </p:sp>
      <p:sp>
        <p:nvSpPr>
          <p:cNvPr id="3" name="Text 1"/>
          <p:cNvSpPr txBox="1"/>
          <p:nvPr/>
        </p:nvSpPr>
        <p:spPr>
          <a:xfrm>
            <a:off x="548640" y="585216"/>
            <a:ext cx="11094415" cy="566928"/>
          </a:xfrm>
          <a:prstGeom prst="rect">
            <a:avLst/>
          </a:prstGeom>
          <a:noFill/>
          <a:ln/>
        </p:spPr>
        <p:txBody>
          <a:bodyPr wrap="square" lIns="0" tIns="0" rIns="0" bIns="0" rtlCol="0" anchor="ctr"/>
          <a:lstStyle/>
          <a:p>
            <a:pPr indent="0" marL="0">
              <a:buNone/>
            </a:pPr>
            <a:r>
              <a:rPr lang="en-US" sz="2800" b="1" dirty="0">
                <a:solidFill>
                  <a:srgbClr val="0F172A"/>
                </a:solidFill>
                <a:latin typeface="Roboto" pitchFamily="34" charset="0"/>
                <a:ea typeface="Roboto" pitchFamily="34" charset="-122"/>
                <a:cs typeface="Roboto" pitchFamily="34" charset="-120"/>
              </a:rPr>
              <a:t>The agent map: 29 agents in six crews</a:t>
            </a:r>
            <a:endParaRPr lang="en-US" sz="2800" dirty="0"/>
          </a:p>
        </p:txBody>
      </p:sp>
      <p:pic>
        <p:nvPicPr>
          <p:cNvPr id="4" name="Image 0" descr="C:\Users\shrey\AppData\Local\Temp\claude\D--novacinternship-finsight\ef4ecb45-e580-4bc0-9be4-060aa240a5b2\scratchpad\deck\img\logo_lockup.png">    </p:cNvPr>
          <p:cNvPicPr>
            <a:picLocks noChangeAspect="1"/>
          </p:cNvPicPr>
          <p:nvPr/>
        </p:nvPicPr>
        <p:blipFill>
          <a:blip r:embed="rId1"/>
          <a:stretch>
            <a:fillRect/>
          </a:stretch>
        </p:blipFill>
        <p:spPr>
          <a:xfrm>
            <a:off x="10360152" y="6464808"/>
            <a:ext cx="843991" cy="237744"/>
          </a:xfrm>
          <a:prstGeom prst="rect">
            <a:avLst/>
          </a:prstGeom>
        </p:spPr>
      </p:pic>
      <p:sp>
        <p:nvSpPr>
          <p:cNvPr id="5" name="Text 2"/>
          <p:cNvSpPr txBox="1"/>
          <p:nvPr/>
        </p:nvSpPr>
        <p:spPr>
          <a:xfrm>
            <a:off x="11277295" y="6473952"/>
            <a:ext cx="365760" cy="228600"/>
          </a:xfrm>
          <a:prstGeom prst="rect">
            <a:avLst/>
          </a:prstGeom>
          <a:noFill/>
          <a:ln/>
        </p:spPr>
        <p:txBody>
          <a:bodyPr wrap="square" lIns="0" tIns="0" rIns="0" bIns="0" rtlCol="0" anchor="ctr"/>
          <a:lstStyle/>
          <a:p>
            <a:pPr algn="r" indent="0" marL="0">
              <a:buNone/>
            </a:pPr>
            <a:r>
              <a:rPr lang="en-US" sz="900" dirty="0">
                <a:solidFill>
                  <a:srgbClr val="94A3B8"/>
                </a:solidFill>
                <a:latin typeface="Roboto" pitchFamily="34" charset="0"/>
                <a:ea typeface="Roboto" pitchFamily="34" charset="-122"/>
                <a:cs typeface="Roboto" pitchFamily="34" charset="-120"/>
              </a:rPr>
              <a:t>13</a:t>
            </a:r>
            <a:endParaRPr lang="en-US" sz="900" dirty="0"/>
          </a:p>
        </p:txBody>
      </p:sp>
      <p:sp>
        <p:nvSpPr>
          <p:cNvPr id="7" name="Shape 3"/>
          <p:cNvSpPr/>
          <p:nvPr/>
        </p:nvSpPr>
        <p:spPr>
          <a:xfrm>
            <a:off x="548640" y="1435608"/>
            <a:ext cx="457200" cy="457200"/>
          </a:xfrm>
          <a:prstGeom prst="ellipse">
            <a:avLst/>
          </a:prstGeom>
          <a:solidFill>
            <a:srgbClr val="EEF2FF"/>
          </a:solidFill>
          <a:ln w="12700">
            <a:solidFill>
              <a:srgbClr val="EEF2FF"/>
            </a:solidFill>
            <a:prstDash val="solid"/>
          </a:ln>
        </p:spPr>
      </p:sp>
      <p:pic>
        <p:nvPicPr>
          <p:cNvPr id="8" name="Image 1" descr="preencoded.png">    </p:cNvPr>
          <p:cNvPicPr>
            <a:picLocks noChangeAspect="1"/>
          </p:cNvPicPr>
          <p:nvPr/>
        </p:nvPicPr>
        <p:blipFill>
          <a:blip r:embed="rId2"/>
          <a:stretch>
            <a:fillRect/>
          </a:stretch>
        </p:blipFill>
        <p:spPr>
          <a:xfrm>
            <a:off x="649224" y="1536192"/>
            <a:ext cx="256032" cy="256032"/>
          </a:xfrm>
          <a:prstGeom prst="rect">
            <a:avLst/>
          </a:prstGeom>
        </p:spPr>
      </p:pic>
      <p:sp>
        <p:nvSpPr>
          <p:cNvPr id="9" name="Text 4"/>
          <p:cNvSpPr txBox="1"/>
          <p:nvPr/>
        </p:nvSpPr>
        <p:spPr>
          <a:xfrm>
            <a:off x="1115568" y="1371600"/>
            <a:ext cx="1508760" cy="585216"/>
          </a:xfrm>
          <a:prstGeom prst="rect">
            <a:avLst/>
          </a:prstGeom>
          <a:noFill/>
          <a:ln/>
        </p:spPr>
        <p:txBody>
          <a:bodyPr wrap="square" lIns="0" tIns="0" rIns="0" bIns="0" rtlCol="0" anchor="ctr"/>
          <a:lstStyle/>
          <a:p>
            <a:pPr indent="0" marL="0">
              <a:buNone/>
            </a:pPr>
            <a:r>
              <a:rPr lang="en-US" sz="1200" b="1" dirty="0">
                <a:solidFill>
                  <a:srgbClr val="0F172A"/>
                </a:solidFill>
                <a:latin typeface="Roboto" pitchFamily="34" charset="0"/>
                <a:ea typeface="Roboto" pitchFamily="34" charset="-122"/>
                <a:cs typeface="Roboto" pitchFamily="34" charset="-120"/>
              </a:rPr>
              <a:t>Intake</a:t>
            </a:r>
            <a:endParaRPr lang="en-US" sz="1200" dirty="0"/>
          </a:p>
          <a:p>
            <a:pPr indent="0" marL="0">
              <a:buNone/>
            </a:pPr>
            <a:r>
              <a:rPr lang="en-US" sz="1000" dirty="0">
                <a:solidFill>
                  <a:srgbClr val="64748B"/>
                </a:solidFill>
                <a:latin typeface="Roboto" pitchFamily="34" charset="0"/>
                <a:ea typeface="Roboto" pitchFamily="34" charset="-122"/>
                <a:cs typeface="Roboto" pitchFamily="34" charset="-120"/>
              </a:rPr>
              <a:t>4 agents</a:t>
            </a:r>
            <a:endParaRPr lang="en-US" sz="1200" dirty="0"/>
          </a:p>
        </p:txBody>
      </p:sp>
      <p:sp>
        <p:nvSpPr>
          <p:cNvPr id="10" name="Shape 5"/>
          <p:cNvSpPr/>
          <p:nvPr/>
        </p:nvSpPr>
        <p:spPr>
          <a:xfrm>
            <a:off x="2606040" y="1371600"/>
            <a:ext cx="1437589" cy="585216"/>
          </a:xfrm>
          <a:prstGeom prst="roundRect">
            <a:avLst>
              <a:gd name="adj" fmla="val 12500"/>
            </a:avLst>
          </a:prstGeom>
          <a:solidFill>
            <a:srgbClr val="EEF2FF"/>
          </a:solidFill>
          <a:ln w="9525">
            <a:solidFill>
              <a:srgbClr val="4F46E5"/>
            </a:solidFill>
            <a:prstDash val="solid"/>
          </a:ln>
        </p:spPr>
      </p:sp>
      <p:sp>
        <p:nvSpPr>
          <p:cNvPr id="11" name="Text 6"/>
          <p:cNvSpPr txBox="1"/>
          <p:nvPr/>
        </p:nvSpPr>
        <p:spPr>
          <a:xfrm>
            <a:off x="2697480" y="1399032"/>
            <a:ext cx="1309573" cy="530352"/>
          </a:xfrm>
          <a:prstGeom prst="rect">
            <a:avLst/>
          </a:prstGeom>
          <a:noFill/>
          <a:ln/>
        </p:spPr>
        <p:txBody>
          <a:bodyPr wrap="square" lIns="0" tIns="0" rIns="0" bIns="0" rtlCol="0" anchor="ctr"/>
          <a:lstStyle/>
          <a:p>
            <a:pPr indent="0" marL="0">
              <a:buNone/>
            </a:pPr>
            <a:r>
              <a:rPr lang="en-US" sz="900" b="1" dirty="0">
                <a:solidFill>
                  <a:srgbClr val="4F46E5"/>
                </a:solidFill>
                <a:latin typeface="Roboto" pitchFamily="34" charset="0"/>
                <a:ea typeface="Roboto" pitchFamily="34" charset="-122"/>
                <a:cs typeface="Roboto" pitchFamily="34" charset="-120"/>
              </a:rPr>
              <a:t>#1  </a:t>
            </a:r>
            <a:pPr indent="0" marL="0">
              <a:buNone/>
            </a:pPr>
            <a:r>
              <a:rPr lang="en-US" sz="850" dirty="0">
                <a:solidFill>
                  <a:srgbClr val="64748B"/>
                </a:solidFill>
                <a:latin typeface="Roboto" pitchFamily="34" charset="0"/>
                <a:ea typeface="Roboto" pitchFamily="34" charset="-122"/>
                <a:cs typeface="Roboto" pitchFamily="34" charset="-120"/>
              </a:rPr>
              <a:t>deterministic</a:t>
            </a:r>
            <a:endParaRPr lang="en-US" sz="900" dirty="0"/>
          </a:p>
          <a:p>
            <a:pPr indent="0" marL="0">
              <a:buNone/>
            </a:pPr>
            <a:r>
              <a:rPr lang="en-US" sz="1100" b="1" dirty="0">
                <a:solidFill>
                  <a:srgbClr val="0F172A"/>
                </a:solidFill>
                <a:latin typeface="Roboto" pitchFamily="34" charset="0"/>
                <a:ea typeface="Roboto" pitchFamily="34" charset="-122"/>
                <a:cs typeface="Roboto" pitchFamily="34" charset="-120"/>
              </a:rPr>
              <a:t>Preprocessing</a:t>
            </a:r>
            <a:endParaRPr lang="en-US" sz="900" dirty="0"/>
          </a:p>
        </p:txBody>
      </p:sp>
      <p:sp>
        <p:nvSpPr>
          <p:cNvPr id="12" name="Shape 7"/>
          <p:cNvSpPr/>
          <p:nvPr/>
        </p:nvSpPr>
        <p:spPr>
          <a:xfrm>
            <a:off x="4125925" y="1371600"/>
            <a:ext cx="1437589" cy="585216"/>
          </a:xfrm>
          <a:prstGeom prst="roundRect">
            <a:avLst>
              <a:gd name="adj" fmla="val 12500"/>
            </a:avLst>
          </a:prstGeom>
          <a:solidFill>
            <a:srgbClr val="EEF2FF"/>
          </a:solidFill>
          <a:ln w="9525">
            <a:solidFill>
              <a:srgbClr val="4F46E5"/>
            </a:solidFill>
            <a:prstDash val="solid"/>
          </a:ln>
        </p:spPr>
      </p:sp>
      <p:sp>
        <p:nvSpPr>
          <p:cNvPr id="13" name="Text 8"/>
          <p:cNvSpPr txBox="1"/>
          <p:nvPr/>
        </p:nvSpPr>
        <p:spPr>
          <a:xfrm>
            <a:off x="4217365" y="1399032"/>
            <a:ext cx="1309573" cy="530352"/>
          </a:xfrm>
          <a:prstGeom prst="rect">
            <a:avLst/>
          </a:prstGeom>
          <a:noFill/>
          <a:ln/>
        </p:spPr>
        <p:txBody>
          <a:bodyPr wrap="square" lIns="0" tIns="0" rIns="0" bIns="0" rtlCol="0" anchor="ctr"/>
          <a:lstStyle/>
          <a:p>
            <a:pPr indent="0" marL="0">
              <a:buNone/>
            </a:pPr>
            <a:r>
              <a:rPr lang="en-US" sz="900" b="1" dirty="0">
                <a:solidFill>
                  <a:srgbClr val="4F46E5"/>
                </a:solidFill>
                <a:latin typeface="Roboto" pitchFamily="34" charset="0"/>
                <a:ea typeface="Roboto" pitchFamily="34" charset="-122"/>
                <a:cs typeface="Roboto" pitchFamily="34" charset="-120"/>
              </a:rPr>
              <a:t>#2  </a:t>
            </a:r>
            <a:pPr indent="0" marL="0">
              <a:buNone/>
            </a:pPr>
            <a:r>
              <a:rPr lang="en-US" sz="850" b="1" dirty="0">
                <a:solidFill>
                  <a:srgbClr val="BE123C"/>
                </a:solidFill>
                <a:latin typeface="Roboto" pitchFamily="34" charset="0"/>
                <a:ea typeface="Roboto" pitchFamily="34" charset="-122"/>
                <a:cs typeface="Roboto" pitchFamily="34" charset="-120"/>
              </a:rPr>
              <a:t>LLM</a:t>
            </a:r>
            <a:endParaRPr lang="en-US" sz="900" dirty="0"/>
          </a:p>
          <a:p>
            <a:pPr indent="0" marL="0">
              <a:buNone/>
            </a:pPr>
            <a:r>
              <a:rPr lang="en-US" sz="1100" b="1" dirty="0">
                <a:solidFill>
                  <a:srgbClr val="0F172A"/>
                </a:solidFill>
                <a:latin typeface="Roboto" pitchFamily="34" charset="0"/>
                <a:ea typeface="Roboto" pitchFamily="34" charset="-122"/>
                <a:cs typeface="Roboto" pitchFamily="34" charset="-120"/>
              </a:rPr>
              <a:t>Extraction</a:t>
            </a:r>
            <a:endParaRPr lang="en-US" sz="900" dirty="0"/>
          </a:p>
        </p:txBody>
      </p:sp>
      <p:sp>
        <p:nvSpPr>
          <p:cNvPr id="14" name="Shape 9"/>
          <p:cNvSpPr/>
          <p:nvPr/>
        </p:nvSpPr>
        <p:spPr>
          <a:xfrm>
            <a:off x="5645810" y="1371600"/>
            <a:ext cx="1437589" cy="585216"/>
          </a:xfrm>
          <a:prstGeom prst="roundRect">
            <a:avLst>
              <a:gd name="adj" fmla="val 12500"/>
            </a:avLst>
          </a:prstGeom>
          <a:solidFill>
            <a:srgbClr val="EEF2FF"/>
          </a:solidFill>
          <a:ln w="9525">
            <a:solidFill>
              <a:srgbClr val="4F46E5"/>
            </a:solidFill>
            <a:prstDash val="solid"/>
          </a:ln>
        </p:spPr>
      </p:sp>
      <p:sp>
        <p:nvSpPr>
          <p:cNvPr id="15" name="Text 10"/>
          <p:cNvSpPr txBox="1"/>
          <p:nvPr/>
        </p:nvSpPr>
        <p:spPr>
          <a:xfrm>
            <a:off x="5737250" y="1399032"/>
            <a:ext cx="1309573" cy="530352"/>
          </a:xfrm>
          <a:prstGeom prst="rect">
            <a:avLst/>
          </a:prstGeom>
          <a:noFill/>
          <a:ln/>
        </p:spPr>
        <p:txBody>
          <a:bodyPr wrap="square" lIns="0" tIns="0" rIns="0" bIns="0" rtlCol="0" anchor="ctr"/>
          <a:lstStyle/>
          <a:p>
            <a:pPr indent="0" marL="0">
              <a:buNone/>
            </a:pPr>
            <a:r>
              <a:rPr lang="en-US" sz="900" b="1" dirty="0">
                <a:solidFill>
                  <a:srgbClr val="4F46E5"/>
                </a:solidFill>
                <a:latin typeface="Roboto" pitchFamily="34" charset="0"/>
                <a:ea typeface="Roboto" pitchFamily="34" charset="-122"/>
                <a:cs typeface="Roboto" pitchFamily="34" charset="-120"/>
              </a:rPr>
              <a:t>#3  </a:t>
            </a:r>
            <a:pPr indent="0" marL="0">
              <a:buNone/>
            </a:pPr>
            <a:r>
              <a:rPr lang="en-US" sz="850" dirty="0">
                <a:solidFill>
                  <a:srgbClr val="64748B"/>
                </a:solidFill>
                <a:latin typeface="Roboto" pitchFamily="34" charset="0"/>
                <a:ea typeface="Roboto" pitchFamily="34" charset="-122"/>
                <a:cs typeface="Roboto" pitchFamily="34" charset="-120"/>
              </a:rPr>
              <a:t>deterministic</a:t>
            </a:r>
            <a:endParaRPr lang="en-US" sz="900" dirty="0"/>
          </a:p>
          <a:p>
            <a:pPr indent="0" marL="0">
              <a:buNone/>
            </a:pPr>
            <a:r>
              <a:rPr lang="en-US" sz="1100" b="1" dirty="0">
                <a:solidFill>
                  <a:srgbClr val="0F172A"/>
                </a:solidFill>
                <a:latin typeface="Roboto" pitchFamily="34" charset="0"/>
                <a:ea typeface="Roboto" pitchFamily="34" charset="-122"/>
                <a:cs typeface="Roboto" pitchFamily="34" charset="-120"/>
              </a:rPr>
              <a:t>Validation</a:t>
            </a:r>
            <a:endParaRPr lang="en-US" sz="900" dirty="0"/>
          </a:p>
        </p:txBody>
      </p:sp>
      <p:sp>
        <p:nvSpPr>
          <p:cNvPr id="16" name="Shape 11"/>
          <p:cNvSpPr/>
          <p:nvPr/>
        </p:nvSpPr>
        <p:spPr>
          <a:xfrm>
            <a:off x="7165696" y="1371600"/>
            <a:ext cx="1437589" cy="585216"/>
          </a:xfrm>
          <a:prstGeom prst="roundRect">
            <a:avLst>
              <a:gd name="adj" fmla="val 12500"/>
            </a:avLst>
          </a:prstGeom>
          <a:solidFill>
            <a:srgbClr val="EEF2FF"/>
          </a:solidFill>
          <a:ln w="9525">
            <a:solidFill>
              <a:srgbClr val="4F46E5"/>
            </a:solidFill>
            <a:prstDash val="solid"/>
          </a:ln>
        </p:spPr>
      </p:sp>
      <p:sp>
        <p:nvSpPr>
          <p:cNvPr id="17" name="Text 12"/>
          <p:cNvSpPr txBox="1"/>
          <p:nvPr/>
        </p:nvSpPr>
        <p:spPr>
          <a:xfrm>
            <a:off x="7257136" y="1399032"/>
            <a:ext cx="1309573" cy="530352"/>
          </a:xfrm>
          <a:prstGeom prst="rect">
            <a:avLst/>
          </a:prstGeom>
          <a:noFill/>
          <a:ln/>
        </p:spPr>
        <p:txBody>
          <a:bodyPr wrap="square" lIns="0" tIns="0" rIns="0" bIns="0" rtlCol="0" anchor="ctr"/>
          <a:lstStyle/>
          <a:p>
            <a:pPr indent="0" marL="0">
              <a:buNone/>
            </a:pPr>
            <a:r>
              <a:rPr lang="en-US" sz="900" b="1" dirty="0">
                <a:solidFill>
                  <a:srgbClr val="4F46E5"/>
                </a:solidFill>
                <a:latin typeface="Roboto" pitchFamily="34" charset="0"/>
                <a:ea typeface="Roboto" pitchFamily="34" charset="-122"/>
                <a:cs typeface="Roboto" pitchFamily="34" charset="-120"/>
              </a:rPr>
              <a:t>#4  </a:t>
            </a:r>
            <a:pPr indent="0" marL="0">
              <a:buNone/>
            </a:pPr>
            <a:r>
              <a:rPr lang="en-US" sz="850" dirty="0">
                <a:solidFill>
                  <a:srgbClr val="64748B"/>
                </a:solidFill>
                <a:latin typeface="Roboto" pitchFamily="34" charset="0"/>
                <a:ea typeface="Roboto" pitchFamily="34" charset="-122"/>
                <a:cs typeface="Roboto" pitchFamily="34" charset="-120"/>
              </a:rPr>
              <a:t>deterministic</a:t>
            </a:r>
            <a:endParaRPr lang="en-US" sz="900" dirty="0"/>
          </a:p>
          <a:p>
            <a:pPr indent="0" marL="0">
              <a:buNone/>
            </a:pPr>
            <a:r>
              <a:rPr lang="en-US" sz="1100" b="1" dirty="0">
                <a:solidFill>
                  <a:srgbClr val="0F172A"/>
                </a:solidFill>
                <a:latin typeface="Roboto" pitchFamily="34" charset="0"/>
                <a:ea typeface="Roboto" pitchFamily="34" charset="-122"/>
                <a:cs typeface="Roboto" pitchFamily="34" charset="-120"/>
              </a:rPr>
              <a:t>Document Identity</a:t>
            </a:r>
            <a:endParaRPr lang="en-US" sz="900" dirty="0"/>
          </a:p>
        </p:txBody>
      </p:sp>
      <p:sp>
        <p:nvSpPr>
          <p:cNvPr id="18" name="Shape 13"/>
          <p:cNvSpPr/>
          <p:nvPr/>
        </p:nvSpPr>
        <p:spPr>
          <a:xfrm>
            <a:off x="548640" y="2157984"/>
            <a:ext cx="457200" cy="457200"/>
          </a:xfrm>
          <a:prstGeom prst="ellipse">
            <a:avLst/>
          </a:prstGeom>
          <a:solidFill>
            <a:srgbClr val="ECFEFF"/>
          </a:solidFill>
          <a:ln w="12700">
            <a:solidFill>
              <a:srgbClr val="ECFEFF"/>
            </a:solidFill>
            <a:prstDash val="solid"/>
          </a:ln>
        </p:spPr>
      </p:sp>
      <p:pic>
        <p:nvPicPr>
          <p:cNvPr id="19" name="Image 2" descr="preencoded.png">    </p:cNvPr>
          <p:cNvPicPr>
            <a:picLocks noChangeAspect="1"/>
          </p:cNvPicPr>
          <p:nvPr/>
        </p:nvPicPr>
        <p:blipFill>
          <a:blip r:embed="rId3"/>
          <a:stretch>
            <a:fillRect/>
          </a:stretch>
        </p:blipFill>
        <p:spPr>
          <a:xfrm>
            <a:off x="649224" y="2258568"/>
            <a:ext cx="256032" cy="256032"/>
          </a:xfrm>
          <a:prstGeom prst="rect">
            <a:avLst/>
          </a:prstGeom>
        </p:spPr>
      </p:pic>
      <p:sp>
        <p:nvSpPr>
          <p:cNvPr id="20" name="Text 14"/>
          <p:cNvSpPr txBox="1"/>
          <p:nvPr/>
        </p:nvSpPr>
        <p:spPr>
          <a:xfrm>
            <a:off x="1115568" y="2093976"/>
            <a:ext cx="1508760" cy="585216"/>
          </a:xfrm>
          <a:prstGeom prst="rect">
            <a:avLst/>
          </a:prstGeom>
          <a:noFill/>
          <a:ln/>
        </p:spPr>
        <p:txBody>
          <a:bodyPr wrap="square" lIns="0" tIns="0" rIns="0" bIns="0" rtlCol="0" anchor="ctr"/>
          <a:lstStyle/>
          <a:p>
            <a:pPr indent="0" marL="0">
              <a:buNone/>
            </a:pPr>
            <a:r>
              <a:rPr lang="en-US" sz="1200" b="1" dirty="0">
                <a:solidFill>
                  <a:srgbClr val="0F172A"/>
                </a:solidFill>
                <a:latin typeface="Roboto" pitchFamily="34" charset="0"/>
                <a:ea typeface="Roboto" pitchFamily="34" charset="-122"/>
                <a:cs typeface="Roboto" pitchFamily="34" charset="-120"/>
              </a:rPr>
              <a:t>Privacy</a:t>
            </a:r>
            <a:endParaRPr lang="en-US" sz="1200" dirty="0"/>
          </a:p>
          <a:p>
            <a:pPr indent="0" marL="0">
              <a:buNone/>
            </a:pPr>
            <a:r>
              <a:rPr lang="en-US" sz="1000" dirty="0">
                <a:solidFill>
                  <a:srgbClr val="64748B"/>
                </a:solidFill>
                <a:latin typeface="Roboto" pitchFamily="34" charset="0"/>
                <a:ea typeface="Roboto" pitchFamily="34" charset="-122"/>
                <a:cs typeface="Roboto" pitchFamily="34" charset="-120"/>
              </a:rPr>
              <a:t>1 agent</a:t>
            </a:r>
            <a:endParaRPr lang="en-US" sz="1200" dirty="0"/>
          </a:p>
        </p:txBody>
      </p:sp>
      <p:sp>
        <p:nvSpPr>
          <p:cNvPr id="21" name="Shape 15"/>
          <p:cNvSpPr/>
          <p:nvPr/>
        </p:nvSpPr>
        <p:spPr>
          <a:xfrm>
            <a:off x="2606040" y="2093976"/>
            <a:ext cx="1437589" cy="585216"/>
          </a:xfrm>
          <a:prstGeom prst="roundRect">
            <a:avLst>
              <a:gd name="adj" fmla="val 12500"/>
            </a:avLst>
          </a:prstGeom>
          <a:solidFill>
            <a:srgbClr val="ECFEFF"/>
          </a:solidFill>
          <a:ln w="9525">
            <a:solidFill>
              <a:srgbClr val="0891B2"/>
            </a:solidFill>
            <a:prstDash val="solid"/>
          </a:ln>
        </p:spPr>
      </p:sp>
      <p:sp>
        <p:nvSpPr>
          <p:cNvPr id="22" name="Text 16"/>
          <p:cNvSpPr txBox="1"/>
          <p:nvPr/>
        </p:nvSpPr>
        <p:spPr>
          <a:xfrm>
            <a:off x="2697480" y="2121408"/>
            <a:ext cx="1309573" cy="530352"/>
          </a:xfrm>
          <a:prstGeom prst="rect">
            <a:avLst/>
          </a:prstGeom>
          <a:noFill/>
          <a:ln/>
        </p:spPr>
        <p:txBody>
          <a:bodyPr wrap="square" lIns="0" tIns="0" rIns="0" bIns="0" rtlCol="0" anchor="ctr"/>
          <a:lstStyle/>
          <a:p>
            <a:pPr indent="0" marL="0">
              <a:buNone/>
            </a:pPr>
            <a:r>
              <a:rPr lang="en-US" sz="900" b="1" dirty="0">
                <a:solidFill>
                  <a:srgbClr val="0891B2"/>
                </a:solidFill>
                <a:latin typeface="Roboto" pitchFamily="34" charset="0"/>
                <a:ea typeface="Roboto" pitchFamily="34" charset="-122"/>
                <a:cs typeface="Roboto" pitchFamily="34" charset="-120"/>
              </a:rPr>
              <a:t>#5  </a:t>
            </a:r>
            <a:pPr indent="0" marL="0">
              <a:buNone/>
            </a:pPr>
            <a:r>
              <a:rPr lang="en-US" sz="850" dirty="0">
                <a:solidFill>
                  <a:srgbClr val="64748B"/>
                </a:solidFill>
                <a:latin typeface="Roboto" pitchFamily="34" charset="0"/>
                <a:ea typeface="Roboto" pitchFamily="34" charset="-122"/>
                <a:cs typeface="Roboto" pitchFamily="34" charset="-120"/>
              </a:rPr>
              <a:t>deterministic</a:t>
            </a:r>
            <a:endParaRPr lang="en-US" sz="900" dirty="0"/>
          </a:p>
          <a:p>
            <a:pPr indent="0" marL="0">
              <a:buNone/>
            </a:pPr>
            <a:r>
              <a:rPr lang="en-US" sz="1100" b="1" dirty="0">
                <a:solidFill>
                  <a:srgbClr val="0F172A"/>
                </a:solidFill>
                <a:latin typeface="Roboto" pitchFamily="34" charset="0"/>
                <a:ea typeface="Roboto" pitchFamily="34" charset="-122"/>
                <a:cs typeface="Roboto" pitchFamily="34" charset="-120"/>
              </a:rPr>
              <a:t>PII Masking</a:t>
            </a:r>
            <a:endParaRPr lang="en-US" sz="900" dirty="0"/>
          </a:p>
        </p:txBody>
      </p:sp>
      <p:sp>
        <p:nvSpPr>
          <p:cNvPr id="23" name="Shape 17"/>
          <p:cNvSpPr/>
          <p:nvPr/>
        </p:nvSpPr>
        <p:spPr>
          <a:xfrm>
            <a:off x="548640" y="3209544"/>
            <a:ext cx="457200" cy="457200"/>
          </a:xfrm>
          <a:prstGeom prst="ellipse">
            <a:avLst/>
          </a:prstGeom>
          <a:solidFill>
            <a:srgbClr val="FFF1F2"/>
          </a:solidFill>
          <a:ln w="12700">
            <a:solidFill>
              <a:srgbClr val="FFF1F2"/>
            </a:solidFill>
            <a:prstDash val="solid"/>
          </a:ln>
        </p:spPr>
      </p:sp>
      <p:pic>
        <p:nvPicPr>
          <p:cNvPr id="24" name="Image 3" descr="preencoded.png">    </p:cNvPr>
          <p:cNvPicPr>
            <a:picLocks noChangeAspect="1"/>
          </p:cNvPicPr>
          <p:nvPr/>
        </p:nvPicPr>
        <p:blipFill>
          <a:blip r:embed="rId4"/>
          <a:stretch>
            <a:fillRect/>
          </a:stretch>
        </p:blipFill>
        <p:spPr>
          <a:xfrm>
            <a:off x="649224" y="3310128"/>
            <a:ext cx="256032" cy="256032"/>
          </a:xfrm>
          <a:prstGeom prst="rect">
            <a:avLst/>
          </a:prstGeom>
        </p:spPr>
      </p:pic>
      <p:sp>
        <p:nvSpPr>
          <p:cNvPr id="25" name="Text 18"/>
          <p:cNvSpPr txBox="1"/>
          <p:nvPr/>
        </p:nvSpPr>
        <p:spPr>
          <a:xfrm>
            <a:off x="1115568" y="2816352"/>
            <a:ext cx="1508760" cy="1243584"/>
          </a:xfrm>
          <a:prstGeom prst="rect">
            <a:avLst/>
          </a:prstGeom>
          <a:noFill/>
          <a:ln/>
        </p:spPr>
        <p:txBody>
          <a:bodyPr wrap="square" lIns="0" tIns="0" rIns="0" bIns="0" rtlCol="0" anchor="ctr"/>
          <a:lstStyle/>
          <a:p>
            <a:pPr indent="0" marL="0">
              <a:buNone/>
            </a:pPr>
            <a:r>
              <a:rPr lang="en-US" sz="1200" b="1" dirty="0">
                <a:solidFill>
                  <a:srgbClr val="0F172A"/>
                </a:solidFill>
                <a:latin typeface="Roboto" pitchFamily="34" charset="0"/>
                <a:ea typeface="Roboto" pitchFamily="34" charset="-122"/>
                <a:cs typeface="Roboto" pitchFamily="34" charset="-120"/>
              </a:rPr>
              <a:t>Identity &amp; fraud evidence</a:t>
            </a:r>
            <a:endParaRPr lang="en-US" sz="1200" dirty="0"/>
          </a:p>
          <a:p>
            <a:pPr indent="0" marL="0">
              <a:buNone/>
            </a:pPr>
            <a:r>
              <a:rPr lang="en-US" sz="1000" dirty="0">
                <a:solidFill>
                  <a:srgbClr val="64748B"/>
                </a:solidFill>
                <a:latin typeface="Roboto" pitchFamily="34" charset="0"/>
                <a:ea typeface="Roboto" pitchFamily="34" charset="-122"/>
                <a:cs typeface="Roboto" pitchFamily="34" charset="-120"/>
              </a:rPr>
              <a:t>11 agents</a:t>
            </a:r>
            <a:endParaRPr lang="en-US" sz="1200" dirty="0"/>
          </a:p>
        </p:txBody>
      </p:sp>
      <p:sp>
        <p:nvSpPr>
          <p:cNvPr id="26" name="Shape 19"/>
          <p:cNvSpPr/>
          <p:nvPr/>
        </p:nvSpPr>
        <p:spPr>
          <a:xfrm>
            <a:off x="2606040" y="2816352"/>
            <a:ext cx="1437589" cy="585216"/>
          </a:xfrm>
          <a:prstGeom prst="roundRect">
            <a:avLst>
              <a:gd name="adj" fmla="val 12500"/>
            </a:avLst>
          </a:prstGeom>
          <a:solidFill>
            <a:srgbClr val="FFF1F2"/>
          </a:solidFill>
          <a:ln w="9525">
            <a:solidFill>
              <a:srgbClr val="E11D48"/>
            </a:solidFill>
            <a:prstDash val="solid"/>
          </a:ln>
        </p:spPr>
      </p:sp>
      <p:sp>
        <p:nvSpPr>
          <p:cNvPr id="27" name="Text 20"/>
          <p:cNvSpPr txBox="1"/>
          <p:nvPr/>
        </p:nvSpPr>
        <p:spPr>
          <a:xfrm>
            <a:off x="2697480" y="2843784"/>
            <a:ext cx="1309573" cy="530352"/>
          </a:xfrm>
          <a:prstGeom prst="rect">
            <a:avLst/>
          </a:prstGeom>
          <a:noFill/>
          <a:ln/>
        </p:spPr>
        <p:txBody>
          <a:bodyPr wrap="square" lIns="0" tIns="0" rIns="0" bIns="0" rtlCol="0" anchor="ctr"/>
          <a:lstStyle/>
          <a:p>
            <a:pPr indent="0" marL="0">
              <a:buNone/>
            </a:pPr>
            <a:r>
              <a:rPr lang="en-US" sz="900" b="1" dirty="0">
                <a:solidFill>
                  <a:srgbClr val="E11D48"/>
                </a:solidFill>
                <a:latin typeface="Roboto" pitchFamily="34" charset="0"/>
                <a:ea typeface="Roboto" pitchFamily="34" charset="-122"/>
                <a:cs typeface="Roboto" pitchFamily="34" charset="-120"/>
              </a:rPr>
              <a:t>#6  </a:t>
            </a:r>
            <a:pPr indent="0" marL="0">
              <a:buNone/>
            </a:pPr>
            <a:r>
              <a:rPr lang="en-US" sz="850" dirty="0">
                <a:solidFill>
                  <a:srgbClr val="64748B"/>
                </a:solidFill>
                <a:latin typeface="Roboto" pitchFamily="34" charset="0"/>
                <a:ea typeface="Roboto" pitchFamily="34" charset="-122"/>
                <a:cs typeface="Roboto" pitchFamily="34" charset="-120"/>
              </a:rPr>
              <a:t>deterministic</a:t>
            </a:r>
            <a:endParaRPr lang="en-US" sz="900" dirty="0"/>
          </a:p>
          <a:p>
            <a:pPr indent="0" marL="0">
              <a:buNone/>
            </a:pPr>
            <a:r>
              <a:rPr lang="en-US" sz="1100" b="1" dirty="0">
                <a:solidFill>
                  <a:srgbClr val="0F172A"/>
                </a:solidFill>
                <a:latin typeface="Roboto" pitchFamily="34" charset="0"/>
                <a:ea typeface="Roboto" pitchFamily="34" charset="-122"/>
                <a:cs typeface="Roboto" pitchFamily="34" charset="-120"/>
              </a:rPr>
              <a:t>Face Verification</a:t>
            </a:r>
            <a:endParaRPr lang="en-US" sz="900" dirty="0"/>
          </a:p>
        </p:txBody>
      </p:sp>
      <p:sp>
        <p:nvSpPr>
          <p:cNvPr id="28" name="Shape 21"/>
          <p:cNvSpPr/>
          <p:nvPr/>
        </p:nvSpPr>
        <p:spPr>
          <a:xfrm>
            <a:off x="4125925" y="2816352"/>
            <a:ext cx="1437589" cy="585216"/>
          </a:xfrm>
          <a:prstGeom prst="roundRect">
            <a:avLst>
              <a:gd name="adj" fmla="val 12500"/>
            </a:avLst>
          </a:prstGeom>
          <a:solidFill>
            <a:srgbClr val="FFF1F2"/>
          </a:solidFill>
          <a:ln w="9525">
            <a:solidFill>
              <a:srgbClr val="E11D48"/>
            </a:solidFill>
            <a:prstDash val="solid"/>
          </a:ln>
        </p:spPr>
      </p:sp>
      <p:sp>
        <p:nvSpPr>
          <p:cNvPr id="29" name="Text 22"/>
          <p:cNvSpPr txBox="1"/>
          <p:nvPr/>
        </p:nvSpPr>
        <p:spPr>
          <a:xfrm>
            <a:off x="4217365" y="2843784"/>
            <a:ext cx="1309573" cy="530352"/>
          </a:xfrm>
          <a:prstGeom prst="rect">
            <a:avLst/>
          </a:prstGeom>
          <a:noFill/>
          <a:ln/>
        </p:spPr>
        <p:txBody>
          <a:bodyPr wrap="square" lIns="0" tIns="0" rIns="0" bIns="0" rtlCol="0" anchor="ctr"/>
          <a:lstStyle/>
          <a:p>
            <a:pPr indent="0" marL="0">
              <a:buNone/>
            </a:pPr>
            <a:r>
              <a:rPr lang="en-US" sz="900" b="1" dirty="0">
                <a:solidFill>
                  <a:srgbClr val="E11D48"/>
                </a:solidFill>
                <a:latin typeface="Roboto" pitchFamily="34" charset="0"/>
                <a:ea typeface="Roboto" pitchFamily="34" charset="-122"/>
                <a:cs typeface="Roboto" pitchFamily="34" charset="-120"/>
              </a:rPr>
              <a:t>#7  </a:t>
            </a:r>
            <a:pPr indent="0" marL="0">
              <a:buNone/>
            </a:pPr>
            <a:r>
              <a:rPr lang="en-US" sz="850" dirty="0">
                <a:solidFill>
                  <a:srgbClr val="64748B"/>
                </a:solidFill>
                <a:latin typeface="Roboto" pitchFamily="34" charset="0"/>
                <a:ea typeface="Roboto" pitchFamily="34" charset="-122"/>
                <a:cs typeface="Roboto" pitchFamily="34" charset="-120"/>
              </a:rPr>
              <a:t>deterministic</a:t>
            </a:r>
            <a:endParaRPr lang="en-US" sz="900" dirty="0"/>
          </a:p>
          <a:p>
            <a:pPr indent="0" marL="0">
              <a:buNone/>
            </a:pPr>
            <a:r>
              <a:rPr lang="en-US" sz="1100" b="1" dirty="0">
                <a:solidFill>
                  <a:srgbClr val="0F172A"/>
                </a:solidFill>
                <a:latin typeface="Roboto" pitchFamily="34" charset="0"/>
                <a:ea typeface="Roboto" pitchFamily="34" charset="-122"/>
                <a:cs typeface="Roboto" pitchFamily="34" charset="-120"/>
              </a:rPr>
              <a:t>Tampering Forensics</a:t>
            </a:r>
            <a:endParaRPr lang="en-US" sz="900" dirty="0"/>
          </a:p>
        </p:txBody>
      </p:sp>
      <p:sp>
        <p:nvSpPr>
          <p:cNvPr id="30" name="Shape 23"/>
          <p:cNvSpPr/>
          <p:nvPr/>
        </p:nvSpPr>
        <p:spPr>
          <a:xfrm>
            <a:off x="5645810" y="2816352"/>
            <a:ext cx="1437589" cy="585216"/>
          </a:xfrm>
          <a:prstGeom prst="roundRect">
            <a:avLst>
              <a:gd name="adj" fmla="val 12500"/>
            </a:avLst>
          </a:prstGeom>
          <a:solidFill>
            <a:srgbClr val="FFF1F2"/>
          </a:solidFill>
          <a:ln w="9525">
            <a:solidFill>
              <a:srgbClr val="E11D48"/>
            </a:solidFill>
            <a:prstDash val="solid"/>
          </a:ln>
        </p:spPr>
      </p:sp>
      <p:sp>
        <p:nvSpPr>
          <p:cNvPr id="31" name="Text 24"/>
          <p:cNvSpPr txBox="1"/>
          <p:nvPr/>
        </p:nvSpPr>
        <p:spPr>
          <a:xfrm>
            <a:off x="5737250" y="2843784"/>
            <a:ext cx="1309573" cy="530352"/>
          </a:xfrm>
          <a:prstGeom prst="rect">
            <a:avLst/>
          </a:prstGeom>
          <a:noFill/>
          <a:ln/>
        </p:spPr>
        <p:txBody>
          <a:bodyPr wrap="square" lIns="0" tIns="0" rIns="0" bIns="0" rtlCol="0" anchor="ctr"/>
          <a:lstStyle/>
          <a:p>
            <a:pPr indent="0" marL="0">
              <a:buNone/>
            </a:pPr>
            <a:r>
              <a:rPr lang="en-US" sz="900" b="1" dirty="0">
                <a:solidFill>
                  <a:srgbClr val="E11D48"/>
                </a:solidFill>
                <a:latin typeface="Roboto" pitchFamily="34" charset="0"/>
                <a:ea typeface="Roboto" pitchFamily="34" charset="-122"/>
                <a:cs typeface="Roboto" pitchFamily="34" charset="-120"/>
              </a:rPr>
              <a:t>#8  </a:t>
            </a:r>
            <a:pPr indent="0" marL="0">
              <a:buNone/>
            </a:pPr>
            <a:r>
              <a:rPr lang="en-US" sz="850" b="1" dirty="0">
                <a:solidFill>
                  <a:srgbClr val="B45309"/>
                </a:solidFill>
                <a:latin typeface="Roboto" pitchFamily="34" charset="0"/>
                <a:ea typeface="Roboto" pitchFamily="34" charset="-122"/>
                <a:cs typeface="Roboto" pitchFamily="34" charset="-120"/>
              </a:rPr>
              <a:t>hybrid</a:t>
            </a:r>
            <a:endParaRPr lang="en-US" sz="900" dirty="0"/>
          </a:p>
          <a:p>
            <a:pPr indent="0" marL="0">
              <a:buNone/>
            </a:pPr>
            <a:r>
              <a:rPr lang="en-US" sz="1100" b="1" dirty="0">
                <a:solidFill>
                  <a:srgbClr val="0F172A"/>
                </a:solidFill>
                <a:latin typeface="Roboto" pitchFamily="34" charset="0"/>
                <a:ea typeface="Roboto" pitchFamily="34" charset="-122"/>
                <a:cs typeface="Roboto" pitchFamily="34" charset="-120"/>
              </a:rPr>
              <a:t>Authenticity</a:t>
            </a:r>
            <a:endParaRPr lang="en-US" sz="900" dirty="0"/>
          </a:p>
        </p:txBody>
      </p:sp>
      <p:sp>
        <p:nvSpPr>
          <p:cNvPr id="32" name="Shape 25"/>
          <p:cNvSpPr/>
          <p:nvPr/>
        </p:nvSpPr>
        <p:spPr>
          <a:xfrm>
            <a:off x="7165696" y="2816352"/>
            <a:ext cx="1437589" cy="585216"/>
          </a:xfrm>
          <a:prstGeom prst="roundRect">
            <a:avLst>
              <a:gd name="adj" fmla="val 12500"/>
            </a:avLst>
          </a:prstGeom>
          <a:solidFill>
            <a:srgbClr val="FFF1F2"/>
          </a:solidFill>
          <a:ln w="9525">
            <a:solidFill>
              <a:srgbClr val="E11D48"/>
            </a:solidFill>
            <a:prstDash val="solid"/>
          </a:ln>
        </p:spPr>
      </p:sp>
      <p:sp>
        <p:nvSpPr>
          <p:cNvPr id="33" name="Text 26"/>
          <p:cNvSpPr txBox="1"/>
          <p:nvPr/>
        </p:nvSpPr>
        <p:spPr>
          <a:xfrm>
            <a:off x="7257136" y="2843784"/>
            <a:ext cx="1309573" cy="530352"/>
          </a:xfrm>
          <a:prstGeom prst="rect">
            <a:avLst/>
          </a:prstGeom>
          <a:noFill/>
          <a:ln/>
        </p:spPr>
        <p:txBody>
          <a:bodyPr wrap="square" lIns="0" tIns="0" rIns="0" bIns="0" rtlCol="0" anchor="ctr"/>
          <a:lstStyle/>
          <a:p>
            <a:pPr indent="0" marL="0">
              <a:buNone/>
            </a:pPr>
            <a:r>
              <a:rPr lang="en-US" sz="900" b="1" dirty="0">
                <a:solidFill>
                  <a:srgbClr val="E11D48"/>
                </a:solidFill>
                <a:latin typeface="Roboto" pitchFamily="34" charset="0"/>
                <a:ea typeface="Roboto" pitchFamily="34" charset="-122"/>
                <a:cs typeface="Roboto" pitchFamily="34" charset="-120"/>
              </a:rPr>
              <a:t>#9  </a:t>
            </a:r>
            <a:pPr indent="0" marL="0">
              <a:buNone/>
            </a:pPr>
            <a:r>
              <a:rPr lang="en-US" sz="850" b="1" dirty="0">
                <a:solidFill>
                  <a:srgbClr val="B45309"/>
                </a:solidFill>
                <a:latin typeface="Roboto" pitchFamily="34" charset="0"/>
                <a:ea typeface="Roboto" pitchFamily="34" charset="-122"/>
                <a:cs typeface="Roboto" pitchFamily="34" charset="-120"/>
              </a:rPr>
              <a:t>hybrid</a:t>
            </a:r>
            <a:endParaRPr lang="en-US" sz="900" dirty="0"/>
          </a:p>
          <a:p>
            <a:pPr indent="0" marL="0">
              <a:buNone/>
            </a:pPr>
            <a:r>
              <a:rPr lang="en-US" sz="1100" b="1" dirty="0">
                <a:solidFill>
                  <a:srgbClr val="0F172A"/>
                </a:solidFill>
                <a:latin typeface="Roboto" pitchFamily="34" charset="0"/>
                <a:ea typeface="Roboto" pitchFamily="34" charset="-122"/>
                <a:cs typeface="Roboto" pitchFamily="34" charset="-120"/>
              </a:rPr>
              <a:t>Tamper Explainer</a:t>
            </a:r>
            <a:endParaRPr lang="en-US" sz="900" dirty="0"/>
          </a:p>
        </p:txBody>
      </p:sp>
      <p:sp>
        <p:nvSpPr>
          <p:cNvPr id="34" name="Shape 27"/>
          <p:cNvSpPr/>
          <p:nvPr/>
        </p:nvSpPr>
        <p:spPr>
          <a:xfrm>
            <a:off x="8685581" y="2816352"/>
            <a:ext cx="1437589" cy="585216"/>
          </a:xfrm>
          <a:prstGeom prst="roundRect">
            <a:avLst>
              <a:gd name="adj" fmla="val 12500"/>
            </a:avLst>
          </a:prstGeom>
          <a:solidFill>
            <a:srgbClr val="FFF1F2"/>
          </a:solidFill>
          <a:ln w="9525">
            <a:solidFill>
              <a:srgbClr val="E11D48"/>
            </a:solidFill>
            <a:prstDash val="solid"/>
          </a:ln>
        </p:spPr>
      </p:sp>
      <p:sp>
        <p:nvSpPr>
          <p:cNvPr id="35" name="Text 28"/>
          <p:cNvSpPr txBox="1"/>
          <p:nvPr/>
        </p:nvSpPr>
        <p:spPr>
          <a:xfrm>
            <a:off x="8777021" y="2843784"/>
            <a:ext cx="1309573" cy="530352"/>
          </a:xfrm>
          <a:prstGeom prst="rect">
            <a:avLst/>
          </a:prstGeom>
          <a:noFill/>
          <a:ln/>
        </p:spPr>
        <p:txBody>
          <a:bodyPr wrap="square" lIns="0" tIns="0" rIns="0" bIns="0" rtlCol="0" anchor="ctr"/>
          <a:lstStyle/>
          <a:p>
            <a:pPr indent="0" marL="0">
              <a:buNone/>
            </a:pPr>
            <a:r>
              <a:rPr lang="en-US" sz="900" b="1" dirty="0">
                <a:solidFill>
                  <a:srgbClr val="E11D48"/>
                </a:solidFill>
                <a:latin typeface="Roboto" pitchFamily="34" charset="0"/>
                <a:ea typeface="Roboto" pitchFamily="34" charset="-122"/>
                <a:cs typeface="Roboto" pitchFamily="34" charset="-120"/>
              </a:rPr>
              <a:t>#10  </a:t>
            </a:r>
            <a:pPr indent="0" marL="0">
              <a:buNone/>
            </a:pPr>
            <a:r>
              <a:rPr lang="en-US" sz="850" dirty="0">
                <a:solidFill>
                  <a:srgbClr val="64748B"/>
                </a:solidFill>
                <a:latin typeface="Roboto" pitchFamily="34" charset="0"/>
                <a:ea typeface="Roboto" pitchFamily="34" charset="-122"/>
                <a:cs typeface="Roboto" pitchFamily="34" charset="-120"/>
              </a:rPr>
              <a:t>deterministic</a:t>
            </a:r>
            <a:endParaRPr lang="en-US" sz="900" dirty="0"/>
          </a:p>
          <a:p>
            <a:pPr indent="0" marL="0">
              <a:buNone/>
            </a:pPr>
            <a:r>
              <a:rPr lang="en-US" sz="1100" b="1" dirty="0">
                <a:solidFill>
                  <a:srgbClr val="0F172A"/>
                </a:solidFill>
                <a:latin typeface="Roboto" pitchFamily="34" charset="0"/>
                <a:ea typeface="Roboto" pitchFamily="34" charset="-122"/>
                <a:cs typeface="Roboto" pitchFamily="34" charset="-120"/>
              </a:rPr>
              <a:t>Tamper Locator</a:t>
            </a:r>
            <a:endParaRPr lang="en-US" sz="900" dirty="0"/>
          </a:p>
        </p:txBody>
      </p:sp>
      <p:sp>
        <p:nvSpPr>
          <p:cNvPr id="36" name="Shape 29"/>
          <p:cNvSpPr/>
          <p:nvPr/>
        </p:nvSpPr>
        <p:spPr>
          <a:xfrm>
            <a:off x="10205466" y="2816352"/>
            <a:ext cx="1437589" cy="585216"/>
          </a:xfrm>
          <a:prstGeom prst="roundRect">
            <a:avLst>
              <a:gd name="adj" fmla="val 12500"/>
            </a:avLst>
          </a:prstGeom>
          <a:solidFill>
            <a:srgbClr val="FFF1F2"/>
          </a:solidFill>
          <a:ln w="9525">
            <a:solidFill>
              <a:srgbClr val="E11D48"/>
            </a:solidFill>
            <a:prstDash val="solid"/>
          </a:ln>
        </p:spPr>
      </p:sp>
      <p:sp>
        <p:nvSpPr>
          <p:cNvPr id="37" name="Text 30"/>
          <p:cNvSpPr txBox="1"/>
          <p:nvPr/>
        </p:nvSpPr>
        <p:spPr>
          <a:xfrm>
            <a:off x="10296906" y="2843784"/>
            <a:ext cx="1309573" cy="530352"/>
          </a:xfrm>
          <a:prstGeom prst="rect">
            <a:avLst/>
          </a:prstGeom>
          <a:noFill/>
          <a:ln/>
        </p:spPr>
        <p:txBody>
          <a:bodyPr wrap="square" lIns="0" tIns="0" rIns="0" bIns="0" rtlCol="0" anchor="ctr"/>
          <a:lstStyle/>
          <a:p>
            <a:pPr indent="0" marL="0">
              <a:buNone/>
            </a:pPr>
            <a:r>
              <a:rPr lang="en-US" sz="900" b="1" dirty="0">
                <a:solidFill>
                  <a:srgbClr val="E11D48"/>
                </a:solidFill>
                <a:latin typeface="Roboto" pitchFamily="34" charset="0"/>
                <a:ea typeface="Roboto" pitchFamily="34" charset="-122"/>
                <a:cs typeface="Roboto" pitchFamily="34" charset="-120"/>
              </a:rPr>
              <a:t>#11  </a:t>
            </a:r>
            <a:pPr indent="0" marL="0">
              <a:buNone/>
            </a:pPr>
            <a:r>
              <a:rPr lang="en-US" sz="850" dirty="0">
                <a:solidFill>
                  <a:srgbClr val="64748B"/>
                </a:solidFill>
                <a:latin typeface="Roboto" pitchFamily="34" charset="0"/>
                <a:ea typeface="Roboto" pitchFamily="34" charset="-122"/>
                <a:cs typeface="Roboto" pitchFamily="34" charset="-120"/>
              </a:rPr>
              <a:t>deterministic</a:t>
            </a:r>
            <a:endParaRPr lang="en-US" sz="900" dirty="0"/>
          </a:p>
          <a:p>
            <a:pPr indent="0" marL="0">
              <a:buNone/>
            </a:pPr>
            <a:r>
              <a:rPr lang="en-US" sz="1100" b="1" dirty="0">
                <a:solidFill>
                  <a:srgbClr val="0F172A"/>
                </a:solidFill>
                <a:latin typeface="Roboto" pitchFamily="34" charset="0"/>
                <a:ea typeface="Roboto" pitchFamily="34" charset="-122"/>
                <a:cs typeface="Roboto" pitchFamily="34" charset="-120"/>
              </a:rPr>
              <a:t>Cross-Doc Verification</a:t>
            </a:r>
            <a:endParaRPr lang="en-US" sz="900" dirty="0"/>
          </a:p>
        </p:txBody>
      </p:sp>
      <p:sp>
        <p:nvSpPr>
          <p:cNvPr id="38" name="Shape 31"/>
          <p:cNvSpPr/>
          <p:nvPr/>
        </p:nvSpPr>
        <p:spPr>
          <a:xfrm>
            <a:off x="2606040" y="3474720"/>
            <a:ext cx="1437589" cy="585216"/>
          </a:xfrm>
          <a:prstGeom prst="roundRect">
            <a:avLst>
              <a:gd name="adj" fmla="val 12500"/>
            </a:avLst>
          </a:prstGeom>
          <a:solidFill>
            <a:srgbClr val="FFF1F2"/>
          </a:solidFill>
          <a:ln w="9525">
            <a:solidFill>
              <a:srgbClr val="E11D48"/>
            </a:solidFill>
            <a:prstDash val="solid"/>
          </a:ln>
        </p:spPr>
      </p:sp>
      <p:sp>
        <p:nvSpPr>
          <p:cNvPr id="39" name="Text 32"/>
          <p:cNvSpPr txBox="1"/>
          <p:nvPr/>
        </p:nvSpPr>
        <p:spPr>
          <a:xfrm>
            <a:off x="2697480" y="3502152"/>
            <a:ext cx="1309573" cy="530352"/>
          </a:xfrm>
          <a:prstGeom prst="rect">
            <a:avLst/>
          </a:prstGeom>
          <a:noFill/>
          <a:ln/>
        </p:spPr>
        <p:txBody>
          <a:bodyPr wrap="square" lIns="0" tIns="0" rIns="0" bIns="0" rtlCol="0" anchor="ctr"/>
          <a:lstStyle/>
          <a:p>
            <a:pPr indent="0" marL="0">
              <a:buNone/>
            </a:pPr>
            <a:r>
              <a:rPr lang="en-US" sz="900" b="1" dirty="0">
                <a:solidFill>
                  <a:srgbClr val="E11D48"/>
                </a:solidFill>
                <a:latin typeface="Roboto" pitchFamily="34" charset="0"/>
                <a:ea typeface="Roboto" pitchFamily="34" charset="-122"/>
                <a:cs typeface="Roboto" pitchFamily="34" charset="-120"/>
              </a:rPr>
              <a:t>#12  </a:t>
            </a:r>
            <a:pPr indent="0" marL="0">
              <a:buNone/>
            </a:pPr>
            <a:r>
              <a:rPr lang="en-US" sz="850" dirty="0">
                <a:solidFill>
                  <a:srgbClr val="64748B"/>
                </a:solidFill>
                <a:latin typeface="Roboto" pitchFamily="34" charset="0"/>
                <a:ea typeface="Roboto" pitchFamily="34" charset="-122"/>
                <a:cs typeface="Roboto" pitchFamily="34" charset="-120"/>
              </a:rPr>
              <a:t>deterministic</a:t>
            </a:r>
            <a:endParaRPr lang="en-US" sz="900" dirty="0"/>
          </a:p>
          <a:p>
            <a:pPr indent="0" marL="0">
              <a:buNone/>
            </a:pPr>
            <a:r>
              <a:rPr lang="en-US" sz="1100" b="1" dirty="0">
                <a:solidFill>
                  <a:srgbClr val="0F172A"/>
                </a:solidFill>
                <a:latin typeface="Roboto" pitchFamily="34" charset="0"/>
                <a:ea typeface="Roboto" pitchFamily="34" charset="-122"/>
                <a:cs typeface="Roboto" pitchFamily="34" charset="-120"/>
              </a:rPr>
              <a:t>Dedupe</a:t>
            </a:r>
            <a:endParaRPr lang="en-US" sz="900" dirty="0"/>
          </a:p>
        </p:txBody>
      </p:sp>
      <p:sp>
        <p:nvSpPr>
          <p:cNvPr id="40" name="Shape 33"/>
          <p:cNvSpPr/>
          <p:nvPr/>
        </p:nvSpPr>
        <p:spPr>
          <a:xfrm>
            <a:off x="4125925" y="3474720"/>
            <a:ext cx="1437589" cy="585216"/>
          </a:xfrm>
          <a:prstGeom prst="roundRect">
            <a:avLst>
              <a:gd name="adj" fmla="val 12500"/>
            </a:avLst>
          </a:prstGeom>
          <a:solidFill>
            <a:srgbClr val="FFF1F2"/>
          </a:solidFill>
          <a:ln w="9525">
            <a:solidFill>
              <a:srgbClr val="E11D48"/>
            </a:solidFill>
            <a:prstDash val="solid"/>
          </a:ln>
        </p:spPr>
      </p:sp>
      <p:sp>
        <p:nvSpPr>
          <p:cNvPr id="41" name="Text 34"/>
          <p:cNvSpPr txBox="1"/>
          <p:nvPr/>
        </p:nvSpPr>
        <p:spPr>
          <a:xfrm>
            <a:off x="4217365" y="3502152"/>
            <a:ext cx="1309573" cy="530352"/>
          </a:xfrm>
          <a:prstGeom prst="rect">
            <a:avLst/>
          </a:prstGeom>
          <a:noFill/>
          <a:ln/>
        </p:spPr>
        <p:txBody>
          <a:bodyPr wrap="square" lIns="0" tIns="0" rIns="0" bIns="0" rtlCol="0" anchor="ctr"/>
          <a:lstStyle/>
          <a:p>
            <a:pPr indent="0" marL="0">
              <a:buNone/>
            </a:pPr>
            <a:r>
              <a:rPr lang="en-US" sz="900" b="1" dirty="0">
                <a:solidFill>
                  <a:srgbClr val="E11D48"/>
                </a:solidFill>
                <a:latin typeface="Roboto" pitchFamily="34" charset="0"/>
                <a:ea typeface="Roboto" pitchFamily="34" charset="-122"/>
                <a:cs typeface="Roboto" pitchFamily="34" charset="-120"/>
              </a:rPr>
              <a:t>#13  </a:t>
            </a:r>
            <a:pPr indent="0" marL="0">
              <a:buNone/>
            </a:pPr>
            <a:r>
              <a:rPr lang="en-US" sz="850" dirty="0">
                <a:solidFill>
                  <a:srgbClr val="64748B"/>
                </a:solidFill>
                <a:latin typeface="Roboto" pitchFamily="34" charset="0"/>
                <a:ea typeface="Roboto" pitchFamily="34" charset="-122"/>
                <a:cs typeface="Roboto" pitchFamily="34" charset="-120"/>
              </a:rPr>
              <a:t>deterministic</a:t>
            </a:r>
            <a:endParaRPr lang="en-US" sz="900" dirty="0"/>
          </a:p>
          <a:p>
            <a:pPr indent="0" marL="0">
              <a:buNone/>
            </a:pPr>
            <a:r>
              <a:rPr lang="en-US" sz="1100" b="1" dirty="0">
                <a:solidFill>
                  <a:srgbClr val="0F172A"/>
                </a:solidFill>
                <a:latin typeface="Roboto" pitchFamily="34" charset="0"/>
                <a:ea typeface="Roboto" pitchFamily="34" charset="-122"/>
                <a:cs typeface="Roboto" pitchFamily="34" charset="-120"/>
              </a:rPr>
              <a:t>Fraud Fusion</a:t>
            </a:r>
            <a:endParaRPr lang="en-US" sz="900" dirty="0"/>
          </a:p>
        </p:txBody>
      </p:sp>
      <p:sp>
        <p:nvSpPr>
          <p:cNvPr id="42" name="Shape 35"/>
          <p:cNvSpPr/>
          <p:nvPr/>
        </p:nvSpPr>
        <p:spPr>
          <a:xfrm>
            <a:off x="5645810" y="3474720"/>
            <a:ext cx="1437589" cy="585216"/>
          </a:xfrm>
          <a:prstGeom prst="roundRect">
            <a:avLst>
              <a:gd name="adj" fmla="val 12500"/>
            </a:avLst>
          </a:prstGeom>
          <a:solidFill>
            <a:srgbClr val="FFF1F2"/>
          </a:solidFill>
          <a:ln w="9525">
            <a:solidFill>
              <a:srgbClr val="E11D48"/>
            </a:solidFill>
            <a:prstDash val="solid"/>
          </a:ln>
        </p:spPr>
      </p:sp>
      <p:sp>
        <p:nvSpPr>
          <p:cNvPr id="43" name="Text 36"/>
          <p:cNvSpPr txBox="1"/>
          <p:nvPr/>
        </p:nvSpPr>
        <p:spPr>
          <a:xfrm>
            <a:off x="5737250" y="3502152"/>
            <a:ext cx="1309573" cy="530352"/>
          </a:xfrm>
          <a:prstGeom prst="rect">
            <a:avLst/>
          </a:prstGeom>
          <a:noFill/>
          <a:ln/>
        </p:spPr>
        <p:txBody>
          <a:bodyPr wrap="square" lIns="0" tIns="0" rIns="0" bIns="0" rtlCol="0" anchor="ctr"/>
          <a:lstStyle/>
          <a:p>
            <a:pPr indent="0" marL="0">
              <a:buNone/>
            </a:pPr>
            <a:r>
              <a:rPr lang="en-US" sz="900" b="1" dirty="0">
                <a:solidFill>
                  <a:srgbClr val="E11D48"/>
                </a:solidFill>
                <a:latin typeface="Roboto" pitchFamily="34" charset="0"/>
                <a:ea typeface="Roboto" pitchFamily="34" charset="-122"/>
                <a:cs typeface="Roboto" pitchFamily="34" charset="-120"/>
              </a:rPr>
              <a:t>#14  </a:t>
            </a:r>
            <a:pPr indent="0" marL="0">
              <a:buNone/>
            </a:pPr>
            <a:r>
              <a:rPr lang="en-US" sz="850" b="1" dirty="0">
                <a:solidFill>
                  <a:srgbClr val="B45309"/>
                </a:solidFill>
                <a:latin typeface="Roboto" pitchFamily="34" charset="0"/>
                <a:ea typeface="Roboto" pitchFamily="34" charset="-122"/>
                <a:cs typeface="Roboto" pitchFamily="34" charset="-120"/>
              </a:rPr>
              <a:t>hybrid</a:t>
            </a:r>
            <a:endParaRPr lang="en-US" sz="900" dirty="0"/>
          </a:p>
          <a:p>
            <a:pPr indent="0" marL="0">
              <a:buNone/>
            </a:pPr>
            <a:r>
              <a:rPr lang="en-US" sz="1100" b="1" dirty="0">
                <a:solidFill>
                  <a:srgbClr val="0F172A"/>
                </a:solidFill>
                <a:latin typeface="Roboto" pitchFamily="34" charset="0"/>
                <a:ea typeface="Roboto" pitchFamily="34" charset="-122"/>
                <a:cs typeface="Roboto" pitchFamily="34" charset="-120"/>
              </a:rPr>
              <a:t>Fraud Patterns</a:t>
            </a:r>
            <a:endParaRPr lang="en-US" sz="900" dirty="0"/>
          </a:p>
        </p:txBody>
      </p:sp>
      <p:sp>
        <p:nvSpPr>
          <p:cNvPr id="44" name="Shape 37"/>
          <p:cNvSpPr/>
          <p:nvPr/>
        </p:nvSpPr>
        <p:spPr>
          <a:xfrm>
            <a:off x="7165696" y="3474720"/>
            <a:ext cx="1437589" cy="585216"/>
          </a:xfrm>
          <a:prstGeom prst="roundRect">
            <a:avLst>
              <a:gd name="adj" fmla="val 12500"/>
            </a:avLst>
          </a:prstGeom>
          <a:solidFill>
            <a:srgbClr val="FFF1F2"/>
          </a:solidFill>
          <a:ln w="9525">
            <a:solidFill>
              <a:srgbClr val="E11D48"/>
            </a:solidFill>
            <a:prstDash val="solid"/>
          </a:ln>
        </p:spPr>
      </p:sp>
      <p:sp>
        <p:nvSpPr>
          <p:cNvPr id="45" name="Text 38"/>
          <p:cNvSpPr txBox="1"/>
          <p:nvPr/>
        </p:nvSpPr>
        <p:spPr>
          <a:xfrm>
            <a:off x="7257136" y="3502152"/>
            <a:ext cx="1309573" cy="530352"/>
          </a:xfrm>
          <a:prstGeom prst="rect">
            <a:avLst/>
          </a:prstGeom>
          <a:noFill/>
          <a:ln/>
        </p:spPr>
        <p:txBody>
          <a:bodyPr wrap="square" lIns="0" tIns="0" rIns="0" bIns="0" rtlCol="0" anchor="ctr"/>
          <a:lstStyle/>
          <a:p>
            <a:pPr indent="0" marL="0">
              <a:buNone/>
            </a:pPr>
            <a:r>
              <a:rPr lang="en-US" sz="900" b="1" dirty="0">
                <a:solidFill>
                  <a:srgbClr val="E11D48"/>
                </a:solidFill>
                <a:latin typeface="Roboto" pitchFamily="34" charset="0"/>
                <a:ea typeface="Roboto" pitchFamily="34" charset="-122"/>
                <a:cs typeface="Roboto" pitchFamily="34" charset="-120"/>
              </a:rPr>
              <a:t>#15  </a:t>
            </a:r>
            <a:pPr indent="0" marL="0">
              <a:buNone/>
            </a:pPr>
            <a:r>
              <a:rPr lang="en-US" sz="850" b="1" dirty="0">
                <a:solidFill>
                  <a:srgbClr val="B45309"/>
                </a:solidFill>
                <a:latin typeface="Roboto" pitchFamily="34" charset="0"/>
                <a:ea typeface="Roboto" pitchFamily="34" charset="-122"/>
                <a:cs typeface="Roboto" pitchFamily="34" charset="-120"/>
              </a:rPr>
              <a:t>hybrid</a:t>
            </a:r>
            <a:endParaRPr lang="en-US" sz="900" dirty="0"/>
          </a:p>
          <a:p>
            <a:pPr indent="0" marL="0">
              <a:buNone/>
            </a:pPr>
            <a:r>
              <a:rPr lang="en-US" sz="1100" b="1" dirty="0">
                <a:solidFill>
                  <a:srgbClr val="0F172A"/>
                </a:solidFill>
                <a:latin typeface="Roboto" pitchFamily="34" charset="0"/>
                <a:ea typeface="Roboto" pitchFamily="34" charset="-122"/>
                <a:cs typeface="Roboto" pitchFamily="34" charset="-120"/>
              </a:rPr>
              <a:t>Fraud Triage</a:t>
            </a:r>
            <a:endParaRPr lang="en-US" sz="900" dirty="0"/>
          </a:p>
        </p:txBody>
      </p:sp>
      <p:sp>
        <p:nvSpPr>
          <p:cNvPr id="46" name="Shape 39"/>
          <p:cNvSpPr/>
          <p:nvPr/>
        </p:nvSpPr>
        <p:spPr>
          <a:xfrm>
            <a:off x="8685581" y="3474720"/>
            <a:ext cx="1437589" cy="585216"/>
          </a:xfrm>
          <a:prstGeom prst="roundRect">
            <a:avLst>
              <a:gd name="adj" fmla="val 12500"/>
            </a:avLst>
          </a:prstGeom>
          <a:solidFill>
            <a:srgbClr val="FFF1F2"/>
          </a:solidFill>
          <a:ln w="9525">
            <a:solidFill>
              <a:srgbClr val="E11D48"/>
            </a:solidFill>
            <a:prstDash val="solid"/>
          </a:ln>
        </p:spPr>
      </p:sp>
      <p:sp>
        <p:nvSpPr>
          <p:cNvPr id="47" name="Text 40"/>
          <p:cNvSpPr txBox="1"/>
          <p:nvPr/>
        </p:nvSpPr>
        <p:spPr>
          <a:xfrm>
            <a:off x="8777021" y="3502152"/>
            <a:ext cx="1309573" cy="530352"/>
          </a:xfrm>
          <a:prstGeom prst="rect">
            <a:avLst/>
          </a:prstGeom>
          <a:noFill/>
          <a:ln/>
        </p:spPr>
        <p:txBody>
          <a:bodyPr wrap="square" lIns="0" tIns="0" rIns="0" bIns="0" rtlCol="0" anchor="ctr"/>
          <a:lstStyle/>
          <a:p>
            <a:pPr indent="0" marL="0">
              <a:buNone/>
            </a:pPr>
            <a:r>
              <a:rPr lang="en-US" sz="900" b="1" dirty="0">
                <a:solidFill>
                  <a:srgbClr val="E11D48"/>
                </a:solidFill>
                <a:latin typeface="Roboto" pitchFamily="34" charset="0"/>
                <a:ea typeface="Roboto" pitchFamily="34" charset="-122"/>
                <a:cs typeface="Roboto" pitchFamily="34" charset="-120"/>
              </a:rPr>
              <a:t>#29  </a:t>
            </a:r>
            <a:pPr indent="0" marL="0">
              <a:buNone/>
            </a:pPr>
            <a:r>
              <a:rPr lang="en-US" sz="850" dirty="0">
                <a:solidFill>
                  <a:srgbClr val="64748B"/>
                </a:solidFill>
                <a:latin typeface="Roboto" pitchFamily="34" charset="0"/>
                <a:ea typeface="Roboto" pitchFamily="34" charset="-122"/>
                <a:cs typeface="Roboto" pitchFamily="34" charset="-120"/>
              </a:rPr>
              <a:t>deterministic</a:t>
            </a:r>
            <a:endParaRPr lang="en-US" sz="900" dirty="0"/>
          </a:p>
          <a:p>
            <a:pPr indent="0" marL="0">
              <a:buNone/>
            </a:pPr>
            <a:r>
              <a:rPr lang="en-US" sz="1100" b="1" dirty="0">
                <a:solidFill>
                  <a:srgbClr val="0F172A"/>
                </a:solidFill>
                <a:latin typeface="Roboto" pitchFamily="34" charset="0"/>
                <a:ea typeface="Roboto" pitchFamily="34" charset="-122"/>
                <a:cs typeface="Roboto" pitchFamily="34" charset="-120"/>
              </a:rPr>
              <a:t>Liveness</a:t>
            </a:r>
            <a:endParaRPr lang="en-US" sz="900" dirty="0"/>
          </a:p>
        </p:txBody>
      </p:sp>
      <p:sp>
        <p:nvSpPr>
          <p:cNvPr id="48" name="Shape 41"/>
          <p:cNvSpPr/>
          <p:nvPr/>
        </p:nvSpPr>
        <p:spPr>
          <a:xfrm>
            <a:off x="548640" y="4261104"/>
            <a:ext cx="457200" cy="457200"/>
          </a:xfrm>
          <a:prstGeom prst="ellipse">
            <a:avLst/>
          </a:prstGeom>
          <a:solidFill>
            <a:srgbClr val="ECFDF5"/>
          </a:solidFill>
          <a:ln w="12700">
            <a:solidFill>
              <a:srgbClr val="ECFDF5"/>
            </a:solidFill>
            <a:prstDash val="solid"/>
          </a:ln>
        </p:spPr>
      </p:sp>
      <p:pic>
        <p:nvPicPr>
          <p:cNvPr id="49" name="Image 4" descr="preencoded.png">    </p:cNvPr>
          <p:cNvPicPr>
            <a:picLocks noChangeAspect="1"/>
          </p:cNvPicPr>
          <p:nvPr/>
        </p:nvPicPr>
        <p:blipFill>
          <a:blip r:embed="rId5"/>
          <a:stretch>
            <a:fillRect/>
          </a:stretch>
        </p:blipFill>
        <p:spPr>
          <a:xfrm>
            <a:off x="649224" y="4361688"/>
            <a:ext cx="256032" cy="256032"/>
          </a:xfrm>
          <a:prstGeom prst="rect">
            <a:avLst/>
          </a:prstGeom>
        </p:spPr>
      </p:pic>
      <p:sp>
        <p:nvSpPr>
          <p:cNvPr id="50" name="Text 42"/>
          <p:cNvSpPr txBox="1"/>
          <p:nvPr/>
        </p:nvSpPr>
        <p:spPr>
          <a:xfrm>
            <a:off x="1115568" y="4197096"/>
            <a:ext cx="1508760" cy="585216"/>
          </a:xfrm>
          <a:prstGeom prst="rect">
            <a:avLst/>
          </a:prstGeom>
          <a:noFill/>
          <a:ln/>
        </p:spPr>
        <p:txBody>
          <a:bodyPr wrap="square" lIns="0" tIns="0" rIns="0" bIns="0" rtlCol="0" anchor="ctr"/>
          <a:lstStyle/>
          <a:p>
            <a:pPr indent="0" marL="0">
              <a:buNone/>
            </a:pPr>
            <a:r>
              <a:rPr lang="en-US" sz="1200" b="1" dirty="0">
                <a:solidFill>
                  <a:srgbClr val="0F172A"/>
                </a:solidFill>
                <a:latin typeface="Roboto" pitchFamily="34" charset="0"/>
                <a:ea typeface="Roboto" pitchFamily="34" charset="-122"/>
                <a:cs typeface="Roboto" pitchFamily="34" charset="-120"/>
              </a:rPr>
              <a:t>Compliance</a:t>
            </a:r>
            <a:endParaRPr lang="en-US" sz="1200" dirty="0"/>
          </a:p>
          <a:p>
            <a:pPr indent="0" marL="0">
              <a:buNone/>
            </a:pPr>
            <a:r>
              <a:rPr lang="en-US" sz="1000" dirty="0">
                <a:solidFill>
                  <a:srgbClr val="64748B"/>
                </a:solidFill>
                <a:latin typeface="Roboto" pitchFamily="34" charset="0"/>
                <a:ea typeface="Roboto" pitchFamily="34" charset="-122"/>
                <a:cs typeface="Roboto" pitchFamily="34" charset="-120"/>
              </a:rPr>
              <a:t>4 agents</a:t>
            </a:r>
            <a:endParaRPr lang="en-US" sz="1200" dirty="0"/>
          </a:p>
        </p:txBody>
      </p:sp>
      <p:sp>
        <p:nvSpPr>
          <p:cNvPr id="51" name="Shape 43"/>
          <p:cNvSpPr/>
          <p:nvPr/>
        </p:nvSpPr>
        <p:spPr>
          <a:xfrm>
            <a:off x="2606040" y="4197096"/>
            <a:ext cx="1437589" cy="585216"/>
          </a:xfrm>
          <a:prstGeom prst="roundRect">
            <a:avLst>
              <a:gd name="adj" fmla="val 12500"/>
            </a:avLst>
          </a:prstGeom>
          <a:solidFill>
            <a:srgbClr val="ECFDF5"/>
          </a:solidFill>
          <a:ln w="9525">
            <a:solidFill>
              <a:srgbClr val="059669"/>
            </a:solidFill>
            <a:prstDash val="solid"/>
          </a:ln>
        </p:spPr>
      </p:sp>
      <p:sp>
        <p:nvSpPr>
          <p:cNvPr id="52" name="Text 44"/>
          <p:cNvSpPr txBox="1"/>
          <p:nvPr/>
        </p:nvSpPr>
        <p:spPr>
          <a:xfrm>
            <a:off x="2697480" y="4224528"/>
            <a:ext cx="1309573" cy="530352"/>
          </a:xfrm>
          <a:prstGeom prst="rect">
            <a:avLst/>
          </a:prstGeom>
          <a:noFill/>
          <a:ln/>
        </p:spPr>
        <p:txBody>
          <a:bodyPr wrap="square" lIns="0" tIns="0" rIns="0" bIns="0" rtlCol="0" anchor="ctr"/>
          <a:lstStyle/>
          <a:p>
            <a:pPr indent="0" marL="0">
              <a:buNone/>
            </a:pPr>
            <a:r>
              <a:rPr lang="en-US" sz="900" b="1" dirty="0">
                <a:solidFill>
                  <a:srgbClr val="059669"/>
                </a:solidFill>
                <a:latin typeface="Roboto" pitchFamily="34" charset="0"/>
                <a:ea typeface="Roboto" pitchFamily="34" charset="-122"/>
                <a:cs typeface="Roboto" pitchFamily="34" charset="-120"/>
              </a:rPr>
              <a:t>#16  </a:t>
            </a:r>
            <a:pPr indent="0" marL="0">
              <a:buNone/>
            </a:pPr>
            <a:r>
              <a:rPr lang="en-US" sz="850" dirty="0">
                <a:solidFill>
                  <a:srgbClr val="64748B"/>
                </a:solidFill>
                <a:latin typeface="Roboto" pitchFamily="34" charset="0"/>
                <a:ea typeface="Roboto" pitchFamily="34" charset="-122"/>
                <a:cs typeface="Roboto" pitchFamily="34" charset="-120"/>
              </a:rPr>
              <a:t>deterministic</a:t>
            </a:r>
            <a:endParaRPr lang="en-US" sz="900" dirty="0"/>
          </a:p>
          <a:p>
            <a:pPr indent="0" marL="0">
              <a:buNone/>
            </a:pPr>
            <a:r>
              <a:rPr lang="en-US" sz="1100" b="1" dirty="0">
                <a:solidFill>
                  <a:srgbClr val="0F172A"/>
                </a:solidFill>
                <a:latin typeface="Roboto" pitchFamily="34" charset="0"/>
                <a:ea typeface="Roboto" pitchFamily="34" charset="-122"/>
                <a:cs typeface="Roboto" pitchFamily="34" charset="-120"/>
              </a:rPr>
              <a:t>KB Ingestion</a:t>
            </a:r>
            <a:endParaRPr lang="en-US" sz="900" dirty="0"/>
          </a:p>
        </p:txBody>
      </p:sp>
      <p:sp>
        <p:nvSpPr>
          <p:cNvPr id="53" name="Shape 45"/>
          <p:cNvSpPr/>
          <p:nvPr/>
        </p:nvSpPr>
        <p:spPr>
          <a:xfrm>
            <a:off x="4125925" y="4197096"/>
            <a:ext cx="1437589" cy="585216"/>
          </a:xfrm>
          <a:prstGeom prst="roundRect">
            <a:avLst>
              <a:gd name="adj" fmla="val 12500"/>
            </a:avLst>
          </a:prstGeom>
          <a:solidFill>
            <a:srgbClr val="ECFDF5"/>
          </a:solidFill>
          <a:ln w="9525">
            <a:solidFill>
              <a:srgbClr val="059669"/>
            </a:solidFill>
            <a:prstDash val="solid"/>
          </a:ln>
        </p:spPr>
      </p:sp>
      <p:sp>
        <p:nvSpPr>
          <p:cNvPr id="54" name="Text 46"/>
          <p:cNvSpPr txBox="1"/>
          <p:nvPr/>
        </p:nvSpPr>
        <p:spPr>
          <a:xfrm>
            <a:off x="4217365" y="4224528"/>
            <a:ext cx="1309573" cy="530352"/>
          </a:xfrm>
          <a:prstGeom prst="rect">
            <a:avLst/>
          </a:prstGeom>
          <a:noFill/>
          <a:ln/>
        </p:spPr>
        <p:txBody>
          <a:bodyPr wrap="square" lIns="0" tIns="0" rIns="0" bIns="0" rtlCol="0" anchor="ctr"/>
          <a:lstStyle/>
          <a:p>
            <a:pPr indent="0" marL="0">
              <a:buNone/>
            </a:pPr>
            <a:r>
              <a:rPr lang="en-US" sz="900" b="1" dirty="0">
                <a:solidFill>
                  <a:srgbClr val="059669"/>
                </a:solidFill>
                <a:latin typeface="Roboto" pitchFamily="34" charset="0"/>
                <a:ea typeface="Roboto" pitchFamily="34" charset="-122"/>
                <a:cs typeface="Roboto" pitchFamily="34" charset="-120"/>
              </a:rPr>
              <a:t>#17  </a:t>
            </a:r>
            <a:pPr indent="0" marL="0">
              <a:buNone/>
            </a:pPr>
            <a:r>
              <a:rPr lang="en-US" sz="850" b="1" dirty="0">
                <a:solidFill>
                  <a:srgbClr val="B45309"/>
                </a:solidFill>
                <a:latin typeface="Roboto" pitchFamily="34" charset="0"/>
                <a:ea typeface="Roboto" pitchFamily="34" charset="-122"/>
                <a:cs typeface="Roboto" pitchFamily="34" charset="-120"/>
              </a:rPr>
              <a:t>hybrid</a:t>
            </a:r>
            <a:endParaRPr lang="en-US" sz="900" dirty="0"/>
          </a:p>
          <a:p>
            <a:pPr indent="0" marL="0">
              <a:buNone/>
            </a:pPr>
            <a:r>
              <a:rPr lang="en-US" sz="1100" b="1" dirty="0">
                <a:solidFill>
                  <a:srgbClr val="0F172A"/>
                </a:solidFill>
                <a:latin typeface="Roboto" pitchFamily="34" charset="0"/>
                <a:ea typeface="Roboto" pitchFamily="34" charset="-122"/>
                <a:cs typeface="Roboto" pitchFamily="34" charset="-120"/>
              </a:rPr>
              <a:t>Rule Authoring</a:t>
            </a:r>
            <a:endParaRPr lang="en-US" sz="900" dirty="0"/>
          </a:p>
        </p:txBody>
      </p:sp>
      <p:sp>
        <p:nvSpPr>
          <p:cNvPr id="55" name="Shape 47"/>
          <p:cNvSpPr/>
          <p:nvPr/>
        </p:nvSpPr>
        <p:spPr>
          <a:xfrm>
            <a:off x="5645810" y="4197096"/>
            <a:ext cx="1437589" cy="585216"/>
          </a:xfrm>
          <a:prstGeom prst="roundRect">
            <a:avLst>
              <a:gd name="adj" fmla="val 12500"/>
            </a:avLst>
          </a:prstGeom>
          <a:solidFill>
            <a:srgbClr val="ECFDF5"/>
          </a:solidFill>
          <a:ln w="9525">
            <a:solidFill>
              <a:srgbClr val="059669"/>
            </a:solidFill>
            <a:prstDash val="solid"/>
          </a:ln>
        </p:spPr>
      </p:sp>
      <p:sp>
        <p:nvSpPr>
          <p:cNvPr id="56" name="Text 48"/>
          <p:cNvSpPr txBox="1"/>
          <p:nvPr/>
        </p:nvSpPr>
        <p:spPr>
          <a:xfrm>
            <a:off x="5737250" y="4224528"/>
            <a:ext cx="1309573" cy="530352"/>
          </a:xfrm>
          <a:prstGeom prst="rect">
            <a:avLst/>
          </a:prstGeom>
          <a:noFill/>
          <a:ln/>
        </p:spPr>
        <p:txBody>
          <a:bodyPr wrap="square" lIns="0" tIns="0" rIns="0" bIns="0" rtlCol="0" anchor="ctr"/>
          <a:lstStyle/>
          <a:p>
            <a:pPr indent="0" marL="0">
              <a:buNone/>
            </a:pPr>
            <a:r>
              <a:rPr lang="en-US" sz="900" b="1" dirty="0">
                <a:solidFill>
                  <a:srgbClr val="059669"/>
                </a:solidFill>
                <a:latin typeface="Roboto" pitchFamily="34" charset="0"/>
                <a:ea typeface="Roboto" pitchFamily="34" charset="-122"/>
                <a:cs typeface="Roboto" pitchFamily="34" charset="-120"/>
              </a:rPr>
              <a:t>#18  </a:t>
            </a:r>
            <a:pPr indent="0" marL="0">
              <a:buNone/>
            </a:pPr>
            <a:r>
              <a:rPr lang="en-US" sz="850" b="1" dirty="0">
                <a:solidFill>
                  <a:srgbClr val="BE123C"/>
                </a:solidFill>
                <a:latin typeface="Roboto" pitchFamily="34" charset="0"/>
                <a:ea typeface="Roboto" pitchFamily="34" charset="-122"/>
                <a:cs typeface="Roboto" pitchFamily="34" charset="-120"/>
              </a:rPr>
              <a:t>LLM</a:t>
            </a:r>
            <a:endParaRPr lang="en-US" sz="900" dirty="0"/>
          </a:p>
          <a:p>
            <a:pPr indent="0" marL="0">
              <a:buNone/>
            </a:pPr>
            <a:r>
              <a:rPr lang="en-US" sz="1100" b="1" dirty="0">
                <a:solidFill>
                  <a:srgbClr val="0F172A"/>
                </a:solidFill>
                <a:latin typeface="Roboto" pitchFamily="34" charset="0"/>
                <a:ea typeface="Roboto" pitchFamily="34" charset="-122"/>
                <a:cs typeface="Roboto" pitchFamily="34" charset="-120"/>
              </a:rPr>
              <a:t>Regulatory Q&amp;A</a:t>
            </a:r>
            <a:endParaRPr lang="en-US" sz="900" dirty="0"/>
          </a:p>
        </p:txBody>
      </p:sp>
      <p:sp>
        <p:nvSpPr>
          <p:cNvPr id="57" name="Shape 49"/>
          <p:cNvSpPr/>
          <p:nvPr/>
        </p:nvSpPr>
        <p:spPr>
          <a:xfrm>
            <a:off x="7165696" y="4197096"/>
            <a:ext cx="1437589" cy="585216"/>
          </a:xfrm>
          <a:prstGeom prst="roundRect">
            <a:avLst>
              <a:gd name="adj" fmla="val 12500"/>
            </a:avLst>
          </a:prstGeom>
          <a:solidFill>
            <a:srgbClr val="ECFDF5"/>
          </a:solidFill>
          <a:ln w="9525">
            <a:solidFill>
              <a:srgbClr val="059669"/>
            </a:solidFill>
            <a:prstDash val="solid"/>
          </a:ln>
        </p:spPr>
      </p:sp>
      <p:sp>
        <p:nvSpPr>
          <p:cNvPr id="58" name="Text 50"/>
          <p:cNvSpPr txBox="1"/>
          <p:nvPr/>
        </p:nvSpPr>
        <p:spPr>
          <a:xfrm>
            <a:off x="7257136" y="4224528"/>
            <a:ext cx="1309573" cy="530352"/>
          </a:xfrm>
          <a:prstGeom prst="rect">
            <a:avLst/>
          </a:prstGeom>
          <a:noFill/>
          <a:ln/>
        </p:spPr>
        <p:txBody>
          <a:bodyPr wrap="square" lIns="0" tIns="0" rIns="0" bIns="0" rtlCol="0" anchor="ctr"/>
          <a:lstStyle/>
          <a:p>
            <a:pPr indent="0" marL="0">
              <a:buNone/>
            </a:pPr>
            <a:r>
              <a:rPr lang="en-US" sz="900" b="1" dirty="0">
                <a:solidFill>
                  <a:srgbClr val="059669"/>
                </a:solidFill>
                <a:latin typeface="Roboto" pitchFamily="34" charset="0"/>
                <a:ea typeface="Roboto" pitchFamily="34" charset="-122"/>
                <a:cs typeface="Roboto" pitchFamily="34" charset="-120"/>
              </a:rPr>
              <a:t>#19  </a:t>
            </a:r>
            <a:pPr indent="0" marL="0">
              <a:buNone/>
            </a:pPr>
            <a:r>
              <a:rPr lang="en-US" sz="850" dirty="0">
                <a:solidFill>
                  <a:srgbClr val="64748B"/>
                </a:solidFill>
                <a:latin typeface="Roboto" pitchFamily="34" charset="0"/>
                <a:ea typeface="Roboto" pitchFamily="34" charset="-122"/>
                <a:cs typeface="Roboto" pitchFamily="34" charset="-120"/>
              </a:rPr>
              <a:t>deterministic</a:t>
            </a:r>
            <a:endParaRPr lang="en-US" sz="900" dirty="0"/>
          </a:p>
          <a:p>
            <a:pPr indent="0" marL="0">
              <a:buNone/>
            </a:pPr>
            <a:r>
              <a:rPr lang="en-US" sz="1100" b="1" dirty="0">
                <a:solidFill>
                  <a:srgbClr val="0F172A"/>
                </a:solidFill>
                <a:latin typeface="Roboto" pitchFamily="34" charset="0"/>
                <a:ea typeface="Roboto" pitchFamily="34" charset="-122"/>
                <a:cs typeface="Roboto" pitchFamily="34" charset="-120"/>
              </a:rPr>
              <a:t>Policy Check</a:t>
            </a:r>
            <a:endParaRPr lang="en-US" sz="900" dirty="0"/>
          </a:p>
        </p:txBody>
      </p:sp>
      <p:sp>
        <p:nvSpPr>
          <p:cNvPr id="59" name="Shape 51"/>
          <p:cNvSpPr/>
          <p:nvPr/>
        </p:nvSpPr>
        <p:spPr>
          <a:xfrm>
            <a:off x="548640" y="4983480"/>
            <a:ext cx="457200" cy="457200"/>
          </a:xfrm>
          <a:prstGeom prst="ellipse">
            <a:avLst/>
          </a:prstGeom>
          <a:solidFill>
            <a:srgbClr val="FFFBEB"/>
          </a:solidFill>
          <a:ln w="12700">
            <a:solidFill>
              <a:srgbClr val="FFFBEB"/>
            </a:solidFill>
            <a:prstDash val="solid"/>
          </a:ln>
        </p:spPr>
      </p:sp>
      <p:pic>
        <p:nvPicPr>
          <p:cNvPr id="60" name="Image 5" descr="preencoded.png">    </p:cNvPr>
          <p:cNvPicPr>
            <a:picLocks noChangeAspect="1"/>
          </p:cNvPicPr>
          <p:nvPr/>
        </p:nvPicPr>
        <p:blipFill>
          <a:blip r:embed="rId6"/>
          <a:stretch>
            <a:fillRect/>
          </a:stretch>
        </p:blipFill>
        <p:spPr>
          <a:xfrm>
            <a:off x="649224" y="5084064"/>
            <a:ext cx="256032" cy="256032"/>
          </a:xfrm>
          <a:prstGeom prst="rect">
            <a:avLst/>
          </a:prstGeom>
        </p:spPr>
      </p:pic>
      <p:sp>
        <p:nvSpPr>
          <p:cNvPr id="61" name="Text 52"/>
          <p:cNvSpPr txBox="1"/>
          <p:nvPr/>
        </p:nvSpPr>
        <p:spPr>
          <a:xfrm>
            <a:off x="1115568" y="4919472"/>
            <a:ext cx="1508760" cy="585216"/>
          </a:xfrm>
          <a:prstGeom prst="rect">
            <a:avLst/>
          </a:prstGeom>
          <a:noFill/>
          <a:ln/>
        </p:spPr>
        <p:txBody>
          <a:bodyPr wrap="square" lIns="0" tIns="0" rIns="0" bIns="0" rtlCol="0" anchor="ctr"/>
          <a:lstStyle/>
          <a:p>
            <a:pPr indent="0" marL="0">
              <a:buNone/>
            </a:pPr>
            <a:r>
              <a:rPr lang="en-US" sz="1200" b="1" dirty="0">
                <a:solidFill>
                  <a:srgbClr val="0F172A"/>
                </a:solidFill>
                <a:latin typeface="Roboto" pitchFamily="34" charset="0"/>
                <a:ea typeface="Roboto" pitchFamily="34" charset="-122"/>
                <a:cs typeface="Roboto" pitchFamily="34" charset="-120"/>
              </a:rPr>
              <a:t>Underwriting</a:t>
            </a:r>
            <a:endParaRPr lang="en-US" sz="1200" dirty="0"/>
          </a:p>
          <a:p>
            <a:pPr indent="0" marL="0">
              <a:buNone/>
            </a:pPr>
            <a:r>
              <a:rPr lang="en-US" sz="1000" dirty="0">
                <a:solidFill>
                  <a:srgbClr val="64748B"/>
                </a:solidFill>
                <a:latin typeface="Roboto" pitchFamily="34" charset="0"/>
                <a:ea typeface="Roboto" pitchFamily="34" charset="-122"/>
                <a:cs typeface="Roboto" pitchFamily="34" charset="-120"/>
              </a:rPr>
              <a:t>6 agents</a:t>
            </a:r>
            <a:endParaRPr lang="en-US" sz="1200" dirty="0"/>
          </a:p>
        </p:txBody>
      </p:sp>
      <p:sp>
        <p:nvSpPr>
          <p:cNvPr id="62" name="Shape 53"/>
          <p:cNvSpPr/>
          <p:nvPr/>
        </p:nvSpPr>
        <p:spPr>
          <a:xfrm>
            <a:off x="2606040" y="4919472"/>
            <a:ext cx="1437589" cy="585216"/>
          </a:xfrm>
          <a:prstGeom prst="roundRect">
            <a:avLst>
              <a:gd name="adj" fmla="val 12500"/>
            </a:avLst>
          </a:prstGeom>
          <a:solidFill>
            <a:srgbClr val="FFFBEB"/>
          </a:solidFill>
          <a:ln w="9525">
            <a:solidFill>
              <a:srgbClr val="D97706"/>
            </a:solidFill>
            <a:prstDash val="solid"/>
          </a:ln>
        </p:spPr>
      </p:sp>
      <p:sp>
        <p:nvSpPr>
          <p:cNvPr id="63" name="Text 54"/>
          <p:cNvSpPr txBox="1"/>
          <p:nvPr/>
        </p:nvSpPr>
        <p:spPr>
          <a:xfrm>
            <a:off x="2697480" y="4946904"/>
            <a:ext cx="1309573" cy="530352"/>
          </a:xfrm>
          <a:prstGeom prst="rect">
            <a:avLst/>
          </a:prstGeom>
          <a:noFill/>
          <a:ln/>
        </p:spPr>
        <p:txBody>
          <a:bodyPr wrap="square" lIns="0" tIns="0" rIns="0" bIns="0" rtlCol="0" anchor="ctr"/>
          <a:lstStyle/>
          <a:p>
            <a:pPr indent="0" marL="0">
              <a:buNone/>
            </a:pPr>
            <a:r>
              <a:rPr lang="en-US" sz="900" b="1" dirty="0">
                <a:solidFill>
                  <a:srgbClr val="D97706"/>
                </a:solidFill>
                <a:latin typeface="Roboto" pitchFamily="34" charset="0"/>
                <a:ea typeface="Roboto" pitchFamily="34" charset="-122"/>
                <a:cs typeface="Roboto" pitchFamily="34" charset="-120"/>
              </a:rPr>
              <a:t>#20  </a:t>
            </a:r>
            <a:pPr indent="0" marL="0">
              <a:buNone/>
            </a:pPr>
            <a:r>
              <a:rPr lang="en-US" sz="850" b="1" dirty="0">
                <a:solidFill>
                  <a:srgbClr val="B45309"/>
                </a:solidFill>
                <a:latin typeface="Roboto" pitchFamily="34" charset="0"/>
                <a:ea typeface="Roboto" pitchFamily="34" charset="-122"/>
                <a:cs typeface="Roboto" pitchFamily="34" charset="-120"/>
              </a:rPr>
              <a:t>hybrid</a:t>
            </a:r>
            <a:endParaRPr lang="en-US" sz="900" dirty="0"/>
          </a:p>
          <a:p>
            <a:pPr indent="0" marL="0">
              <a:buNone/>
            </a:pPr>
            <a:r>
              <a:rPr lang="en-US" sz="1100" b="1" dirty="0">
                <a:solidFill>
                  <a:srgbClr val="0F172A"/>
                </a:solidFill>
                <a:latin typeface="Roboto" pitchFamily="34" charset="0"/>
                <a:ea typeface="Roboto" pitchFamily="34" charset="-122"/>
                <a:cs typeface="Roboto" pitchFamily="34" charset="-120"/>
              </a:rPr>
              <a:t>Income Analysis</a:t>
            </a:r>
            <a:endParaRPr lang="en-US" sz="900" dirty="0"/>
          </a:p>
        </p:txBody>
      </p:sp>
      <p:sp>
        <p:nvSpPr>
          <p:cNvPr id="64" name="Shape 55"/>
          <p:cNvSpPr/>
          <p:nvPr/>
        </p:nvSpPr>
        <p:spPr>
          <a:xfrm>
            <a:off x="4125925" y="4919472"/>
            <a:ext cx="1437589" cy="585216"/>
          </a:xfrm>
          <a:prstGeom prst="roundRect">
            <a:avLst>
              <a:gd name="adj" fmla="val 12500"/>
            </a:avLst>
          </a:prstGeom>
          <a:solidFill>
            <a:srgbClr val="FFFBEB"/>
          </a:solidFill>
          <a:ln w="9525">
            <a:solidFill>
              <a:srgbClr val="D97706"/>
            </a:solidFill>
            <a:prstDash val="solid"/>
          </a:ln>
        </p:spPr>
      </p:sp>
      <p:sp>
        <p:nvSpPr>
          <p:cNvPr id="65" name="Text 56"/>
          <p:cNvSpPr txBox="1"/>
          <p:nvPr/>
        </p:nvSpPr>
        <p:spPr>
          <a:xfrm>
            <a:off x="4217365" y="4946904"/>
            <a:ext cx="1309573" cy="530352"/>
          </a:xfrm>
          <a:prstGeom prst="rect">
            <a:avLst/>
          </a:prstGeom>
          <a:noFill/>
          <a:ln/>
        </p:spPr>
        <p:txBody>
          <a:bodyPr wrap="square" lIns="0" tIns="0" rIns="0" bIns="0" rtlCol="0" anchor="ctr"/>
          <a:lstStyle/>
          <a:p>
            <a:pPr indent="0" marL="0">
              <a:buNone/>
            </a:pPr>
            <a:r>
              <a:rPr lang="en-US" sz="900" b="1" dirty="0">
                <a:solidFill>
                  <a:srgbClr val="D97706"/>
                </a:solidFill>
                <a:latin typeface="Roboto" pitchFamily="34" charset="0"/>
                <a:ea typeface="Roboto" pitchFamily="34" charset="-122"/>
                <a:cs typeface="Roboto" pitchFamily="34" charset="-120"/>
              </a:rPr>
              <a:t>#21  </a:t>
            </a:r>
            <a:pPr indent="0" marL="0">
              <a:buNone/>
            </a:pPr>
            <a:r>
              <a:rPr lang="en-US" sz="850" dirty="0">
                <a:solidFill>
                  <a:srgbClr val="64748B"/>
                </a:solidFill>
                <a:latin typeface="Roboto" pitchFamily="34" charset="0"/>
                <a:ea typeface="Roboto" pitchFamily="34" charset="-122"/>
                <a:cs typeface="Roboto" pitchFamily="34" charset="-120"/>
              </a:rPr>
              <a:t>deterministic</a:t>
            </a:r>
            <a:endParaRPr lang="en-US" sz="900" dirty="0"/>
          </a:p>
          <a:p>
            <a:pPr indent="0" marL="0">
              <a:buNone/>
            </a:pPr>
            <a:r>
              <a:rPr lang="en-US" sz="1100" b="1" dirty="0">
                <a:solidFill>
                  <a:srgbClr val="0F172A"/>
                </a:solidFill>
                <a:latin typeface="Roboto" pitchFamily="34" charset="0"/>
                <a:ea typeface="Roboto" pitchFamily="34" charset="-122"/>
                <a:cs typeface="Roboto" pitchFamily="34" charset="-120"/>
              </a:rPr>
              <a:t>Risk Scoring</a:t>
            </a:r>
            <a:endParaRPr lang="en-US" sz="900" dirty="0"/>
          </a:p>
        </p:txBody>
      </p:sp>
      <p:sp>
        <p:nvSpPr>
          <p:cNvPr id="66" name="Shape 57"/>
          <p:cNvSpPr/>
          <p:nvPr/>
        </p:nvSpPr>
        <p:spPr>
          <a:xfrm>
            <a:off x="5645810" y="4919472"/>
            <a:ext cx="1437589" cy="585216"/>
          </a:xfrm>
          <a:prstGeom prst="roundRect">
            <a:avLst>
              <a:gd name="adj" fmla="val 12500"/>
            </a:avLst>
          </a:prstGeom>
          <a:solidFill>
            <a:srgbClr val="FFFBEB"/>
          </a:solidFill>
          <a:ln w="9525">
            <a:solidFill>
              <a:srgbClr val="D97706"/>
            </a:solidFill>
            <a:prstDash val="solid"/>
          </a:ln>
        </p:spPr>
      </p:sp>
      <p:sp>
        <p:nvSpPr>
          <p:cNvPr id="67" name="Text 58"/>
          <p:cNvSpPr txBox="1"/>
          <p:nvPr/>
        </p:nvSpPr>
        <p:spPr>
          <a:xfrm>
            <a:off x="5737250" y="4946904"/>
            <a:ext cx="1309573" cy="530352"/>
          </a:xfrm>
          <a:prstGeom prst="rect">
            <a:avLst/>
          </a:prstGeom>
          <a:noFill/>
          <a:ln/>
        </p:spPr>
        <p:txBody>
          <a:bodyPr wrap="square" lIns="0" tIns="0" rIns="0" bIns="0" rtlCol="0" anchor="ctr"/>
          <a:lstStyle/>
          <a:p>
            <a:pPr indent="0" marL="0">
              <a:buNone/>
            </a:pPr>
            <a:r>
              <a:rPr lang="en-US" sz="900" b="1" dirty="0">
                <a:solidFill>
                  <a:srgbClr val="D97706"/>
                </a:solidFill>
                <a:latin typeface="Roboto" pitchFamily="34" charset="0"/>
                <a:ea typeface="Roboto" pitchFamily="34" charset="-122"/>
                <a:cs typeface="Roboto" pitchFamily="34" charset="-120"/>
              </a:rPr>
              <a:t>#22  </a:t>
            </a:r>
            <a:pPr indent="0" marL="0">
              <a:buNone/>
            </a:pPr>
            <a:r>
              <a:rPr lang="en-US" sz="850" b="1" dirty="0">
                <a:solidFill>
                  <a:srgbClr val="BE123C"/>
                </a:solidFill>
                <a:latin typeface="Roboto" pitchFamily="34" charset="0"/>
                <a:ea typeface="Roboto" pitchFamily="34" charset="-122"/>
                <a:cs typeface="Roboto" pitchFamily="34" charset="-120"/>
              </a:rPr>
              <a:t>LLM</a:t>
            </a:r>
            <a:endParaRPr lang="en-US" sz="900" dirty="0"/>
          </a:p>
          <a:p>
            <a:pPr indent="0" marL="0">
              <a:buNone/>
            </a:pPr>
            <a:r>
              <a:rPr lang="en-US" sz="1100" b="1" dirty="0">
                <a:solidFill>
                  <a:srgbClr val="0F172A"/>
                </a:solidFill>
                <a:latin typeface="Roboto" pitchFamily="34" charset="0"/>
                <a:ea typeface="Roboto" pitchFamily="34" charset="-122"/>
                <a:cs typeface="Roboto" pitchFamily="34" charset="-120"/>
              </a:rPr>
              <a:t>Credit Memo</a:t>
            </a:r>
            <a:endParaRPr lang="en-US" sz="900" dirty="0"/>
          </a:p>
        </p:txBody>
      </p:sp>
      <p:sp>
        <p:nvSpPr>
          <p:cNvPr id="68" name="Shape 59"/>
          <p:cNvSpPr/>
          <p:nvPr/>
        </p:nvSpPr>
        <p:spPr>
          <a:xfrm>
            <a:off x="7165696" y="4919472"/>
            <a:ext cx="1437589" cy="585216"/>
          </a:xfrm>
          <a:prstGeom prst="roundRect">
            <a:avLst>
              <a:gd name="adj" fmla="val 12500"/>
            </a:avLst>
          </a:prstGeom>
          <a:solidFill>
            <a:srgbClr val="FFFBEB"/>
          </a:solidFill>
          <a:ln w="9525">
            <a:solidFill>
              <a:srgbClr val="D97706"/>
            </a:solidFill>
            <a:prstDash val="solid"/>
          </a:ln>
        </p:spPr>
      </p:sp>
      <p:sp>
        <p:nvSpPr>
          <p:cNvPr id="69" name="Text 60"/>
          <p:cNvSpPr txBox="1"/>
          <p:nvPr/>
        </p:nvSpPr>
        <p:spPr>
          <a:xfrm>
            <a:off x="7257136" y="4946904"/>
            <a:ext cx="1309573" cy="530352"/>
          </a:xfrm>
          <a:prstGeom prst="rect">
            <a:avLst/>
          </a:prstGeom>
          <a:noFill/>
          <a:ln/>
        </p:spPr>
        <p:txBody>
          <a:bodyPr wrap="square" lIns="0" tIns="0" rIns="0" bIns="0" rtlCol="0" anchor="ctr"/>
          <a:lstStyle/>
          <a:p>
            <a:pPr indent="0" marL="0">
              <a:buNone/>
            </a:pPr>
            <a:r>
              <a:rPr lang="en-US" sz="900" b="1" dirty="0">
                <a:solidFill>
                  <a:srgbClr val="D97706"/>
                </a:solidFill>
                <a:latin typeface="Roboto" pitchFamily="34" charset="0"/>
                <a:ea typeface="Roboto" pitchFamily="34" charset="-122"/>
                <a:cs typeface="Roboto" pitchFamily="34" charset="-120"/>
              </a:rPr>
              <a:t>#23  </a:t>
            </a:r>
            <a:pPr indent="0" marL="0">
              <a:buNone/>
            </a:pPr>
            <a:r>
              <a:rPr lang="en-US" sz="850" b="1" dirty="0">
                <a:solidFill>
                  <a:srgbClr val="BE123C"/>
                </a:solidFill>
                <a:latin typeface="Roboto" pitchFamily="34" charset="0"/>
                <a:ea typeface="Roboto" pitchFamily="34" charset="-122"/>
                <a:cs typeface="Roboto" pitchFamily="34" charset="-120"/>
              </a:rPr>
              <a:t>LLM</a:t>
            </a:r>
            <a:endParaRPr lang="en-US" sz="900" dirty="0"/>
          </a:p>
          <a:p>
            <a:pPr indent="0" marL="0">
              <a:buNone/>
            </a:pPr>
            <a:r>
              <a:rPr lang="en-US" sz="1100" b="1" dirty="0">
                <a:solidFill>
                  <a:srgbClr val="0F172A"/>
                </a:solidFill>
                <a:latin typeface="Roboto" pitchFamily="34" charset="0"/>
                <a:ea typeface="Roboto" pitchFamily="34" charset="-122"/>
                <a:cs typeface="Roboto" pitchFamily="34" charset="-120"/>
              </a:rPr>
              <a:t>Underwriting Supervisor</a:t>
            </a:r>
            <a:endParaRPr lang="en-US" sz="900" dirty="0"/>
          </a:p>
        </p:txBody>
      </p:sp>
      <p:sp>
        <p:nvSpPr>
          <p:cNvPr id="70" name="Shape 61"/>
          <p:cNvSpPr/>
          <p:nvPr/>
        </p:nvSpPr>
        <p:spPr>
          <a:xfrm>
            <a:off x="8685581" y="4919472"/>
            <a:ext cx="1437589" cy="585216"/>
          </a:xfrm>
          <a:prstGeom prst="roundRect">
            <a:avLst>
              <a:gd name="adj" fmla="val 12500"/>
            </a:avLst>
          </a:prstGeom>
          <a:solidFill>
            <a:srgbClr val="FFFBEB"/>
          </a:solidFill>
          <a:ln w="9525">
            <a:solidFill>
              <a:srgbClr val="D97706"/>
            </a:solidFill>
            <a:prstDash val="solid"/>
          </a:ln>
        </p:spPr>
      </p:sp>
      <p:sp>
        <p:nvSpPr>
          <p:cNvPr id="71" name="Text 62"/>
          <p:cNvSpPr txBox="1"/>
          <p:nvPr/>
        </p:nvSpPr>
        <p:spPr>
          <a:xfrm>
            <a:off x="8777021" y="4946904"/>
            <a:ext cx="1309573" cy="530352"/>
          </a:xfrm>
          <a:prstGeom prst="rect">
            <a:avLst/>
          </a:prstGeom>
          <a:noFill/>
          <a:ln/>
        </p:spPr>
        <p:txBody>
          <a:bodyPr wrap="square" lIns="0" tIns="0" rIns="0" bIns="0" rtlCol="0" anchor="ctr"/>
          <a:lstStyle/>
          <a:p>
            <a:pPr indent="0" marL="0">
              <a:buNone/>
            </a:pPr>
            <a:r>
              <a:rPr lang="en-US" sz="900" b="1" dirty="0">
                <a:solidFill>
                  <a:srgbClr val="D97706"/>
                </a:solidFill>
                <a:latin typeface="Roboto" pitchFamily="34" charset="0"/>
                <a:ea typeface="Roboto" pitchFamily="34" charset="-122"/>
                <a:cs typeface="Roboto" pitchFamily="34" charset="-120"/>
              </a:rPr>
              <a:t>#24  </a:t>
            </a:r>
            <a:pPr indent="0" marL="0">
              <a:buNone/>
            </a:pPr>
            <a:r>
              <a:rPr lang="en-US" sz="850" dirty="0">
                <a:solidFill>
                  <a:srgbClr val="64748B"/>
                </a:solidFill>
                <a:latin typeface="Roboto" pitchFamily="34" charset="0"/>
                <a:ea typeface="Roboto" pitchFamily="34" charset="-122"/>
                <a:cs typeface="Roboto" pitchFamily="34" charset="-120"/>
              </a:rPr>
              <a:t>deterministic</a:t>
            </a:r>
            <a:endParaRPr lang="en-US" sz="900" dirty="0"/>
          </a:p>
          <a:p>
            <a:pPr indent="0" marL="0">
              <a:buNone/>
            </a:pPr>
            <a:r>
              <a:rPr lang="en-US" sz="1100" b="1" dirty="0">
                <a:solidFill>
                  <a:srgbClr val="0F172A"/>
                </a:solidFill>
                <a:latin typeface="Roboto" pitchFamily="34" charset="0"/>
                <a:ea typeface="Roboto" pitchFamily="34" charset="-122"/>
                <a:cs typeface="Roboto" pitchFamily="34" charset="-120"/>
              </a:rPr>
              <a:t>Offer Generation</a:t>
            </a:r>
            <a:endParaRPr lang="en-US" sz="900" dirty="0"/>
          </a:p>
        </p:txBody>
      </p:sp>
      <p:sp>
        <p:nvSpPr>
          <p:cNvPr id="72" name="Shape 63"/>
          <p:cNvSpPr/>
          <p:nvPr/>
        </p:nvSpPr>
        <p:spPr>
          <a:xfrm>
            <a:off x="10205466" y="4919472"/>
            <a:ext cx="1437589" cy="585216"/>
          </a:xfrm>
          <a:prstGeom prst="roundRect">
            <a:avLst>
              <a:gd name="adj" fmla="val 12500"/>
            </a:avLst>
          </a:prstGeom>
          <a:solidFill>
            <a:srgbClr val="FFFBEB"/>
          </a:solidFill>
          <a:ln w="9525">
            <a:solidFill>
              <a:srgbClr val="D97706"/>
            </a:solidFill>
            <a:prstDash val="solid"/>
          </a:ln>
        </p:spPr>
      </p:sp>
      <p:sp>
        <p:nvSpPr>
          <p:cNvPr id="73" name="Text 64"/>
          <p:cNvSpPr txBox="1"/>
          <p:nvPr/>
        </p:nvSpPr>
        <p:spPr>
          <a:xfrm>
            <a:off x="10296906" y="4946904"/>
            <a:ext cx="1309573" cy="530352"/>
          </a:xfrm>
          <a:prstGeom prst="rect">
            <a:avLst/>
          </a:prstGeom>
          <a:noFill/>
          <a:ln/>
        </p:spPr>
        <p:txBody>
          <a:bodyPr wrap="square" lIns="0" tIns="0" rIns="0" bIns="0" rtlCol="0" anchor="ctr"/>
          <a:lstStyle/>
          <a:p>
            <a:pPr indent="0" marL="0">
              <a:buNone/>
            </a:pPr>
            <a:r>
              <a:rPr lang="en-US" sz="900" b="1" dirty="0">
                <a:solidFill>
                  <a:srgbClr val="D97706"/>
                </a:solidFill>
                <a:latin typeface="Roboto" pitchFamily="34" charset="0"/>
                <a:ea typeface="Roboto" pitchFamily="34" charset="-122"/>
                <a:cs typeface="Roboto" pitchFamily="34" charset="-120"/>
              </a:rPr>
              <a:t>#25  </a:t>
            </a:r>
            <a:pPr indent="0" marL="0">
              <a:buNone/>
            </a:pPr>
            <a:r>
              <a:rPr lang="en-US" sz="850" dirty="0">
                <a:solidFill>
                  <a:srgbClr val="64748B"/>
                </a:solidFill>
                <a:latin typeface="Roboto" pitchFamily="34" charset="0"/>
                <a:ea typeface="Roboto" pitchFamily="34" charset="-122"/>
                <a:cs typeface="Roboto" pitchFamily="34" charset="-120"/>
              </a:rPr>
              <a:t>deterministic</a:t>
            </a:r>
            <a:endParaRPr lang="en-US" sz="900" dirty="0"/>
          </a:p>
          <a:p>
            <a:pPr indent="0" marL="0">
              <a:buNone/>
            </a:pPr>
            <a:r>
              <a:rPr lang="en-US" sz="1100" b="1" dirty="0">
                <a:solidFill>
                  <a:srgbClr val="0F172A"/>
                </a:solidFill>
                <a:latin typeface="Roboto" pitchFamily="34" charset="0"/>
                <a:ea typeface="Roboto" pitchFamily="34" charset="-122"/>
                <a:cs typeface="Roboto" pitchFamily="34" charset="-120"/>
              </a:rPr>
              <a:t>Workflow Router</a:t>
            </a:r>
            <a:endParaRPr lang="en-US" sz="900" dirty="0"/>
          </a:p>
        </p:txBody>
      </p:sp>
      <p:sp>
        <p:nvSpPr>
          <p:cNvPr id="74" name="Shape 65"/>
          <p:cNvSpPr/>
          <p:nvPr/>
        </p:nvSpPr>
        <p:spPr>
          <a:xfrm>
            <a:off x="548640" y="5705856"/>
            <a:ext cx="457200" cy="457200"/>
          </a:xfrm>
          <a:prstGeom prst="ellipse">
            <a:avLst/>
          </a:prstGeom>
          <a:solidFill>
            <a:srgbClr val="F5F3FF"/>
          </a:solidFill>
          <a:ln w="12700">
            <a:solidFill>
              <a:srgbClr val="F5F3FF"/>
            </a:solidFill>
            <a:prstDash val="solid"/>
          </a:ln>
        </p:spPr>
      </p:sp>
      <p:pic>
        <p:nvPicPr>
          <p:cNvPr id="75" name="Image 6" descr="preencoded.png">    </p:cNvPr>
          <p:cNvPicPr>
            <a:picLocks noChangeAspect="1"/>
          </p:cNvPicPr>
          <p:nvPr/>
        </p:nvPicPr>
        <p:blipFill>
          <a:blip r:embed="rId7"/>
          <a:stretch>
            <a:fillRect/>
          </a:stretch>
        </p:blipFill>
        <p:spPr>
          <a:xfrm>
            <a:off x="649224" y="5806440"/>
            <a:ext cx="256032" cy="256032"/>
          </a:xfrm>
          <a:prstGeom prst="rect">
            <a:avLst/>
          </a:prstGeom>
        </p:spPr>
      </p:pic>
      <p:sp>
        <p:nvSpPr>
          <p:cNvPr id="76" name="Text 66"/>
          <p:cNvSpPr txBox="1"/>
          <p:nvPr/>
        </p:nvSpPr>
        <p:spPr>
          <a:xfrm>
            <a:off x="1115568" y="5641848"/>
            <a:ext cx="1508760" cy="585216"/>
          </a:xfrm>
          <a:prstGeom prst="rect">
            <a:avLst/>
          </a:prstGeom>
          <a:noFill/>
          <a:ln/>
        </p:spPr>
        <p:txBody>
          <a:bodyPr wrap="square" lIns="0" tIns="0" rIns="0" bIns="0" rtlCol="0" anchor="ctr"/>
          <a:lstStyle/>
          <a:p>
            <a:pPr indent="0" marL="0">
              <a:buNone/>
            </a:pPr>
            <a:r>
              <a:rPr lang="en-US" sz="1200" b="1" dirty="0">
                <a:solidFill>
                  <a:srgbClr val="0F172A"/>
                </a:solidFill>
                <a:latin typeface="Roboto" pitchFamily="34" charset="0"/>
                <a:ea typeface="Roboto" pitchFamily="34" charset="-122"/>
                <a:cs typeface="Roboto" pitchFamily="34" charset="-120"/>
              </a:rPr>
              <a:t>Operations</a:t>
            </a:r>
            <a:endParaRPr lang="en-US" sz="1200" dirty="0"/>
          </a:p>
          <a:p>
            <a:pPr indent="0" marL="0">
              <a:buNone/>
            </a:pPr>
            <a:r>
              <a:rPr lang="en-US" sz="1000" dirty="0">
                <a:solidFill>
                  <a:srgbClr val="64748B"/>
                </a:solidFill>
                <a:latin typeface="Roboto" pitchFamily="34" charset="0"/>
                <a:ea typeface="Roboto" pitchFamily="34" charset="-122"/>
                <a:cs typeface="Roboto" pitchFamily="34" charset="-120"/>
              </a:rPr>
              <a:t>3 agents</a:t>
            </a:r>
            <a:endParaRPr lang="en-US" sz="1200" dirty="0"/>
          </a:p>
        </p:txBody>
      </p:sp>
      <p:sp>
        <p:nvSpPr>
          <p:cNvPr id="77" name="Shape 67"/>
          <p:cNvSpPr/>
          <p:nvPr/>
        </p:nvSpPr>
        <p:spPr>
          <a:xfrm>
            <a:off x="2606040" y="5641848"/>
            <a:ext cx="1437589" cy="585216"/>
          </a:xfrm>
          <a:prstGeom prst="roundRect">
            <a:avLst>
              <a:gd name="adj" fmla="val 12500"/>
            </a:avLst>
          </a:prstGeom>
          <a:solidFill>
            <a:srgbClr val="F5F3FF"/>
          </a:solidFill>
          <a:ln w="9525">
            <a:solidFill>
              <a:srgbClr val="7C3AED"/>
            </a:solidFill>
            <a:prstDash val="solid"/>
          </a:ln>
        </p:spPr>
      </p:sp>
      <p:sp>
        <p:nvSpPr>
          <p:cNvPr id="78" name="Text 68"/>
          <p:cNvSpPr txBox="1"/>
          <p:nvPr/>
        </p:nvSpPr>
        <p:spPr>
          <a:xfrm>
            <a:off x="2697480" y="5669280"/>
            <a:ext cx="1309573" cy="530352"/>
          </a:xfrm>
          <a:prstGeom prst="rect">
            <a:avLst/>
          </a:prstGeom>
          <a:noFill/>
          <a:ln/>
        </p:spPr>
        <p:txBody>
          <a:bodyPr wrap="square" lIns="0" tIns="0" rIns="0" bIns="0" rtlCol="0" anchor="ctr"/>
          <a:lstStyle/>
          <a:p>
            <a:pPr indent="0" marL="0">
              <a:buNone/>
            </a:pPr>
            <a:r>
              <a:rPr lang="en-US" sz="900" b="1" dirty="0">
                <a:solidFill>
                  <a:srgbClr val="7C3AED"/>
                </a:solidFill>
                <a:latin typeface="Roboto" pitchFamily="34" charset="0"/>
                <a:ea typeface="Roboto" pitchFamily="34" charset="-122"/>
                <a:cs typeface="Roboto" pitchFamily="34" charset="-120"/>
              </a:rPr>
              <a:t>#26  </a:t>
            </a:r>
            <a:pPr indent="0" marL="0">
              <a:buNone/>
            </a:pPr>
            <a:r>
              <a:rPr lang="en-US" sz="850" dirty="0">
                <a:solidFill>
                  <a:srgbClr val="64748B"/>
                </a:solidFill>
                <a:latin typeface="Roboto" pitchFamily="34" charset="0"/>
                <a:ea typeface="Roboto" pitchFamily="34" charset="-122"/>
                <a:cs typeface="Roboto" pitchFamily="34" charset="-120"/>
              </a:rPr>
              <a:t>deterministic</a:t>
            </a:r>
            <a:endParaRPr lang="en-US" sz="900" dirty="0"/>
          </a:p>
          <a:p>
            <a:pPr indent="0" marL="0">
              <a:buNone/>
            </a:pPr>
            <a:r>
              <a:rPr lang="en-US" sz="1100" b="1" dirty="0">
                <a:solidFill>
                  <a:srgbClr val="0F172A"/>
                </a:solidFill>
                <a:latin typeface="Roboto" pitchFamily="34" charset="0"/>
                <a:ea typeface="Roboto" pitchFamily="34" charset="-122"/>
                <a:cs typeface="Roboto" pitchFamily="34" charset="-120"/>
              </a:rPr>
              <a:t>Notifier</a:t>
            </a:r>
            <a:endParaRPr lang="en-US" sz="900" dirty="0"/>
          </a:p>
        </p:txBody>
      </p:sp>
      <p:sp>
        <p:nvSpPr>
          <p:cNvPr id="79" name="Shape 69"/>
          <p:cNvSpPr/>
          <p:nvPr/>
        </p:nvSpPr>
        <p:spPr>
          <a:xfrm>
            <a:off x="4125925" y="5641848"/>
            <a:ext cx="1437589" cy="585216"/>
          </a:xfrm>
          <a:prstGeom prst="roundRect">
            <a:avLst>
              <a:gd name="adj" fmla="val 12500"/>
            </a:avLst>
          </a:prstGeom>
          <a:solidFill>
            <a:srgbClr val="F5F3FF"/>
          </a:solidFill>
          <a:ln w="9525">
            <a:solidFill>
              <a:srgbClr val="7C3AED"/>
            </a:solidFill>
            <a:prstDash val="solid"/>
          </a:ln>
        </p:spPr>
      </p:sp>
      <p:sp>
        <p:nvSpPr>
          <p:cNvPr id="80" name="Text 70"/>
          <p:cNvSpPr txBox="1"/>
          <p:nvPr/>
        </p:nvSpPr>
        <p:spPr>
          <a:xfrm>
            <a:off x="4217365" y="5669280"/>
            <a:ext cx="1309573" cy="530352"/>
          </a:xfrm>
          <a:prstGeom prst="rect">
            <a:avLst/>
          </a:prstGeom>
          <a:noFill/>
          <a:ln/>
        </p:spPr>
        <p:txBody>
          <a:bodyPr wrap="square" lIns="0" tIns="0" rIns="0" bIns="0" rtlCol="0" anchor="ctr"/>
          <a:lstStyle/>
          <a:p>
            <a:pPr indent="0" marL="0">
              <a:buNone/>
            </a:pPr>
            <a:r>
              <a:rPr lang="en-US" sz="900" b="1" dirty="0">
                <a:solidFill>
                  <a:srgbClr val="7C3AED"/>
                </a:solidFill>
                <a:latin typeface="Roboto" pitchFamily="34" charset="0"/>
                <a:ea typeface="Roboto" pitchFamily="34" charset="-122"/>
                <a:cs typeface="Roboto" pitchFamily="34" charset="-120"/>
              </a:rPr>
              <a:t>#27  </a:t>
            </a:r>
            <a:pPr indent="0" marL="0">
              <a:buNone/>
            </a:pPr>
            <a:r>
              <a:rPr lang="en-US" sz="850" dirty="0">
                <a:solidFill>
                  <a:srgbClr val="64748B"/>
                </a:solidFill>
                <a:latin typeface="Roboto" pitchFamily="34" charset="0"/>
                <a:ea typeface="Roboto" pitchFamily="34" charset="-122"/>
                <a:cs typeface="Roboto" pitchFamily="34" charset="-120"/>
              </a:rPr>
              <a:t>deterministic</a:t>
            </a:r>
            <a:endParaRPr lang="en-US" sz="900" dirty="0"/>
          </a:p>
          <a:p>
            <a:pPr indent="0" marL="0">
              <a:buNone/>
            </a:pPr>
            <a:r>
              <a:rPr lang="en-US" sz="1100" b="1" dirty="0">
                <a:solidFill>
                  <a:srgbClr val="0F172A"/>
                </a:solidFill>
                <a:latin typeface="Roboto" pitchFamily="34" charset="0"/>
                <a:ea typeface="Roboto" pitchFamily="34" charset="-122"/>
                <a:cs typeface="Roboto" pitchFamily="34" charset="-120"/>
              </a:rPr>
              <a:t>Audit / Storage</a:t>
            </a:r>
            <a:endParaRPr lang="en-US" sz="900" dirty="0"/>
          </a:p>
        </p:txBody>
      </p:sp>
      <p:sp>
        <p:nvSpPr>
          <p:cNvPr id="81" name="Shape 71"/>
          <p:cNvSpPr/>
          <p:nvPr/>
        </p:nvSpPr>
        <p:spPr>
          <a:xfrm>
            <a:off x="5645810" y="5641848"/>
            <a:ext cx="1437589" cy="585216"/>
          </a:xfrm>
          <a:prstGeom prst="roundRect">
            <a:avLst>
              <a:gd name="adj" fmla="val 12500"/>
            </a:avLst>
          </a:prstGeom>
          <a:solidFill>
            <a:srgbClr val="F5F3FF"/>
          </a:solidFill>
          <a:ln w="9525">
            <a:solidFill>
              <a:srgbClr val="7C3AED"/>
            </a:solidFill>
            <a:prstDash val="solid"/>
          </a:ln>
        </p:spPr>
      </p:sp>
      <p:sp>
        <p:nvSpPr>
          <p:cNvPr id="82" name="Text 72"/>
          <p:cNvSpPr txBox="1"/>
          <p:nvPr/>
        </p:nvSpPr>
        <p:spPr>
          <a:xfrm>
            <a:off x="5737250" y="5669280"/>
            <a:ext cx="1309573" cy="530352"/>
          </a:xfrm>
          <a:prstGeom prst="rect">
            <a:avLst/>
          </a:prstGeom>
          <a:noFill/>
          <a:ln/>
        </p:spPr>
        <p:txBody>
          <a:bodyPr wrap="square" lIns="0" tIns="0" rIns="0" bIns="0" rtlCol="0" anchor="ctr"/>
          <a:lstStyle/>
          <a:p>
            <a:pPr indent="0" marL="0">
              <a:buNone/>
            </a:pPr>
            <a:r>
              <a:rPr lang="en-US" sz="900" b="1" dirty="0">
                <a:solidFill>
                  <a:srgbClr val="7C3AED"/>
                </a:solidFill>
                <a:latin typeface="Roboto" pitchFamily="34" charset="0"/>
                <a:ea typeface="Roboto" pitchFamily="34" charset="-122"/>
                <a:cs typeface="Roboto" pitchFamily="34" charset="-120"/>
              </a:rPr>
              <a:t>#28  </a:t>
            </a:r>
            <a:pPr indent="0" marL="0">
              <a:buNone/>
            </a:pPr>
            <a:r>
              <a:rPr lang="en-US" sz="850" b="1" dirty="0">
                <a:solidFill>
                  <a:srgbClr val="B45309"/>
                </a:solidFill>
                <a:latin typeface="Roboto" pitchFamily="34" charset="0"/>
                <a:ea typeface="Roboto" pitchFamily="34" charset="-122"/>
                <a:cs typeface="Roboto" pitchFamily="34" charset="-120"/>
              </a:rPr>
              <a:t>hybrid</a:t>
            </a:r>
            <a:endParaRPr lang="en-US" sz="900" dirty="0"/>
          </a:p>
          <a:p>
            <a:pPr indent="0" marL="0">
              <a:buNone/>
            </a:pPr>
            <a:r>
              <a:rPr lang="en-US" sz="1100" b="1" dirty="0">
                <a:solidFill>
                  <a:srgbClr val="0F172A"/>
                </a:solidFill>
                <a:latin typeface="Roboto" pitchFamily="34" charset="0"/>
                <a:ea typeface="Roboto" pitchFamily="34" charset="-122"/>
                <a:cs typeface="Roboto" pitchFamily="34" charset="-120"/>
              </a:rPr>
              <a:t>Process-Mining Analyst</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8229600" cy="256032"/>
          </a:xfrm>
          <a:prstGeom prst="rect">
            <a:avLst/>
          </a:prstGeom>
          <a:noFill/>
          <a:ln/>
        </p:spPr>
        <p:txBody>
          <a:bodyPr wrap="square" lIns="0" tIns="0" rIns="0" bIns="0" rtlCol="0" anchor="ctr"/>
          <a:lstStyle/>
          <a:p>
            <a:pPr indent="0" marL="0">
              <a:buNone/>
            </a:pPr>
            <a:r>
              <a:rPr lang="en-US" sz="1100" b="1" spc="200" kern="0" dirty="0">
                <a:solidFill>
                  <a:srgbClr val="4F46E5"/>
                </a:solidFill>
                <a:latin typeface="Roboto" pitchFamily="34" charset="0"/>
                <a:ea typeface="Roboto" pitchFamily="34" charset="-122"/>
                <a:cs typeface="Roboto" pitchFamily="34" charset="-120"/>
              </a:rPr>
              <a:t>THE 29 AGENTS · INTAKE CREW</a:t>
            </a:r>
            <a:endParaRPr lang="en-US" sz="1100" dirty="0"/>
          </a:p>
        </p:txBody>
      </p:sp>
      <p:sp>
        <p:nvSpPr>
          <p:cNvPr id="3" name="Text 1"/>
          <p:cNvSpPr txBox="1"/>
          <p:nvPr/>
        </p:nvSpPr>
        <p:spPr>
          <a:xfrm>
            <a:off x="548640" y="585216"/>
            <a:ext cx="11094415" cy="566928"/>
          </a:xfrm>
          <a:prstGeom prst="rect">
            <a:avLst/>
          </a:prstGeom>
          <a:noFill/>
          <a:ln/>
        </p:spPr>
        <p:txBody>
          <a:bodyPr wrap="square" lIns="0" tIns="0" rIns="0" bIns="0" rtlCol="0" anchor="ctr"/>
          <a:lstStyle/>
          <a:p>
            <a:pPr indent="0" marL="0">
              <a:buNone/>
            </a:pPr>
            <a:r>
              <a:rPr lang="en-US" sz="2800" b="1" dirty="0">
                <a:solidFill>
                  <a:srgbClr val="0F172A"/>
                </a:solidFill>
                <a:latin typeface="Roboto" pitchFamily="34" charset="0"/>
                <a:ea typeface="Roboto" pitchFamily="34" charset="-122"/>
                <a:cs typeface="Roboto" pitchFamily="34" charset="-120"/>
              </a:rPr>
              <a:t>Intake: every upload becomes checked, structured fields</a:t>
            </a:r>
            <a:endParaRPr lang="en-US" sz="2800" dirty="0"/>
          </a:p>
        </p:txBody>
      </p:sp>
      <p:sp>
        <p:nvSpPr>
          <p:cNvPr id="4" name="Text 2"/>
          <p:cNvSpPr txBox="1"/>
          <p:nvPr/>
        </p:nvSpPr>
        <p:spPr>
          <a:xfrm>
            <a:off x="548640" y="1152144"/>
            <a:ext cx="11094415" cy="365760"/>
          </a:xfrm>
          <a:prstGeom prst="rect">
            <a:avLst/>
          </a:prstGeom>
          <a:noFill/>
          <a:ln/>
        </p:spPr>
        <p:txBody>
          <a:bodyPr wrap="square" lIns="0" tIns="0" rIns="0" bIns="0" rtlCol="0" anchor="ctr"/>
          <a:lstStyle/>
          <a:p>
            <a:pPr indent="0" marL="0">
              <a:buNone/>
            </a:pPr>
            <a:r>
              <a:rPr lang="en-US" sz="1400" dirty="0">
                <a:solidFill>
                  <a:srgbClr val="64748B"/>
                </a:solidFill>
                <a:latin typeface="Roboto" pitchFamily="34" charset="0"/>
                <a:ea typeface="Roboto" pitchFamily="34" charset="-122"/>
                <a:cs typeface="Roboto" pitchFamily="34" charset="-120"/>
              </a:rPr>
              <a:t>Four agents run on each document — about 7 seconds for a PAN card on the local model.</a:t>
            </a:r>
            <a:endParaRPr lang="en-US" sz="1400" dirty="0"/>
          </a:p>
        </p:txBody>
      </p:sp>
      <p:pic>
        <p:nvPicPr>
          <p:cNvPr id="5" name="Image 0" descr="C:\Users\shrey\AppData\Local\Temp\claude\D--novacinternship-finsight\ef4ecb45-e580-4bc0-9be4-060aa240a5b2\scratchpad\deck\img\logo_lockup.png">    </p:cNvPr>
          <p:cNvPicPr>
            <a:picLocks noChangeAspect="1"/>
          </p:cNvPicPr>
          <p:nvPr/>
        </p:nvPicPr>
        <p:blipFill>
          <a:blip r:embed="rId1"/>
          <a:stretch>
            <a:fillRect/>
          </a:stretch>
        </p:blipFill>
        <p:spPr>
          <a:xfrm>
            <a:off x="10360152" y="6464808"/>
            <a:ext cx="843991" cy="237744"/>
          </a:xfrm>
          <a:prstGeom prst="rect">
            <a:avLst/>
          </a:prstGeom>
        </p:spPr>
      </p:pic>
      <p:sp>
        <p:nvSpPr>
          <p:cNvPr id="6" name="Text 3"/>
          <p:cNvSpPr txBox="1"/>
          <p:nvPr/>
        </p:nvSpPr>
        <p:spPr>
          <a:xfrm>
            <a:off x="11277295" y="6473952"/>
            <a:ext cx="365760" cy="228600"/>
          </a:xfrm>
          <a:prstGeom prst="rect">
            <a:avLst/>
          </a:prstGeom>
          <a:noFill/>
          <a:ln/>
        </p:spPr>
        <p:txBody>
          <a:bodyPr wrap="square" lIns="0" tIns="0" rIns="0" bIns="0" rtlCol="0" anchor="ctr"/>
          <a:lstStyle/>
          <a:p>
            <a:pPr algn="r" indent="0" marL="0">
              <a:buNone/>
            </a:pPr>
            <a:r>
              <a:rPr lang="en-US" sz="900" dirty="0">
                <a:solidFill>
                  <a:srgbClr val="94A3B8"/>
                </a:solidFill>
                <a:latin typeface="Roboto" pitchFamily="34" charset="0"/>
                <a:ea typeface="Roboto" pitchFamily="34" charset="-122"/>
                <a:cs typeface="Roboto" pitchFamily="34" charset="-120"/>
              </a:rPr>
              <a:t>14</a:t>
            </a:r>
            <a:endParaRPr lang="en-US" sz="900" dirty="0"/>
          </a:p>
        </p:txBody>
      </p:sp>
      <p:sp>
        <p:nvSpPr>
          <p:cNvPr id="8" name="Shape 4"/>
          <p:cNvSpPr/>
          <p:nvPr/>
        </p:nvSpPr>
        <p:spPr>
          <a:xfrm>
            <a:off x="548640" y="1783080"/>
            <a:ext cx="1325880" cy="960120"/>
          </a:xfrm>
          <a:prstGeom prst="roundRect">
            <a:avLst>
              <a:gd name="adj" fmla="val 7619"/>
            </a:avLst>
          </a:prstGeom>
          <a:solidFill>
            <a:srgbClr val="F8FAFC"/>
          </a:solidFill>
          <a:ln w="12700">
            <a:solidFill>
              <a:srgbClr val="E2E8F0"/>
            </a:solidFill>
            <a:prstDash val="solid"/>
          </a:ln>
        </p:spPr>
      </p:sp>
      <p:sp>
        <p:nvSpPr>
          <p:cNvPr id="9" name="Text 5"/>
          <p:cNvSpPr txBox="1"/>
          <p:nvPr/>
        </p:nvSpPr>
        <p:spPr>
          <a:xfrm>
            <a:off x="621792" y="1801368"/>
            <a:ext cx="1179576" cy="923544"/>
          </a:xfrm>
          <a:prstGeom prst="rect">
            <a:avLst/>
          </a:prstGeom>
          <a:noFill/>
          <a:ln/>
        </p:spPr>
        <p:txBody>
          <a:bodyPr wrap="square" lIns="0" tIns="0" rIns="0" bIns="0" rtlCol="0" anchor="ctr"/>
          <a:lstStyle/>
          <a:p>
            <a:pPr algn="ctr" indent="0" marL="0">
              <a:spcAft>
                <a:spcPts val="200"/>
              </a:spcAft>
              <a:buNone/>
            </a:pPr>
            <a:r>
              <a:rPr lang="en-US" sz="1200" b="1" dirty="0">
                <a:solidFill>
                  <a:srgbClr val="0F172A"/>
                </a:solidFill>
                <a:latin typeface="Roboto" pitchFamily="34" charset="0"/>
                <a:ea typeface="Roboto" pitchFamily="34" charset="-122"/>
                <a:cs typeface="Roboto" pitchFamily="34" charset="-120"/>
              </a:rPr>
              <a:t>Upload</a:t>
            </a:r>
            <a:endParaRPr lang="en-US" sz="1200" dirty="0"/>
          </a:p>
          <a:p>
            <a:pPr algn="ctr" indent="0" marL="0">
              <a:spcAft>
                <a:spcPts val="200"/>
              </a:spcAft>
              <a:buNone/>
            </a:pPr>
            <a:r>
              <a:rPr lang="en-US" sz="1000" dirty="0">
                <a:solidFill>
                  <a:srgbClr val="64748B"/>
                </a:solidFill>
                <a:latin typeface="Roboto" pitchFamily="34" charset="0"/>
                <a:ea typeface="Roboto" pitchFamily="34" charset="-122"/>
                <a:cs typeface="Roboto" pitchFamily="34" charset="-120"/>
              </a:rPr>
              <a:t>photo or PDF</a:t>
            </a:r>
            <a:endParaRPr lang="en-US" sz="1200" dirty="0"/>
          </a:p>
        </p:txBody>
      </p:sp>
      <p:sp>
        <p:nvSpPr>
          <p:cNvPr id="10" name="Shape 6"/>
          <p:cNvSpPr/>
          <p:nvPr/>
        </p:nvSpPr>
        <p:spPr>
          <a:xfrm>
            <a:off x="1892808" y="2263140"/>
            <a:ext cx="228600" cy="0"/>
          </a:xfrm>
          <a:prstGeom prst="line">
            <a:avLst/>
          </a:prstGeom>
          <a:noFill/>
          <a:ln w="19050">
            <a:solidFill>
              <a:srgbClr val="94A3B8"/>
            </a:solidFill>
            <a:prstDash val="solid"/>
            <a:tailEnd type="triangle"/>
          </a:ln>
        </p:spPr>
      </p:sp>
      <p:sp>
        <p:nvSpPr>
          <p:cNvPr id="11" name="Shape 7"/>
          <p:cNvSpPr/>
          <p:nvPr/>
        </p:nvSpPr>
        <p:spPr>
          <a:xfrm>
            <a:off x="2148840" y="1783080"/>
            <a:ext cx="2148840" cy="960120"/>
          </a:xfrm>
          <a:prstGeom prst="roundRect">
            <a:avLst>
              <a:gd name="adj" fmla="val 7619"/>
            </a:avLst>
          </a:prstGeom>
          <a:solidFill>
            <a:srgbClr val="EEF2FF"/>
          </a:solidFill>
          <a:ln w="12700">
            <a:solidFill>
              <a:srgbClr val="4F46E5"/>
            </a:solidFill>
            <a:prstDash val="solid"/>
          </a:ln>
        </p:spPr>
      </p:sp>
      <p:sp>
        <p:nvSpPr>
          <p:cNvPr id="12" name="Text 8"/>
          <p:cNvSpPr txBox="1"/>
          <p:nvPr/>
        </p:nvSpPr>
        <p:spPr>
          <a:xfrm>
            <a:off x="2221992" y="1801368"/>
            <a:ext cx="2002536" cy="923544"/>
          </a:xfrm>
          <a:prstGeom prst="rect">
            <a:avLst/>
          </a:prstGeom>
          <a:noFill/>
          <a:ln/>
        </p:spPr>
        <p:txBody>
          <a:bodyPr wrap="square" lIns="0" tIns="0" rIns="0" bIns="0" rtlCol="0" anchor="ctr"/>
          <a:lstStyle/>
          <a:p>
            <a:pPr algn="ctr" indent="0" marL="0">
              <a:spcAft>
                <a:spcPts val="200"/>
              </a:spcAft>
              <a:buNone/>
            </a:pPr>
            <a:r>
              <a:rPr lang="en-US" sz="1200" b="1" dirty="0">
                <a:solidFill>
                  <a:srgbClr val="4F46E5"/>
                </a:solidFill>
                <a:latin typeface="Roboto" pitchFamily="34" charset="0"/>
                <a:ea typeface="Roboto" pitchFamily="34" charset="-122"/>
                <a:cs typeface="Roboto" pitchFamily="34" charset="-120"/>
              </a:rPr>
              <a:t>1 · Preprocessing</a:t>
            </a:r>
            <a:endParaRPr lang="en-US" sz="1200" dirty="0"/>
          </a:p>
          <a:p>
            <a:pPr algn="ctr" indent="0" marL="0">
              <a:spcAft>
                <a:spcPts val="200"/>
              </a:spcAft>
              <a:buNone/>
            </a:pPr>
            <a:r>
              <a:rPr lang="en-US" sz="1000" dirty="0">
                <a:solidFill>
                  <a:srgbClr val="64748B"/>
                </a:solidFill>
                <a:latin typeface="Roboto" pitchFamily="34" charset="0"/>
                <a:ea typeface="Roboto" pitchFamily="34" charset="-122"/>
                <a:cs typeface="Roboto" pitchFamily="34" charset="-120"/>
              </a:rPr>
              <a:t>orient · crop · repair light · revert if worse</a:t>
            </a:r>
            <a:endParaRPr lang="en-US" sz="1200" dirty="0"/>
          </a:p>
        </p:txBody>
      </p:sp>
      <p:sp>
        <p:nvSpPr>
          <p:cNvPr id="13" name="Shape 9"/>
          <p:cNvSpPr/>
          <p:nvPr/>
        </p:nvSpPr>
        <p:spPr>
          <a:xfrm flipV="1">
            <a:off x="4315968" y="2002536"/>
            <a:ext cx="228600" cy="260604"/>
          </a:xfrm>
          <a:prstGeom prst="line">
            <a:avLst/>
          </a:prstGeom>
          <a:noFill/>
          <a:ln w="19050">
            <a:solidFill>
              <a:srgbClr val="94A3B8"/>
            </a:solidFill>
            <a:prstDash val="solid"/>
            <a:tailEnd type="triangle"/>
          </a:ln>
        </p:spPr>
      </p:sp>
      <p:sp>
        <p:nvSpPr>
          <p:cNvPr id="14" name="Shape 10"/>
          <p:cNvSpPr/>
          <p:nvPr/>
        </p:nvSpPr>
        <p:spPr>
          <a:xfrm>
            <a:off x="4315968" y="2263140"/>
            <a:ext cx="228600" cy="260604"/>
          </a:xfrm>
          <a:prstGeom prst="line">
            <a:avLst/>
          </a:prstGeom>
          <a:noFill/>
          <a:ln w="19050">
            <a:solidFill>
              <a:srgbClr val="94A3B8"/>
            </a:solidFill>
            <a:prstDash val="solid"/>
            <a:tailEnd type="triangle"/>
          </a:ln>
        </p:spPr>
      </p:sp>
      <p:sp>
        <p:nvSpPr>
          <p:cNvPr id="15" name="Shape 11"/>
          <p:cNvSpPr/>
          <p:nvPr/>
        </p:nvSpPr>
        <p:spPr>
          <a:xfrm>
            <a:off x="4572000" y="1737360"/>
            <a:ext cx="2286000" cy="475488"/>
          </a:xfrm>
          <a:prstGeom prst="roundRect">
            <a:avLst>
              <a:gd name="adj" fmla="val 15385"/>
            </a:avLst>
          </a:prstGeom>
          <a:solidFill>
            <a:srgbClr val="EEF2FF"/>
          </a:solidFill>
          <a:ln w="12700">
            <a:solidFill>
              <a:srgbClr val="4F46E5"/>
            </a:solidFill>
            <a:prstDash val="solid"/>
          </a:ln>
        </p:spPr>
      </p:sp>
      <p:sp>
        <p:nvSpPr>
          <p:cNvPr id="16" name="Text 12"/>
          <p:cNvSpPr txBox="1"/>
          <p:nvPr/>
        </p:nvSpPr>
        <p:spPr>
          <a:xfrm>
            <a:off x="4645152" y="1755648"/>
            <a:ext cx="2139696" cy="438912"/>
          </a:xfrm>
          <a:prstGeom prst="rect">
            <a:avLst/>
          </a:prstGeom>
          <a:noFill/>
          <a:ln/>
        </p:spPr>
        <p:txBody>
          <a:bodyPr wrap="square" lIns="0" tIns="0" rIns="0" bIns="0" rtlCol="0" anchor="ctr"/>
          <a:lstStyle/>
          <a:p>
            <a:pPr algn="ctr" indent="0" marL="0">
              <a:spcAft>
                <a:spcPts val="200"/>
              </a:spcAft>
              <a:buNone/>
            </a:pPr>
            <a:r>
              <a:rPr lang="en-US" sz="1150" b="1" dirty="0">
                <a:solidFill>
                  <a:srgbClr val="4F46E5"/>
                </a:solidFill>
                <a:latin typeface="Roboto" pitchFamily="34" charset="0"/>
                <a:ea typeface="Roboto" pitchFamily="34" charset="-122"/>
                <a:cs typeface="Roboto" pitchFamily="34" charset="-120"/>
              </a:rPr>
              <a:t>2 · Extraction</a:t>
            </a:r>
            <a:endParaRPr lang="en-US" sz="1150" dirty="0"/>
          </a:p>
        </p:txBody>
      </p:sp>
      <p:sp>
        <p:nvSpPr>
          <p:cNvPr id="17" name="Shape 13"/>
          <p:cNvSpPr/>
          <p:nvPr/>
        </p:nvSpPr>
        <p:spPr>
          <a:xfrm>
            <a:off x="4572000" y="2313432"/>
            <a:ext cx="2286000" cy="475488"/>
          </a:xfrm>
          <a:prstGeom prst="roundRect">
            <a:avLst>
              <a:gd name="adj" fmla="val 15385"/>
            </a:avLst>
          </a:prstGeom>
          <a:solidFill>
            <a:srgbClr val="F8FAFC"/>
          </a:solidFill>
          <a:ln w="12700">
            <a:solidFill>
              <a:srgbClr val="E2E8F0"/>
            </a:solidFill>
            <a:prstDash val="solid"/>
          </a:ln>
        </p:spPr>
      </p:sp>
      <p:sp>
        <p:nvSpPr>
          <p:cNvPr id="18" name="Text 14"/>
          <p:cNvSpPr txBox="1"/>
          <p:nvPr/>
        </p:nvSpPr>
        <p:spPr>
          <a:xfrm>
            <a:off x="4645152" y="2331720"/>
            <a:ext cx="2139696" cy="438912"/>
          </a:xfrm>
          <a:prstGeom prst="rect">
            <a:avLst/>
          </a:prstGeom>
          <a:noFill/>
          <a:ln/>
        </p:spPr>
        <p:txBody>
          <a:bodyPr wrap="square" lIns="0" tIns="0" rIns="0" bIns="0" rtlCol="0" anchor="ctr"/>
          <a:lstStyle/>
          <a:p>
            <a:pPr algn="ctr" indent="0" marL="0">
              <a:spcAft>
                <a:spcPts val="200"/>
              </a:spcAft>
              <a:buNone/>
            </a:pPr>
            <a:r>
              <a:rPr lang="en-US" sz="1050" b="1" dirty="0">
                <a:solidFill>
                  <a:srgbClr val="334155"/>
                </a:solidFill>
                <a:latin typeface="Roboto" pitchFamily="34" charset="0"/>
                <a:ea typeface="Roboto" pitchFamily="34" charset="-122"/>
                <a:cs typeface="Roboto" pitchFamily="34" charset="-120"/>
              </a:rPr>
              <a:t>page read (same OCR words)</a:t>
            </a:r>
            <a:endParaRPr lang="en-US" sz="1050" dirty="0"/>
          </a:p>
        </p:txBody>
      </p:sp>
      <p:sp>
        <p:nvSpPr>
          <p:cNvPr id="19" name="Shape 15"/>
          <p:cNvSpPr/>
          <p:nvPr/>
        </p:nvSpPr>
        <p:spPr>
          <a:xfrm>
            <a:off x="6876288" y="1975104"/>
            <a:ext cx="256032" cy="0"/>
          </a:xfrm>
          <a:prstGeom prst="line">
            <a:avLst/>
          </a:prstGeom>
          <a:noFill/>
          <a:ln w="19050">
            <a:solidFill>
              <a:srgbClr val="94A3B8"/>
            </a:solidFill>
            <a:prstDash val="solid"/>
            <a:tailEnd type="triangle"/>
          </a:ln>
        </p:spPr>
      </p:sp>
      <p:sp>
        <p:nvSpPr>
          <p:cNvPr id="20" name="Shape 16"/>
          <p:cNvSpPr/>
          <p:nvPr/>
        </p:nvSpPr>
        <p:spPr>
          <a:xfrm>
            <a:off x="6876288" y="2551176"/>
            <a:ext cx="256032" cy="0"/>
          </a:xfrm>
          <a:prstGeom prst="line">
            <a:avLst/>
          </a:prstGeom>
          <a:noFill/>
          <a:ln w="19050">
            <a:solidFill>
              <a:srgbClr val="94A3B8"/>
            </a:solidFill>
            <a:prstDash val="solid"/>
            <a:tailEnd type="triangle"/>
          </a:ln>
        </p:spPr>
      </p:sp>
      <p:sp>
        <p:nvSpPr>
          <p:cNvPr id="21" name="Shape 17"/>
          <p:cNvSpPr/>
          <p:nvPr/>
        </p:nvSpPr>
        <p:spPr>
          <a:xfrm>
            <a:off x="7159752" y="1737360"/>
            <a:ext cx="2240280" cy="475488"/>
          </a:xfrm>
          <a:prstGeom prst="roundRect">
            <a:avLst>
              <a:gd name="adj" fmla="val 15385"/>
            </a:avLst>
          </a:prstGeom>
          <a:solidFill>
            <a:srgbClr val="EEF2FF"/>
          </a:solidFill>
          <a:ln w="12700">
            <a:solidFill>
              <a:srgbClr val="4F46E5"/>
            </a:solidFill>
            <a:prstDash val="solid"/>
          </a:ln>
        </p:spPr>
      </p:sp>
      <p:sp>
        <p:nvSpPr>
          <p:cNvPr id="22" name="Text 18"/>
          <p:cNvSpPr txBox="1"/>
          <p:nvPr/>
        </p:nvSpPr>
        <p:spPr>
          <a:xfrm>
            <a:off x="7232904" y="1755648"/>
            <a:ext cx="2093976" cy="438912"/>
          </a:xfrm>
          <a:prstGeom prst="rect">
            <a:avLst/>
          </a:prstGeom>
          <a:noFill/>
          <a:ln/>
        </p:spPr>
        <p:txBody>
          <a:bodyPr wrap="square" lIns="0" tIns="0" rIns="0" bIns="0" rtlCol="0" anchor="ctr"/>
          <a:lstStyle/>
          <a:p>
            <a:pPr algn="ctr" indent="0" marL="0">
              <a:spcAft>
                <a:spcPts val="200"/>
              </a:spcAft>
              <a:buNone/>
            </a:pPr>
            <a:r>
              <a:rPr lang="en-US" sz="1150" b="1" dirty="0">
                <a:solidFill>
                  <a:srgbClr val="4F46E5"/>
                </a:solidFill>
                <a:latin typeface="Roboto" pitchFamily="34" charset="0"/>
                <a:ea typeface="Roboto" pitchFamily="34" charset="-122"/>
                <a:cs typeface="Roboto" pitchFamily="34" charset="-120"/>
              </a:rPr>
              <a:t>3 · Validation</a:t>
            </a:r>
            <a:endParaRPr lang="en-US" sz="1150" dirty="0"/>
          </a:p>
        </p:txBody>
      </p:sp>
      <p:sp>
        <p:nvSpPr>
          <p:cNvPr id="23" name="Shape 19"/>
          <p:cNvSpPr/>
          <p:nvPr/>
        </p:nvSpPr>
        <p:spPr>
          <a:xfrm>
            <a:off x="7159752" y="2313432"/>
            <a:ext cx="2240280" cy="475488"/>
          </a:xfrm>
          <a:prstGeom prst="roundRect">
            <a:avLst>
              <a:gd name="adj" fmla="val 15385"/>
            </a:avLst>
          </a:prstGeom>
          <a:solidFill>
            <a:srgbClr val="EEF2FF"/>
          </a:solidFill>
          <a:ln w="12700">
            <a:solidFill>
              <a:srgbClr val="4F46E5"/>
            </a:solidFill>
            <a:prstDash val="solid"/>
          </a:ln>
        </p:spPr>
      </p:sp>
      <p:sp>
        <p:nvSpPr>
          <p:cNvPr id="24" name="Text 20"/>
          <p:cNvSpPr txBox="1"/>
          <p:nvPr/>
        </p:nvSpPr>
        <p:spPr>
          <a:xfrm>
            <a:off x="7232904" y="2331720"/>
            <a:ext cx="2093976" cy="438912"/>
          </a:xfrm>
          <a:prstGeom prst="rect">
            <a:avLst/>
          </a:prstGeom>
          <a:noFill/>
          <a:ln/>
        </p:spPr>
        <p:txBody>
          <a:bodyPr wrap="square" lIns="0" tIns="0" rIns="0" bIns="0" rtlCol="0" anchor="ctr"/>
          <a:lstStyle/>
          <a:p>
            <a:pPr algn="ctr" indent="0" marL="0">
              <a:spcAft>
                <a:spcPts val="200"/>
              </a:spcAft>
              <a:buNone/>
            </a:pPr>
            <a:r>
              <a:rPr lang="en-US" sz="1150" b="1" dirty="0">
                <a:solidFill>
                  <a:srgbClr val="4F46E5"/>
                </a:solidFill>
                <a:latin typeface="Roboto" pitchFamily="34" charset="0"/>
                <a:ea typeface="Roboto" pitchFamily="34" charset="-122"/>
                <a:cs typeface="Roboto" pitchFamily="34" charset="-120"/>
              </a:rPr>
              <a:t>4 · Document Identity</a:t>
            </a:r>
            <a:endParaRPr lang="en-US" sz="1150" dirty="0"/>
          </a:p>
        </p:txBody>
      </p:sp>
      <p:sp>
        <p:nvSpPr>
          <p:cNvPr id="25" name="Shape 21"/>
          <p:cNvSpPr/>
          <p:nvPr/>
        </p:nvSpPr>
        <p:spPr>
          <a:xfrm>
            <a:off x="9418320" y="2263140"/>
            <a:ext cx="256032" cy="0"/>
          </a:xfrm>
          <a:prstGeom prst="line">
            <a:avLst/>
          </a:prstGeom>
          <a:noFill/>
          <a:ln w="19050">
            <a:solidFill>
              <a:srgbClr val="94A3B8"/>
            </a:solidFill>
            <a:prstDash val="solid"/>
            <a:tailEnd type="triangle"/>
          </a:ln>
        </p:spPr>
      </p:sp>
      <p:sp>
        <p:nvSpPr>
          <p:cNvPr id="26" name="Shape 22"/>
          <p:cNvSpPr/>
          <p:nvPr/>
        </p:nvSpPr>
        <p:spPr>
          <a:xfrm>
            <a:off x="9692640" y="1783080"/>
            <a:ext cx="1947672" cy="960120"/>
          </a:xfrm>
          <a:prstGeom prst="roundRect">
            <a:avLst>
              <a:gd name="adj" fmla="val 7619"/>
            </a:avLst>
          </a:prstGeom>
          <a:solidFill>
            <a:srgbClr val="DCFCE7"/>
          </a:solidFill>
          <a:ln w="12700">
            <a:solidFill>
              <a:srgbClr val="86EFAC"/>
            </a:solidFill>
            <a:prstDash val="solid"/>
          </a:ln>
        </p:spPr>
      </p:sp>
      <p:sp>
        <p:nvSpPr>
          <p:cNvPr id="27" name="Text 23"/>
          <p:cNvSpPr txBox="1"/>
          <p:nvPr/>
        </p:nvSpPr>
        <p:spPr>
          <a:xfrm>
            <a:off x="9765792" y="1801368"/>
            <a:ext cx="1801368" cy="923544"/>
          </a:xfrm>
          <a:prstGeom prst="rect">
            <a:avLst/>
          </a:prstGeom>
          <a:noFill/>
          <a:ln/>
        </p:spPr>
        <p:txBody>
          <a:bodyPr wrap="square" lIns="0" tIns="0" rIns="0" bIns="0" rtlCol="0" anchor="ctr"/>
          <a:lstStyle/>
          <a:p>
            <a:pPr algn="ctr" indent="0" marL="0">
              <a:spcAft>
                <a:spcPts val="200"/>
              </a:spcAft>
              <a:buNone/>
            </a:pPr>
            <a:r>
              <a:rPr lang="en-US" sz="1200" b="1" dirty="0">
                <a:solidFill>
                  <a:srgbClr val="166534"/>
                </a:solidFill>
                <a:latin typeface="Roboto" pitchFamily="34" charset="0"/>
                <a:ea typeface="Roboto" pitchFamily="34" charset="-122"/>
                <a:cs typeface="Roboto" pitchFamily="34" charset="-120"/>
              </a:rPr>
              <a:t>Person confirms</a:t>
            </a:r>
            <a:endParaRPr lang="en-US" sz="1200" dirty="0"/>
          </a:p>
          <a:p>
            <a:pPr algn="ctr" indent="0" marL="0">
              <a:spcAft>
                <a:spcPts val="200"/>
              </a:spcAft>
              <a:buNone/>
            </a:pPr>
            <a:r>
              <a:rPr lang="en-US" sz="1000" dirty="0">
                <a:solidFill>
                  <a:srgbClr val="64748B"/>
                </a:solidFill>
                <a:latin typeface="Roboto" pitchFamily="34" charset="0"/>
                <a:ea typeface="Roboto" pitchFamily="34" charset="-122"/>
                <a:cs typeface="Roboto" pitchFamily="34" charset="-120"/>
              </a:rPr>
              <a:t>"Please check &amp; confirm"</a:t>
            </a:r>
            <a:endParaRPr lang="en-US" sz="1200" dirty="0"/>
          </a:p>
        </p:txBody>
      </p:sp>
      <p:sp>
        <p:nvSpPr>
          <p:cNvPr id="28" name="Text 24"/>
          <p:cNvSpPr txBox="1"/>
          <p:nvPr/>
        </p:nvSpPr>
        <p:spPr>
          <a:xfrm>
            <a:off x="548640" y="2898648"/>
            <a:ext cx="11094415" cy="274320"/>
          </a:xfrm>
          <a:prstGeom prst="rect">
            <a:avLst/>
          </a:prstGeom>
          <a:noFill/>
          <a:ln/>
        </p:spPr>
        <p:txBody>
          <a:bodyPr wrap="square" lIns="0" tIns="0" rIns="0" bIns="0" rtlCol="0" anchor="ctr"/>
          <a:lstStyle/>
          <a:p>
            <a:pPr indent="0" marL="0">
              <a:buNone/>
            </a:pPr>
            <a:r>
              <a:rPr lang="en-US" sz="1050" i="1" dirty="0">
                <a:solidFill>
                  <a:srgbClr val="64748B"/>
                </a:solidFill>
                <a:latin typeface="Roboto" pitchFamily="34" charset="0"/>
                <a:ea typeface="Roboto" pitchFamily="34" charset="-122"/>
                <a:cs typeface="Roboto" pitchFamily="34" charset="-120"/>
              </a:rPr>
              <a:t>qwen2.5vl reads every requested field into JSON, inventing nothing  ·  Verhoeff, PAN, IFSC, GSTIN formats  ·  the page's own phrases must match the requested type</a:t>
            </a:r>
            <a:endParaRPr lang="en-US" sz="1050" dirty="0"/>
          </a:p>
        </p:txBody>
      </p:sp>
      <p:sp>
        <p:nvSpPr>
          <p:cNvPr id="29" name="Shape 25"/>
          <p:cNvSpPr/>
          <p:nvPr/>
        </p:nvSpPr>
        <p:spPr>
          <a:xfrm>
            <a:off x="548640" y="3291840"/>
            <a:ext cx="6055203" cy="3063240"/>
          </a:xfrm>
          <a:prstGeom prst="roundRect">
            <a:avLst>
              <a:gd name="adj" fmla="val 2090"/>
            </a:avLst>
          </a:prstGeom>
          <a:solidFill>
            <a:srgbClr val="1E293B"/>
          </a:solidFill>
          <a:ln w="12700">
            <a:solidFill>
              <a:srgbClr val="1E293B"/>
            </a:solidFill>
            <a:prstDash val="solid"/>
          </a:ln>
          <a:effectLst>
            <a:outerShdw sx="100000" sy="100000" kx="0" ky="0" algn="bl" rotWithShape="0" blurRad="127000" dist="25400" dir="5400000">
              <a:srgbClr val="0F172A">
                <a:alpha val="12000"/>
              </a:srgbClr>
            </a:outerShdw>
          </a:effectLst>
        </p:spPr>
      </p:sp>
      <p:sp>
        <p:nvSpPr>
          <p:cNvPr id="30" name="Shape 26"/>
          <p:cNvSpPr/>
          <p:nvPr/>
        </p:nvSpPr>
        <p:spPr>
          <a:xfrm>
            <a:off x="667512" y="3369564"/>
            <a:ext cx="82296" cy="82296"/>
          </a:xfrm>
          <a:prstGeom prst="ellipse">
            <a:avLst/>
          </a:prstGeom>
          <a:solidFill>
            <a:srgbClr val="F87171"/>
          </a:solidFill>
          <a:ln w="12700">
            <a:solidFill>
              <a:srgbClr val="F87171"/>
            </a:solidFill>
            <a:prstDash val="solid"/>
          </a:ln>
        </p:spPr>
      </p:sp>
      <p:sp>
        <p:nvSpPr>
          <p:cNvPr id="31" name="Shape 27"/>
          <p:cNvSpPr/>
          <p:nvPr/>
        </p:nvSpPr>
        <p:spPr>
          <a:xfrm>
            <a:off x="804672" y="3369564"/>
            <a:ext cx="82296" cy="82296"/>
          </a:xfrm>
          <a:prstGeom prst="ellipse">
            <a:avLst/>
          </a:prstGeom>
          <a:solidFill>
            <a:srgbClr val="FBBF24"/>
          </a:solidFill>
          <a:ln w="12700">
            <a:solidFill>
              <a:srgbClr val="FBBF24"/>
            </a:solidFill>
            <a:prstDash val="solid"/>
          </a:ln>
        </p:spPr>
      </p:sp>
      <p:sp>
        <p:nvSpPr>
          <p:cNvPr id="32" name="Shape 28"/>
          <p:cNvSpPr/>
          <p:nvPr/>
        </p:nvSpPr>
        <p:spPr>
          <a:xfrm>
            <a:off x="941832" y="3369564"/>
            <a:ext cx="82296" cy="82296"/>
          </a:xfrm>
          <a:prstGeom prst="ellipse">
            <a:avLst/>
          </a:prstGeom>
          <a:solidFill>
            <a:srgbClr val="34D399"/>
          </a:solidFill>
          <a:ln w="12700">
            <a:solidFill>
              <a:srgbClr val="34D399"/>
            </a:solidFill>
            <a:prstDash val="solid"/>
          </a:ln>
        </p:spPr>
      </p:sp>
      <p:pic>
        <p:nvPicPr>
          <p:cNvPr id="33" name="Image 1" descr="C:\Users\shrey\AppData\Local\Temp\claude\D--novacinternship-finsight\ef4ecb45-e580-4bc0-9be4-060aa240a5b2\scratchpad\deck\img\wizard_extract.png">    </p:cNvPr>
          <p:cNvPicPr>
            <a:picLocks noChangeAspect="1"/>
          </p:cNvPicPr>
          <p:nvPr/>
        </p:nvPicPr>
        <p:blipFill>
          <a:blip r:embed="rId2"/>
          <a:stretch>
            <a:fillRect/>
          </a:stretch>
        </p:blipFill>
        <p:spPr>
          <a:xfrm>
            <a:off x="594360" y="3529584"/>
            <a:ext cx="5963763" cy="2779776"/>
          </a:xfrm>
          <a:prstGeom prst="rect">
            <a:avLst/>
          </a:prstGeom>
        </p:spPr>
      </p:pic>
      <p:sp>
        <p:nvSpPr>
          <p:cNvPr id="34" name="Shape 29"/>
          <p:cNvSpPr/>
          <p:nvPr/>
        </p:nvSpPr>
        <p:spPr>
          <a:xfrm>
            <a:off x="7498080" y="3291840"/>
            <a:ext cx="4142232" cy="713232"/>
          </a:xfrm>
          <a:prstGeom prst="roundRect">
            <a:avLst>
              <a:gd name="adj" fmla="val 10256"/>
            </a:avLst>
          </a:prstGeom>
          <a:solidFill>
            <a:srgbClr val="F8FAFC"/>
          </a:solidFill>
          <a:ln w="12700">
            <a:solidFill>
              <a:srgbClr val="E2E8F0"/>
            </a:solidFill>
            <a:prstDash val="solid"/>
          </a:ln>
        </p:spPr>
      </p:sp>
      <p:sp>
        <p:nvSpPr>
          <p:cNvPr id="35" name="Text 30"/>
          <p:cNvSpPr txBox="1"/>
          <p:nvPr/>
        </p:nvSpPr>
        <p:spPr>
          <a:xfrm>
            <a:off x="7635240" y="3291840"/>
            <a:ext cx="1325880" cy="713232"/>
          </a:xfrm>
          <a:prstGeom prst="rect">
            <a:avLst/>
          </a:prstGeom>
          <a:noFill/>
          <a:ln/>
        </p:spPr>
        <p:txBody>
          <a:bodyPr wrap="square" lIns="0" tIns="0" rIns="0" bIns="0" rtlCol="0" anchor="ctr"/>
          <a:lstStyle/>
          <a:p>
            <a:pPr indent="0" marL="0">
              <a:buNone/>
            </a:pPr>
            <a:r>
              <a:rPr lang="en-US" sz="2000" b="1" dirty="0">
                <a:solidFill>
                  <a:srgbClr val="16A34A"/>
                </a:solidFill>
                <a:latin typeface="Roboto" pitchFamily="34" charset="0"/>
                <a:ea typeface="Roboto" pitchFamily="34" charset="-122"/>
                <a:cs typeface="Roboto" pitchFamily="34" charset="-120"/>
              </a:rPr>
              <a:t>94.4%</a:t>
            </a:r>
            <a:endParaRPr lang="en-US" sz="2000" dirty="0"/>
          </a:p>
        </p:txBody>
      </p:sp>
      <p:sp>
        <p:nvSpPr>
          <p:cNvPr id="36" name="Text 31"/>
          <p:cNvSpPr txBox="1"/>
          <p:nvPr/>
        </p:nvSpPr>
        <p:spPr>
          <a:xfrm>
            <a:off x="9006840" y="3291840"/>
            <a:ext cx="2542032" cy="713232"/>
          </a:xfrm>
          <a:prstGeom prst="rect">
            <a:avLst/>
          </a:prstGeom>
          <a:noFill/>
          <a:ln/>
        </p:spPr>
        <p:txBody>
          <a:bodyPr wrap="square" lIns="0" tIns="0" rIns="0" bIns="0" rtlCol="0" anchor="ctr"/>
          <a:lstStyle/>
          <a:p>
            <a:pPr indent="0" marL="0">
              <a:buNone/>
            </a:pPr>
            <a:r>
              <a:rPr lang="en-US" sz="1150" b="1" dirty="0">
                <a:solidFill>
                  <a:srgbClr val="0F172A"/>
                </a:solidFill>
                <a:latin typeface="Roboto" pitchFamily="34" charset="0"/>
                <a:ea typeface="Roboto" pitchFamily="34" charset="-122"/>
                <a:cs typeface="Roboto" pitchFamily="34" charset="-120"/>
              </a:rPr>
              <a:t>Extraction</a:t>
            </a:r>
            <a:endParaRPr lang="en-US" sz="1150" dirty="0"/>
          </a:p>
          <a:p>
            <a:pPr indent="0" marL="0">
              <a:buNone/>
            </a:pPr>
            <a:r>
              <a:rPr lang="en-US" sz="950" dirty="0">
                <a:solidFill>
                  <a:srgbClr val="64748B"/>
                </a:solidFill>
                <a:latin typeface="Roboto" pitchFamily="34" charset="0"/>
                <a:ea typeface="Roboto" pitchFamily="34" charset="-122"/>
                <a:cs typeface="Roboto" pitchFamily="34" charset="-120"/>
              </a:rPr>
              <a:t>printed fields correct · 150 PAN cards, 60 statements</a:t>
            </a:r>
            <a:endParaRPr lang="en-US" sz="1150" dirty="0"/>
          </a:p>
        </p:txBody>
      </p:sp>
      <p:sp>
        <p:nvSpPr>
          <p:cNvPr id="37" name="Shape 32"/>
          <p:cNvSpPr/>
          <p:nvPr/>
        </p:nvSpPr>
        <p:spPr>
          <a:xfrm>
            <a:off x="7498080" y="4069080"/>
            <a:ext cx="4142232" cy="713232"/>
          </a:xfrm>
          <a:prstGeom prst="roundRect">
            <a:avLst>
              <a:gd name="adj" fmla="val 10256"/>
            </a:avLst>
          </a:prstGeom>
          <a:solidFill>
            <a:srgbClr val="F8FAFC"/>
          </a:solidFill>
          <a:ln w="12700">
            <a:solidFill>
              <a:srgbClr val="E2E8F0"/>
            </a:solidFill>
            <a:prstDash val="solid"/>
          </a:ln>
        </p:spPr>
      </p:sp>
      <p:sp>
        <p:nvSpPr>
          <p:cNvPr id="38" name="Text 33"/>
          <p:cNvSpPr txBox="1"/>
          <p:nvPr/>
        </p:nvSpPr>
        <p:spPr>
          <a:xfrm>
            <a:off x="7635240" y="4069080"/>
            <a:ext cx="1325880" cy="713232"/>
          </a:xfrm>
          <a:prstGeom prst="rect">
            <a:avLst/>
          </a:prstGeom>
          <a:noFill/>
          <a:ln/>
        </p:spPr>
        <p:txBody>
          <a:bodyPr wrap="square" lIns="0" tIns="0" rIns="0" bIns="0" rtlCol="0" anchor="ctr"/>
          <a:lstStyle/>
          <a:p>
            <a:pPr indent="0" marL="0">
              <a:buNone/>
            </a:pPr>
            <a:r>
              <a:rPr lang="en-US" sz="2000" b="1" dirty="0">
                <a:solidFill>
                  <a:srgbClr val="16A34A"/>
                </a:solidFill>
                <a:latin typeface="Roboto" pitchFamily="34" charset="0"/>
                <a:ea typeface="Roboto" pitchFamily="34" charset="-122"/>
                <a:cs typeface="Roboto" pitchFamily="34" charset="-120"/>
              </a:rPr>
              <a:t>94.4%</a:t>
            </a:r>
            <a:endParaRPr lang="en-US" sz="2000" dirty="0"/>
          </a:p>
        </p:txBody>
      </p:sp>
      <p:sp>
        <p:nvSpPr>
          <p:cNvPr id="39" name="Text 34"/>
          <p:cNvSpPr txBox="1"/>
          <p:nvPr/>
        </p:nvSpPr>
        <p:spPr>
          <a:xfrm>
            <a:off x="9006840" y="4069080"/>
            <a:ext cx="2542032" cy="713232"/>
          </a:xfrm>
          <a:prstGeom prst="rect">
            <a:avLst/>
          </a:prstGeom>
          <a:noFill/>
          <a:ln/>
        </p:spPr>
        <p:txBody>
          <a:bodyPr wrap="square" lIns="0" tIns="0" rIns="0" bIns="0" rtlCol="0" anchor="ctr"/>
          <a:lstStyle/>
          <a:p>
            <a:pPr indent="0" marL="0">
              <a:buNone/>
            </a:pPr>
            <a:r>
              <a:rPr lang="en-US" sz="1150" b="1" dirty="0">
                <a:solidFill>
                  <a:srgbClr val="0F172A"/>
                </a:solidFill>
                <a:latin typeface="Roboto" pitchFamily="34" charset="0"/>
                <a:ea typeface="Roboto" pitchFamily="34" charset="-122"/>
                <a:cs typeface="Roboto" pitchFamily="34" charset="-120"/>
              </a:rPr>
              <a:t>Document Identity</a:t>
            </a:r>
            <a:endParaRPr lang="en-US" sz="1150" dirty="0"/>
          </a:p>
          <a:p>
            <a:pPr indent="0" marL="0">
              <a:buNone/>
            </a:pPr>
            <a:r>
              <a:rPr lang="en-US" sz="950" dirty="0">
                <a:solidFill>
                  <a:srgbClr val="64748B"/>
                </a:solidFill>
                <a:latin typeface="Roboto" pitchFamily="34" charset="0"/>
                <a:ea typeface="Roboto" pitchFamily="34" charset="-122"/>
                <a:cs typeface="Roboto" pitchFamily="34" charset="-120"/>
              </a:rPr>
              <a:t>wrong uploads caught · right ones refused 1.6%</a:t>
            </a:r>
            <a:endParaRPr lang="en-US" sz="1150" dirty="0"/>
          </a:p>
        </p:txBody>
      </p:sp>
      <p:sp>
        <p:nvSpPr>
          <p:cNvPr id="40" name="Shape 35"/>
          <p:cNvSpPr/>
          <p:nvPr/>
        </p:nvSpPr>
        <p:spPr>
          <a:xfrm>
            <a:off x="7498080" y="4846320"/>
            <a:ext cx="4142232" cy="713232"/>
          </a:xfrm>
          <a:prstGeom prst="roundRect">
            <a:avLst>
              <a:gd name="adj" fmla="val 10256"/>
            </a:avLst>
          </a:prstGeom>
          <a:solidFill>
            <a:srgbClr val="F8FAFC"/>
          </a:solidFill>
          <a:ln w="12700">
            <a:solidFill>
              <a:srgbClr val="E2E8F0"/>
            </a:solidFill>
            <a:prstDash val="solid"/>
          </a:ln>
        </p:spPr>
      </p:sp>
      <p:sp>
        <p:nvSpPr>
          <p:cNvPr id="41" name="Text 36"/>
          <p:cNvSpPr txBox="1"/>
          <p:nvPr/>
        </p:nvSpPr>
        <p:spPr>
          <a:xfrm>
            <a:off x="7635240" y="4846320"/>
            <a:ext cx="1325880" cy="713232"/>
          </a:xfrm>
          <a:prstGeom prst="rect">
            <a:avLst/>
          </a:prstGeom>
          <a:noFill/>
          <a:ln/>
        </p:spPr>
        <p:txBody>
          <a:bodyPr wrap="square" lIns="0" tIns="0" rIns="0" bIns="0" rtlCol="0" anchor="ctr"/>
          <a:lstStyle/>
          <a:p>
            <a:pPr indent="0" marL="0">
              <a:buNone/>
            </a:pPr>
            <a:r>
              <a:rPr lang="en-US" sz="2000" b="1" dirty="0">
                <a:solidFill>
                  <a:srgbClr val="16A34A"/>
                </a:solidFill>
                <a:latin typeface="Roboto" pitchFamily="34" charset="0"/>
                <a:ea typeface="Roboto" pitchFamily="34" charset="-122"/>
                <a:cs typeface="Roboto" pitchFamily="34" charset="-120"/>
              </a:rPr>
              <a:t>100%</a:t>
            </a:r>
            <a:endParaRPr lang="en-US" sz="2000" dirty="0"/>
          </a:p>
        </p:txBody>
      </p:sp>
      <p:sp>
        <p:nvSpPr>
          <p:cNvPr id="42" name="Text 37"/>
          <p:cNvSpPr txBox="1"/>
          <p:nvPr/>
        </p:nvSpPr>
        <p:spPr>
          <a:xfrm>
            <a:off x="9006840" y="4846320"/>
            <a:ext cx="2542032" cy="713232"/>
          </a:xfrm>
          <a:prstGeom prst="rect">
            <a:avLst/>
          </a:prstGeom>
          <a:noFill/>
          <a:ln/>
        </p:spPr>
        <p:txBody>
          <a:bodyPr wrap="square" lIns="0" tIns="0" rIns="0" bIns="0" rtlCol="0" anchor="ctr"/>
          <a:lstStyle/>
          <a:p>
            <a:pPr indent="0" marL="0">
              <a:buNone/>
            </a:pPr>
            <a:r>
              <a:rPr lang="en-US" sz="1150" b="1" dirty="0">
                <a:solidFill>
                  <a:srgbClr val="0F172A"/>
                </a:solidFill>
                <a:latin typeface="Roboto" pitchFamily="34" charset="0"/>
                <a:ea typeface="Roboto" pitchFamily="34" charset="-122"/>
                <a:cs typeface="Roboto" pitchFamily="34" charset="-120"/>
              </a:rPr>
              <a:t>Validation</a:t>
            </a:r>
            <a:endParaRPr lang="en-US" sz="1150" dirty="0"/>
          </a:p>
          <a:p>
            <a:pPr indent="0" marL="0">
              <a:buNone/>
            </a:pPr>
            <a:r>
              <a:rPr lang="en-US" sz="950" dirty="0">
                <a:solidFill>
                  <a:srgbClr val="64748B"/>
                </a:solidFill>
                <a:latin typeface="Roboto" pitchFamily="34" charset="0"/>
                <a:ea typeface="Roboto" pitchFamily="34" charset="-122"/>
                <a:cs typeface="Roboto" pitchFamily="34" charset="-120"/>
              </a:rPr>
              <a:t>183,214 real IFSC codes accepted, mistakes rejected</a:t>
            </a:r>
            <a:endParaRPr lang="en-US" sz="1150" dirty="0"/>
          </a:p>
        </p:txBody>
      </p:sp>
      <p:sp>
        <p:nvSpPr>
          <p:cNvPr id="43" name="Shape 38"/>
          <p:cNvSpPr/>
          <p:nvPr/>
        </p:nvSpPr>
        <p:spPr>
          <a:xfrm>
            <a:off x="7498080" y="5623560"/>
            <a:ext cx="4142232" cy="713232"/>
          </a:xfrm>
          <a:prstGeom prst="roundRect">
            <a:avLst>
              <a:gd name="adj" fmla="val 10256"/>
            </a:avLst>
          </a:prstGeom>
          <a:solidFill>
            <a:srgbClr val="F8FAFC"/>
          </a:solidFill>
          <a:ln w="12700">
            <a:solidFill>
              <a:srgbClr val="E2E8F0"/>
            </a:solidFill>
            <a:prstDash val="solid"/>
          </a:ln>
        </p:spPr>
      </p:sp>
      <p:sp>
        <p:nvSpPr>
          <p:cNvPr id="44" name="Text 39"/>
          <p:cNvSpPr txBox="1"/>
          <p:nvPr/>
        </p:nvSpPr>
        <p:spPr>
          <a:xfrm>
            <a:off x="7635240" y="5623560"/>
            <a:ext cx="1325880" cy="713232"/>
          </a:xfrm>
          <a:prstGeom prst="rect">
            <a:avLst/>
          </a:prstGeom>
          <a:noFill/>
          <a:ln/>
        </p:spPr>
        <p:txBody>
          <a:bodyPr wrap="square" lIns="0" tIns="0" rIns="0" bIns="0" rtlCol="0" anchor="ctr"/>
          <a:lstStyle/>
          <a:p>
            <a:pPr indent="0" marL="0">
              <a:buNone/>
            </a:pPr>
            <a:r>
              <a:rPr lang="en-US" sz="2000" b="1" dirty="0">
                <a:solidFill>
                  <a:srgbClr val="DC2626"/>
                </a:solidFill>
                <a:latin typeface="Roboto" pitchFamily="34" charset="0"/>
                <a:ea typeface="Roboto" pitchFamily="34" charset="-122"/>
                <a:cs typeface="Roboto" pitchFamily="34" charset="-120"/>
              </a:rPr>
              <a:t>69.1%</a:t>
            </a:r>
            <a:endParaRPr lang="en-US" sz="2000" dirty="0"/>
          </a:p>
        </p:txBody>
      </p:sp>
      <p:sp>
        <p:nvSpPr>
          <p:cNvPr id="45" name="Text 40"/>
          <p:cNvSpPr txBox="1"/>
          <p:nvPr/>
        </p:nvSpPr>
        <p:spPr>
          <a:xfrm>
            <a:off x="9006840" y="5623560"/>
            <a:ext cx="2542032" cy="713232"/>
          </a:xfrm>
          <a:prstGeom prst="rect">
            <a:avLst/>
          </a:prstGeom>
          <a:noFill/>
          <a:ln/>
        </p:spPr>
        <p:txBody>
          <a:bodyPr wrap="square" lIns="0" tIns="0" rIns="0" bIns="0" rtlCol="0" anchor="ctr"/>
          <a:lstStyle/>
          <a:p>
            <a:pPr indent="0" marL="0">
              <a:buNone/>
            </a:pPr>
            <a:r>
              <a:rPr lang="en-US" sz="1150" b="1" dirty="0">
                <a:solidFill>
                  <a:srgbClr val="0F172A"/>
                </a:solidFill>
                <a:latin typeface="Roboto" pitchFamily="34" charset="0"/>
                <a:ea typeface="Roboto" pitchFamily="34" charset="-122"/>
                <a:cs typeface="Roboto" pitchFamily="34" charset="-120"/>
              </a:rPr>
              <a:t>Preprocessing</a:t>
            </a:r>
            <a:endParaRPr lang="en-US" sz="1150" dirty="0"/>
          </a:p>
          <a:p>
            <a:pPr indent="0" marL="0">
              <a:buNone/>
            </a:pPr>
            <a:r>
              <a:rPr lang="en-US" sz="950" dirty="0">
                <a:solidFill>
                  <a:srgbClr val="64748B"/>
                </a:solidFill>
                <a:latin typeface="Roboto" pitchFamily="34" charset="0"/>
                <a:ea typeface="Roboto" pitchFamily="34" charset="-122"/>
                <a:cs typeface="Roboto" pitchFamily="34" charset="-120"/>
              </a:rPr>
              <a:t>card outline found in phone photos · target 80% (Weak)</a:t>
            </a:r>
            <a:endParaRPr lang="en-US" sz="11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8229600" cy="256032"/>
          </a:xfrm>
          <a:prstGeom prst="rect">
            <a:avLst/>
          </a:prstGeom>
          <a:noFill/>
          <a:ln/>
        </p:spPr>
        <p:txBody>
          <a:bodyPr wrap="square" lIns="0" tIns="0" rIns="0" bIns="0" rtlCol="0" anchor="ctr"/>
          <a:lstStyle/>
          <a:p>
            <a:pPr indent="0" marL="0">
              <a:buNone/>
            </a:pPr>
            <a:r>
              <a:rPr lang="en-US" sz="1100" b="1" spc="200" kern="0" dirty="0">
                <a:solidFill>
                  <a:srgbClr val="4F46E5"/>
                </a:solidFill>
                <a:latin typeface="Roboto" pitchFamily="34" charset="0"/>
                <a:ea typeface="Roboto" pitchFamily="34" charset="-122"/>
                <a:cs typeface="Roboto" pitchFamily="34" charset="-120"/>
              </a:rPr>
              <a:t>THE 29 AGENTS · PRIVACY · IDENTITY</a:t>
            </a:r>
            <a:endParaRPr lang="en-US" sz="1100" dirty="0"/>
          </a:p>
        </p:txBody>
      </p:sp>
      <p:sp>
        <p:nvSpPr>
          <p:cNvPr id="3" name="Text 1"/>
          <p:cNvSpPr txBox="1"/>
          <p:nvPr/>
        </p:nvSpPr>
        <p:spPr>
          <a:xfrm>
            <a:off x="548640" y="585216"/>
            <a:ext cx="11094415" cy="566928"/>
          </a:xfrm>
          <a:prstGeom prst="rect">
            <a:avLst/>
          </a:prstGeom>
          <a:noFill/>
          <a:ln/>
        </p:spPr>
        <p:txBody>
          <a:bodyPr wrap="square" lIns="0" tIns="0" rIns="0" bIns="0" rtlCol="0" anchor="ctr"/>
          <a:lstStyle/>
          <a:p>
            <a:pPr indent="0" marL="0">
              <a:buNone/>
            </a:pPr>
            <a:r>
              <a:rPr lang="en-US" sz="2800" b="1" dirty="0">
                <a:solidFill>
                  <a:srgbClr val="0F172A"/>
                </a:solidFill>
                <a:latin typeface="Roboto" pitchFamily="34" charset="0"/>
                <a:ea typeface="Roboto" pitchFamily="34" charset="-122"/>
                <a:cs typeface="Roboto" pitchFamily="34" charset="-120"/>
              </a:rPr>
              <a:t>Privacy &amp; identity: mask the numbers, match the faces</a:t>
            </a:r>
            <a:endParaRPr lang="en-US" sz="2800" dirty="0"/>
          </a:p>
        </p:txBody>
      </p:sp>
      <p:sp>
        <p:nvSpPr>
          <p:cNvPr id="4" name="Text 2"/>
          <p:cNvSpPr txBox="1"/>
          <p:nvPr/>
        </p:nvSpPr>
        <p:spPr>
          <a:xfrm>
            <a:off x="548640" y="1152144"/>
            <a:ext cx="11094415" cy="365760"/>
          </a:xfrm>
          <a:prstGeom prst="rect">
            <a:avLst/>
          </a:prstGeom>
          <a:noFill/>
          <a:ln/>
        </p:spPr>
        <p:txBody>
          <a:bodyPr wrap="square" lIns="0" tIns="0" rIns="0" bIns="0" rtlCol="0" anchor="ctr"/>
          <a:lstStyle/>
          <a:p>
            <a:pPr indent="0" marL="0">
              <a:buNone/>
            </a:pPr>
            <a:r>
              <a:rPr lang="en-US" sz="1400" dirty="0">
                <a:solidFill>
                  <a:srgbClr val="64748B"/>
                </a:solidFill>
                <a:latin typeface="Roboto" pitchFamily="34" charset="0"/>
                <a:ea typeface="Roboto" pitchFamily="34" charset="-122"/>
                <a:cs typeface="Roboto" pitchFamily="34" charset="-120"/>
              </a:rPr>
              <a:t>PII Masking protects the officer's view; Face Verification and Liveness make sure one real person is applying.</a:t>
            </a:r>
            <a:endParaRPr lang="en-US" sz="1400" dirty="0"/>
          </a:p>
        </p:txBody>
      </p:sp>
      <p:pic>
        <p:nvPicPr>
          <p:cNvPr id="5" name="Image 0" descr="C:\Users\shrey\AppData\Local\Temp\claude\D--novacinternship-finsight\ef4ecb45-e580-4bc0-9be4-060aa240a5b2\scratchpad\deck\img\logo_lockup.png">    </p:cNvPr>
          <p:cNvPicPr>
            <a:picLocks noChangeAspect="1"/>
          </p:cNvPicPr>
          <p:nvPr/>
        </p:nvPicPr>
        <p:blipFill>
          <a:blip r:embed="rId1"/>
          <a:stretch>
            <a:fillRect/>
          </a:stretch>
        </p:blipFill>
        <p:spPr>
          <a:xfrm>
            <a:off x="10360152" y="6464808"/>
            <a:ext cx="843991" cy="237744"/>
          </a:xfrm>
          <a:prstGeom prst="rect">
            <a:avLst/>
          </a:prstGeom>
        </p:spPr>
      </p:pic>
      <p:sp>
        <p:nvSpPr>
          <p:cNvPr id="6" name="Text 3"/>
          <p:cNvSpPr txBox="1"/>
          <p:nvPr/>
        </p:nvSpPr>
        <p:spPr>
          <a:xfrm>
            <a:off x="11277295" y="6473952"/>
            <a:ext cx="365760" cy="228600"/>
          </a:xfrm>
          <a:prstGeom prst="rect">
            <a:avLst/>
          </a:prstGeom>
          <a:noFill/>
          <a:ln/>
        </p:spPr>
        <p:txBody>
          <a:bodyPr wrap="square" lIns="0" tIns="0" rIns="0" bIns="0" rtlCol="0" anchor="ctr"/>
          <a:lstStyle/>
          <a:p>
            <a:pPr algn="r" indent="0" marL="0">
              <a:buNone/>
            </a:pPr>
            <a:r>
              <a:rPr lang="en-US" sz="900" dirty="0">
                <a:solidFill>
                  <a:srgbClr val="94A3B8"/>
                </a:solidFill>
                <a:latin typeface="Roboto" pitchFamily="34" charset="0"/>
                <a:ea typeface="Roboto" pitchFamily="34" charset="-122"/>
                <a:cs typeface="Roboto" pitchFamily="34" charset="-120"/>
              </a:rPr>
              <a:t>15</a:t>
            </a:r>
            <a:endParaRPr lang="en-US" sz="900" dirty="0"/>
          </a:p>
        </p:txBody>
      </p:sp>
      <p:sp>
        <p:nvSpPr>
          <p:cNvPr id="8" name="Shape 4"/>
          <p:cNvSpPr/>
          <p:nvPr/>
        </p:nvSpPr>
        <p:spPr>
          <a:xfrm>
            <a:off x="548640" y="1783080"/>
            <a:ext cx="3566160" cy="4526280"/>
          </a:xfrm>
          <a:prstGeom prst="roundRect">
            <a:avLst>
              <a:gd name="adj" fmla="val 3077"/>
            </a:avLst>
          </a:prstGeom>
          <a:solidFill>
            <a:srgbClr val="F8FAFC"/>
          </a:solidFill>
          <a:ln w="12700">
            <a:solidFill>
              <a:srgbClr val="E2E8F0"/>
            </a:solidFill>
            <a:prstDash val="solid"/>
          </a:ln>
        </p:spPr>
      </p:sp>
      <p:sp>
        <p:nvSpPr>
          <p:cNvPr id="9" name="Shape 5"/>
          <p:cNvSpPr/>
          <p:nvPr/>
        </p:nvSpPr>
        <p:spPr>
          <a:xfrm>
            <a:off x="777240" y="1965960"/>
            <a:ext cx="566928" cy="566928"/>
          </a:xfrm>
          <a:prstGeom prst="ellipse">
            <a:avLst/>
          </a:prstGeom>
          <a:solidFill>
            <a:srgbClr val="ECFEFF"/>
          </a:solidFill>
          <a:ln w="12700">
            <a:solidFill>
              <a:srgbClr val="ECFEFF"/>
            </a:solidFill>
            <a:prstDash val="solid"/>
          </a:ln>
        </p:spPr>
      </p:sp>
      <p:pic>
        <p:nvPicPr>
          <p:cNvPr id="10" name="Image 1" descr="preencoded.png">    </p:cNvPr>
          <p:cNvPicPr>
            <a:picLocks noChangeAspect="1"/>
          </p:cNvPicPr>
          <p:nvPr/>
        </p:nvPicPr>
        <p:blipFill>
          <a:blip r:embed="rId2"/>
          <a:stretch>
            <a:fillRect/>
          </a:stretch>
        </p:blipFill>
        <p:spPr>
          <a:xfrm>
            <a:off x="901964" y="2090684"/>
            <a:ext cx="317480" cy="317480"/>
          </a:xfrm>
          <a:prstGeom prst="rect">
            <a:avLst/>
          </a:prstGeom>
        </p:spPr>
      </p:pic>
      <p:sp>
        <p:nvSpPr>
          <p:cNvPr id="11" name="Text 6"/>
          <p:cNvSpPr txBox="1"/>
          <p:nvPr/>
        </p:nvSpPr>
        <p:spPr>
          <a:xfrm>
            <a:off x="1463040" y="2011680"/>
            <a:ext cx="2560320" cy="457200"/>
          </a:xfrm>
          <a:prstGeom prst="rect">
            <a:avLst/>
          </a:prstGeom>
          <a:noFill/>
          <a:ln/>
        </p:spPr>
        <p:txBody>
          <a:bodyPr wrap="square" lIns="0" tIns="0" rIns="0" bIns="0" rtlCol="0" anchor="ctr"/>
          <a:lstStyle/>
          <a:p>
            <a:pPr indent="0" marL="0">
              <a:buNone/>
            </a:pPr>
            <a:r>
              <a:rPr lang="en-US" sz="1500" b="1" dirty="0">
                <a:solidFill>
                  <a:srgbClr val="0F172A"/>
                </a:solidFill>
                <a:latin typeface="Roboto" pitchFamily="34" charset="0"/>
                <a:ea typeface="Roboto" pitchFamily="34" charset="-122"/>
                <a:cs typeface="Roboto" pitchFamily="34" charset="-120"/>
              </a:rPr>
              <a:t>PII Masking  #5</a:t>
            </a:r>
            <a:endParaRPr lang="en-US" sz="1500" dirty="0"/>
          </a:p>
        </p:txBody>
      </p:sp>
      <p:sp>
        <p:nvSpPr>
          <p:cNvPr id="12" name="Shape 7"/>
          <p:cNvSpPr/>
          <p:nvPr/>
        </p:nvSpPr>
        <p:spPr>
          <a:xfrm>
            <a:off x="777240" y="2697480"/>
            <a:ext cx="3108960" cy="1188720"/>
          </a:xfrm>
          <a:prstGeom prst="roundRect">
            <a:avLst>
              <a:gd name="adj" fmla="val 6154"/>
            </a:avLst>
          </a:prstGeom>
          <a:solidFill>
            <a:srgbClr val="FFFFFF"/>
          </a:solidFill>
          <a:ln w="12700">
            <a:solidFill>
              <a:srgbClr val="E2E8F0"/>
            </a:solidFill>
            <a:prstDash val="solid"/>
          </a:ln>
        </p:spPr>
      </p:sp>
      <p:sp>
        <p:nvSpPr>
          <p:cNvPr id="13" name="Text 8"/>
          <p:cNvSpPr txBox="1"/>
          <p:nvPr/>
        </p:nvSpPr>
        <p:spPr>
          <a:xfrm>
            <a:off x="914400" y="2770632"/>
            <a:ext cx="914400" cy="228600"/>
          </a:xfrm>
          <a:prstGeom prst="rect">
            <a:avLst/>
          </a:prstGeom>
          <a:noFill/>
          <a:ln/>
        </p:spPr>
        <p:txBody>
          <a:bodyPr wrap="square" lIns="0" tIns="0" rIns="0" bIns="0" rtlCol="0" anchor="ctr"/>
          <a:lstStyle/>
          <a:p>
            <a:pPr indent="0" marL="0">
              <a:buNone/>
            </a:pPr>
            <a:r>
              <a:rPr lang="en-US" sz="900" b="1" dirty="0">
                <a:solidFill>
                  <a:srgbClr val="64748B"/>
                </a:solidFill>
                <a:latin typeface="Roboto" pitchFamily="34" charset="0"/>
                <a:ea typeface="Roboto" pitchFamily="34" charset="-122"/>
                <a:cs typeface="Roboto" pitchFamily="34" charset="-120"/>
              </a:rPr>
              <a:t>PAN</a:t>
            </a:r>
            <a:endParaRPr lang="en-US" sz="900" dirty="0"/>
          </a:p>
        </p:txBody>
      </p:sp>
      <p:sp>
        <p:nvSpPr>
          <p:cNvPr id="14" name="Text 9"/>
          <p:cNvSpPr txBox="1"/>
          <p:nvPr/>
        </p:nvSpPr>
        <p:spPr>
          <a:xfrm>
            <a:off x="914400" y="2999232"/>
            <a:ext cx="2926080" cy="320040"/>
          </a:xfrm>
          <a:prstGeom prst="rect">
            <a:avLst/>
          </a:prstGeom>
          <a:noFill/>
          <a:ln/>
        </p:spPr>
        <p:txBody>
          <a:bodyPr wrap="square" lIns="0" tIns="0" rIns="0" bIns="0" rtlCol="0" anchor="ctr"/>
          <a:lstStyle/>
          <a:p>
            <a:pPr indent="0" marL="0">
              <a:buNone/>
            </a:pPr>
            <a:r>
              <a:rPr lang="en-US" sz="1250" strike="sngStrike" dirty="0">
                <a:solidFill>
                  <a:srgbClr val="94A3B8"/>
                </a:solidFill>
                <a:latin typeface="Consolas" pitchFamily="34" charset="0"/>
                <a:ea typeface="Consolas" pitchFamily="34" charset="-122"/>
                <a:cs typeface="Consolas" pitchFamily="34" charset="-120"/>
              </a:rPr>
              <a:t>MCQPD5333A</a:t>
            </a:r>
            <a:pPr indent="0" marL="0">
              <a:buNone/>
            </a:pPr>
            <a:r>
              <a:rPr lang="en-US" sz="1250" dirty="0">
                <a:solidFill>
                  <a:srgbClr val="64748B"/>
                </a:solidFill>
                <a:latin typeface="Consolas" pitchFamily="34" charset="0"/>
                <a:ea typeface="Consolas" pitchFamily="34" charset="-122"/>
                <a:cs typeface="Consolas" pitchFamily="34" charset="-120"/>
              </a:rPr>
              <a:t>  →  </a:t>
            </a:r>
            <a:pPr indent="0" marL="0">
              <a:buNone/>
            </a:pPr>
            <a:r>
              <a:rPr lang="en-US" sz="1250" b="1" dirty="0">
                <a:solidFill>
                  <a:srgbClr val="0891B2"/>
                </a:solidFill>
                <a:latin typeface="Consolas" pitchFamily="34" charset="0"/>
                <a:ea typeface="Consolas" pitchFamily="34" charset="-122"/>
                <a:cs typeface="Consolas" pitchFamily="34" charset="-120"/>
              </a:rPr>
              <a:t>XXXXXX333A</a:t>
            </a:r>
            <a:endParaRPr lang="en-US" sz="1250" dirty="0"/>
          </a:p>
        </p:txBody>
      </p:sp>
      <p:sp>
        <p:nvSpPr>
          <p:cNvPr id="15" name="Text 10"/>
          <p:cNvSpPr txBox="1"/>
          <p:nvPr/>
        </p:nvSpPr>
        <p:spPr>
          <a:xfrm>
            <a:off x="914400" y="3310128"/>
            <a:ext cx="1097280" cy="228600"/>
          </a:xfrm>
          <a:prstGeom prst="rect">
            <a:avLst/>
          </a:prstGeom>
          <a:noFill/>
          <a:ln/>
        </p:spPr>
        <p:txBody>
          <a:bodyPr wrap="square" lIns="0" tIns="0" rIns="0" bIns="0" rtlCol="0" anchor="ctr"/>
          <a:lstStyle/>
          <a:p>
            <a:pPr indent="0" marL="0">
              <a:buNone/>
            </a:pPr>
            <a:r>
              <a:rPr lang="en-US" sz="900" b="1" dirty="0">
                <a:solidFill>
                  <a:srgbClr val="64748B"/>
                </a:solidFill>
                <a:latin typeface="Roboto" pitchFamily="34" charset="0"/>
                <a:ea typeface="Roboto" pitchFamily="34" charset="-122"/>
                <a:cs typeface="Roboto" pitchFamily="34" charset="-120"/>
              </a:rPr>
              <a:t>AADHAAR</a:t>
            </a:r>
            <a:endParaRPr lang="en-US" sz="900" dirty="0"/>
          </a:p>
        </p:txBody>
      </p:sp>
      <p:sp>
        <p:nvSpPr>
          <p:cNvPr id="16" name="Text 11"/>
          <p:cNvSpPr txBox="1"/>
          <p:nvPr/>
        </p:nvSpPr>
        <p:spPr>
          <a:xfrm>
            <a:off x="914400" y="3529584"/>
            <a:ext cx="2926080" cy="274320"/>
          </a:xfrm>
          <a:prstGeom prst="rect">
            <a:avLst/>
          </a:prstGeom>
          <a:noFill/>
          <a:ln/>
        </p:spPr>
        <p:txBody>
          <a:bodyPr wrap="square" lIns="0" tIns="0" rIns="0" bIns="0" rtlCol="0" anchor="ctr"/>
          <a:lstStyle/>
          <a:p>
            <a:pPr indent="0" marL="0">
              <a:buNone/>
            </a:pPr>
            <a:r>
              <a:rPr lang="en-US" sz="1250" b="1" dirty="0">
                <a:solidFill>
                  <a:srgbClr val="0891B2"/>
                </a:solidFill>
                <a:latin typeface="Consolas" pitchFamily="34" charset="0"/>
                <a:ea typeface="Consolas" pitchFamily="34" charset="-122"/>
                <a:cs typeface="Consolas" pitchFamily="34" charset="-120"/>
              </a:rPr>
              <a:t>XXXX XXXX </a:t>
            </a:r>
            <a:pPr indent="0" marL="0">
              <a:buNone/>
            </a:pPr>
            <a:r>
              <a:rPr lang="en-US" sz="1250" b="1" dirty="0">
                <a:solidFill>
                  <a:srgbClr val="0F172A"/>
                </a:solidFill>
                <a:latin typeface="Consolas" pitchFamily="34" charset="0"/>
                <a:ea typeface="Consolas" pitchFamily="34" charset="-122"/>
                <a:cs typeface="Consolas" pitchFamily="34" charset="-120"/>
              </a:rPr>
              <a:t>5784</a:t>
            </a:r>
            <a:endParaRPr lang="en-US" sz="1250" dirty="0"/>
          </a:p>
        </p:txBody>
      </p:sp>
      <p:sp>
        <p:nvSpPr>
          <p:cNvPr id="17" name="Text 12"/>
          <p:cNvSpPr txBox="1"/>
          <p:nvPr/>
        </p:nvSpPr>
        <p:spPr>
          <a:xfrm>
            <a:off x="777240" y="4041648"/>
            <a:ext cx="3154680" cy="1234440"/>
          </a:xfrm>
          <a:prstGeom prst="rect">
            <a:avLst/>
          </a:prstGeom>
          <a:noFill/>
          <a:ln/>
        </p:spPr>
        <p:txBody>
          <a:bodyPr wrap="square" lIns="0" tIns="0" rIns="0" bIns="0" rtlCol="0" anchor="t"/>
          <a:lstStyle/>
          <a:p>
            <a:pPr marL="177800" indent="-177800">
              <a:spcAft>
                <a:spcPts val="500"/>
              </a:spcAft>
              <a:buSzPct val="100000"/>
              <a:buChar char="•"/>
            </a:pPr>
            <a:r>
              <a:rPr lang="en-US" sz="1100" dirty="0">
                <a:solidFill>
                  <a:srgbClr val="334155"/>
                </a:solidFill>
                <a:latin typeface="Roboto" pitchFamily="34" charset="0"/>
                <a:ea typeface="Roboto" pitchFamily="34" charset="-122"/>
                <a:cs typeface="Roboto" pitchFamily="34" charset="-120"/>
              </a:rPr>
              <a:t>Finds the ID number, even inside a line of text, and masks all but the last four</a:t>
            </a:r>
            <a:endParaRPr lang="en-US" sz="1100" dirty="0"/>
          </a:p>
          <a:p>
            <a:pPr marL="177800" indent="-177800">
              <a:spcAft>
                <a:spcPts val="500"/>
              </a:spcAft>
              <a:buSzPct val="100000"/>
              <a:buChar char="•"/>
            </a:pPr>
            <a:r>
              <a:rPr lang="en-US" sz="1100" dirty="0">
                <a:solidFill>
                  <a:srgbClr val="334155"/>
                </a:solidFill>
                <a:latin typeface="Roboto" pitchFamily="34" charset="0"/>
                <a:ea typeface="Roboto" pitchFamily="34" charset="-122"/>
                <a:cs typeface="Roboto" pitchFamily="34" charset="-120"/>
              </a:rPr>
              <a:t>Reads the card upright first, so sideways photos can't leak</a:t>
            </a:r>
            <a:endParaRPr lang="en-US" sz="1100" dirty="0"/>
          </a:p>
          <a:p>
            <a:pPr marL="177800" indent="-177800">
              <a:spcAft>
                <a:spcPts val="500"/>
              </a:spcAft>
              <a:buSzPct val="100000"/>
              <a:buChar char="•"/>
            </a:pPr>
            <a:r>
              <a:rPr lang="en-US" sz="1100" dirty="0">
                <a:solidFill>
                  <a:srgbClr val="334155"/>
                </a:solidFill>
                <a:latin typeface="Roboto" pitchFamily="34" charset="0"/>
                <a:ea typeface="Roboto" pitchFamily="34" charset="-122"/>
                <a:cs typeface="Roboto" pitchFamily="34" charset="-120"/>
              </a:rPr>
              <a:t>A card whose number can't be located is withheld, never shown unmasked</a:t>
            </a:r>
            <a:endParaRPr lang="en-US" sz="1100" dirty="0"/>
          </a:p>
        </p:txBody>
      </p:sp>
      <p:sp>
        <p:nvSpPr>
          <p:cNvPr id="18" name="Shape 13"/>
          <p:cNvSpPr/>
          <p:nvPr/>
        </p:nvSpPr>
        <p:spPr>
          <a:xfrm>
            <a:off x="777240" y="5376672"/>
            <a:ext cx="3108960" cy="749808"/>
          </a:xfrm>
          <a:prstGeom prst="roundRect">
            <a:avLst>
              <a:gd name="adj" fmla="val 9756"/>
            </a:avLst>
          </a:prstGeom>
          <a:solidFill>
            <a:srgbClr val="FFFFFF"/>
          </a:solidFill>
          <a:ln w="12700">
            <a:solidFill>
              <a:srgbClr val="E2E8F0"/>
            </a:solidFill>
            <a:prstDash val="solid"/>
          </a:ln>
        </p:spPr>
      </p:sp>
      <p:sp>
        <p:nvSpPr>
          <p:cNvPr id="19" name="Text 14"/>
          <p:cNvSpPr txBox="1"/>
          <p:nvPr/>
        </p:nvSpPr>
        <p:spPr>
          <a:xfrm>
            <a:off x="896112" y="5376672"/>
            <a:ext cx="1097280" cy="749808"/>
          </a:xfrm>
          <a:prstGeom prst="rect">
            <a:avLst/>
          </a:prstGeom>
          <a:noFill/>
          <a:ln/>
        </p:spPr>
        <p:txBody>
          <a:bodyPr wrap="square" lIns="0" tIns="0" rIns="0" bIns="0" rtlCol="0" anchor="ctr"/>
          <a:lstStyle/>
          <a:p>
            <a:pPr indent="0" marL="0">
              <a:buNone/>
            </a:pPr>
            <a:r>
              <a:rPr lang="en-US" sz="2000" b="1" dirty="0">
                <a:solidFill>
                  <a:srgbClr val="D97706"/>
                </a:solidFill>
                <a:latin typeface="Roboto" pitchFamily="34" charset="0"/>
                <a:ea typeface="Roboto" pitchFamily="34" charset="-122"/>
                <a:cs typeface="Roboto" pitchFamily="34" charset="-120"/>
              </a:rPr>
              <a:t>98.4%</a:t>
            </a:r>
            <a:endParaRPr lang="en-US" sz="2000" dirty="0"/>
          </a:p>
        </p:txBody>
      </p:sp>
      <p:sp>
        <p:nvSpPr>
          <p:cNvPr id="20" name="Text 15"/>
          <p:cNvSpPr txBox="1"/>
          <p:nvPr/>
        </p:nvSpPr>
        <p:spPr>
          <a:xfrm>
            <a:off x="1965960" y="5376672"/>
            <a:ext cx="1874520" cy="749808"/>
          </a:xfrm>
          <a:prstGeom prst="rect">
            <a:avLst/>
          </a:prstGeom>
          <a:noFill/>
          <a:ln/>
        </p:spPr>
        <p:txBody>
          <a:bodyPr wrap="square" lIns="0" tIns="0" rIns="0" bIns="0" rtlCol="0" anchor="ctr"/>
          <a:lstStyle/>
          <a:p>
            <a:pPr indent="0" marL="0">
              <a:buNone/>
            </a:pPr>
            <a:r>
              <a:rPr lang="en-US" sz="950" dirty="0">
                <a:solidFill>
                  <a:srgbClr val="64748B"/>
                </a:solidFill>
                <a:latin typeface="Roboto" pitchFamily="34" charset="0"/>
                <a:ea typeface="Roboto" pitchFamily="34" charset="-122"/>
                <a:cs typeface="Roboto" pitchFamily="34" charset="-120"/>
              </a:rPr>
              <a:t>no full ID readable on 187 of 190 documents · target 100%</a:t>
            </a:r>
            <a:endParaRPr lang="en-US" sz="950" dirty="0"/>
          </a:p>
        </p:txBody>
      </p:sp>
      <p:sp>
        <p:nvSpPr>
          <p:cNvPr id="21" name="Shape 16"/>
          <p:cNvSpPr/>
          <p:nvPr/>
        </p:nvSpPr>
        <p:spPr>
          <a:xfrm>
            <a:off x="4297680" y="1783080"/>
            <a:ext cx="3566160" cy="4526280"/>
          </a:xfrm>
          <a:prstGeom prst="roundRect">
            <a:avLst>
              <a:gd name="adj" fmla="val 3077"/>
            </a:avLst>
          </a:prstGeom>
          <a:solidFill>
            <a:srgbClr val="F8FAFC"/>
          </a:solidFill>
          <a:ln w="12700">
            <a:solidFill>
              <a:srgbClr val="E2E8F0"/>
            </a:solidFill>
            <a:prstDash val="solid"/>
          </a:ln>
        </p:spPr>
      </p:sp>
      <p:sp>
        <p:nvSpPr>
          <p:cNvPr id="22" name="Shape 17"/>
          <p:cNvSpPr/>
          <p:nvPr/>
        </p:nvSpPr>
        <p:spPr>
          <a:xfrm>
            <a:off x="4526280" y="1965960"/>
            <a:ext cx="566928" cy="566928"/>
          </a:xfrm>
          <a:prstGeom prst="ellipse">
            <a:avLst/>
          </a:prstGeom>
          <a:solidFill>
            <a:srgbClr val="FFF1F2"/>
          </a:solidFill>
          <a:ln w="12700">
            <a:solidFill>
              <a:srgbClr val="FFF1F2"/>
            </a:solidFill>
            <a:prstDash val="solid"/>
          </a:ln>
        </p:spPr>
      </p:sp>
      <p:pic>
        <p:nvPicPr>
          <p:cNvPr id="23" name="Image 2" descr="preencoded.png">    </p:cNvPr>
          <p:cNvPicPr>
            <a:picLocks noChangeAspect="1"/>
          </p:cNvPicPr>
          <p:nvPr/>
        </p:nvPicPr>
        <p:blipFill>
          <a:blip r:embed="rId3"/>
          <a:stretch>
            <a:fillRect/>
          </a:stretch>
        </p:blipFill>
        <p:spPr>
          <a:xfrm>
            <a:off x="4651004" y="2090684"/>
            <a:ext cx="317480" cy="317480"/>
          </a:xfrm>
          <a:prstGeom prst="rect">
            <a:avLst/>
          </a:prstGeom>
        </p:spPr>
      </p:pic>
      <p:sp>
        <p:nvSpPr>
          <p:cNvPr id="24" name="Text 18"/>
          <p:cNvSpPr txBox="1"/>
          <p:nvPr/>
        </p:nvSpPr>
        <p:spPr>
          <a:xfrm>
            <a:off x="5212080" y="2011680"/>
            <a:ext cx="2560320" cy="457200"/>
          </a:xfrm>
          <a:prstGeom prst="rect">
            <a:avLst/>
          </a:prstGeom>
          <a:noFill/>
          <a:ln/>
        </p:spPr>
        <p:txBody>
          <a:bodyPr wrap="square" lIns="0" tIns="0" rIns="0" bIns="0" rtlCol="0" anchor="ctr"/>
          <a:lstStyle/>
          <a:p>
            <a:pPr indent="0" marL="0">
              <a:buNone/>
            </a:pPr>
            <a:r>
              <a:rPr lang="en-US" sz="1500" b="1" dirty="0">
                <a:solidFill>
                  <a:srgbClr val="0F172A"/>
                </a:solidFill>
                <a:latin typeface="Roboto" pitchFamily="34" charset="0"/>
                <a:ea typeface="Roboto" pitchFamily="34" charset="-122"/>
                <a:cs typeface="Roboto" pitchFamily="34" charset="-120"/>
              </a:rPr>
              <a:t>Face Verification  #6</a:t>
            </a:r>
            <a:endParaRPr lang="en-US" sz="1500" dirty="0"/>
          </a:p>
        </p:txBody>
      </p:sp>
      <p:sp>
        <p:nvSpPr>
          <p:cNvPr id="25" name="Shape 19"/>
          <p:cNvSpPr/>
          <p:nvPr/>
        </p:nvSpPr>
        <p:spPr>
          <a:xfrm>
            <a:off x="4526280" y="2971800"/>
            <a:ext cx="896112" cy="640080"/>
          </a:xfrm>
          <a:prstGeom prst="roundRect">
            <a:avLst>
              <a:gd name="adj" fmla="val 11429"/>
            </a:avLst>
          </a:prstGeom>
          <a:solidFill>
            <a:srgbClr val="FFFFFF"/>
          </a:solidFill>
          <a:ln w="12700">
            <a:solidFill>
              <a:srgbClr val="E11D48"/>
            </a:solidFill>
            <a:prstDash val="solid"/>
          </a:ln>
        </p:spPr>
      </p:sp>
      <p:sp>
        <p:nvSpPr>
          <p:cNvPr id="26" name="Text 20"/>
          <p:cNvSpPr txBox="1"/>
          <p:nvPr/>
        </p:nvSpPr>
        <p:spPr>
          <a:xfrm>
            <a:off x="4599432" y="2990088"/>
            <a:ext cx="749808" cy="603504"/>
          </a:xfrm>
          <a:prstGeom prst="rect">
            <a:avLst/>
          </a:prstGeom>
          <a:noFill/>
          <a:ln/>
        </p:spPr>
        <p:txBody>
          <a:bodyPr wrap="square" lIns="0" tIns="0" rIns="0" bIns="0" rtlCol="0" anchor="ctr"/>
          <a:lstStyle/>
          <a:p>
            <a:pPr algn="ctr" indent="0" marL="0">
              <a:spcAft>
                <a:spcPts val="200"/>
              </a:spcAft>
              <a:buNone/>
            </a:pPr>
            <a:r>
              <a:rPr lang="en-US" sz="1050" b="1" dirty="0">
                <a:solidFill>
                  <a:srgbClr val="E11D48"/>
                </a:solidFill>
                <a:latin typeface="Roboto" pitchFamily="34" charset="0"/>
                <a:ea typeface="Roboto" pitchFamily="34" charset="-122"/>
                <a:cs typeface="Roboto" pitchFamily="34" charset="-120"/>
              </a:rPr>
              <a:t>YuNet</a:t>
            </a:r>
            <a:endParaRPr lang="en-US" sz="1050" dirty="0"/>
          </a:p>
        </p:txBody>
      </p:sp>
      <p:sp>
        <p:nvSpPr>
          <p:cNvPr id="27" name="Shape 21"/>
          <p:cNvSpPr/>
          <p:nvPr/>
        </p:nvSpPr>
        <p:spPr>
          <a:xfrm>
            <a:off x="5431536" y="3291840"/>
            <a:ext cx="164592" cy="0"/>
          </a:xfrm>
          <a:prstGeom prst="line">
            <a:avLst/>
          </a:prstGeom>
          <a:noFill/>
          <a:ln w="19050">
            <a:solidFill>
              <a:srgbClr val="E11D48"/>
            </a:solidFill>
            <a:prstDash val="solid"/>
            <a:tailEnd type="triangle"/>
          </a:ln>
        </p:spPr>
      </p:sp>
      <p:sp>
        <p:nvSpPr>
          <p:cNvPr id="28" name="Shape 22"/>
          <p:cNvSpPr/>
          <p:nvPr/>
        </p:nvSpPr>
        <p:spPr>
          <a:xfrm>
            <a:off x="5605272" y="2971800"/>
            <a:ext cx="896112" cy="640080"/>
          </a:xfrm>
          <a:prstGeom prst="roundRect">
            <a:avLst>
              <a:gd name="adj" fmla="val 11429"/>
            </a:avLst>
          </a:prstGeom>
          <a:solidFill>
            <a:srgbClr val="FFFFFF"/>
          </a:solidFill>
          <a:ln w="12700">
            <a:solidFill>
              <a:srgbClr val="E11D48"/>
            </a:solidFill>
            <a:prstDash val="solid"/>
          </a:ln>
        </p:spPr>
      </p:sp>
      <p:sp>
        <p:nvSpPr>
          <p:cNvPr id="29" name="Text 23"/>
          <p:cNvSpPr txBox="1"/>
          <p:nvPr/>
        </p:nvSpPr>
        <p:spPr>
          <a:xfrm>
            <a:off x="5678424" y="2990088"/>
            <a:ext cx="749808" cy="603504"/>
          </a:xfrm>
          <a:prstGeom prst="rect">
            <a:avLst/>
          </a:prstGeom>
          <a:noFill/>
          <a:ln/>
        </p:spPr>
        <p:txBody>
          <a:bodyPr wrap="square" lIns="0" tIns="0" rIns="0" bIns="0" rtlCol="0" anchor="ctr"/>
          <a:lstStyle/>
          <a:p>
            <a:pPr algn="ctr" indent="0" marL="0">
              <a:spcAft>
                <a:spcPts val="200"/>
              </a:spcAft>
              <a:buNone/>
            </a:pPr>
            <a:r>
              <a:rPr lang="en-US" sz="1050" b="1" dirty="0">
                <a:solidFill>
                  <a:srgbClr val="E11D48"/>
                </a:solidFill>
                <a:latin typeface="Roboto" pitchFamily="34" charset="0"/>
                <a:ea typeface="Roboto" pitchFamily="34" charset="-122"/>
                <a:cs typeface="Roboto" pitchFamily="34" charset="-120"/>
              </a:rPr>
              <a:t>SFace</a:t>
            </a:r>
            <a:endParaRPr lang="en-US" sz="1050" dirty="0"/>
          </a:p>
        </p:txBody>
      </p:sp>
      <p:sp>
        <p:nvSpPr>
          <p:cNvPr id="30" name="Shape 24"/>
          <p:cNvSpPr/>
          <p:nvPr/>
        </p:nvSpPr>
        <p:spPr>
          <a:xfrm>
            <a:off x="6510528" y="3291840"/>
            <a:ext cx="164592" cy="0"/>
          </a:xfrm>
          <a:prstGeom prst="line">
            <a:avLst/>
          </a:prstGeom>
          <a:noFill/>
          <a:ln w="19050">
            <a:solidFill>
              <a:srgbClr val="E11D48"/>
            </a:solidFill>
            <a:prstDash val="solid"/>
            <a:tailEnd type="triangle"/>
          </a:ln>
        </p:spPr>
      </p:sp>
      <p:sp>
        <p:nvSpPr>
          <p:cNvPr id="31" name="Shape 25"/>
          <p:cNvSpPr/>
          <p:nvPr/>
        </p:nvSpPr>
        <p:spPr>
          <a:xfrm>
            <a:off x="6684264" y="2971800"/>
            <a:ext cx="896112" cy="640080"/>
          </a:xfrm>
          <a:prstGeom prst="roundRect">
            <a:avLst>
              <a:gd name="adj" fmla="val 11429"/>
            </a:avLst>
          </a:prstGeom>
          <a:solidFill>
            <a:srgbClr val="FFFFFF"/>
          </a:solidFill>
          <a:ln w="12700">
            <a:solidFill>
              <a:srgbClr val="E11D48"/>
            </a:solidFill>
            <a:prstDash val="solid"/>
          </a:ln>
        </p:spPr>
      </p:sp>
      <p:sp>
        <p:nvSpPr>
          <p:cNvPr id="32" name="Text 26"/>
          <p:cNvSpPr txBox="1"/>
          <p:nvPr/>
        </p:nvSpPr>
        <p:spPr>
          <a:xfrm>
            <a:off x="6757416" y="2990088"/>
            <a:ext cx="749808" cy="603504"/>
          </a:xfrm>
          <a:prstGeom prst="rect">
            <a:avLst/>
          </a:prstGeom>
          <a:noFill/>
          <a:ln/>
        </p:spPr>
        <p:txBody>
          <a:bodyPr wrap="square" lIns="0" tIns="0" rIns="0" bIns="0" rtlCol="0" anchor="ctr"/>
          <a:lstStyle/>
          <a:p>
            <a:pPr algn="ctr" indent="0" marL="0">
              <a:spcAft>
                <a:spcPts val="200"/>
              </a:spcAft>
              <a:buNone/>
            </a:pPr>
            <a:r>
              <a:rPr lang="en-US" sz="1050" b="1" dirty="0">
                <a:solidFill>
                  <a:srgbClr val="E11D48"/>
                </a:solidFill>
                <a:latin typeface="Roboto" pitchFamily="34" charset="0"/>
                <a:ea typeface="Roboto" pitchFamily="34" charset="-122"/>
                <a:cs typeface="Roboto" pitchFamily="34" charset="-120"/>
              </a:rPr>
              <a:t>≥ 0.363</a:t>
            </a:r>
            <a:endParaRPr lang="en-US" sz="1050" dirty="0"/>
          </a:p>
        </p:txBody>
      </p:sp>
      <p:sp>
        <p:nvSpPr>
          <p:cNvPr id="33" name="Text 27"/>
          <p:cNvSpPr txBox="1"/>
          <p:nvPr/>
        </p:nvSpPr>
        <p:spPr>
          <a:xfrm>
            <a:off x="4526280" y="4041648"/>
            <a:ext cx="3154680" cy="1234440"/>
          </a:xfrm>
          <a:prstGeom prst="rect">
            <a:avLst/>
          </a:prstGeom>
          <a:noFill/>
          <a:ln/>
        </p:spPr>
        <p:txBody>
          <a:bodyPr wrap="square" lIns="0" tIns="0" rIns="0" bIns="0" rtlCol="0" anchor="t"/>
          <a:lstStyle/>
          <a:p>
            <a:pPr marL="177800" indent="-177800">
              <a:spcAft>
                <a:spcPts val="500"/>
              </a:spcAft>
              <a:buSzPct val="100000"/>
              <a:buChar char="•"/>
            </a:pPr>
            <a:r>
              <a:rPr lang="en-US" sz="1100" dirty="0">
                <a:solidFill>
                  <a:srgbClr val="334155"/>
                </a:solidFill>
                <a:latin typeface="Roboto" pitchFamily="34" charset="0"/>
                <a:ea typeface="Roboto" pitchFamily="34" charset="-122"/>
                <a:cs typeface="Roboto" pitchFamily="34" charset="-120"/>
              </a:rPr>
              <a:t>YuNet finds each face, SFace turns it into an embedding</a:t>
            </a:r>
            <a:endParaRPr lang="en-US" sz="1100" dirty="0"/>
          </a:p>
          <a:p>
            <a:pPr marL="177800" indent="-177800">
              <a:spcAft>
                <a:spcPts val="500"/>
              </a:spcAft>
              <a:buSzPct val="100000"/>
              <a:buChar char="•"/>
            </a:pPr>
            <a:r>
              <a:rPr lang="en-US" sz="1100" dirty="0">
                <a:solidFill>
                  <a:srgbClr val="334155"/>
                </a:solidFill>
                <a:latin typeface="Roboto" pitchFamily="34" charset="0"/>
                <a:ea typeface="Roboto" pitchFamily="34" charset="-122"/>
                <a:cs typeface="Roboto" pitchFamily="34" charset="-120"/>
              </a:rPr>
              <a:t>Cosine similarity ≥ 0.363 → same person (0.3% false matches)</a:t>
            </a:r>
            <a:endParaRPr lang="en-US" sz="1100" dirty="0"/>
          </a:p>
          <a:p>
            <a:pPr marL="177800" indent="-177800">
              <a:spcAft>
                <a:spcPts val="500"/>
              </a:spcAft>
              <a:buSzPct val="100000"/>
              <a:buChar char="•"/>
            </a:pPr>
            <a:r>
              <a:rPr lang="en-US" sz="1100" dirty="0">
                <a:solidFill>
                  <a:srgbClr val="334155"/>
                </a:solidFill>
                <a:latin typeface="Roboto" pitchFamily="34" charset="0"/>
                <a:ea typeface="Roboto" pitchFamily="34" charset="-122"/>
                <a:cs typeface="Roboto" pitchFamily="34" charset="-120"/>
              </a:rPr>
              <a:t>A blurry or tiny face can only be 'uncertain', never 'mismatch'</a:t>
            </a:r>
            <a:endParaRPr lang="en-US" sz="1100" dirty="0"/>
          </a:p>
        </p:txBody>
      </p:sp>
      <p:sp>
        <p:nvSpPr>
          <p:cNvPr id="34" name="Shape 28"/>
          <p:cNvSpPr/>
          <p:nvPr/>
        </p:nvSpPr>
        <p:spPr>
          <a:xfrm>
            <a:off x="4526280" y="5376672"/>
            <a:ext cx="3108960" cy="749808"/>
          </a:xfrm>
          <a:prstGeom prst="roundRect">
            <a:avLst>
              <a:gd name="adj" fmla="val 9756"/>
            </a:avLst>
          </a:prstGeom>
          <a:solidFill>
            <a:srgbClr val="FFFFFF"/>
          </a:solidFill>
          <a:ln w="12700">
            <a:solidFill>
              <a:srgbClr val="E2E8F0"/>
            </a:solidFill>
            <a:prstDash val="solid"/>
          </a:ln>
        </p:spPr>
      </p:sp>
      <p:sp>
        <p:nvSpPr>
          <p:cNvPr id="35" name="Text 29"/>
          <p:cNvSpPr txBox="1"/>
          <p:nvPr/>
        </p:nvSpPr>
        <p:spPr>
          <a:xfrm>
            <a:off x="4645152" y="5376672"/>
            <a:ext cx="1097280" cy="749808"/>
          </a:xfrm>
          <a:prstGeom prst="rect">
            <a:avLst/>
          </a:prstGeom>
          <a:noFill/>
          <a:ln/>
        </p:spPr>
        <p:txBody>
          <a:bodyPr wrap="square" lIns="0" tIns="0" rIns="0" bIns="0" rtlCol="0" anchor="ctr"/>
          <a:lstStyle/>
          <a:p>
            <a:pPr indent="0" marL="0">
              <a:buNone/>
            </a:pPr>
            <a:r>
              <a:rPr lang="en-US" sz="2000" b="1" dirty="0">
                <a:solidFill>
                  <a:srgbClr val="16A34A"/>
                </a:solidFill>
                <a:latin typeface="Roboto" pitchFamily="34" charset="0"/>
                <a:ea typeface="Roboto" pitchFamily="34" charset="-122"/>
                <a:cs typeface="Roboto" pitchFamily="34" charset="-120"/>
              </a:rPr>
              <a:t>95.9%</a:t>
            </a:r>
            <a:endParaRPr lang="en-US" sz="2000" dirty="0"/>
          </a:p>
        </p:txBody>
      </p:sp>
      <p:sp>
        <p:nvSpPr>
          <p:cNvPr id="36" name="Text 30"/>
          <p:cNvSpPr txBox="1"/>
          <p:nvPr/>
        </p:nvSpPr>
        <p:spPr>
          <a:xfrm>
            <a:off x="5715000" y="5376672"/>
            <a:ext cx="1874520" cy="749808"/>
          </a:xfrm>
          <a:prstGeom prst="rect">
            <a:avLst/>
          </a:prstGeom>
          <a:noFill/>
          <a:ln/>
        </p:spPr>
        <p:txBody>
          <a:bodyPr wrap="square" lIns="0" tIns="0" rIns="0" bIns="0" rtlCol="0" anchor="ctr"/>
          <a:lstStyle/>
          <a:p>
            <a:pPr indent="0" marL="0">
              <a:buNone/>
            </a:pPr>
            <a:r>
              <a:rPr lang="en-US" sz="950" dirty="0">
                <a:solidFill>
                  <a:srgbClr val="64748B"/>
                </a:solidFill>
                <a:latin typeface="Roboto" pitchFamily="34" charset="0"/>
                <a:ea typeface="Roboto" pitchFamily="34" charset="-122"/>
                <a:cs typeface="Roboto" pitchFamily="34" charset="-120"/>
              </a:rPr>
              <a:t>correct verdicts · 4 public benchmarks, also printed on ID cards</a:t>
            </a:r>
            <a:endParaRPr lang="en-US" sz="950" dirty="0"/>
          </a:p>
        </p:txBody>
      </p:sp>
      <p:sp>
        <p:nvSpPr>
          <p:cNvPr id="37" name="Shape 31"/>
          <p:cNvSpPr/>
          <p:nvPr/>
        </p:nvSpPr>
        <p:spPr>
          <a:xfrm>
            <a:off x="8046720" y="1783080"/>
            <a:ext cx="3566160" cy="4526280"/>
          </a:xfrm>
          <a:prstGeom prst="roundRect">
            <a:avLst>
              <a:gd name="adj" fmla="val 3077"/>
            </a:avLst>
          </a:prstGeom>
          <a:solidFill>
            <a:srgbClr val="F8FAFC"/>
          </a:solidFill>
          <a:ln w="12700">
            <a:solidFill>
              <a:srgbClr val="E2E8F0"/>
            </a:solidFill>
            <a:prstDash val="solid"/>
          </a:ln>
        </p:spPr>
      </p:sp>
      <p:sp>
        <p:nvSpPr>
          <p:cNvPr id="38" name="Shape 32"/>
          <p:cNvSpPr/>
          <p:nvPr/>
        </p:nvSpPr>
        <p:spPr>
          <a:xfrm>
            <a:off x="8275320" y="1965960"/>
            <a:ext cx="566928" cy="566928"/>
          </a:xfrm>
          <a:prstGeom prst="ellipse">
            <a:avLst/>
          </a:prstGeom>
          <a:solidFill>
            <a:srgbClr val="FFF1F2"/>
          </a:solidFill>
          <a:ln w="12700">
            <a:solidFill>
              <a:srgbClr val="FFF1F2"/>
            </a:solidFill>
            <a:prstDash val="solid"/>
          </a:ln>
        </p:spPr>
      </p:sp>
      <p:pic>
        <p:nvPicPr>
          <p:cNvPr id="39" name="Image 3" descr="preencoded.png">    </p:cNvPr>
          <p:cNvPicPr>
            <a:picLocks noChangeAspect="1"/>
          </p:cNvPicPr>
          <p:nvPr/>
        </p:nvPicPr>
        <p:blipFill>
          <a:blip r:embed="rId4"/>
          <a:stretch>
            <a:fillRect/>
          </a:stretch>
        </p:blipFill>
        <p:spPr>
          <a:xfrm>
            <a:off x="8400044" y="2090684"/>
            <a:ext cx="317480" cy="317480"/>
          </a:xfrm>
          <a:prstGeom prst="rect">
            <a:avLst/>
          </a:prstGeom>
        </p:spPr>
      </p:pic>
      <p:sp>
        <p:nvSpPr>
          <p:cNvPr id="40" name="Text 33"/>
          <p:cNvSpPr txBox="1"/>
          <p:nvPr/>
        </p:nvSpPr>
        <p:spPr>
          <a:xfrm>
            <a:off x="8961120" y="2011680"/>
            <a:ext cx="2560320" cy="457200"/>
          </a:xfrm>
          <a:prstGeom prst="rect">
            <a:avLst/>
          </a:prstGeom>
          <a:noFill/>
          <a:ln/>
        </p:spPr>
        <p:txBody>
          <a:bodyPr wrap="square" lIns="0" tIns="0" rIns="0" bIns="0" rtlCol="0" anchor="ctr"/>
          <a:lstStyle/>
          <a:p>
            <a:pPr indent="0" marL="0">
              <a:buNone/>
            </a:pPr>
            <a:r>
              <a:rPr lang="en-US" sz="1500" b="1" dirty="0">
                <a:solidFill>
                  <a:srgbClr val="0F172A"/>
                </a:solidFill>
                <a:latin typeface="Roboto" pitchFamily="34" charset="0"/>
                <a:ea typeface="Roboto" pitchFamily="34" charset="-122"/>
                <a:cs typeface="Roboto" pitchFamily="34" charset="-120"/>
              </a:rPr>
              <a:t>Liveness  #29</a:t>
            </a:r>
            <a:endParaRPr lang="en-US" sz="1500" dirty="0"/>
          </a:p>
        </p:txBody>
      </p:sp>
      <p:sp>
        <p:nvSpPr>
          <p:cNvPr id="41" name="Shape 34"/>
          <p:cNvSpPr/>
          <p:nvPr/>
        </p:nvSpPr>
        <p:spPr>
          <a:xfrm>
            <a:off x="8275320" y="2971800"/>
            <a:ext cx="896112" cy="640080"/>
          </a:xfrm>
          <a:prstGeom prst="roundRect">
            <a:avLst>
              <a:gd name="adj" fmla="val 11429"/>
            </a:avLst>
          </a:prstGeom>
          <a:solidFill>
            <a:srgbClr val="FFFFFF"/>
          </a:solidFill>
          <a:ln w="12700">
            <a:solidFill>
              <a:srgbClr val="E11D48"/>
            </a:solidFill>
            <a:prstDash val="solid"/>
          </a:ln>
        </p:spPr>
      </p:sp>
      <p:sp>
        <p:nvSpPr>
          <p:cNvPr id="42" name="Text 35"/>
          <p:cNvSpPr txBox="1"/>
          <p:nvPr/>
        </p:nvSpPr>
        <p:spPr>
          <a:xfrm>
            <a:off x="8348472" y="2990088"/>
            <a:ext cx="749808" cy="603504"/>
          </a:xfrm>
          <a:prstGeom prst="rect">
            <a:avLst/>
          </a:prstGeom>
          <a:noFill/>
          <a:ln/>
        </p:spPr>
        <p:txBody>
          <a:bodyPr wrap="square" lIns="0" tIns="0" rIns="0" bIns="0" rtlCol="0" anchor="ctr"/>
          <a:lstStyle/>
          <a:p>
            <a:pPr algn="ctr" indent="0" marL="0">
              <a:spcAft>
                <a:spcPts val="200"/>
              </a:spcAft>
              <a:buNone/>
            </a:pPr>
            <a:r>
              <a:rPr lang="en-US" sz="1050" b="1" dirty="0">
                <a:solidFill>
                  <a:srgbClr val="E11D48"/>
                </a:solidFill>
                <a:latin typeface="Roboto" pitchFamily="34" charset="0"/>
                <a:ea typeface="Roboto" pitchFamily="34" charset="-122"/>
                <a:cs typeface="Roboto" pitchFamily="34" charset="-120"/>
              </a:rPr>
              <a:t>Selfie</a:t>
            </a:r>
            <a:endParaRPr lang="en-US" sz="1050" dirty="0"/>
          </a:p>
        </p:txBody>
      </p:sp>
      <p:sp>
        <p:nvSpPr>
          <p:cNvPr id="43" name="Shape 36"/>
          <p:cNvSpPr/>
          <p:nvPr/>
        </p:nvSpPr>
        <p:spPr>
          <a:xfrm>
            <a:off x="9180576" y="3291840"/>
            <a:ext cx="164592" cy="0"/>
          </a:xfrm>
          <a:prstGeom prst="line">
            <a:avLst/>
          </a:prstGeom>
          <a:noFill/>
          <a:ln w="19050">
            <a:solidFill>
              <a:srgbClr val="E11D48"/>
            </a:solidFill>
            <a:prstDash val="solid"/>
            <a:tailEnd type="triangle"/>
          </a:ln>
        </p:spPr>
      </p:sp>
      <p:sp>
        <p:nvSpPr>
          <p:cNvPr id="44" name="Shape 37"/>
          <p:cNvSpPr/>
          <p:nvPr/>
        </p:nvSpPr>
        <p:spPr>
          <a:xfrm>
            <a:off x="9354312" y="2971800"/>
            <a:ext cx="896112" cy="640080"/>
          </a:xfrm>
          <a:prstGeom prst="roundRect">
            <a:avLst>
              <a:gd name="adj" fmla="val 11429"/>
            </a:avLst>
          </a:prstGeom>
          <a:solidFill>
            <a:srgbClr val="FFFFFF"/>
          </a:solidFill>
          <a:ln w="12700">
            <a:solidFill>
              <a:srgbClr val="E11D48"/>
            </a:solidFill>
            <a:prstDash val="solid"/>
          </a:ln>
        </p:spPr>
      </p:sp>
      <p:sp>
        <p:nvSpPr>
          <p:cNvPr id="45" name="Text 38"/>
          <p:cNvSpPr txBox="1"/>
          <p:nvPr/>
        </p:nvSpPr>
        <p:spPr>
          <a:xfrm>
            <a:off x="9427464" y="2990088"/>
            <a:ext cx="749808" cy="603504"/>
          </a:xfrm>
          <a:prstGeom prst="rect">
            <a:avLst/>
          </a:prstGeom>
          <a:noFill/>
          <a:ln/>
        </p:spPr>
        <p:txBody>
          <a:bodyPr wrap="square" lIns="0" tIns="0" rIns="0" bIns="0" rtlCol="0" anchor="ctr"/>
          <a:lstStyle/>
          <a:p>
            <a:pPr algn="ctr" indent="0" marL="0">
              <a:spcAft>
                <a:spcPts val="200"/>
              </a:spcAft>
              <a:buNone/>
            </a:pPr>
            <a:r>
              <a:rPr lang="en-US" sz="1050" b="1" dirty="0">
                <a:solidFill>
                  <a:srgbClr val="E11D48"/>
                </a:solidFill>
                <a:latin typeface="Roboto" pitchFamily="34" charset="0"/>
                <a:ea typeface="Roboto" pitchFamily="34" charset="-122"/>
                <a:cs typeface="Roboto" pitchFamily="34" charset="-120"/>
              </a:rPr>
              <a:t>MiniFASNet</a:t>
            </a:r>
            <a:endParaRPr lang="en-US" sz="1050" dirty="0"/>
          </a:p>
        </p:txBody>
      </p:sp>
      <p:sp>
        <p:nvSpPr>
          <p:cNvPr id="46" name="Shape 39"/>
          <p:cNvSpPr/>
          <p:nvPr/>
        </p:nvSpPr>
        <p:spPr>
          <a:xfrm>
            <a:off x="10259568" y="3291840"/>
            <a:ext cx="164592" cy="0"/>
          </a:xfrm>
          <a:prstGeom prst="line">
            <a:avLst/>
          </a:prstGeom>
          <a:noFill/>
          <a:ln w="19050">
            <a:solidFill>
              <a:srgbClr val="E11D48"/>
            </a:solidFill>
            <a:prstDash val="solid"/>
            <a:tailEnd type="triangle"/>
          </a:ln>
        </p:spPr>
      </p:sp>
      <p:sp>
        <p:nvSpPr>
          <p:cNvPr id="47" name="Shape 40"/>
          <p:cNvSpPr/>
          <p:nvPr/>
        </p:nvSpPr>
        <p:spPr>
          <a:xfrm>
            <a:off x="10433304" y="2971800"/>
            <a:ext cx="896112" cy="640080"/>
          </a:xfrm>
          <a:prstGeom prst="roundRect">
            <a:avLst>
              <a:gd name="adj" fmla="val 11429"/>
            </a:avLst>
          </a:prstGeom>
          <a:solidFill>
            <a:srgbClr val="FFFFFF"/>
          </a:solidFill>
          <a:ln w="12700">
            <a:solidFill>
              <a:srgbClr val="E11D48"/>
            </a:solidFill>
            <a:prstDash val="solid"/>
          </a:ln>
        </p:spPr>
      </p:sp>
      <p:sp>
        <p:nvSpPr>
          <p:cNvPr id="48" name="Text 41"/>
          <p:cNvSpPr txBox="1"/>
          <p:nvPr/>
        </p:nvSpPr>
        <p:spPr>
          <a:xfrm>
            <a:off x="10506456" y="2990088"/>
            <a:ext cx="749808" cy="603504"/>
          </a:xfrm>
          <a:prstGeom prst="rect">
            <a:avLst/>
          </a:prstGeom>
          <a:noFill/>
          <a:ln/>
        </p:spPr>
        <p:txBody>
          <a:bodyPr wrap="square" lIns="0" tIns="0" rIns="0" bIns="0" rtlCol="0" anchor="ctr"/>
          <a:lstStyle/>
          <a:p>
            <a:pPr algn="ctr" indent="0" marL="0">
              <a:spcAft>
                <a:spcPts val="200"/>
              </a:spcAft>
              <a:buNone/>
            </a:pPr>
            <a:r>
              <a:rPr lang="en-US" sz="1050" b="1" dirty="0">
                <a:solidFill>
                  <a:srgbClr val="E11D48"/>
                </a:solidFill>
                <a:latin typeface="Roboto" pitchFamily="34" charset="0"/>
                <a:ea typeface="Roboto" pitchFamily="34" charset="-122"/>
                <a:cs typeface="Roboto" pitchFamily="34" charset="-120"/>
              </a:rPr>
              <a:t>ID match</a:t>
            </a:r>
            <a:endParaRPr lang="en-US" sz="1050" dirty="0"/>
          </a:p>
        </p:txBody>
      </p:sp>
      <p:sp>
        <p:nvSpPr>
          <p:cNvPr id="49" name="Text 42"/>
          <p:cNvSpPr txBox="1"/>
          <p:nvPr/>
        </p:nvSpPr>
        <p:spPr>
          <a:xfrm>
            <a:off x="8275320" y="4041648"/>
            <a:ext cx="3154680" cy="1234440"/>
          </a:xfrm>
          <a:prstGeom prst="rect">
            <a:avLst/>
          </a:prstGeom>
          <a:noFill/>
          <a:ln/>
        </p:spPr>
        <p:txBody>
          <a:bodyPr wrap="square" lIns="0" tIns="0" rIns="0" bIns="0" rtlCol="0" anchor="t"/>
          <a:lstStyle/>
          <a:p>
            <a:pPr marL="177800" indent="-177800">
              <a:spcAft>
                <a:spcPts val="500"/>
              </a:spcAft>
              <a:buSzPct val="100000"/>
              <a:buChar char="•"/>
            </a:pPr>
            <a:r>
              <a:rPr lang="en-US" sz="1100" dirty="0">
                <a:solidFill>
                  <a:srgbClr val="334155"/>
                </a:solidFill>
                <a:latin typeface="Roboto" pitchFamily="34" charset="0"/>
                <a:ea typeface="Roboto" pitchFamily="34" charset="-122"/>
                <a:cs typeface="Roboto" pitchFamily="34" charset="-120"/>
              </a:rPr>
              <a:t>Selfie checked by MiniFASNet for printed-photo attacks</a:t>
            </a:r>
            <a:endParaRPr lang="en-US" sz="1100" dirty="0"/>
          </a:p>
          <a:p>
            <a:pPr marL="177800" indent="-177800">
              <a:spcAft>
                <a:spcPts val="500"/>
              </a:spcAft>
              <a:buSzPct val="100000"/>
              <a:buChar char="•"/>
            </a:pPr>
            <a:r>
              <a:rPr lang="en-US" sz="1100" dirty="0">
                <a:solidFill>
                  <a:srgbClr val="334155"/>
                </a:solidFill>
                <a:latin typeface="Roboto" pitchFamily="34" charset="0"/>
                <a:ea typeface="Roboto" pitchFamily="34" charset="-122"/>
                <a:cs typeface="Roboto" pitchFamily="34" charset="-120"/>
              </a:rPr>
              <a:t>Judges the whole frame — a tight face crop loses what it looks at</a:t>
            </a:r>
            <a:endParaRPr lang="en-US" sz="1100" dirty="0"/>
          </a:p>
          <a:p>
            <a:pPr marL="177800" indent="-177800">
              <a:spcAft>
                <a:spcPts val="500"/>
              </a:spcAft>
              <a:buSzPct val="100000"/>
              <a:buChar char="•"/>
            </a:pPr>
            <a:r>
              <a:rPr lang="en-US" sz="1100" dirty="0">
                <a:solidFill>
                  <a:srgbClr val="334155"/>
                </a:solidFill>
                <a:latin typeface="Roboto" pitchFamily="34" charset="0"/>
                <a:ea typeface="Roboto" pitchFamily="34" charset="-122"/>
                <a:cs typeface="Roboto" pitchFamily="34" charset="-120"/>
              </a:rPr>
              <a:t>The picture is checked and discarded</a:t>
            </a:r>
            <a:endParaRPr lang="en-US" sz="1100" dirty="0"/>
          </a:p>
        </p:txBody>
      </p:sp>
      <p:sp>
        <p:nvSpPr>
          <p:cNvPr id="50" name="Shape 43"/>
          <p:cNvSpPr/>
          <p:nvPr/>
        </p:nvSpPr>
        <p:spPr>
          <a:xfrm>
            <a:off x="8275320" y="5376672"/>
            <a:ext cx="3108960" cy="749808"/>
          </a:xfrm>
          <a:prstGeom prst="roundRect">
            <a:avLst>
              <a:gd name="adj" fmla="val 9756"/>
            </a:avLst>
          </a:prstGeom>
          <a:solidFill>
            <a:srgbClr val="FFFFFF"/>
          </a:solidFill>
          <a:ln w="12700">
            <a:solidFill>
              <a:srgbClr val="E2E8F0"/>
            </a:solidFill>
            <a:prstDash val="solid"/>
          </a:ln>
        </p:spPr>
      </p:sp>
      <p:sp>
        <p:nvSpPr>
          <p:cNvPr id="51" name="Text 44"/>
          <p:cNvSpPr txBox="1"/>
          <p:nvPr/>
        </p:nvSpPr>
        <p:spPr>
          <a:xfrm>
            <a:off x="8394192" y="5376672"/>
            <a:ext cx="1097280" cy="749808"/>
          </a:xfrm>
          <a:prstGeom prst="rect">
            <a:avLst/>
          </a:prstGeom>
          <a:noFill/>
          <a:ln/>
        </p:spPr>
        <p:txBody>
          <a:bodyPr wrap="square" lIns="0" tIns="0" rIns="0" bIns="0" rtlCol="0" anchor="ctr"/>
          <a:lstStyle/>
          <a:p>
            <a:pPr indent="0" marL="0">
              <a:buNone/>
            </a:pPr>
            <a:r>
              <a:rPr lang="en-US" sz="2000" b="1" dirty="0">
                <a:solidFill>
                  <a:srgbClr val="16A34A"/>
                </a:solidFill>
                <a:latin typeface="Roboto" pitchFamily="34" charset="0"/>
                <a:ea typeface="Roboto" pitchFamily="34" charset="-122"/>
                <a:cs typeface="Roboto" pitchFamily="34" charset="-120"/>
              </a:rPr>
              <a:t>0.4%</a:t>
            </a:r>
            <a:endParaRPr lang="en-US" sz="2000" dirty="0"/>
          </a:p>
        </p:txBody>
      </p:sp>
      <p:sp>
        <p:nvSpPr>
          <p:cNvPr id="52" name="Text 45"/>
          <p:cNvSpPr txBox="1"/>
          <p:nvPr/>
        </p:nvSpPr>
        <p:spPr>
          <a:xfrm>
            <a:off x="9464040" y="5376672"/>
            <a:ext cx="1874520" cy="749808"/>
          </a:xfrm>
          <a:prstGeom prst="rect">
            <a:avLst/>
          </a:prstGeom>
          <a:noFill/>
          <a:ln/>
        </p:spPr>
        <p:txBody>
          <a:bodyPr wrap="square" lIns="0" tIns="0" rIns="0" bIns="0" rtlCol="0" anchor="ctr"/>
          <a:lstStyle/>
          <a:p>
            <a:pPr indent="0" marL="0">
              <a:buNone/>
            </a:pPr>
            <a:r>
              <a:rPr lang="en-US" sz="950" dirty="0">
                <a:solidFill>
                  <a:srgbClr val="64748B"/>
                </a:solidFill>
                <a:latin typeface="Roboto" pitchFamily="34" charset="0"/>
                <a:ea typeface="Roboto" pitchFamily="34" charset="-122"/>
                <a:cs typeface="Roboto" pitchFamily="34" charset="-120"/>
              </a:rPr>
              <a:t>ACER on 2,000 webcam frames (target ≤ 10%) · full frames only</a:t>
            </a:r>
            <a:endParaRPr lang="en-US" sz="9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8229600" cy="256032"/>
          </a:xfrm>
          <a:prstGeom prst="rect">
            <a:avLst/>
          </a:prstGeom>
          <a:noFill/>
          <a:ln/>
        </p:spPr>
        <p:txBody>
          <a:bodyPr wrap="square" lIns="0" tIns="0" rIns="0" bIns="0" rtlCol="0" anchor="ctr"/>
          <a:lstStyle/>
          <a:p>
            <a:pPr indent="0" marL="0">
              <a:buNone/>
            </a:pPr>
            <a:r>
              <a:rPr lang="en-US" sz="1100" b="1" spc="200" kern="0" dirty="0">
                <a:solidFill>
                  <a:srgbClr val="4F46E5"/>
                </a:solidFill>
                <a:latin typeface="Roboto" pitchFamily="34" charset="0"/>
                <a:ea typeface="Roboto" pitchFamily="34" charset="-122"/>
                <a:cs typeface="Roboto" pitchFamily="34" charset="-120"/>
              </a:rPr>
              <a:t>THE 29 AGENTS · IDENTITY &amp; FRAUD EVIDENCE</a:t>
            </a:r>
            <a:endParaRPr lang="en-US" sz="1100" dirty="0"/>
          </a:p>
        </p:txBody>
      </p:sp>
      <p:sp>
        <p:nvSpPr>
          <p:cNvPr id="3" name="Text 1"/>
          <p:cNvSpPr txBox="1"/>
          <p:nvPr/>
        </p:nvSpPr>
        <p:spPr>
          <a:xfrm>
            <a:off x="548640" y="585216"/>
            <a:ext cx="11094415" cy="566928"/>
          </a:xfrm>
          <a:prstGeom prst="rect">
            <a:avLst/>
          </a:prstGeom>
          <a:noFill/>
          <a:ln/>
        </p:spPr>
        <p:txBody>
          <a:bodyPr wrap="square" lIns="0" tIns="0" rIns="0" bIns="0" rtlCol="0" anchor="ctr"/>
          <a:lstStyle/>
          <a:p>
            <a:pPr indent="0" marL="0">
              <a:buNone/>
            </a:pPr>
            <a:r>
              <a:rPr lang="en-US" sz="2800" b="1" dirty="0">
                <a:solidFill>
                  <a:srgbClr val="0F172A"/>
                </a:solidFill>
                <a:latin typeface="Roboto" pitchFamily="34" charset="0"/>
                <a:ea typeface="Roboto" pitchFamily="34" charset="-122"/>
                <a:cs typeface="Roboto" pitchFamily="34" charset="-120"/>
              </a:rPr>
              <a:t>Tampering: a ten-signal cascade, fused into one honest tier</a:t>
            </a:r>
            <a:endParaRPr lang="en-US" sz="2800" dirty="0"/>
          </a:p>
        </p:txBody>
      </p:sp>
      <p:sp>
        <p:nvSpPr>
          <p:cNvPr id="4" name="Text 2"/>
          <p:cNvSpPr txBox="1"/>
          <p:nvPr/>
        </p:nvSpPr>
        <p:spPr>
          <a:xfrm>
            <a:off x="548640" y="1152144"/>
            <a:ext cx="11094415" cy="365760"/>
          </a:xfrm>
          <a:prstGeom prst="rect">
            <a:avLst/>
          </a:prstGeom>
          <a:noFill/>
          <a:ln/>
        </p:spPr>
        <p:txBody>
          <a:bodyPr wrap="square" lIns="0" tIns="0" rIns="0" bIns="0" rtlCol="0" anchor="ctr"/>
          <a:lstStyle/>
          <a:p>
            <a:pPr indent="0" marL="0">
              <a:buNone/>
            </a:pPr>
            <a:r>
              <a:rPr lang="en-US" sz="1400" dirty="0">
                <a:solidFill>
                  <a:srgbClr val="64748B"/>
                </a:solidFill>
                <a:latin typeface="Roboto" pitchFamily="34" charset="0"/>
                <a:ea typeface="Roboto" pitchFamily="34" charset="-122"/>
                <a:cs typeface="Roboto" pitchFamily="34" charset="-120"/>
              </a:rPr>
              <a:t>Cheap checks first; pixel forensics only when needed (ID cards always get them). Two helper agents explain and locate.</a:t>
            </a:r>
            <a:endParaRPr lang="en-US" sz="1400" dirty="0"/>
          </a:p>
        </p:txBody>
      </p:sp>
      <p:pic>
        <p:nvPicPr>
          <p:cNvPr id="5" name="Image 0" descr="C:\Users\shrey\AppData\Local\Temp\claude\D--novacinternship-finsight\ef4ecb45-e580-4bc0-9be4-060aa240a5b2\scratchpad\deck\img\logo_lockup.png">    </p:cNvPr>
          <p:cNvPicPr>
            <a:picLocks noChangeAspect="1"/>
          </p:cNvPicPr>
          <p:nvPr/>
        </p:nvPicPr>
        <p:blipFill>
          <a:blip r:embed="rId1"/>
          <a:stretch>
            <a:fillRect/>
          </a:stretch>
        </p:blipFill>
        <p:spPr>
          <a:xfrm>
            <a:off x="10360152" y="6464808"/>
            <a:ext cx="843991" cy="237744"/>
          </a:xfrm>
          <a:prstGeom prst="rect">
            <a:avLst/>
          </a:prstGeom>
        </p:spPr>
      </p:pic>
      <p:sp>
        <p:nvSpPr>
          <p:cNvPr id="6" name="Text 3"/>
          <p:cNvSpPr txBox="1"/>
          <p:nvPr/>
        </p:nvSpPr>
        <p:spPr>
          <a:xfrm>
            <a:off x="11277295" y="6473952"/>
            <a:ext cx="365760" cy="228600"/>
          </a:xfrm>
          <a:prstGeom prst="rect">
            <a:avLst/>
          </a:prstGeom>
          <a:noFill/>
          <a:ln/>
        </p:spPr>
        <p:txBody>
          <a:bodyPr wrap="square" lIns="0" tIns="0" rIns="0" bIns="0" rtlCol="0" anchor="ctr"/>
          <a:lstStyle/>
          <a:p>
            <a:pPr algn="r" indent="0" marL="0">
              <a:buNone/>
            </a:pPr>
            <a:r>
              <a:rPr lang="en-US" sz="900" dirty="0">
                <a:solidFill>
                  <a:srgbClr val="94A3B8"/>
                </a:solidFill>
                <a:latin typeface="Roboto" pitchFamily="34" charset="0"/>
                <a:ea typeface="Roboto" pitchFamily="34" charset="-122"/>
                <a:cs typeface="Roboto" pitchFamily="34" charset="-120"/>
              </a:rPr>
              <a:t>16</a:t>
            </a:r>
            <a:endParaRPr lang="en-US" sz="900" dirty="0"/>
          </a:p>
        </p:txBody>
      </p:sp>
      <p:sp>
        <p:nvSpPr>
          <p:cNvPr id="8" name="Shape 4"/>
          <p:cNvSpPr/>
          <p:nvPr/>
        </p:nvSpPr>
        <p:spPr>
          <a:xfrm>
            <a:off x="548640" y="1783080"/>
            <a:ext cx="1143000" cy="1097280"/>
          </a:xfrm>
          <a:prstGeom prst="roundRect">
            <a:avLst>
              <a:gd name="adj" fmla="val 6667"/>
            </a:avLst>
          </a:prstGeom>
          <a:solidFill>
            <a:srgbClr val="F8FAFC"/>
          </a:solidFill>
          <a:ln w="12700">
            <a:solidFill>
              <a:srgbClr val="E2E8F0"/>
            </a:solidFill>
            <a:prstDash val="solid"/>
          </a:ln>
        </p:spPr>
      </p:sp>
      <p:sp>
        <p:nvSpPr>
          <p:cNvPr id="9" name="Text 5"/>
          <p:cNvSpPr txBox="1"/>
          <p:nvPr/>
        </p:nvSpPr>
        <p:spPr>
          <a:xfrm>
            <a:off x="621792" y="1801368"/>
            <a:ext cx="996696" cy="1060704"/>
          </a:xfrm>
          <a:prstGeom prst="rect">
            <a:avLst/>
          </a:prstGeom>
          <a:noFill/>
          <a:ln/>
        </p:spPr>
        <p:txBody>
          <a:bodyPr wrap="square" lIns="0" tIns="0" rIns="0" bIns="0" rtlCol="0" anchor="ctr"/>
          <a:lstStyle/>
          <a:p>
            <a:pPr algn="ctr" indent="0" marL="0">
              <a:spcAft>
                <a:spcPts val="200"/>
              </a:spcAft>
              <a:buNone/>
            </a:pPr>
            <a:r>
              <a:rPr lang="en-US" sz="1200" b="1" dirty="0">
                <a:solidFill>
                  <a:srgbClr val="0F172A"/>
                </a:solidFill>
                <a:latin typeface="Roboto" pitchFamily="34" charset="0"/>
                <a:ea typeface="Roboto" pitchFamily="34" charset="-122"/>
                <a:cs typeface="Roboto" pitchFamily="34" charset="-120"/>
              </a:rPr>
              <a:t>Document</a:t>
            </a:r>
            <a:endParaRPr lang="en-US" sz="1200" dirty="0"/>
          </a:p>
          <a:p>
            <a:pPr algn="ctr" indent="0" marL="0">
              <a:spcAft>
                <a:spcPts val="200"/>
              </a:spcAft>
              <a:buNone/>
            </a:pPr>
            <a:r>
              <a:rPr lang="en-US" sz="1000" dirty="0">
                <a:solidFill>
                  <a:srgbClr val="64748B"/>
                </a:solidFill>
                <a:latin typeface="Roboto" pitchFamily="34" charset="0"/>
                <a:ea typeface="Roboto" pitchFamily="34" charset="-122"/>
                <a:cs typeface="Roboto" pitchFamily="34" charset="-120"/>
              </a:rPr>
              <a:t>image or PDF</a:t>
            </a:r>
            <a:endParaRPr lang="en-US" sz="1200" dirty="0"/>
          </a:p>
        </p:txBody>
      </p:sp>
      <p:sp>
        <p:nvSpPr>
          <p:cNvPr id="10" name="Shape 6"/>
          <p:cNvSpPr/>
          <p:nvPr/>
        </p:nvSpPr>
        <p:spPr>
          <a:xfrm>
            <a:off x="1709928" y="2331720"/>
            <a:ext cx="210312" cy="0"/>
          </a:xfrm>
          <a:prstGeom prst="line">
            <a:avLst/>
          </a:prstGeom>
          <a:noFill/>
          <a:ln w="19050">
            <a:solidFill>
              <a:srgbClr val="94A3B8"/>
            </a:solidFill>
            <a:prstDash val="solid"/>
            <a:tailEnd type="triangle"/>
          </a:ln>
        </p:spPr>
      </p:sp>
      <p:sp>
        <p:nvSpPr>
          <p:cNvPr id="11" name="Shape 7"/>
          <p:cNvSpPr/>
          <p:nvPr/>
        </p:nvSpPr>
        <p:spPr>
          <a:xfrm>
            <a:off x="1938528" y="1783080"/>
            <a:ext cx="2331720" cy="1097280"/>
          </a:xfrm>
          <a:prstGeom prst="roundRect">
            <a:avLst>
              <a:gd name="adj" fmla="val 6667"/>
            </a:avLst>
          </a:prstGeom>
          <a:solidFill>
            <a:srgbClr val="FFF1F2"/>
          </a:solidFill>
          <a:ln w="12700">
            <a:solidFill>
              <a:srgbClr val="E11D48"/>
            </a:solidFill>
            <a:prstDash val="solid"/>
          </a:ln>
        </p:spPr>
      </p:sp>
      <p:sp>
        <p:nvSpPr>
          <p:cNvPr id="12" name="Text 8"/>
          <p:cNvSpPr txBox="1"/>
          <p:nvPr/>
        </p:nvSpPr>
        <p:spPr>
          <a:xfrm>
            <a:off x="2011680" y="1801368"/>
            <a:ext cx="2185416" cy="1060704"/>
          </a:xfrm>
          <a:prstGeom prst="rect">
            <a:avLst/>
          </a:prstGeom>
          <a:noFill/>
          <a:ln/>
        </p:spPr>
        <p:txBody>
          <a:bodyPr wrap="square" lIns="0" tIns="0" rIns="0" bIns="0" rtlCol="0" anchor="ctr"/>
          <a:lstStyle/>
          <a:p>
            <a:pPr algn="ctr" indent="0" marL="0">
              <a:spcAft>
                <a:spcPts val="200"/>
              </a:spcAft>
              <a:buNone/>
            </a:pPr>
            <a:r>
              <a:rPr lang="en-US" sz="1200" b="1" dirty="0">
                <a:solidFill>
                  <a:srgbClr val="E11D48"/>
                </a:solidFill>
                <a:latin typeface="Roboto" pitchFamily="34" charset="0"/>
                <a:ea typeface="Roboto" pitchFamily="34" charset="-122"/>
                <a:cs typeface="Roboto" pitchFamily="34" charset="-120"/>
              </a:rPr>
              <a:t>Stage 1 · fast</a:t>
            </a:r>
            <a:endParaRPr lang="en-US" sz="1200" dirty="0"/>
          </a:p>
          <a:p>
            <a:pPr algn="ctr" indent="0" marL="0">
              <a:spcAft>
                <a:spcPts val="200"/>
              </a:spcAft>
              <a:buNone/>
            </a:pPr>
            <a:r>
              <a:rPr lang="en-US" sz="950" dirty="0">
                <a:solidFill>
                  <a:srgbClr val="64748B"/>
                </a:solidFill>
                <a:latin typeface="Roboto" pitchFamily="34" charset="0"/>
                <a:ea typeface="Roboto" pitchFamily="34" charset="-122"/>
                <a:cs typeface="Roboto" pitchFamily="34" charset="-120"/>
              </a:rPr>
              <a:t>metadata · business rules · copy-move · PDF forensics · authenticity (VLM, capped 0.60)</a:t>
            </a:r>
            <a:endParaRPr lang="en-US" sz="1200" dirty="0"/>
          </a:p>
        </p:txBody>
      </p:sp>
      <p:sp>
        <p:nvSpPr>
          <p:cNvPr id="13" name="Shape 9"/>
          <p:cNvSpPr/>
          <p:nvPr/>
        </p:nvSpPr>
        <p:spPr>
          <a:xfrm>
            <a:off x="4288536" y="2331720"/>
            <a:ext cx="192024" cy="0"/>
          </a:xfrm>
          <a:prstGeom prst="line">
            <a:avLst/>
          </a:prstGeom>
          <a:noFill/>
          <a:ln w="19050">
            <a:solidFill>
              <a:srgbClr val="94A3B8"/>
            </a:solidFill>
            <a:prstDash val="solid"/>
            <a:tailEnd type="triangle"/>
          </a:ln>
        </p:spPr>
      </p:sp>
      <p:sp>
        <p:nvSpPr>
          <p:cNvPr id="14" name="Shape 10"/>
          <p:cNvSpPr/>
          <p:nvPr/>
        </p:nvSpPr>
        <p:spPr>
          <a:xfrm>
            <a:off x="4498848" y="1737360"/>
            <a:ext cx="1371600" cy="1188720"/>
          </a:xfrm>
          <a:prstGeom prst="diamond">
            <a:avLst/>
          </a:prstGeom>
          <a:solidFill>
            <a:srgbClr val="FFFFFF"/>
          </a:solidFill>
          <a:ln w="15875">
            <a:solidFill>
              <a:srgbClr val="E11D48"/>
            </a:solidFill>
            <a:prstDash val="solid"/>
          </a:ln>
        </p:spPr>
      </p:sp>
      <p:sp>
        <p:nvSpPr>
          <p:cNvPr id="15" name="Text 11"/>
          <p:cNvSpPr txBox="1"/>
          <p:nvPr/>
        </p:nvSpPr>
        <p:spPr>
          <a:xfrm>
            <a:off x="4617720" y="1783080"/>
            <a:ext cx="1133856" cy="1097280"/>
          </a:xfrm>
          <a:prstGeom prst="rect">
            <a:avLst/>
          </a:prstGeom>
          <a:noFill/>
          <a:ln/>
        </p:spPr>
        <p:txBody>
          <a:bodyPr wrap="square" lIns="0" tIns="0" rIns="0" bIns="0" rtlCol="0" anchor="ctr"/>
          <a:lstStyle/>
          <a:p>
            <a:pPr algn="ctr" indent="0" marL="0">
              <a:buNone/>
            </a:pPr>
            <a:r>
              <a:rPr lang="en-US" sz="1050" b="1" dirty="0">
                <a:solidFill>
                  <a:srgbClr val="0F172A"/>
                </a:solidFill>
                <a:latin typeface="Roboto" pitchFamily="34" charset="0"/>
                <a:ea typeface="Roboto" pitchFamily="34" charset="-122"/>
                <a:cs typeface="Roboto" pitchFamily="34" charset="-120"/>
              </a:rPr>
              <a:t>Gate</a:t>
            </a:r>
            <a:endParaRPr lang="en-US" sz="1050" dirty="0"/>
          </a:p>
          <a:p>
            <a:pPr algn="ctr" indent="0" marL="0">
              <a:buNone/>
            </a:pPr>
            <a:r>
              <a:rPr lang="en-US" sz="900" dirty="0">
                <a:solidFill>
                  <a:srgbClr val="64748B"/>
                </a:solidFill>
                <a:latin typeface="Roboto" pitchFamily="34" charset="0"/>
                <a:ea typeface="Roboto" pitchFamily="34" charset="-122"/>
                <a:cs typeface="Roboto" pitchFamily="34" charset="-120"/>
              </a:rPr>
              <a:t>all &lt; 0.25?</a:t>
            </a:r>
            <a:endParaRPr lang="en-US" sz="1050" dirty="0"/>
          </a:p>
        </p:txBody>
      </p:sp>
      <p:sp>
        <p:nvSpPr>
          <p:cNvPr id="16" name="Shape 12"/>
          <p:cNvSpPr/>
          <p:nvPr/>
        </p:nvSpPr>
        <p:spPr>
          <a:xfrm>
            <a:off x="5888736" y="2331720"/>
            <a:ext cx="192024" cy="0"/>
          </a:xfrm>
          <a:prstGeom prst="line">
            <a:avLst/>
          </a:prstGeom>
          <a:noFill/>
          <a:ln w="19050">
            <a:solidFill>
              <a:srgbClr val="94A3B8"/>
            </a:solidFill>
            <a:prstDash val="solid"/>
            <a:tailEnd type="triangle"/>
          </a:ln>
        </p:spPr>
      </p:sp>
      <p:sp>
        <p:nvSpPr>
          <p:cNvPr id="17" name="Shape 13"/>
          <p:cNvSpPr/>
          <p:nvPr/>
        </p:nvSpPr>
        <p:spPr>
          <a:xfrm>
            <a:off x="6099048" y="1783080"/>
            <a:ext cx="2011680" cy="1097280"/>
          </a:xfrm>
          <a:prstGeom prst="roundRect">
            <a:avLst>
              <a:gd name="adj" fmla="val 6667"/>
            </a:avLst>
          </a:prstGeom>
          <a:solidFill>
            <a:srgbClr val="FFF1F2"/>
          </a:solidFill>
          <a:ln w="12700">
            <a:solidFill>
              <a:srgbClr val="E11D48"/>
            </a:solidFill>
            <a:prstDash val="solid"/>
          </a:ln>
        </p:spPr>
      </p:sp>
      <p:sp>
        <p:nvSpPr>
          <p:cNvPr id="18" name="Text 14"/>
          <p:cNvSpPr txBox="1"/>
          <p:nvPr/>
        </p:nvSpPr>
        <p:spPr>
          <a:xfrm>
            <a:off x="6172200" y="1801368"/>
            <a:ext cx="1865376" cy="1060704"/>
          </a:xfrm>
          <a:prstGeom prst="rect">
            <a:avLst/>
          </a:prstGeom>
          <a:noFill/>
          <a:ln/>
        </p:spPr>
        <p:txBody>
          <a:bodyPr wrap="square" lIns="0" tIns="0" rIns="0" bIns="0" rtlCol="0" anchor="ctr"/>
          <a:lstStyle/>
          <a:p>
            <a:pPr algn="ctr" indent="0" marL="0">
              <a:spcAft>
                <a:spcPts val="200"/>
              </a:spcAft>
              <a:buNone/>
            </a:pPr>
            <a:r>
              <a:rPr lang="en-US" sz="1200" b="1" dirty="0">
                <a:solidFill>
                  <a:srgbClr val="E11D48"/>
                </a:solidFill>
                <a:latin typeface="Roboto" pitchFamily="34" charset="0"/>
                <a:ea typeface="Roboto" pitchFamily="34" charset="-122"/>
                <a:cs typeface="Roboto" pitchFamily="34" charset="-120"/>
              </a:rPr>
              <a:t>Stage 2 · pixels</a:t>
            </a:r>
            <a:endParaRPr lang="en-US" sz="1200" dirty="0"/>
          </a:p>
          <a:p>
            <a:pPr algn="ctr" indent="0" marL="0">
              <a:spcAft>
                <a:spcPts val="200"/>
              </a:spcAft>
              <a:buNone/>
            </a:pPr>
            <a:r>
              <a:rPr lang="en-US" sz="950" dirty="0">
                <a:solidFill>
                  <a:srgbClr val="64748B"/>
                </a:solidFill>
                <a:latin typeface="Roboto" pitchFamily="34" charset="0"/>
                <a:ea typeface="Roboto" pitchFamily="34" charset="-122"/>
                <a:cs typeface="Roboto" pitchFamily="34" charset="-120"/>
              </a:rPr>
              <a:t>ELA · noise · CNN · patch detector (real forgeries) · photo-region</a:t>
            </a:r>
            <a:endParaRPr lang="en-US" sz="1200" dirty="0"/>
          </a:p>
        </p:txBody>
      </p:sp>
      <p:sp>
        <p:nvSpPr>
          <p:cNvPr id="19" name="Shape 15"/>
          <p:cNvSpPr/>
          <p:nvPr/>
        </p:nvSpPr>
        <p:spPr>
          <a:xfrm>
            <a:off x="8129016" y="2331720"/>
            <a:ext cx="192024" cy="0"/>
          </a:xfrm>
          <a:prstGeom prst="line">
            <a:avLst/>
          </a:prstGeom>
          <a:noFill/>
          <a:ln w="19050">
            <a:solidFill>
              <a:srgbClr val="94A3B8"/>
            </a:solidFill>
            <a:prstDash val="solid"/>
            <a:tailEnd type="triangle"/>
          </a:ln>
        </p:spPr>
      </p:sp>
      <p:sp>
        <p:nvSpPr>
          <p:cNvPr id="20" name="Shape 16"/>
          <p:cNvSpPr/>
          <p:nvPr/>
        </p:nvSpPr>
        <p:spPr>
          <a:xfrm>
            <a:off x="8339328" y="1783080"/>
            <a:ext cx="1691640" cy="1097280"/>
          </a:xfrm>
          <a:prstGeom prst="roundRect">
            <a:avLst>
              <a:gd name="adj" fmla="val 6667"/>
            </a:avLst>
          </a:prstGeom>
          <a:solidFill>
            <a:srgbClr val="FFFFFF"/>
          </a:solidFill>
          <a:ln w="12700">
            <a:solidFill>
              <a:srgbClr val="E11D48"/>
            </a:solidFill>
            <a:prstDash val="solid"/>
          </a:ln>
        </p:spPr>
      </p:sp>
      <p:sp>
        <p:nvSpPr>
          <p:cNvPr id="21" name="Text 17"/>
          <p:cNvSpPr txBox="1"/>
          <p:nvPr/>
        </p:nvSpPr>
        <p:spPr>
          <a:xfrm>
            <a:off x="8412480" y="1801368"/>
            <a:ext cx="1545336" cy="1060704"/>
          </a:xfrm>
          <a:prstGeom prst="rect">
            <a:avLst/>
          </a:prstGeom>
          <a:noFill/>
          <a:ln/>
        </p:spPr>
        <p:txBody>
          <a:bodyPr wrap="square" lIns="0" tIns="0" rIns="0" bIns="0" rtlCol="0" anchor="ctr"/>
          <a:lstStyle/>
          <a:p>
            <a:pPr algn="ctr" indent="0" marL="0">
              <a:spcAft>
                <a:spcPts val="200"/>
              </a:spcAft>
              <a:buNone/>
            </a:pPr>
            <a:r>
              <a:rPr lang="en-US" sz="1200" b="1" dirty="0">
                <a:solidFill>
                  <a:srgbClr val="E11D48"/>
                </a:solidFill>
                <a:latin typeface="Roboto" pitchFamily="34" charset="0"/>
                <a:ea typeface="Roboto" pitchFamily="34" charset="-122"/>
                <a:cs typeface="Roboto" pitchFamily="34" charset="-120"/>
              </a:rPr>
              <a:t>Fusion</a:t>
            </a:r>
            <a:endParaRPr lang="en-US" sz="1200" dirty="0"/>
          </a:p>
          <a:p>
            <a:pPr algn="ctr" indent="0" marL="0">
              <a:spcAft>
                <a:spcPts val="200"/>
              </a:spcAft>
              <a:buNone/>
            </a:pPr>
            <a:r>
              <a:rPr lang="en-US" sz="950" dirty="0">
                <a:solidFill>
                  <a:srgbClr val="64748B"/>
                </a:solidFill>
                <a:latin typeface="Roboto" pitchFamily="34" charset="0"/>
                <a:ea typeface="Roboto" pitchFamily="34" charset="-122"/>
                <a:cs typeface="Roboto" pitchFamily="34" charset="-120"/>
              </a:rPr>
              <a:t>max(weighted avg, strongest × confidence)</a:t>
            </a:r>
            <a:endParaRPr lang="en-US" sz="1200" dirty="0"/>
          </a:p>
        </p:txBody>
      </p:sp>
      <p:sp>
        <p:nvSpPr>
          <p:cNvPr id="22" name="Shape 18"/>
          <p:cNvSpPr/>
          <p:nvPr/>
        </p:nvSpPr>
        <p:spPr>
          <a:xfrm>
            <a:off x="10049256" y="2331720"/>
            <a:ext cx="192024" cy="0"/>
          </a:xfrm>
          <a:prstGeom prst="line">
            <a:avLst/>
          </a:prstGeom>
          <a:noFill/>
          <a:ln w="19050">
            <a:solidFill>
              <a:srgbClr val="94A3B8"/>
            </a:solidFill>
            <a:prstDash val="solid"/>
            <a:tailEnd type="triangle"/>
          </a:ln>
        </p:spPr>
      </p:sp>
      <p:sp>
        <p:nvSpPr>
          <p:cNvPr id="23" name="Shape 19"/>
          <p:cNvSpPr/>
          <p:nvPr/>
        </p:nvSpPr>
        <p:spPr>
          <a:xfrm>
            <a:off x="10259568" y="1783080"/>
            <a:ext cx="1380744" cy="1097280"/>
          </a:xfrm>
          <a:prstGeom prst="roundRect">
            <a:avLst>
              <a:gd name="adj" fmla="val 6667"/>
            </a:avLst>
          </a:prstGeom>
          <a:solidFill>
            <a:srgbClr val="FEE2E2"/>
          </a:solidFill>
          <a:ln w="12700">
            <a:solidFill>
              <a:srgbClr val="FCA5A5"/>
            </a:solidFill>
            <a:prstDash val="solid"/>
          </a:ln>
        </p:spPr>
      </p:sp>
      <p:sp>
        <p:nvSpPr>
          <p:cNvPr id="24" name="Text 20"/>
          <p:cNvSpPr txBox="1"/>
          <p:nvPr/>
        </p:nvSpPr>
        <p:spPr>
          <a:xfrm>
            <a:off x="10332720" y="1801368"/>
            <a:ext cx="1234440" cy="1060704"/>
          </a:xfrm>
          <a:prstGeom prst="rect">
            <a:avLst/>
          </a:prstGeom>
          <a:noFill/>
          <a:ln/>
        </p:spPr>
        <p:txBody>
          <a:bodyPr wrap="square" lIns="0" tIns="0" rIns="0" bIns="0" rtlCol="0" anchor="ctr"/>
          <a:lstStyle/>
          <a:p>
            <a:pPr algn="ctr" indent="0" marL="0">
              <a:spcAft>
                <a:spcPts val="200"/>
              </a:spcAft>
              <a:buNone/>
            </a:pPr>
            <a:r>
              <a:rPr lang="en-US" sz="1200" b="1" dirty="0">
                <a:solidFill>
                  <a:srgbClr val="991B1B"/>
                </a:solidFill>
                <a:latin typeface="Roboto" pitchFamily="34" charset="0"/>
                <a:ea typeface="Roboto" pitchFamily="34" charset="-122"/>
                <a:cs typeface="Roboto" pitchFamily="34" charset="-120"/>
              </a:rPr>
              <a:t>Tier</a:t>
            </a:r>
            <a:endParaRPr lang="en-US" sz="1200" dirty="0"/>
          </a:p>
          <a:p>
            <a:pPr algn="ctr" indent="0" marL="0">
              <a:spcAft>
                <a:spcPts val="200"/>
              </a:spcAft>
              <a:buNone/>
            </a:pPr>
            <a:r>
              <a:rPr lang="en-US" sz="950" dirty="0">
                <a:solidFill>
                  <a:srgbClr val="64748B"/>
                </a:solidFill>
                <a:latin typeface="Roboto" pitchFamily="34" charset="0"/>
                <a:ea typeface="Roboto" pitchFamily="34" charset="-122"/>
                <a:cs typeface="Roboto" pitchFamily="34" charset="-120"/>
              </a:rPr>
              <a:t>LOW · MEDIUM ≥ 0.30 · HIGH ≥ 0.60</a:t>
            </a:r>
            <a:endParaRPr lang="en-US" sz="1200" dirty="0"/>
          </a:p>
        </p:txBody>
      </p:sp>
      <p:sp>
        <p:nvSpPr>
          <p:cNvPr id="25" name="Shape 21"/>
          <p:cNvSpPr/>
          <p:nvPr/>
        </p:nvSpPr>
        <p:spPr>
          <a:xfrm>
            <a:off x="5184648" y="2935224"/>
            <a:ext cx="0" cy="274320"/>
          </a:xfrm>
          <a:prstGeom prst="line">
            <a:avLst/>
          </a:prstGeom>
          <a:noFill/>
          <a:ln w="19050">
            <a:solidFill>
              <a:srgbClr val="16A34A"/>
            </a:solidFill>
            <a:prstDash val="solid"/>
            <a:tailEnd type="triangle"/>
          </a:ln>
        </p:spPr>
      </p:sp>
      <p:sp>
        <p:nvSpPr>
          <p:cNvPr id="26" name="Text 22"/>
          <p:cNvSpPr txBox="1"/>
          <p:nvPr/>
        </p:nvSpPr>
        <p:spPr>
          <a:xfrm>
            <a:off x="5303520" y="2971800"/>
            <a:ext cx="3017520" cy="256032"/>
          </a:xfrm>
          <a:prstGeom prst="rect">
            <a:avLst/>
          </a:prstGeom>
          <a:noFill/>
          <a:ln/>
        </p:spPr>
        <p:txBody>
          <a:bodyPr wrap="square" lIns="0" tIns="0" rIns="0" bIns="0" rtlCol="0" anchor="ctr"/>
          <a:lstStyle/>
          <a:p>
            <a:pPr indent="0" marL="0">
              <a:buNone/>
            </a:pPr>
            <a:r>
              <a:rPr lang="en-US" sz="950" b="1" dirty="0">
                <a:solidFill>
                  <a:srgbClr val="16A34A"/>
                </a:solidFill>
                <a:latin typeface="Roboto" pitchFamily="34" charset="0"/>
                <a:ea typeface="Roboto" pitchFamily="34" charset="-122"/>
                <a:cs typeface="Roboto" pitchFamily="34" charset="-120"/>
              </a:rPr>
              <a:t>yes → LOW, fast-tracked (never for ID cards)</a:t>
            </a:r>
            <a:endParaRPr lang="en-US" sz="950" dirty="0"/>
          </a:p>
        </p:txBody>
      </p:sp>
      <p:sp>
        <p:nvSpPr>
          <p:cNvPr id="27" name="Shape 23"/>
          <p:cNvSpPr/>
          <p:nvPr/>
        </p:nvSpPr>
        <p:spPr>
          <a:xfrm flipH="1">
            <a:off x="9189720" y="2898648"/>
            <a:ext cx="1371600" cy="274320"/>
          </a:xfrm>
          <a:prstGeom prst="line">
            <a:avLst/>
          </a:prstGeom>
          <a:noFill/>
          <a:ln w="19050">
            <a:solidFill>
              <a:srgbClr val="94A3B8"/>
            </a:solidFill>
            <a:prstDash val="solid"/>
            <a:tailEnd type="triangle"/>
          </a:ln>
        </p:spPr>
      </p:sp>
      <p:sp>
        <p:nvSpPr>
          <p:cNvPr id="28" name="Shape 24"/>
          <p:cNvSpPr/>
          <p:nvPr/>
        </p:nvSpPr>
        <p:spPr>
          <a:xfrm>
            <a:off x="10945368" y="2898648"/>
            <a:ext cx="0" cy="274320"/>
          </a:xfrm>
          <a:prstGeom prst="line">
            <a:avLst/>
          </a:prstGeom>
          <a:noFill/>
          <a:ln w="19050">
            <a:solidFill>
              <a:srgbClr val="94A3B8"/>
            </a:solidFill>
            <a:prstDash val="solid"/>
            <a:tailEnd type="triangle"/>
          </a:ln>
        </p:spPr>
      </p:sp>
      <p:sp>
        <p:nvSpPr>
          <p:cNvPr id="29" name="Shape 25"/>
          <p:cNvSpPr/>
          <p:nvPr/>
        </p:nvSpPr>
        <p:spPr>
          <a:xfrm>
            <a:off x="8339328" y="3191256"/>
            <a:ext cx="1691640" cy="502920"/>
          </a:xfrm>
          <a:prstGeom prst="roundRect">
            <a:avLst>
              <a:gd name="adj" fmla="val 14545"/>
            </a:avLst>
          </a:prstGeom>
          <a:solidFill>
            <a:srgbClr val="FFFFFF"/>
          </a:solidFill>
          <a:ln w="12700">
            <a:solidFill>
              <a:srgbClr val="E2E8F0"/>
            </a:solidFill>
            <a:prstDash val="solid"/>
          </a:ln>
        </p:spPr>
      </p:sp>
      <p:sp>
        <p:nvSpPr>
          <p:cNvPr id="30" name="Text 26"/>
          <p:cNvSpPr txBox="1"/>
          <p:nvPr/>
        </p:nvSpPr>
        <p:spPr>
          <a:xfrm>
            <a:off x="8412480" y="3209544"/>
            <a:ext cx="1545336" cy="466344"/>
          </a:xfrm>
          <a:prstGeom prst="rect">
            <a:avLst/>
          </a:prstGeom>
          <a:noFill/>
          <a:ln/>
        </p:spPr>
        <p:txBody>
          <a:bodyPr wrap="square" lIns="0" tIns="0" rIns="0" bIns="0" rtlCol="0" anchor="ctr"/>
          <a:lstStyle/>
          <a:p>
            <a:pPr algn="ctr" indent="0" marL="0">
              <a:spcAft>
                <a:spcPts val="200"/>
              </a:spcAft>
              <a:buNone/>
            </a:pPr>
            <a:r>
              <a:rPr lang="en-US" sz="1000" b="1" dirty="0">
                <a:solidFill>
                  <a:srgbClr val="0F172A"/>
                </a:solidFill>
                <a:latin typeface="Roboto" pitchFamily="34" charset="0"/>
                <a:ea typeface="Roboto" pitchFamily="34" charset="-122"/>
                <a:cs typeface="Roboto" pitchFamily="34" charset="-120"/>
              </a:rPr>
              <a:t>#9 Tamper Explainer</a:t>
            </a:r>
            <a:endParaRPr lang="en-US" sz="1000" dirty="0"/>
          </a:p>
          <a:p>
            <a:pPr algn="ctr" indent="0" marL="0">
              <a:spcAft>
                <a:spcPts val="200"/>
              </a:spcAft>
              <a:buNone/>
            </a:pPr>
            <a:r>
              <a:rPr lang="en-US" sz="850" dirty="0">
                <a:solidFill>
                  <a:srgbClr val="64748B"/>
                </a:solidFill>
                <a:latin typeface="Roboto" pitchFamily="34" charset="0"/>
                <a:ea typeface="Roboto" pitchFamily="34" charset="-122"/>
                <a:cs typeface="Roboto" pitchFamily="34" charset="-120"/>
              </a:rPr>
              <a:t>plain words, grounded</a:t>
            </a:r>
            <a:endParaRPr lang="en-US" sz="1000" dirty="0"/>
          </a:p>
        </p:txBody>
      </p:sp>
      <p:sp>
        <p:nvSpPr>
          <p:cNvPr id="31" name="Shape 27"/>
          <p:cNvSpPr/>
          <p:nvPr/>
        </p:nvSpPr>
        <p:spPr>
          <a:xfrm>
            <a:off x="10168128" y="3191256"/>
            <a:ext cx="1472184" cy="502920"/>
          </a:xfrm>
          <a:prstGeom prst="roundRect">
            <a:avLst>
              <a:gd name="adj" fmla="val 14545"/>
            </a:avLst>
          </a:prstGeom>
          <a:solidFill>
            <a:srgbClr val="FFFFFF"/>
          </a:solidFill>
          <a:ln w="12700">
            <a:solidFill>
              <a:srgbClr val="E2E8F0"/>
            </a:solidFill>
            <a:prstDash val="solid"/>
          </a:ln>
        </p:spPr>
      </p:sp>
      <p:sp>
        <p:nvSpPr>
          <p:cNvPr id="32" name="Text 28"/>
          <p:cNvSpPr txBox="1"/>
          <p:nvPr/>
        </p:nvSpPr>
        <p:spPr>
          <a:xfrm>
            <a:off x="10241280" y="3209544"/>
            <a:ext cx="1325880" cy="466344"/>
          </a:xfrm>
          <a:prstGeom prst="rect">
            <a:avLst/>
          </a:prstGeom>
          <a:noFill/>
          <a:ln/>
        </p:spPr>
        <p:txBody>
          <a:bodyPr wrap="square" lIns="0" tIns="0" rIns="0" bIns="0" rtlCol="0" anchor="ctr"/>
          <a:lstStyle/>
          <a:p>
            <a:pPr algn="ctr" indent="0" marL="0">
              <a:spcAft>
                <a:spcPts val="200"/>
              </a:spcAft>
              <a:buNone/>
            </a:pPr>
            <a:r>
              <a:rPr lang="en-US" sz="1000" b="1" dirty="0">
                <a:solidFill>
                  <a:srgbClr val="0F172A"/>
                </a:solidFill>
                <a:latin typeface="Roboto" pitchFamily="34" charset="0"/>
                <a:ea typeface="Roboto" pitchFamily="34" charset="-122"/>
                <a:cs typeface="Roboto" pitchFamily="34" charset="-120"/>
              </a:rPr>
              <a:t>#10 Tamper Locator</a:t>
            </a:r>
            <a:endParaRPr lang="en-US" sz="1000" dirty="0"/>
          </a:p>
          <a:p>
            <a:pPr algn="ctr" indent="0" marL="0">
              <a:spcAft>
                <a:spcPts val="200"/>
              </a:spcAft>
              <a:buNone/>
            </a:pPr>
            <a:r>
              <a:rPr lang="en-US" sz="850" dirty="0">
                <a:solidFill>
                  <a:srgbClr val="64748B"/>
                </a:solidFill>
                <a:latin typeface="Roboto" pitchFamily="34" charset="0"/>
                <a:ea typeface="Roboto" pitchFamily="34" charset="-122"/>
                <a:cs typeface="Roboto" pitchFamily="34" charset="-120"/>
              </a:rPr>
              <a:t>draws the region</a:t>
            </a:r>
            <a:endParaRPr lang="en-US" sz="1000" dirty="0"/>
          </a:p>
        </p:txBody>
      </p:sp>
      <p:sp>
        <p:nvSpPr>
          <p:cNvPr id="33" name="Shape 29"/>
          <p:cNvSpPr/>
          <p:nvPr/>
        </p:nvSpPr>
        <p:spPr>
          <a:xfrm>
            <a:off x="548640" y="3840480"/>
            <a:ext cx="5647069" cy="2240280"/>
          </a:xfrm>
          <a:prstGeom prst="roundRect">
            <a:avLst>
              <a:gd name="adj" fmla="val 2857"/>
            </a:avLst>
          </a:prstGeom>
          <a:solidFill>
            <a:srgbClr val="1E293B"/>
          </a:solidFill>
          <a:ln w="12700">
            <a:solidFill>
              <a:srgbClr val="1E293B"/>
            </a:solidFill>
            <a:prstDash val="solid"/>
          </a:ln>
          <a:effectLst>
            <a:outerShdw sx="100000" sy="100000" kx="0" ky="0" algn="bl" rotWithShape="0" blurRad="127000" dist="25400" dir="5400000">
              <a:srgbClr val="0F172A">
                <a:alpha val="12000"/>
              </a:srgbClr>
            </a:outerShdw>
          </a:effectLst>
        </p:spPr>
      </p:sp>
      <p:sp>
        <p:nvSpPr>
          <p:cNvPr id="34" name="Shape 30"/>
          <p:cNvSpPr/>
          <p:nvPr/>
        </p:nvSpPr>
        <p:spPr>
          <a:xfrm>
            <a:off x="667512" y="3918204"/>
            <a:ext cx="82296" cy="82296"/>
          </a:xfrm>
          <a:prstGeom prst="ellipse">
            <a:avLst/>
          </a:prstGeom>
          <a:solidFill>
            <a:srgbClr val="F87171"/>
          </a:solidFill>
          <a:ln w="12700">
            <a:solidFill>
              <a:srgbClr val="F87171"/>
            </a:solidFill>
            <a:prstDash val="solid"/>
          </a:ln>
        </p:spPr>
      </p:sp>
      <p:sp>
        <p:nvSpPr>
          <p:cNvPr id="35" name="Shape 31"/>
          <p:cNvSpPr/>
          <p:nvPr/>
        </p:nvSpPr>
        <p:spPr>
          <a:xfrm>
            <a:off x="804672" y="3918204"/>
            <a:ext cx="82296" cy="82296"/>
          </a:xfrm>
          <a:prstGeom prst="ellipse">
            <a:avLst/>
          </a:prstGeom>
          <a:solidFill>
            <a:srgbClr val="FBBF24"/>
          </a:solidFill>
          <a:ln w="12700">
            <a:solidFill>
              <a:srgbClr val="FBBF24"/>
            </a:solidFill>
            <a:prstDash val="solid"/>
          </a:ln>
        </p:spPr>
      </p:sp>
      <p:sp>
        <p:nvSpPr>
          <p:cNvPr id="36" name="Shape 32"/>
          <p:cNvSpPr/>
          <p:nvPr/>
        </p:nvSpPr>
        <p:spPr>
          <a:xfrm>
            <a:off x="941832" y="3918204"/>
            <a:ext cx="82296" cy="82296"/>
          </a:xfrm>
          <a:prstGeom prst="ellipse">
            <a:avLst/>
          </a:prstGeom>
          <a:solidFill>
            <a:srgbClr val="34D399"/>
          </a:solidFill>
          <a:ln w="12700">
            <a:solidFill>
              <a:srgbClr val="34D399"/>
            </a:solidFill>
            <a:prstDash val="solid"/>
          </a:ln>
        </p:spPr>
      </p:sp>
      <p:pic>
        <p:nvPicPr>
          <p:cNvPr id="37" name="Image 1" descr="C:\Users\shrey\AppData\Local\Temp\claude\D--novacinternship-finsight\ef4ecb45-e580-4bc0-9be4-060aa240a5b2\scratchpad\deck\img\integrity_pan.png">    </p:cNvPr>
          <p:cNvPicPr>
            <a:picLocks noChangeAspect="1"/>
          </p:cNvPicPr>
          <p:nvPr/>
        </p:nvPicPr>
        <p:blipFill>
          <a:blip r:embed="rId2"/>
          <a:stretch>
            <a:fillRect/>
          </a:stretch>
        </p:blipFill>
        <p:spPr>
          <a:xfrm>
            <a:off x="594360" y="4078224"/>
            <a:ext cx="5555629" cy="1956816"/>
          </a:xfrm>
          <a:prstGeom prst="rect">
            <a:avLst/>
          </a:prstGeom>
        </p:spPr>
      </p:pic>
      <p:sp>
        <p:nvSpPr>
          <p:cNvPr id="38" name="Text 33"/>
          <p:cNvSpPr txBox="1"/>
          <p:nvPr/>
        </p:nvSpPr>
        <p:spPr>
          <a:xfrm>
            <a:off x="548640" y="6153912"/>
            <a:ext cx="6949440" cy="237744"/>
          </a:xfrm>
          <a:prstGeom prst="rect">
            <a:avLst/>
          </a:prstGeom>
          <a:noFill/>
          <a:ln/>
        </p:spPr>
        <p:txBody>
          <a:bodyPr wrap="square" lIns="0" tIns="0" rIns="0" bIns="0" rtlCol="0" anchor="ctr"/>
          <a:lstStyle/>
          <a:p>
            <a:pPr indent="0" marL="0">
              <a:buNone/>
            </a:pPr>
            <a:r>
              <a:rPr lang="en-US" sz="950" i="1" dirty="0">
                <a:solidFill>
                  <a:srgbClr val="64748B"/>
                </a:solidFill>
                <a:latin typeface="Roboto" pitchFamily="34" charset="0"/>
                <a:ea typeface="Roboto" pitchFamily="34" charset="-122"/>
                <a:cs typeface="Roboto" pitchFamily="34" charset="-120"/>
              </a:rPr>
              <a:t>How a flagged document is shown to the officer (synthetic card, captured before the real-data calibration).</a:t>
            </a:r>
            <a:endParaRPr lang="en-US" sz="950" dirty="0"/>
          </a:p>
        </p:txBody>
      </p:sp>
      <p:sp>
        <p:nvSpPr>
          <p:cNvPr id="39" name="Shape 34"/>
          <p:cNvSpPr/>
          <p:nvPr/>
        </p:nvSpPr>
        <p:spPr>
          <a:xfrm>
            <a:off x="7726680" y="3840480"/>
            <a:ext cx="3913632" cy="640080"/>
          </a:xfrm>
          <a:prstGeom prst="roundRect">
            <a:avLst>
              <a:gd name="adj" fmla="val 11429"/>
            </a:avLst>
          </a:prstGeom>
          <a:solidFill>
            <a:srgbClr val="F8FAFC"/>
          </a:solidFill>
          <a:ln w="12700">
            <a:solidFill>
              <a:srgbClr val="E2E8F0"/>
            </a:solidFill>
            <a:prstDash val="solid"/>
          </a:ln>
        </p:spPr>
      </p:sp>
      <p:sp>
        <p:nvSpPr>
          <p:cNvPr id="40" name="Text 35"/>
          <p:cNvSpPr txBox="1"/>
          <p:nvPr/>
        </p:nvSpPr>
        <p:spPr>
          <a:xfrm>
            <a:off x="7863840" y="3840480"/>
            <a:ext cx="1325880" cy="640080"/>
          </a:xfrm>
          <a:prstGeom prst="rect">
            <a:avLst/>
          </a:prstGeom>
          <a:noFill/>
          <a:ln/>
        </p:spPr>
        <p:txBody>
          <a:bodyPr wrap="square" lIns="0" tIns="0" rIns="0" bIns="0" rtlCol="0" anchor="ctr"/>
          <a:lstStyle/>
          <a:p>
            <a:pPr indent="0" marL="0">
              <a:buNone/>
            </a:pPr>
            <a:r>
              <a:rPr lang="en-US" sz="2000" b="1" dirty="0">
                <a:solidFill>
                  <a:srgbClr val="16A34A"/>
                </a:solidFill>
                <a:latin typeface="Roboto" pitchFamily="34" charset="0"/>
                <a:ea typeface="Roboto" pitchFamily="34" charset="-122"/>
                <a:cs typeface="Roboto" pitchFamily="34" charset="-120"/>
              </a:rPr>
              <a:t>88.9%</a:t>
            </a:r>
            <a:endParaRPr lang="en-US" sz="2000" dirty="0"/>
          </a:p>
        </p:txBody>
      </p:sp>
      <p:sp>
        <p:nvSpPr>
          <p:cNvPr id="41" name="Text 36"/>
          <p:cNvSpPr txBox="1"/>
          <p:nvPr/>
        </p:nvSpPr>
        <p:spPr>
          <a:xfrm>
            <a:off x="9235440" y="3840480"/>
            <a:ext cx="2313432" cy="640080"/>
          </a:xfrm>
          <a:prstGeom prst="rect">
            <a:avLst/>
          </a:prstGeom>
          <a:noFill/>
          <a:ln/>
        </p:spPr>
        <p:txBody>
          <a:bodyPr wrap="square" lIns="0" tIns="0" rIns="0" bIns="0" rtlCol="0" anchor="ctr"/>
          <a:lstStyle/>
          <a:p>
            <a:pPr indent="0" marL="0">
              <a:buNone/>
            </a:pPr>
            <a:r>
              <a:rPr lang="en-US" sz="1150" b="1" dirty="0">
                <a:solidFill>
                  <a:srgbClr val="0F172A"/>
                </a:solidFill>
                <a:latin typeface="Roboto" pitchFamily="34" charset="0"/>
                <a:ea typeface="Roboto" pitchFamily="34" charset="-122"/>
                <a:cs typeface="Roboto" pitchFamily="34" charset="-120"/>
              </a:rPr>
              <a:t>Forged documents flagged</a:t>
            </a:r>
            <a:endParaRPr lang="en-US" sz="1150" dirty="0"/>
          </a:p>
          <a:p>
            <a:pPr indent="0" marL="0">
              <a:buNone/>
            </a:pPr>
            <a:r>
              <a:rPr lang="en-US" sz="950" dirty="0">
                <a:solidFill>
                  <a:srgbClr val="64748B"/>
                </a:solidFill>
                <a:latin typeface="Roboto" pitchFamily="34" charset="0"/>
                <a:ea typeface="Roboto" pitchFamily="34" charset="-122"/>
                <a:cs typeface="Roboto" pitchFamily="34" charset="-120"/>
              </a:rPr>
              <a:t>real forged receipts + ID images · was 17%</a:t>
            </a:r>
            <a:endParaRPr lang="en-US" sz="1150" dirty="0"/>
          </a:p>
        </p:txBody>
      </p:sp>
      <p:sp>
        <p:nvSpPr>
          <p:cNvPr id="42" name="Shape 37"/>
          <p:cNvSpPr/>
          <p:nvPr/>
        </p:nvSpPr>
        <p:spPr>
          <a:xfrm>
            <a:off x="7726680" y="4535424"/>
            <a:ext cx="3913632" cy="640080"/>
          </a:xfrm>
          <a:prstGeom prst="roundRect">
            <a:avLst>
              <a:gd name="adj" fmla="val 11429"/>
            </a:avLst>
          </a:prstGeom>
          <a:solidFill>
            <a:srgbClr val="F8FAFC"/>
          </a:solidFill>
          <a:ln w="12700">
            <a:solidFill>
              <a:srgbClr val="E2E8F0"/>
            </a:solidFill>
            <a:prstDash val="solid"/>
          </a:ln>
        </p:spPr>
      </p:sp>
      <p:sp>
        <p:nvSpPr>
          <p:cNvPr id="43" name="Text 38"/>
          <p:cNvSpPr txBox="1"/>
          <p:nvPr/>
        </p:nvSpPr>
        <p:spPr>
          <a:xfrm>
            <a:off x="7863840" y="4535424"/>
            <a:ext cx="1325880" cy="640080"/>
          </a:xfrm>
          <a:prstGeom prst="rect">
            <a:avLst/>
          </a:prstGeom>
          <a:noFill/>
          <a:ln/>
        </p:spPr>
        <p:txBody>
          <a:bodyPr wrap="square" lIns="0" tIns="0" rIns="0" bIns="0" rtlCol="0" anchor="ctr"/>
          <a:lstStyle/>
          <a:p>
            <a:pPr indent="0" marL="0">
              <a:buNone/>
            </a:pPr>
            <a:r>
              <a:rPr lang="en-US" sz="2000" b="1" dirty="0">
                <a:solidFill>
                  <a:srgbClr val="16A34A"/>
                </a:solidFill>
                <a:latin typeface="Roboto" pitchFamily="34" charset="0"/>
                <a:ea typeface="Roboto" pitchFamily="34" charset="-122"/>
                <a:cs typeface="Roboto" pitchFamily="34" charset="-120"/>
              </a:rPr>
              <a:t>0.8%</a:t>
            </a:r>
            <a:endParaRPr lang="en-US" sz="2000" dirty="0"/>
          </a:p>
        </p:txBody>
      </p:sp>
      <p:sp>
        <p:nvSpPr>
          <p:cNvPr id="44" name="Text 39"/>
          <p:cNvSpPr txBox="1"/>
          <p:nvPr/>
        </p:nvSpPr>
        <p:spPr>
          <a:xfrm>
            <a:off x="9235440" y="4535424"/>
            <a:ext cx="2313432" cy="640080"/>
          </a:xfrm>
          <a:prstGeom prst="rect">
            <a:avLst/>
          </a:prstGeom>
          <a:noFill/>
          <a:ln/>
        </p:spPr>
        <p:txBody>
          <a:bodyPr wrap="square" lIns="0" tIns="0" rIns="0" bIns="0" rtlCol="0" anchor="ctr"/>
          <a:lstStyle/>
          <a:p>
            <a:pPr indent="0" marL="0">
              <a:buNone/>
            </a:pPr>
            <a:r>
              <a:rPr lang="en-US" sz="1150" b="1" dirty="0">
                <a:solidFill>
                  <a:srgbClr val="0F172A"/>
                </a:solidFill>
                <a:latin typeface="Roboto" pitchFamily="34" charset="0"/>
                <a:ea typeface="Roboto" pitchFamily="34" charset="-122"/>
                <a:cs typeface="Roboto" pitchFamily="34" charset="-120"/>
              </a:rPr>
              <a:t>Genuine rated HIGH</a:t>
            </a:r>
            <a:endParaRPr lang="en-US" sz="1150" dirty="0"/>
          </a:p>
          <a:p>
            <a:pPr indent="0" marL="0">
              <a:buNone/>
            </a:pPr>
            <a:r>
              <a:rPr lang="en-US" sz="950" dirty="0">
                <a:solidFill>
                  <a:srgbClr val="64748B"/>
                </a:solidFill>
                <a:latin typeface="Roboto" pitchFamily="34" charset="0"/>
                <a:ea typeface="Roboto" pitchFamily="34" charset="-122"/>
                <a:cs typeface="Roboto" pitchFamily="34" charset="-120"/>
              </a:rPr>
              <a:t>genuine ID phone photos flagged at all: 0.5%</a:t>
            </a:r>
            <a:endParaRPr lang="en-US" sz="1150" dirty="0"/>
          </a:p>
        </p:txBody>
      </p:sp>
      <p:sp>
        <p:nvSpPr>
          <p:cNvPr id="45" name="Shape 40"/>
          <p:cNvSpPr/>
          <p:nvPr/>
        </p:nvSpPr>
        <p:spPr>
          <a:xfrm>
            <a:off x="7726680" y="5230368"/>
            <a:ext cx="3913632" cy="640080"/>
          </a:xfrm>
          <a:prstGeom prst="roundRect">
            <a:avLst>
              <a:gd name="adj" fmla="val 11429"/>
            </a:avLst>
          </a:prstGeom>
          <a:solidFill>
            <a:srgbClr val="F8FAFC"/>
          </a:solidFill>
          <a:ln w="12700">
            <a:solidFill>
              <a:srgbClr val="E2E8F0"/>
            </a:solidFill>
            <a:prstDash val="solid"/>
          </a:ln>
        </p:spPr>
      </p:sp>
      <p:sp>
        <p:nvSpPr>
          <p:cNvPr id="46" name="Text 41"/>
          <p:cNvSpPr txBox="1"/>
          <p:nvPr/>
        </p:nvSpPr>
        <p:spPr>
          <a:xfrm>
            <a:off x="7863840" y="5230368"/>
            <a:ext cx="1325880" cy="640080"/>
          </a:xfrm>
          <a:prstGeom prst="rect">
            <a:avLst/>
          </a:prstGeom>
          <a:noFill/>
          <a:ln/>
        </p:spPr>
        <p:txBody>
          <a:bodyPr wrap="square" lIns="0" tIns="0" rIns="0" bIns="0" rtlCol="0" anchor="ctr"/>
          <a:lstStyle/>
          <a:p>
            <a:pPr indent="0" marL="0">
              <a:buNone/>
            </a:pPr>
            <a:r>
              <a:rPr lang="en-US" sz="2000" b="1" dirty="0">
                <a:solidFill>
                  <a:srgbClr val="D97706"/>
                </a:solidFill>
                <a:latin typeface="Roboto" pitchFamily="34" charset="0"/>
                <a:ea typeface="Roboto" pitchFamily="34" charset="-122"/>
                <a:cs typeface="Roboto" pitchFamily="34" charset="-120"/>
              </a:rPr>
              <a:t>74.6%</a:t>
            </a:r>
            <a:endParaRPr lang="en-US" sz="2000" dirty="0"/>
          </a:p>
        </p:txBody>
      </p:sp>
      <p:sp>
        <p:nvSpPr>
          <p:cNvPr id="47" name="Text 42"/>
          <p:cNvSpPr txBox="1"/>
          <p:nvPr/>
        </p:nvSpPr>
        <p:spPr>
          <a:xfrm>
            <a:off x="9235440" y="5230368"/>
            <a:ext cx="2313432" cy="640080"/>
          </a:xfrm>
          <a:prstGeom prst="rect">
            <a:avLst/>
          </a:prstGeom>
          <a:noFill/>
          <a:ln/>
        </p:spPr>
        <p:txBody>
          <a:bodyPr wrap="square" lIns="0" tIns="0" rIns="0" bIns="0" rtlCol="0" anchor="ctr"/>
          <a:lstStyle/>
          <a:p>
            <a:pPr indent="0" marL="0">
              <a:buNone/>
            </a:pPr>
            <a:r>
              <a:rPr lang="en-US" sz="1150" b="1" dirty="0">
                <a:solidFill>
                  <a:srgbClr val="0F172A"/>
                </a:solidFill>
                <a:latin typeface="Roboto" pitchFamily="34" charset="0"/>
                <a:ea typeface="Roboto" pitchFamily="34" charset="-122"/>
                <a:cs typeface="Roboto" pitchFamily="34" charset="-120"/>
              </a:rPr>
              <a:t>Locator · Explainer</a:t>
            </a:r>
            <a:endParaRPr lang="en-US" sz="1150" dirty="0"/>
          </a:p>
          <a:p>
            <a:pPr indent="0" marL="0">
              <a:buNone/>
            </a:pPr>
            <a:r>
              <a:rPr lang="en-US" sz="950" dirty="0">
                <a:solidFill>
                  <a:srgbClr val="64748B"/>
                </a:solidFill>
                <a:latin typeface="Roboto" pitchFamily="34" charset="0"/>
                <a:ea typeface="Roboto" pitchFamily="34" charset="-122"/>
                <a:cs typeface="Roboto" pitchFamily="34" charset="-120"/>
              </a:rPr>
              <a:t>forged region boxed · explanations 98.3% grounded</a:t>
            </a:r>
            <a:endParaRPr lang="en-US" sz="1150" dirty="0"/>
          </a:p>
        </p:txBody>
      </p:sp>
      <p:sp>
        <p:nvSpPr>
          <p:cNvPr id="48" name="Text 43"/>
          <p:cNvSpPr txBox="1"/>
          <p:nvPr/>
        </p:nvSpPr>
        <p:spPr>
          <a:xfrm>
            <a:off x="7726680" y="5943600"/>
            <a:ext cx="3913632" cy="457200"/>
          </a:xfrm>
          <a:prstGeom prst="rect">
            <a:avLst/>
          </a:prstGeom>
          <a:noFill/>
          <a:ln/>
        </p:spPr>
        <p:txBody>
          <a:bodyPr wrap="square" lIns="0" tIns="0" rIns="0" bIns="0" rtlCol="0" anchor="t"/>
          <a:lstStyle/>
          <a:p>
            <a:pPr indent="0" marL="0">
              <a:buNone/>
            </a:pPr>
            <a:r>
              <a:rPr lang="en-US" sz="950" i="1" dirty="0">
                <a:solidFill>
                  <a:srgbClr val="DC2626"/>
                </a:solidFill>
                <a:latin typeface="Roboto" pitchFamily="34" charset="0"/>
                <a:ea typeface="Roboto" pitchFamily="34" charset="-122"/>
                <a:cs typeface="Roboto" pitchFamily="34" charset="-120"/>
              </a:rPr>
              <a:t>Authenticity (#8, the vision model asked 'was this edited?') flags 11% — Weak: a 7B model cannot see a local edit.</a:t>
            </a:r>
            <a:endParaRPr lang="en-US" sz="9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8229600" cy="256032"/>
          </a:xfrm>
          <a:prstGeom prst="rect">
            <a:avLst/>
          </a:prstGeom>
          <a:noFill/>
          <a:ln/>
        </p:spPr>
        <p:txBody>
          <a:bodyPr wrap="square" lIns="0" tIns="0" rIns="0" bIns="0" rtlCol="0" anchor="ctr"/>
          <a:lstStyle/>
          <a:p>
            <a:pPr indent="0" marL="0">
              <a:buNone/>
            </a:pPr>
            <a:r>
              <a:rPr lang="en-US" sz="1100" b="1" spc="200" kern="0" dirty="0">
                <a:solidFill>
                  <a:srgbClr val="4F46E5"/>
                </a:solidFill>
                <a:latin typeface="Roboto" pitchFamily="34" charset="0"/>
                <a:ea typeface="Roboto" pitchFamily="34" charset="-122"/>
                <a:cs typeface="Roboto" pitchFamily="34" charset="-120"/>
              </a:rPr>
              <a:t>THE 29 AGENTS · IDENTITY &amp; FRAUD EVIDENCE</a:t>
            </a:r>
            <a:endParaRPr lang="en-US" sz="1100" dirty="0"/>
          </a:p>
        </p:txBody>
      </p:sp>
      <p:sp>
        <p:nvSpPr>
          <p:cNvPr id="3" name="Text 1"/>
          <p:cNvSpPr txBox="1"/>
          <p:nvPr/>
        </p:nvSpPr>
        <p:spPr>
          <a:xfrm>
            <a:off x="548640" y="585216"/>
            <a:ext cx="11094415" cy="566928"/>
          </a:xfrm>
          <a:prstGeom prst="rect">
            <a:avLst/>
          </a:prstGeom>
          <a:noFill/>
          <a:ln/>
        </p:spPr>
        <p:txBody>
          <a:bodyPr wrap="square" lIns="0" tIns="0" rIns="0" bIns="0" rtlCol="0" anchor="ctr"/>
          <a:lstStyle/>
          <a:p>
            <a:pPr indent="0" marL="0">
              <a:buNone/>
            </a:pPr>
            <a:r>
              <a:rPr lang="en-US" sz="2800" b="1" dirty="0">
                <a:solidFill>
                  <a:srgbClr val="0F172A"/>
                </a:solidFill>
                <a:latin typeface="Roboto" pitchFamily="34" charset="0"/>
                <a:ea typeface="Roboto" pitchFamily="34" charset="-122"/>
                <a:cs typeface="Roboto" pitchFamily="34" charset="-120"/>
              </a:rPr>
              <a:t>Case assessment: all the evidence, one advisory route</a:t>
            </a:r>
            <a:endParaRPr lang="en-US" sz="2800" dirty="0"/>
          </a:p>
        </p:txBody>
      </p:sp>
      <p:sp>
        <p:nvSpPr>
          <p:cNvPr id="4" name="Text 2"/>
          <p:cNvSpPr txBox="1"/>
          <p:nvPr/>
        </p:nvSpPr>
        <p:spPr>
          <a:xfrm>
            <a:off x="548640" y="1152144"/>
            <a:ext cx="11094415" cy="365760"/>
          </a:xfrm>
          <a:prstGeom prst="rect">
            <a:avLst/>
          </a:prstGeom>
          <a:noFill/>
          <a:ln/>
        </p:spPr>
        <p:txBody>
          <a:bodyPr wrap="square" lIns="0" tIns="0" rIns="0" bIns="0" rtlCol="0" anchor="ctr"/>
          <a:lstStyle/>
          <a:p>
            <a:pPr indent="0" marL="0">
              <a:buNone/>
            </a:pPr>
            <a:r>
              <a:rPr lang="en-US" sz="1400" dirty="0">
                <a:solidFill>
                  <a:srgbClr val="64748B"/>
                </a:solidFill>
                <a:latin typeface="Roboto" pitchFamily="34" charset="0"/>
                <a:ea typeface="Roboto" pitchFamily="34" charset="-122"/>
                <a:cs typeface="Roboto" pitchFamily="34" charset="-120"/>
              </a:rPr>
              <a:t>Runs when the file is complete — no language model at all, about 100 ms.</a:t>
            </a:r>
            <a:endParaRPr lang="en-US" sz="1400" dirty="0"/>
          </a:p>
        </p:txBody>
      </p:sp>
      <p:pic>
        <p:nvPicPr>
          <p:cNvPr id="5" name="Image 0" descr="C:\Users\shrey\AppData\Local\Temp\claude\D--novacinternship-finsight\ef4ecb45-e580-4bc0-9be4-060aa240a5b2\scratchpad\deck\img\logo_lockup.png">    </p:cNvPr>
          <p:cNvPicPr>
            <a:picLocks noChangeAspect="1"/>
          </p:cNvPicPr>
          <p:nvPr/>
        </p:nvPicPr>
        <p:blipFill>
          <a:blip r:embed="rId1"/>
          <a:stretch>
            <a:fillRect/>
          </a:stretch>
        </p:blipFill>
        <p:spPr>
          <a:xfrm>
            <a:off x="10360152" y="6464808"/>
            <a:ext cx="843991" cy="237744"/>
          </a:xfrm>
          <a:prstGeom prst="rect">
            <a:avLst/>
          </a:prstGeom>
        </p:spPr>
      </p:pic>
      <p:sp>
        <p:nvSpPr>
          <p:cNvPr id="6" name="Text 3"/>
          <p:cNvSpPr txBox="1"/>
          <p:nvPr/>
        </p:nvSpPr>
        <p:spPr>
          <a:xfrm>
            <a:off x="11277295" y="6473952"/>
            <a:ext cx="365760" cy="228600"/>
          </a:xfrm>
          <a:prstGeom prst="rect">
            <a:avLst/>
          </a:prstGeom>
          <a:noFill/>
          <a:ln/>
        </p:spPr>
        <p:txBody>
          <a:bodyPr wrap="square" lIns="0" tIns="0" rIns="0" bIns="0" rtlCol="0" anchor="ctr"/>
          <a:lstStyle/>
          <a:p>
            <a:pPr algn="r" indent="0" marL="0">
              <a:buNone/>
            </a:pPr>
            <a:r>
              <a:rPr lang="en-US" sz="900" dirty="0">
                <a:solidFill>
                  <a:srgbClr val="94A3B8"/>
                </a:solidFill>
                <a:latin typeface="Roboto" pitchFamily="34" charset="0"/>
                <a:ea typeface="Roboto" pitchFamily="34" charset="-122"/>
                <a:cs typeface="Roboto" pitchFamily="34" charset="-120"/>
              </a:rPr>
              <a:t>17</a:t>
            </a:r>
            <a:endParaRPr lang="en-US" sz="900" dirty="0"/>
          </a:p>
        </p:txBody>
      </p:sp>
      <p:sp>
        <p:nvSpPr>
          <p:cNvPr id="8" name="Shape 4"/>
          <p:cNvSpPr/>
          <p:nvPr/>
        </p:nvSpPr>
        <p:spPr>
          <a:xfrm>
            <a:off x="548640" y="1783080"/>
            <a:ext cx="5212080" cy="658368"/>
          </a:xfrm>
          <a:prstGeom prst="roundRect">
            <a:avLst>
              <a:gd name="adj" fmla="val 11111"/>
            </a:avLst>
          </a:prstGeom>
          <a:solidFill>
            <a:srgbClr val="F8FAFC"/>
          </a:solidFill>
          <a:ln w="12700">
            <a:solidFill>
              <a:srgbClr val="E2E8F0"/>
            </a:solidFill>
            <a:prstDash val="solid"/>
          </a:ln>
        </p:spPr>
      </p:sp>
      <p:sp>
        <p:nvSpPr>
          <p:cNvPr id="9" name="Text 5"/>
          <p:cNvSpPr txBox="1"/>
          <p:nvPr/>
        </p:nvSpPr>
        <p:spPr>
          <a:xfrm>
            <a:off x="621792" y="1801368"/>
            <a:ext cx="5065776" cy="621792"/>
          </a:xfrm>
          <a:prstGeom prst="rect">
            <a:avLst/>
          </a:prstGeom>
          <a:noFill/>
          <a:ln/>
        </p:spPr>
        <p:txBody>
          <a:bodyPr wrap="square" lIns="0" tIns="0" rIns="0" bIns="0" rtlCol="0" anchor="ctr"/>
          <a:lstStyle/>
          <a:p>
            <a:pPr algn="ctr" indent="0" marL="0">
              <a:spcAft>
                <a:spcPts val="200"/>
              </a:spcAft>
              <a:buNone/>
            </a:pPr>
            <a:r>
              <a:rPr lang="en-US" sz="1200" b="1" dirty="0">
                <a:solidFill>
                  <a:srgbClr val="0F172A"/>
                </a:solidFill>
                <a:latin typeface="Roboto" pitchFamily="34" charset="0"/>
                <a:ea typeface="Roboto" pitchFamily="34" charset="-122"/>
                <a:cs typeface="Roboto" pitchFamily="34" charset="-120"/>
              </a:rPr>
              <a:t>Evidence bundle</a:t>
            </a:r>
            <a:endParaRPr lang="en-US" sz="1200" dirty="0"/>
          </a:p>
          <a:p>
            <a:pPr algn="ctr" indent="0" marL="0">
              <a:spcAft>
                <a:spcPts val="200"/>
              </a:spcAft>
              <a:buNone/>
            </a:pPr>
            <a:r>
              <a:rPr lang="en-US" sz="1000" dirty="0">
                <a:solidFill>
                  <a:srgbClr val="64748B"/>
                </a:solidFill>
                <a:latin typeface="Roboto" pitchFamily="34" charset="0"/>
                <a:ea typeface="Roboto" pitchFamily="34" charset="-122"/>
                <a:cs typeface="Roboto" pitchFamily="34" charset="-120"/>
              </a:rPr>
              <a:t>extracted fields · tampering tiers · face result · statement rows</a:t>
            </a:r>
            <a:endParaRPr lang="en-US" sz="1200" dirty="0"/>
          </a:p>
        </p:txBody>
      </p:sp>
      <p:sp>
        <p:nvSpPr>
          <p:cNvPr id="10" name="Shape 6"/>
          <p:cNvSpPr/>
          <p:nvPr/>
        </p:nvSpPr>
        <p:spPr>
          <a:xfrm flipH="1">
            <a:off x="1371600" y="2459736"/>
            <a:ext cx="1783080" cy="237744"/>
          </a:xfrm>
          <a:prstGeom prst="line">
            <a:avLst/>
          </a:prstGeom>
          <a:noFill/>
          <a:ln w="19050">
            <a:solidFill>
              <a:srgbClr val="94A3B8"/>
            </a:solidFill>
            <a:prstDash val="solid"/>
            <a:tailEnd type="triangle"/>
          </a:ln>
        </p:spPr>
      </p:sp>
      <p:sp>
        <p:nvSpPr>
          <p:cNvPr id="11" name="Shape 7"/>
          <p:cNvSpPr/>
          <p:nvPr/>
        </p:nvSpPr>
        <p:spPr>
          <a:xfrm>
            <a:off x="548640" y="2715768"/>
            <a:ext cx="1645920" cy="777240"/>
          </a:xfrm>
          <a:prstGeom prst="roundRect">
            <a:avLst>
              <a:gd name="adj" fmla="val 9412"/>
            </a:avLst>
          </a:prstGeom>
          <a:solidFill>
            <a:srgbClr val="FFF1F2"/>
          </a:solidFill>
          <a:ln w="12700">
            <a:solidFill>
              <a:srgbClr val="E11D48"/>
            </a:solidFill>
            <a:prstDash val="solid"/>
          </a:ln>
        </p:spPr>
      </p:sp>
      <p:sp>
        <p:nvSpPr>
          <p:cNvPr id="12" name="Text 8"/>
          <p:cNvSpPr txBox="1"/>
          <p:nvPr/>
        </p:nvSpPr>
        <p:spPr>
          <a:xfrm>
            <a:off x="621792" y="2734056"/>
            <a:ext cx="1499616" cy="740664"/>
          </a:xfrm>
          <a:prstGeom prst="rect">
            <a:avLst/>
          </a:prstGeom>
          <a:noFill/>
          <a:ln/>
        </p:spPr>
        <p:txBody>
          <a:bodyPr wrap="square" lIns="0" tIns="0" rIns="0" bIns="0" rtlCol="0" anchor="ctr"/>
          <a:lstStyle/>
          <a:p>
            <a:pPr algn="ctr" indent="0" marL="0">
              <a:spcAft>
                <a:spcPts val="200"/>
              </a:spcAft>
              <a:buNone/>
            </a:pPr>
            <a:r>
              <a:rPr lang="en-US" sz="1100" b="1" dirty="0">
                <a:solidFill>
                  <a:srgbClr val="E11D48"/>
                </a:solidFill>
                <a:latin typeface="Roboto" pitchFamily="34" charset="0"/>
                <a:ea typeface="Roboto" pitchFamily="34" charset="-122"/>
                <a:cs typeface="Roboto" pitchFamily="34" charset="-120"/>
              </a:rPr>
              <a:t>#11 Cross-Doc</a:t>
            </a:r>
            <a:endParaRPr lang="en-US" sz="1100" dirty="0"/>
          </a:p>
          <a:p>
            <a:pPr algn="ctr" indent="0" marL="0">
              <a:spcAft>
                <a:spcPts val="200"/>
              </a:spcAft>
              <a:buNone/>
            </a:pPr>
            <a:r>
              <a:rPr lang="en-US" sz="900" dirty="0">
                <a:solidFill>
                  <a:srgbClr val="64748B"/>
                </a:solidFill>
                <a:latin typeface="Roboto" pitchFamily="34" charset="0"/>
                <a:ea typeface="Roboto" pitchFamily="34" charset="-122"/>
                <a:cs typeface="Roboto" pitchFamily="34" charset="-120"/>
              </a:rPr>
              <a:t>names · DOB · gender</a:t>
            </a:r>
            <a:endParaRPr lang="en-US" sz="1100" dirty="0"/>
          </a:p>
        </p:txBody>
      </p:sp>
      <p:sp>
        <p:nvSpPr>
          <p:cNvPr id="13" name="Shape 9"/>
          <p:cNvSpPr/>
          <p:nvPr/>
        </p:nvSpPr>
        <p:spPr>
          <a:xfrm>
            <a:off x="1371600" y="3511296"/>
            <a:ext cx="1783080" cy="256032"/>
          </a:xfrm>
          <a:prstGeom prst="line">
            <a:avLst/>
          </a:prstGeom>
          <a:noFill/>
          <a:ln w="19050">
            <a:solidFill>
              <a:srgbClr val="94A3B8"/>
            </a:solidFill>
            <a:prstDash val="solid"/>
            <a:tailEnd type="triangle"/>
          </a:ln>
        </p:spPr>
      </p:sp>
      <p:sp>
        <p:nvSpPr>
          <p:cNvPr id="14" name="Shape 10"/>
          <p:cNvSpPr/>
          <p:nvPr/>
        </p:nvSpPr>
        <p:spPr>
          <a:xfrm flipH="1">
            <a:off x="3154680" y="2459736"/>
            <a:ext cx="0" cy="237744"/>
          </a:xfrm>
          <a:prstGeom prst="line">
            <a:avLst/>
          </a:prstGeom>
          <a:noFill/>
          <a:ln w="19050">
            <a:solidFill>
              <a:srgbClr val="94A3B8"/>
            </a:solidFill>
            <a:prstDash val="solid"/>
            <a:tailEnd type="triangle"/>
          </a:ln>
        </p:spPr>
      </p:sp>
      <p:sp>
        <p:nvSpPr>
          <p:cNvPr id="15" name="Shape 11"/>
          <p:cNvSpPr/>
          <p:nvPr/>
        </p:nvSpPr>
        <p:spPr>
          <a:xfrm>
            <a:off x="2331720" y="2715768"/>
            <a:ext cx="1645920" cy="777240"/>
          </a:xfrm>
          <a:prstGeom prst="roundRect">
            <a:avLst>
              <a:gd name="adj" fmla="val 9412"/>
            </a:avLst>
          </a:prstGeom>
          <a:solidFill>
            <a:srgbClr val="FFF1F2"/>
          </a:solidFill>
          <a:ln w="12700">
            <a:solidFill>
              <a:srgbClr val="E11D48"/>
            </a:solidFill>
            <a:prstDash val="solid"/>
          </a:ln>
        </p:spPr>
      </p:sp>
      <p:sp>
        <p:nvSpPr>
          <p:cNvPr id="16" name="Text 12"/>
          <p:cNvSpPr txBox="1"/>
          <p:nvPr/>
        </p:nvSpPr>
        <p:spPr>
          <a:xfrm>
            <a:off x="2404872" y="2734056"/>
            <a:ext cx="1499616" cy="740664"/>
          </a:xfrm>
          <a:prstGeom prst="rect">
            <a:avLst/>
          </a:prstGeom>
          <a:noFill/>
          <a:ln/>
        </p:spPr>
        <p:txBody>
          <a:bodyPr wrap="square" lIns="0" tIns="0" rIns="0" bIns="0" rtlCol="0" anchor="ctr"/>
          <a:lstStyle/>
          <a:p>
            <a:pPr algn="ctr" indent="0" marL="0">
              <a:spcAft>
                <a:spcPts val="200"/>
              </a:spcAft>
              <a:buNone/>
            </a:pPr>
            <a:r>
              <a:rPr lang="en-US" sz="1100" b="1" dirty="0">
                <a:solidFill>
                  <a:srgbClr val="E11D48"/>
                </a:solidFill>
                <a:latin typeface="Roboto" pitchFamily="34" charset="0"/>
                <a:ea typeface="Roboto" pitchFamily="34" charset="-122"/>
                <a:cs typeface="Roboto" pitchFamily="34" charset="-120"/>
              </a:rPr>
              <a:t>#12 Dedupe</a:t>
            </a:r>
            <a:endParaRPr lang="en-US" sz="1100" dirty="0"/>
          </a:p>
          <a:p>
            <a:pPr algn="ctr" indent="0" marL="0">
              <a:spcAft>
                <a:spcPts val="200"/>
              </a:spcAft>
              <a:buNone/>
            </a:pPr>
            <a:r>
              <a:rPr lang="en-US" sz="900" dirty="0">
                <a:solidFill>
                  <a:srgbClr val="64748B"/>
                </a:solidFill>
                <a:latin typeface="Roboto" pitchFamily="34" charset="0"/>
                <a:ea typeface="Roboto" pitchFamily="34" charset="-122"/>
                <a:cs typeface="Roboto" pitchFamily="34" charset="-120"/>
              </a:rPr>
              <a:t>HMAC keys · file hash · face</a:t>
            </a:r>
            <a:endParaRPr lang="en-US" sz="1100" dirty="0"/>
          </a:p>
        </p:txBody>
      </p:sp>
      <p:sp>
        <p:nvSpPr>
          <p:cNvPr id="17" name="Shape 13"/>
          <p:cNvSpPr/>
          <p:nvPr/>
        </p:nvSpPr>
        <p:spPr>
          <a:xfrm>
            <a:off x="3154680" y="3511296"/>
            <a:ext cx="0" cy="256032"/>
          </a:xfrm>
          <a:prstGeom prst="line">
            <a:avLst/>
          </a:prstGeom>
          <a:noFill/>
          <a:ln w="19050">
            <a:solidFill>
              <a:srgbClr val="94A3B8"/>
            </a:solidFill>
            <a:prstDash val="solid"/>
            <a:tailEnd type="triangle"/>
          </a:ln>
        </p:spPr>
      </p:sp>
      <p:sp>
        <p:nvSpPr>
          <p:cNvPr id="18" name="Shape 14"/>
          <p:cNvSpPr/>
          <p:nvPr/>
        </p:nvSpPr>
        <p:spPr>
          <a:xfrm>
            <a:off x="3154680" y="2459736"/>
            <a:ext cx="1783080" cy="237744"/>
          </a:xfrm>
          <a:prstGeom prst="line">
            <a:avLst/>
          </a:prstGeom>
          <a:noFill/>
          <a:ln w="19050">
            <a:solidFill>
              <a:srgbClr val="94A3B8"/>
            </a:solidFill>
            <a:prstDash val="solid"/>
            <a:tailEnd type="triangle"/>
          </a:ln>
        </p:spPr>
      </p:sp>
      <p:sp>
        <p:nvSpPr>
          <p:cNvPr id="19" name="Shape 15"/>
          <p:cNvSpPr/>
          <p:nvPr/>
        </p:nvSpPr>
        <p:spPr>
          <a:xfrm>
            <a:off x="4114800" y="2715768"/>
            <a:ext cx="1645920" cy="777240"/>
          </a:xfrm>
          <a:prstGeom prst="roundRect">
            <a:avLst>
              <a:gd name="adj" fmla="val 9412"/>
            </a:avLst>
          </a:prstGeom>
          <a:solidFill>
            <a:srgbClr val="FFF1F2"/>
          </a:solidFill>
          <a:ln w="12700">
            <a:solidFill>
              <a:srgbClr val="E11D48"/>
            </a:solidFill>
            <a:prstDash val="solid"/>
          </a:ln>
        </p:spPr>
      </p:sp>
      <p:sp>
        <p:nvSpPr>
          <p:cNvPr id="20" name="Text 16"/>
          <p:cNvSpPr txBox="1"/>
          <p:nvPr/>
        </p:nvSpPr>
        <p:spPr>
          <a:xfrm>
            <a:off x="4187952" y="2734056"/>
            <a:ext cx="1499616" cy="740664"/>
          </a:xfrm>
          <a:prstGeom prst="rect">
            <a:avLst/>
          </a:prstGeom>
          <a:noFill/>
          <a:ln/>
        </p:spPr>
        <p:txBody>
          <a:bodyPr wrap="square" lIns="0" tIns="0" rIns="0" bIns="0" rtlCol="0" anchor="ctr"/>
          <a:lstStyle/>
          <a:p>
            <a:pPr algn="ctr" indent="0" marL="0">
              <a:spcAft>
                <a:spcPts val="200"/>
              </a:spcAft>
              <a:buNone/>
            </a:pPr>
            <a:r>
              <a:rPr lang="en-US" sz="1100" b="1" dirty="0">
                <a:solidFill>
                  <a:srgbClr val="E11D48"/>
                </a:solidFill>
                <a:latin typeface="Roboto" pitchFamily="34" charset="0"/>
                <a:ea typeface="Roboto" pitchFamily="34" charset="-122"/>
                <a:cs typeface="Roboto" pitchFamily="34" charset="-120"/>
              </a:rPr>
              <a:t>#14 Patterns</a:t>
            </a:r>
            <a:endParaRPr lang="en-US" sz="1100" dirty="0"/>
          </a:p>
          <a:p>
            <a:pPr algn="ctr" indent="0" marL="0">
              <a:spcAft>
                <a:spcPts val="200"/>
              </a:spcAft>
              <a:buNone/>
            </a:pPr>
            <a:r>
              <a:rPr lang="en-US" sz="900" dirty="0">
                <a:solidFill>
                  <a:srgbClr val="64748B"/>
                </a:solidFill>
                <a:latin typeface="Roboto" pitchFamily="34" charset="0"/>
                <a:ea typeface="Roboto" pitchFamily="34" charset="-122"/>
                <a:cs typeface="Roboto" pitchFamily="34" charset="-120"/>
              </a:rPr>
              <a:t>statement rows</a:t>
            </a:r>
            <a:endParaRPr lang="en-US" sz="1100" dirty="0"/>
          </a:p>
        </p:txBody>
      </p:sp>
      <p:sp>
        <p:nvSpPr>
          <p:cNvPr id="21" name="Shape 17"/>
          <p:cNvSpPr/>
          <p:nvPr/>
        </p:nvSpPr>
        <p:spPr>
          <a:xfrm flipH="1">
            <a:off x="3154680" y="3511296"/>
            <a:ext cx="1783080" cy="256032"/>
          </a:xfrm>
          <a:prstGeom prst="line">
            <a:avLst/>
          </a:prstGeom>
          <a:noFill/>
          <a:ln w="19050">
            <a:solidFill>
              <a:srgbClr val="94A3B8"/>
            </a:solidFill>
            <a:prstDash val="solid"/>
            <a:tailEnd type="triangle"/>
          </a:ln>
        </p:spPr>
      </p:sp>
      <p:sp>
        <p:nvSpPr>
          <p:cNvPr id="22" name="Shape 18"/>
          <p:cNvSpPr/>
          <p:nvPr/>
        </p:nvSpPr>
        <p:spPr>
          <a:xfrm>
            <a:off x="548640" y="3785616"/>
            <a:ext cx="5212080" cy="658368"/>
          </a:xfrm>
          <a:prstGeom prst="roundRect">
            <a:avLst>
              <a:gd name="adj" fmla="val 11111"/>
            </a:avLst>
          </a:prstGeom>
          <a:solidFill>
            <a:srgbClr val="FFF1F2"/>
          </a:solidFill>
          <a:ln w="12700">
            <a:solidFill>
              <a:srgbClr val="E11D48"/>
            </a:solidFill>
            <a:prstDash val="solid"/>
          </a:ln>
        </p:spPr>
      </p:sp>
      <p:sp>
        <p:nvSpPr>
          <p:cNvPr id="23" name="Text 19"/>
          <p:cNvSpPr txBox="1"/>
          <p:nvPr/>
        </p:nvSpPr>
        <p:spPr>
          <a:xfrm>
            <a:off x="621792" y="3803904"/>
            <a:ext cx="5065776" cy="621792"/>
          </a:xfrm>
          <a:prstGeom prst="rect">
            <a:avLst/>
          </a:prstGeom>
          <a:noFill/>
          <a:ln/>
        </p:spPr>
        <p:txBody>
          <a:bodyPr wrap="square" lIns="0" tIns="0" rIns="0" bIns="0" rtlCol="0" anchor="ctr"/>
          <a:lstStyle/>
          <a:p>
            <a:pPr algn="ctr" indent="0" marL="0">
              <a:spcAft>
                <a:spcPts val="200"/>
              </a:spcAft>
              <a:buNone/>
            </a:pPr>
            <a:r>
              <a:rPr lang="en-US" sz="1200" b="1" dirty="0">
                <a:solidFill>
                  <a:srgbClr val="E11D48"/>
                </a:solidFill>
                <a:latin typeface="Roboto" pitchFamily="34" charset="0"/>
                <a:ea typeface="Roboto" pitchFamily="34" charset="-122"/>
                <a:cs typeface="Roboto" pitchFamily="34" charset="-120"/>
              </a:rPr>
              <a:t>#13 Fraud Fusion</a:t>
            </a:r>
            <a:endParaRPr lang="en-US" sz="1200" dirty="0"/>
          </a:p>
          <a:p>
            <a:pPr algn="ctr" indent="0" marL="0">
              <a:spcAft>
                <a:spcPts val="200"/>
              </a:spcAft>
              <a:buNone/>
            </a:pPr>
            <a:r>
              <a:rPr lang="en-US" sz="1000" dirty="0">
                <a:solidFill>
                  <a:srgbClr val="64748B"/>
                </a:solidFill>
                <a:latin typeface="Roboto" pitchFamily="34" charset="0"/>
                <a:ea typeface="Roboto" pitchFamily="34" charset="-122"/>
                <a:cs typeface="Roboto" pitchFamily="34" charset="-120"/>
              </a:rPr>
              <a:t>one advisory score and tier (LOW · MEDIUM · HIGH)</a:t>
            </a:r>
            <a:endParaRPr lang="en-US" sz="1200" dirty="0"/>
          </a:p>
        </p:txBody>
      </p:sp>
      <p:sp>
        <p:nvSpPr>
          <p:cNvPr id="24" name="Shape 20"/>
          <p:cNvSpPr/>
          <p:nvPr/>
        </p:nvSpPr>
        <p:spPr>
          <a:xfrm>
            <a:off x="3154680" y="4462272"/>
            <a:ext cx="0" cy="201168"/>
          </a:xfrm>
          <a:prstGeom prst="line">
            <a:avLst/>
          </a:prstGeom>
          <a:noFill/>
          <a:ln w="19050">
            <a:solidFill>
              <a:srgbClr val="94A3B8"/>
            </a:solidFill>
            <a:prstDash val="solid"/>
            <a:tailEnd type="triangle"/>
          </a:ln>
        </p:spPr>
      </p:sp>
      <p:sp>
        <p:nvSpPr>
          <p:cNvPr id="25" name="Shape 21"/>
          <p:cNvSpPr/>
          <p:nvPr/>
        </p:nvSpPr>
        <p:spPr>
          <a:xfrm>
            <a:off x="548640" y="4681728"/>
            <a:ext cx="5212080" cy="658368"/>
          </a:xfrm>
          <a:prstGeom prst="roundRect">
            <a:avLst>
              <a:gd name="adj" fmla="val 11111"/>
            </a:avLst>
          </a:prstGeom>
          <a:solidFill>
            <a:srgbClr val="ECFDF5"/>
          </a:solidFill>
          <a:ln w="12700">
            <a:solidFill>
              <a:srgbClr val="059669"/>
            </a:solidFill>
            <a:prstDash val="solid"/>
          </a:ln>
        </p:spPr>
      </p:sp>
      <p:sp>
        <p:nvSpPr>
          <p:cNvPr id="26" name="Text 22"/>
          <p:cNvSpPr txBox="1"/>
          <p:nvPr/>
        </p:nvSpPr>
        <p:spPr>
          <a:xfrm>
            <a:off x="621792" y="4700016"/>
            <a:ext cx="5065776" cy="621792"/>
          </a:xfrm>
          <a:prstGeom prst="rect">
            <a:avLst/>
          </a:prstGeom>
          <a:noFill/>
          <a:ln/>
        </p:spPr>
        <p:txBody>
          <a:bodyPr wrap="square" lIns="0" tIns="0" rIns="0" bIns="0" rtlCol="0" anchor="ctr"/>
          <a:lstStyle/>
          <a:p>
            <a:pPr algn="ctr" indent="0" marL="0">
              <a:spcAft>
                <a:spcPts val="200"/>
              </a:spcAft>
              <a:buNone/>
            </a:pPr>
            <a:r>
              <a:rPr lang="en-US" sz="1200" b="1" dirty="0">
                <a:solidFill>
                  <a:srgbClr val="059669"/>
                </a:solidFill>
                <a:latin typeface="Roboto" pitchFamily="34" charset="0"/>
                <a:ea typeface="Roboto" pitchFamily="34" charset="-122"/>
                <a:cs typeface="Roboto" pitchFamily="34" charset="-120"/>
              </a:rPr>
              <a:t>#19 Policy Check</a:t>
            </a:r>
            <a:endParaRPr lang="en-US" sz="1200" dirty="0"/>
          </a:p>
          <a:p>
            <a:pPr algn="ctr" indent="0" marL="0">
              <a:spcAft>
                <a:spcPts val="200"/>
              </a:spcAft>
              <a:buNone/>
            </a:pPr>
            <a:r>
              <a:rPr lang="en-US" sz="1000" dirty="0">
                <a:solidFill>
                  <a:srgbClr val="64748B"/>
                </a:solidFill>
                <a:latin typeface="Roboto" pitchFamily="34" charset="0"/>
                <a:ea typeface="Roboto" pitchFamily="34" charset="-122"/>
                <a:cs typeface="Roboto" pitchFamily="34" charset="-120"/>
              </a:rPr>
              <a:t>15 active RBI / internal rules → PASS · FAIL · NEED INFO</a:t>
            </a:r>
            <a:endParaRPr lang="en-US" sz="1200" dirty="0"/>
          </a:p>
        </p:txBody>
      </p:sp>
      <p:sp>
        <p:nvSpPr>
          <p:cNvPr id="27" name="Shape 23"/>
          <p:cNvSpPr/>
          <p:nvPr/>
        </p:nvSpPr>
        <p:spPr>
          <a:xfrm>
            <a:off x="3154680" y="5358384"/>
            <a:ext cx="0" cy="201168"/>
          </a:xfrm>
          <a:prstGeom prst="line">
            <a:avLst/>
          </a:prstGeom>
          <a:noFill/>
          <a:ln w="19050">
            <a:solidFill>
              <a:srgbClr val="94A3B8"/>
            </a:solidFill>
            <a:prstDash val="solid"/>
            <a:tailEnd type="triangle"/>
          </a:ln>
        </p:spPr>
      </p:sp>
      <p:sp>
        <p:nvSpPr>
          <p:cNvPr id="28" name="Shape 24"/>
          <p:cNvSpPr/>
          <p:nvPr/>
        </p:nvSpPr>
        <p:spPr>
          <a:xfrm>
            <a:off x="548640" y="5577840"/>
            <a:ext cx="5212080" cy="658368"/>
          </a:xfrm>
          <a:prstGeom prst="roundRect">
            <a:avLst>
              <a:gd name="adj" fmla="val 11111"/>
            </a:avLst>
          </a:prstGeom>
          <a:solidFill>
            <a:srgbClr val="DCFCE7"/>
          </a:solidFill>
          <a:ln w="12700">
            <a:solidFill>
              <a:srgbClr val="86EFAC"/>
            </a:solidFill>
            <a:prstDash val="solid"/>
          </a:ln>
        </p:spPr>
      </p:sp>
      <p:sp>
        <p:nvSpPr>
          <p:cNvPr id="29" name="Text 25"/>
          <p:cNvSpPr txBox="1"/>
          <p:nvPr/>
        </p:nvSpPr>
        <p:spPr>
          <a:xfrm>
            <a:off x="621792" y="5596128"/>
            <a:ext cx="5065776" cy="621792"/>
          </a:xfrm>
          <a:prstGeom prst="rect">
            <a:avLst/>
          </a:prstGeom>
          <a:noFill/>
          <a:ln/>
        </p:spPr>
        <p:txBody>
          <a:bodyPr wrap="square" lIns="0" tIns="0" rIns="0" bIns="0" rtlCol="0" anchor="ctr"/>
          <a:lstStyle/>
          <a:p>
            <a:pPr algn="ctr" indent="0" marL="0">
              <a:spcAft>
                <a:spcPts val="200"/>
              </a:spcAft>
              <a:buNone/>
            </a:pPr>
            <a:r>
              <a:rPr lang="en-US" sz="1200" b="1" dirty="0">
                <a:solidFill>
                  <a:srgbClr val="166534"/>
                </a:solidFill>
                <a:latin typeface="Roboto" pitchFamily="34" charset="0"/>
                <a:ea typeface="Roboto" pitchFamily="34" charset="-122"/>
                <a:cs typeface="Roboto" pitchFamily="34" charset="-120"/>
              </a:rPr>
              <a:t>Advisory route</a:t>
            </a:r>
            <a:endParaRPr lang="en-US" sz="1200" dirty="0"/>
          </a:p>
          <a:p>
            <a:pPr algn="ctr" indent="0" marL="0">
              <a:spcAft>
                <a:spcPts val="200"/>
              </a:spcAft>
              <a:buNone/>
            </a:pPr>
            <a:r>
              <a:rPr lang="en-US" sz="1000" dirty="0">
                <a:solidFill>
                  <a:srgbClr val="64748B"/>
                </a:solidFill>
                <a:latin typeface="Roboto" pitchFamily="34" charset="0"/>
                <a:ea typeface="Roboto" pitchFamily="34" charset="-122"/>
                <a:cs typeface="Roboto" pitchFamily="34" charset="-120"/>
              </a:rPr>
              <a:t>proceed · or refer for a closer human review — never reject</a:t>
            </a:r>
            <a:endParaRPr lang="en-US" sz="1200" dirty="0"/>
          </a:p>
        </p:txBody>
      </p:sp>
      <p:sp>
        <p:nvSpPr>
          <p:cNvPr id="30" name="Shape 26"/>
          <p:cNvSpPr/>
          <p:nvPr/>
        </p:nvSpPr>
        <p:spPr>
          <a:xfrm>
            <a:off x="6035040" y="1783080"/>
            <a:ext cx="5605272" cy="4035933"/>
          </a:xfrm>
          <a:prstGeom prst="roundRect">
            <a:avLst>
              <a:gd name="adj" fmla="val 1586"/>
            </a:avLst>
          </a:prstGeom>
          <a:solidFill>
            <a:srgbClr val="1E293B"/>
          </a:solidFill>
          <a:ln w="12700">
            <a:solidFill>
              <a:srgbClr val="1E293B"/>
            </a:solidFill>
            <a:prstDash val="solid"/>
          </a:ln>
          <a:effectLst>
            <a:outerShdw sx="100000" sy="100000" kx="0" ky="0" algn="bl" rotWithShape="0" blurRad="127000" dist="25400" dir="5400000">
              <a:srgbClr val="0F172A">
                <a:alpha val="12000"/>
              </a:srgbClr>
            </a:outerShdw>
          </a:effectLst>
        </p:spPr>
      </p:sp>
      <p:sp>
        <p:nvSpPr>
          <p:cNvPr id="31" name="Shape 27"/>
          <p:cNvSpPr/>
          <p:nvPr/>
        </p:nvSpPr>
        <p:spPr>
          <a:xfrm>
            <a:off x="6153912" y="1860804"/>
            <a:ext cx="82296" cy="82296"/>
          </a:xfrm>
          <a:prstGeom prst="ellipse">
            <a:avLst/>
          </a:prstGeom>
          <a:solidFill>
            <a:srgbClr val="F87171"/>
          </a:solidFill>
          <a:ln w="12700">
            <a:solidFill>
              <a:srgbClr val="F87171"/>
            </a:solidFill>
            <a:prstDash val="solid"/>
          </a:ln>
        </p:spPr>
      </p:sp>
      <p:sp>
        <p:nvSpPr>
          <p:cNvPr id="32" name="Shape 28"/>
          <p:cNvSpPr/>
          <p:nvPr/>
        </p:nvSpPr>
        <p:spPr>
          <a:xfrm>
            <a:off x="6291072" y="1860804"/>
            <a:ext cx="82296" cy="82296"/>
          </a:xfrm>
          <a:prstGeom prst="ellipse">
            <a:avLst/>
          </a:prstGeom>
          <a:solidFill>
            <a:srgbClr val="FBBF24"/>
          </a:solidFill>
          <a:ln w="12700">
            <a:solidFill>
              <a:srgbClr val="FBBF24"/>
            </a:solidFill>
            <a:prstDash val="solid"/>
          </a:ln>
        </p:spPr>
      </p:sp>
      <p:sp>
        <p:nvSpPr>
          <p:cNvPr id="33" name="Shape 29"/>
          <p:cNvSpPr/>
          <p:nvPr/>
        </p:nvSpPr>
        <p:spPr>
          <a:xfrm>
            <a:off x="6428232" y="1860804"/>
            <a:ext cx="82296" cy="82296"/>
          </a:xfrm>
          <a:prstGeom prst="ellipse">
            <a:avLst/>
          </a:prstGeom>
          <a:solidFill>
            <a:srgbClr val="34D399"/>
          </a:solidFill>
          <a:ln w="12700">
            <a:solidFill>
              <a:srgbClr val="34D399"/>
            </a:solidFill>
            <a:prstDash val="solid"/>
          </a:ln>
        </p:spPr>
      </p:sp>
      <p:pic>
        <p:nvPicPr>
          <p:cNvPr id="34" name="Image 1" descr="C:\Users\shrey\AppData\Local\Temp\claude\D--novacinternship-finsight\ef4ecb45-e580-4bc0-9be4-060aa240a5b2\scratchpad\deck\img\assessment_full.png">    </p:cNvPr>
          <p:cNvPicPr>
            <a:picLocks noChangeAspect="1"/>
          </p:cNvPicPr>
          <p:nvPr/>
        </p:nvPicPr>
        <p:blipFill>
          <a:blip r:embed="rId2"/>
          <a:stretch>
            <a:fillRect/>
          </a:stretch>
        </p:blipFill>
        <p:spPr>
          <a:xfrm>
            <a:off x="6080760" y="2020824"/>
            <a:ext cx="5513832" cy="3752469"/>
          </a:xfrm>
          <a:prstGeom prst="rect">
            <a:avLst/>
          </a:prstGeom>
        </p:spPr>
      </p:pic>
      <p:sp>
        <p:nvSpPr>
          <p:cNvPr id="35" name="Text 30"/>
          <p:cNvSpPr txBox="1"/>
          <p:nvPr/>
        </p:nvSpPr>
        <p:spPr>
          <a:xfrm>
            <a:off x="6035040" y="5928741"/>
            <a:ext cx="5605272" cy="411480"/>
          </a:xfrm>
          <a:prstGeom prst="rect">
            <a:avLst/>
          </a:prstGeom>
          <a:noFill/>
          <a:ln/>
        </p:spPr>
        <p:txBody>
          <a:bodyPr wrap="square" lIns="0" tIns="0" rIns="0" bIns="0" rtlCol="0" anchor="ctr"/>
          <a:lstStyle/>
          <a:p>
            <a:pPr indent="0" marL="0">
              <a:buNone/>
            </a:pPr>
            <a:r>
              <a:rPr lang="en-US" sz="1050" i="1" dirty="0">
                <a:solidFill>
                  <a:srgbClr val="64748B"/>
                </a:solidFill>
                <a:latin typeface="Roboto" pitchFamily="34" charset="0"/>
                <a:ea typeface="Roboto" pitchFamily="34" charset="-122"/>
                <a:cs typeface="Roboto" pitchFamily="34" charset="-120"/>
              </a:rPr>
              <a:t>Real run, synthetic applicant submitted twice: Dedupe finds the same files → two floors → HIGH.</a:t>
            </a:r>
            <a:endParaRPr lang="en-US" sz="10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8229600" cy="256032"/>
          </a:xfrm>
          <a:prstGeom prst="rect">
            <a:avLst/>
          </a:prstGeom>
          <a:noFill/>
          <a:ln/>
        </p:spPr>
        <p:txBody>
          <a:bodyPr wrap="square" lIns="0" tIns="0" rIns="0" bIns="0" rtlCol="0" anchor="ctr"/>
          <a:lstStyle/>
          <a:p>
            <a:pPr indent="0" marL="0">
              <a:buNone/>
            </a:pPr>
            <a:r>
              <a:rPr lang="en-US" sz="1100" b="1" spc="200" kern="0" dirty="0">
                <a:solidFill>
                  <a:srgbClr val="4F46E5"/>
                </a:solidFill>
                <a:latin typeface="Roboto" pitchFamily="34" charset="0"/>
                <a:ea typeface="Roboto" pitchFamily="34" charset="-122"/>
                <a:cs typeface="Roboto" pitchFamily="34" charset="-120"/>
              </a:rPr>
              <a:t>THE 29 AGENTS · FRAUD FUSION</a:t>
            </a:r>
            <a:endParaRPr lang="en-US" sz="1100" dirty="0"/>
          </a:p>
        </p:txBody>
      </p:sp>
      <p:sp>
        <p:nvSpPr>
          <p:cNvPr id="3" name="Text 1"/>
          <p:cNvSpPr txBox="1"/>
          <p:nvPr/>
        </p:nvSpPr>
        <p:spPr>
          <a:xfrm>
            <a:off x="548640" y="585216"/>
            <a:ext cx="11094415" cy="566928"/>
          </a:xfrm>
          <a:prstGeom prst="rect">
            <a:avLst/>
          </a:prstGeom>
          <a:noFill/>
          <a:ln/>
        </p:spPr>
        <p:txBody>
          <a:bodyPr wrap="square" lIns="0" tIns="0" rIns="0" bIns="0" rtlCol="0" anchor="ctr"/>
          <a:lstStyle/>
          <a:p>
            <a:pPr indent="0" marL="0">
              <a:buNone/>
            </a:pPr>
            <a:r>
              <a:rPr lang="en-US" sz="2800" b="1" dirty="0">
                <a:solidFill>
                  <a:srgbClr val="0F172A"/>
                </a:solidFill>
                <a:latin typeface="Roboto" pitchFamily="34" charset="0"/>
                <a:ea typeface="Roboto" pitchFamily="34" charset="-122"/>
                <a:cs typeface="Roboto" pitchFamily="34" charset="-120"/>
              </a:rPr>
              <a:t>Fraud Fusion v2: how one score is built</a:t>
            </a:r>
            <a:endParaRPr lang="en-US" sz="2800" dirty="0"/>
          </a:p>
        </p:txBody>
      </p:sp>
      <p:sp>
        <p:nvSpPr>
          <p:cNvPr id="4" name="Text 2"/>
          <p:cNvSpPr txBox="1"/>
          <p:nvPr/>
        </p:nvSpPr>
        <p:spPr>
          <a:xfrm>
            <a:off x="548640" y="1152144"/>
            <a:ext cx="11094415" cy="365760"/>
          </a:xfrm>
          <a:prstGeom prst="rect">
            <a:avLst/>
          </a:prstGeom>
          <a:noFill/>
          <a:ln/>
        </p:spPr>
        <p:txBody>
          <a:bodyPr wrap="square" lIns="0" tIns="0" rIns="0" bIns="0" rtlCol="0" anchor="ctr"/>
          <a:lstStyle/>
          <a:p>
            <a:pPr indent="0" marL="0">
              <a:buNone/>
            </a:pPr>
            <a:r>
              <a:rPr lang="en-US" sz="1400" dirty="0">
                <a:solidFill>
                  <a:srgbClr val="64748B"/>
                </a:solidFill>
                <a:latin typeface="Roboto" pitchFamily="34" charset="0"/>
                <a:ea typeface="Roboto" pitchFamily="34" charset="-122"/>
                <a:cs typeface="Roboto" pitchFamily="34" charset="-120"/>
              </a:rPr>
              <a:t>A weighted average measures agreement; a dominant path and floors stop one strong red flag being averaged away.</a:t>
            </a:r>
            <a:endParaRPr lang="en-US" sz="1400" dirty="0"/>
          </a:p>
        </p:txBody>
      </p:sp>
      <p:pic>
        <p:nvPicPr>
          <p:cNvPr id="5" name="Image 0" descr="C:\Users\shrey\AppData\Local\Temp\claude\D--novacinternship-finsight\ef4ecb45-e580-4bc0-9be4-060aa240a5b2\scratchpad\deck\img\logo_lockup.png">    </p:cNvPr>
          <p:cNvPicPr>
            <a:picLocks noChangeAspect="1"/>
          </p:cNvPicPr>
          <p:nvPr/>
        </p:nvPicPr>
        <p:blipFill>
          <a:blip r:embed="rId1"/>
          <a:stretch>
            <a:fillRect/>
          </a:stretch>
        </p:blipFill>
        <p:spPr>
          <a:xfrm>
            <a:off x="10360152" y="6464808"/>
            <a:ext cx="843991" cy="237744"/>
          </a:xfrm>
          <a:prstGeom prst="rect">
            <a:avLst/>
          </a:prstGeom>
        </p:spPr>
      </p:pic>
      <p:sp>
        <p:nvSpPr>
          <p:cNvPr id="6" name="Text 3"/>
          <p:cNvSpPr txBox="1"/>
          <p:nvPr/>
        </p:nvSpPr>
        <p:spPr>
          <a:xfrm>
            <a:off x="11277295" y="6473952"/>
            <a:ext cx="365760" cy="228600"/>
          </a:xfrm>
          <a:prstGeom prst="rect">
            <a:avLst/>
          </a:prstGeom>
          <a:noFill/>
          <a:ln/>
        </p:spPr>
        <p:txBody>
          <a:bodyPr wrap="square" lIns="0" tIns="0" rIns="0" bIns="0" rtlCol="0" anchor="ctr"/>
          <a:lstStyle/>
          <a:p>
            <a:pPr algn="r" indent="0" marL="0">
              <a:buNone/>
            </a:pPr>
            <a:r>
              <a:rPr lang="en-US" sz="900" dirty="0">
                <a:solidFill>
                  <a:srgbClr val="94A3B8"/>
                </a:solidFill>
                <a:latin typeface="Roboto" pitchFamily="34" charset="0"/>
                <a:ea typeface="Roboto" pitchFamily="34" charset="-122"/>
                <a:cs typeface="Roboto" pitchFamily="34" charset="-120"/>
              </a:rPr>
              <a:t>18</a:t>
            </a:r>
            <a:endParaRPr lang="en-US" sz="900" dirty="0"/>
          </a:p>
        </p:txBody>
      </p:sp>
      <p:graphicFrame>
        <p:nvGraphicFramePr>
          <p:cNvPr id="8" name="Chart 0" descr=""/>
          <p:cNvGraphicFramePr/>
          <p:nvPr/>
        </p:nvGraphicFramePr>
        <p:xfrm>
          <a:off x="548640" y="1737360"/>
          <a:ext cx="4937760" cy="2743200"/>
        </p:xfrm>
        <a:graphic xmlns:a="http://schemas.openxmlformats.org/drawingml/2006/main">
          <a:graphicData uri="http://schemas.openxmlformats.org/drawingml/2006/chart">
            <c:chart xmlns:c="http://schemas.openxmlformats.org/drawingml/2006/chart" r:id="rId2"/>
          </a:graphicData>
        </a:graphic>
      </p:graphicFrame>
      <p:sp>
        <p:nvSpPr>
          <p:cNvPr id="9" name="Shape 4"/>
          <p:cNvSpPr/>
          <p:nvPr/>
        </p:nvSpPr>
        <p:spPr>
          <a:xfrm>
            <a:off x="548640" y="4654296"/>
            <a:ext cx="310896" cy="310896"/>
          </a:xfrm>
          <a:prstGeom prst="roundRect">
            <a:avLst>
              <a:gd name="adj" fmla="val 50000"/>
            </a:avLst>
          </a:prstGeom>
          <a:solidFill>
            <a:srgbClr val="E11D48"/>
          </a:solidFill>
          <a:ln w="12700">
            <a:solidFill>
              <a:srgbClr val="E11D48"/>
            </a:solidFill>
            <a:prstDash val="solid"/>
          </a:ln>
        </p:spPr>
      </p:sp>
      <p:sp>
        <p:nvSpPr>
          <p:cNvPr id="10" name="Text 5"/>
          <p:cNvSpPr txBox="1"/>
          <p:nvPr/>
        </p:nvSpPr>
        <p:spPr>
          <a:xfrm>
            <a:off x="548640" y="4654296"/>
            <a:ext cx="310896" cy="310896"/>
          </a:xfrm>
          <a:prstGeom prst="rect">
            <a:avLst/>
          </a:prstGeom>
          <a:noFill/>
          <a:ln/>
        </p:spPr>
        <p:txBody>
          <a:bodyPr wrap="square" lIns="0" tIns="0" rIns="0" bIns="0" rtlCol="0" anchor="ctr"/>
          <a:lstStyle/>
          <a:p>
            <a:pPr algn="ctr" indent="0" marL="0">
              <a:buNone/>
            </a:pPr>
            <a:r>
              <a:rPr lang="en-US" sz="1050" b="1" dirty="0">
                <a:solidFill>
                  <a:srgbClr val="FFFFFF"/>
                </a:solidFill>
                <a:latin typeface="Roboto" pitchFamily="34" charset="0"/>
                <a:ea typeface="Roboto" pitchFamily="34" charset="-122"/>
                <a:cs typeface="Roboto" pitchFamily="34" charset="-120"/>
              </a:rPr>
              <a:t>1</a:t>
            </a:r>
            <a:endParaRPr lang="en-US" sz="1050" dirty="0"/>
          </a:p>
        </p:txBody>
      </p:sp>
      <p:sp>
        <p:nvSpPr>
          <p:cNvPr id="11" name="Text 6"/>
          <p:cNvSpPr txBox="1"/>
          <p:nvPr/>
        </p:nvSpPr>
        <p:spPr>
          <a:xfrm>
            <a:off x="987552" y="4617720"/>
            <a:ext cx="4846320" cy="402336"/>
          </a:xfrm>
          <a:prstGeom prst="rect">
            <a:avLst/>
          </a:prstGeom>
          <a:noFill/>
          <a:ln/>
        </p:spPr>
        <p:txBody>
          <a:bodyPr wrap="square" lIns="0" tIns="0" rIns="0" bIns="0" rtlCol="0" anchor="ctr"/>
          <a:lstStyle/>
          <a:p>
            <a:pPr indent="0" marL="0">
              <a:buNone/>
            </a:pPr>
            <a:r>
              <a:rPr lang="en-US" sz="1050" b="1" dirty="0">
                <a:solidFill>
                  <a:srgbClr val="0F172A"/>
                </a:solidFill>
                <a:latin typeface="Roboto" pitchFamily="34" charset="0"/>
                <a:ea typeface="Roboto" pitchFamily="34" charset="-122"/>
                <a:cs typeface="Roboto" pitchFamily="34" charset="-120"/>
              </a:rPr>
              <a:t>Weighted average  </a:t>
            </a:r>
            <a:pPr indent="0" marL="0">
              <a:buNone/>
            </a:pPr>
            <a:r>
              <a:rPr lang="en-US" sz="1050" dirty="0">
                <a:solidFill>
                  <a:srgbClr val="64748B"/>
                </a:solidFill>
                <a:latin typeface="Roboto" pitchFamily="34" charset="0"/>
                <a:ea typeface="Roboto" pitchFamily="34" charset="-122"/>
                <a:cs typeface="Roboto" pitchFamily="34" charset="-120"/>
              </a:rPr>
              <a:t>Each component scores 0–1; only components with evidence count.</a:t>
            </a:r>
            <a:endParaRPr lang="en-US" sz="1050" dirty="0"/>
          </a:p>
        </p:txBody>
      </p:sp>
      <p:sp>
        <p:nvSpPr>
          <p:cNvPr id="12" name="Shape 7"/>
          <p:cNvSpPr/>
          <p:nvPr/>
        </p:nvSpPr>
        <p:spPr>
          <a:xfrm>
            <a:off x="548640" y="5084064"/>
            <a:ext cx="310896" cy="310896"/>
          </a:xfrm>
          <a:prstGeom prst="roundRect">
            <a:avLst>
              <a:gd name="adj" fmla="val 50000"/>
            </a:avLst>
          </a:prstGeom>
          <a:solidFill>
            <a:srgbClr val="E11D48"/>
          </a:solidFill>
          <a:ln w="12700">
            <a:solidFill>
              <a:srgbClr val="E11D48"/>
            </a:solidFill>
            <a:prstDash val="solid"/>
          </a:ln>
        </p:spPr>
      </p:sp>
      <p:sp>
        <p:nvSpPr>
          <p:cNvPr id="13" name="Text 8"/>
          <p:cNvSpPr txBox="1"/>
          <p:nvPr/>
        </p:nvSpPr>
        <p:spPr>
          <a:xfrm>
            <a:off x="548640" y="5084064"/>
            <a:ext cx="310896" cy="310896"/>
          </a:xfrm>
          <a:prstGeom prst="rect">
            <a:avLst/>
          </a:prstGeom>
          <a:noFill/>
          <a:ln/>
        </p:spPr>
        <p:txBody>
          <a:bodyPr wrap="square" lIns="0" tIns="0" rIns="0" bIns="0" rtlCol="0" anchor="ctr"/>
          <a:lstStyle/>
          <a:p>
            <a:pPr algn="ctr" indent="0" marL="0">
              <a:buNone/>
            </a:pPr>
            <a:r>
              <a:rPr lang="en-US" sz="1050" b="1" dirty="0">
                <a:solidFill>
                  <a:srgbClr val="FFFFFF"/>
                </a:solidFill>
                <a:latin typeface="Roboto" pitchFamily="34" charset="0"/>
                <a:ea typeface="Roboto" pitchFamily="34" charset="-122"/>
                <a:cs typeface="Roboto" pitchFamily="34" charset="-120"/>
              </a:rPr>
              <a:t>2</a:t>
            </a:r>
            <a:endParaRPr lang="en-US" sz="1050" dirty="0"/>
          </a:p>
        </p:txBody>
      </p:sp>
      <p:sp>
        <p:nvSpPr>
          <p:cNvPr id="14" name="Text 9"/>
          <p:cNvSpPr txBox="1"/>
          <p:nvPr/>
        </p:nvSpPr>
        <p:spPr>
          <a:xfrm>
            <a:off x="987552" y="5047488"/>
            <a:ext cx="4846320" cy="402336"/>
          </a:xfrm>
          <a:prstGeom prst="rect">
            <a:avLst/>
          </a:prstGeom>
          <a:noFill/>
          <a:ln/>
        </p:spPr>
        <p:txBody>
          <a:bodyPr wrap="square" lIns="0" tIns="0" rIns="0" bIns="0" rtlCol="0" anchor="ctr"/>
          <a:lstStyle/>
          <a:p>
            <a:pPr indent="0" marL="0">
              <a:buNone/>
            </a:pPr>
            <a:r>
              <a:rPr lang="en-US" sz="1050" b="1" dirty="0">
                <a:solidFill>
                  <a:srgbClr val="0F172A"/>
                </a:solidFill>
                <a:latin typeface="Roboto" pitchFamily="34" charset="0"/>
                <a:ea typeface="Roboto" pitchFamily="34" charset="-122"/>
                <a:cs typeface="Roboto" pitchFamily="34" charset="-120"/>
              </a:rPr>
              <a:t>Dominant path  </a:t>
            </a:r>
            <a:pPr indent="0" marL="0">
              <a:buNone/>
            </a:pPr>
            <a:r>
              <a:rPr lang="en-US" sz="1050" dirty="0">
                <a:solidFill>
                  <a:srgbClr val="64748B"/>
                </a:solidFill>
                <a:latin typeface="Roboto" pitchFamily="34" charset="0"/>
                <a:ea typeface="Roboto" pitchFamily="34" charset="-122"/>
                <a:cs typeface="Roboto" pitchFamily="34" charset="-120"/>
              </a:rPr>
              <a:t>fused = max(average, strongest signal × its confidence) — plus 0.1 if another signal agrees.</a:t>
            </a:r>
            <a:endParaRPr lang="en-US" sz="1050" dirty="0"/>
          </a:p>
        </p:txBody>
      </p:sp>
      <p:sp>
        <p:nvSpPr>
          <p:cNvPr id="15" name="Shape 10"/>
          <p:cNvSpPr/>
          <p:nvPr/>
        </p:nvSpPr>
        <p:spPr>
          <a:xfrm>
            <a:off x="548640" y="5513832"/>
            <a:ext cx="310896" cy="310896"/>
          </a:xfrm>
          <a:prstGeom prst="roundRect">
            <a:avLst>
              <a:gd name="adj" fmla="val 50000"/>
            </a:avLst>
          </a:prstGeom>
          <a:solidFill>
            <a:srgbClr val="E11D48"/>
          </a:solidFill>
          <a:ln w="12700">
            <a:solidFill>
              <a:srgbClr val="E11D48"/>
            </a:solidFill>
            <a:prstDash val="solid"/>
          </a:ln>
        </p:spPr>
      </p:sp>
      <p:sp>
        <p:nvSpPr>
          <p:cNvPr id="16" name="Text 11"/>
          <p:cNvSpPr txBox="1"/>
          <p:nvPr/>
        </p:nvSpPr>
        <p:spPr>
          <a:xfrm>
            <a:off x="548640" y="5513832"/>
            <a:ext cx="310896" cy="310896"/>
          </a:xfrm>
          <a:prstGeom prst="rect">
            <a:avLst/>
          </a:prstGeom>
          <a:noFill/>
          <a:ln/>
        </p:spPr>
        <p:txBody>
          <a:bodyPr wrap="square" lIns="0" tIns="0" rIns="0" bIns="0" rtlCol="0" anchor="ctr"/>
          <a:lstStyle/>
          <a:p>
            <a:pPr algn="ctr" indent="0" marL="0">
              <a:buNone/>
            </a:pPr>
            <a:r>
              <a:rPr lang="en-US" sz="1050" b="1" dirty="0">
                <a:solidFill>
                  <a:srgbClr val="FFFFFF"/>
                </a:solidFill>
                <a:latin typeface="Roboto" pitchFamily="34" charset="0"/>
                <a:ea typeface="Roboto" pitchFamily="34" charset="-122"/>
                <a:cs typeface="Roboto" pitchFamily="34" charset="-120"/>
              </a:rPr>
              <a:t>3</a:t>
            </a:r>
            <a:endParaRPr lang="en-US" sz="1050" dirty="0"/>
          </a:p>
        </p:txBody>
      </p:sp>
      <p:sp>
        <p:nvSpPr>
          <p:cNvPr id="17" name="Text 12"/>
          <p:cNvSpPr txBox="1"/>
          <p:nvPr/>
        </p:nvSpPr>
        <p:spPr>
          <a:xfrm>
            <a:off x="987552" y="5477256"/>
            <a:ext cx="4846320" cy="402336"/>
          </a:xfrm>
          <a:prstGeom prst="rect">
            <a:avLst/>
          </a:prstGeom>
          <a:noFill/>
          <a:ln/>
        </p:spPr>
        <p:txBody>
          <a:bodyPr wrap="square" lIns="0" tIns="0" rIns="0" bIns="0" rtlCol="0" anchor="ctr"/>
          <a:lstStyle/>
          <a:p>
            <a:pPr indent="0" marL="0">
              <a:buNone/>
            </a:pPr>
            <a:r>
              <a:rPr lang="en-US" sz="1050" b="1" dirty="0">
                <a:solidFill>
                  <a:srgbClr val="0F172A"/>
                </a:solidFill>
                <a:latin typeface="Roboto" pitchFamily="34" charset="0"/>
                <a:ea typeface="Roboto" pitchFamily="34" charset="-122"/>
                <a:cs typeface="Roboto" pitchFamily="34" charset="-120"/>
              </a:rPr>
              <a:t>Floors  </a:t>
            </a:r>
            <a:pPr indent="0" marL="0">
              <a:buNone/>
            </a:pPr>
            <a:r>
              <a:rPr lang="en-US" sz="1050" dirty="0">
                <a:solidFill>
                  <a:srgbClr val="64748B"/>
                </a:solidFill>
                <a:latin typeface="Roboto" pitchFamily="34" charset="0"/>
                <a:ea typeface="Roboto" pitchFamily="34" charset="-122"/>
                <a:cs typeface="Roboto" pitchFamily="34" charset="-120"/>
              </a:rPr>
              <a:t>Confident face mismatch · exact duplicate identity · tampering HIGH. One floor → at least MEDIUM; two → HIGH.</a:t>
            </a:r>
            <a:endParaRPr lang="en-US" sz="1050" dirty="0"/>
          </a:p>
        </p:txBody>
      </p:sp>
      <p:sp>
        <p:nvSpPr>
          <p:cNvPr id="18" name="Shape 13"/>
          <p:cNvSpPr/>
          <p:nvPr/>
        </p:nvSpPr>
        <p:spPr>
          <a:xfrm>
            <a:off x="548640" y="5943600"/>
            <a:ext cx="310896" cy="310896"/>
          </a:xfrm>
          <a:prstGeom prst="roundRect">
            <a:avLst>
              <a:gd name="adj" fmla="val 50000"/>
            </a:avLst>
          </a:prstGeom>
          <a:solidFill>
            <a:srgbClr val="E11D48"/>
          </a:solidFill>
          <a:ln w="12700">
            <a:solidFill>
              <a:srgbClr val="E11D48"/>
            </a:solidFill>
            <a:prstDash val="solid"/>
          </a:ln>
        </p:spPr>
      </p:sp>
      <p:sp>
        <p:nvSpPr>
          <p:cNvPr id="19" name="Text 14"/>
          <p:cNvSpPr txBox="1"/>
          <p:nvPr/>
        </p:nvSpPr>
        <p:spPr>
          <a:xfrm>
            <a:off x="548640" y="5943600"/>
            <a:ext cx="310896" cy="310896"/>
          </a:xfrm>
          <a:prstGeom prst="rect">
            <a:avLst/>
          </a:prstGeom>
          <a:noFill/>
          <a:ln/>
        </p:spPr>
        <p:txBody>
          <a:bodyPr wrap="square" lIns="0" tIns="0" rIns="0" bIns="0" rtlCol="0" anchor="ctr"/>
          <a:lstStyle/>
          <a:p>
            <a:pPr algn="ctr" indent="0" marL="0">
              <a:buNone/>
            </a:pPr>
            <a:r>
              <a:rPr lang="en-US" sz="1050" b="1" dirty="0">
                <a:solidFill>
                  <a:srgbClr val="FFFFFF"/>
                </a:solidFill>
                <a:latin typeface="Roboto" pitchFamily="34" charset="0"/>
                <a:ea typeface="Roboto" pitchFamily="34" charset="-122"/>
                <a:cs typeface="Roboto" pitchFamily="34" charset="-120"/>
              </a:rPr>
              <a:t>4</a:t>
            </a:r>
            <a:endParaRPr lang="en-US" sz="1050" dirty="0"/>
          </a:p>
        </p:txBody>
      </p:sp>
      <p:sp>
        <p:nvSpPr>
          <p:cNvPr id="20" name="Text 15"/>
          <p:cNvSpPr txBox="1"/>
          <p:nvPr/>
        </p:nvSpPr>
        <p:spPr>
          <a:xfrm>
            <a:off x="987552" y="5907024"/>
            <a:ext cx="4846320" cy="402336"/>
          </a:xfrm>
          <a:prstGeom prst="rect">
            <a:avLst/>
          </a:prstGeom>
          <a:noFill/>
          <a:ln/>
        </p:spPr>
        <p:txBody>
          <a:bodyPr wrap="square" lIns="0" tIns="0" rIns="0" bIns="0" rtlCol="0" anchor="ctr"/>
          <a:lstStyle/>
          <a:p>
            <a:pPr indent="0" marL="0">
              <a:buNone/>
            </a:pPr>
            <a:r>
              <a:rPr lang="en-US" sz="1050" b="1" dirty="0">
                <a:solidFill>
                  <a:srgbClr val="0F172A"/>
                </a:solidFill>
                <a:latin typeface="Roboto" pitchFamily="34" charset="0"/>
                <a:ea typeface="Roboto" pitchFamily="34" charset="-122"/>
                <a:cs typeface="Roboto" pitchFamily="34" charset="-120"/>
              </a:rPr>
              <a:t>Tiers, advisory only  </a:t>
            </a:r>
            <a:pPr indent="0" marL="0">
              <a:buNone/>
            </a:pPr>
            <a:r>
              <a:rPr lang="en-US" sz="1050" dirty="0">
                <a:solidFill>
                  <a:srgbClr val="64748B"/>
                </a:solidFill>
                <a:latin typeface="Roboto" pitchFamily="34" charset="0"/>
                <a:ea typeface="Roboto" pitchFamily="34" charset="-122"/>
                <a:cs typeface="Roboto" pitchFamily="34" charset="-120"/>
              </a:rPr>
              <a:t>MEDIUM ≥ 0.20 · HIGH ≥ 0.60. The score never rejects on its own.</a:t>
            </a:r>
            <a:endParaRPr lang="en-US" sz="1050" dirty="0"/>
          </a:p>
        </p:txBody>
      </p:sp>
      <p:sp>
        <p:nvSpPr>
          <p:cNvPr id="21" name="Shape 16"/>
          <p:cNvSpPr/>
          <p:nvPr/>
        </p:nvSpPr>
        <p:spPr>
          <a:xfrm>
            <a:off x="5989320" y="1737360"/>
            <a:ext cx="5650992" cy="4572000"/>
          </a:xfrm>
          <a:prstGeom prst="roundRect">
            <a:avLst>
              <a:gd name="adj" fmla="val 2400"/>
            </a:avLst>
          </a:prstGeom>
          <a:solidFill>
            <a:srgbClr val="F8FAFC"/>
          </a:solidFill>
          <a:ln w="12700">
            <a:solidFill>
              <a:srgbClr val="E2E8F0"/>
            </a:solidFill>
            <a:prstDash val="solid"/>
          </a:ln>
        </p:spPr>
      </p:sp>
      <p:sp>
        <p:nvSpPr>
          <p:cNvPr id="22" name="Text 17"/>
          <p:cNvSpPr txBox="1"/>
          <p:nvPr/>
        </p:nvSpPr>
        <p:spPr>
          <a:xfrm>
            <a:off x="6217920" y="1874520"/>
            <a:ext cx="5212080" cy="320040"/>
          </a:xfrm>
          <a:prstGeom prst="rect">
            <a:avLst/>
          </a:prstGeom>
          <a:noFill/>
          <a:ln/>
        </p:spPr>
        <p:txBody>
          <a:bodyPr wrap="square" lIns="0" tIns="0" rIns="0" bIns="0" rtlCol="0" anchor="ctr"/>
          <a:lstStyle/>
          <a:p>
            <a:pPr indent="0" marL="0">
              <a:buNone/>
            </a:pPr>
            <a:r>
              <a:rPr lang="en-US" sz="1300" b="1" dirty="0">
                <a:solidFill>
                  <a:srgbClr val="0F172A"/>
                </a:solidFill>
                <a:latin typeface="Roboto" pitchFamily="34" charset="0"/>
                <a:ea typeface="Roboto" pitchFamily="34" charset="-122"/>
                <a:cs typeface="Roboto" pitchFamily="34" charset="-120"/>
              </a:rPr>
              <a:t>Held-out tier accuracy · 400 labelled scenarios</a:t>
            </a:r>
            <a:endParaRPr lang="en-US" sz="1300" dirty="0"/>
          </a:p>
        </p:txBody>
      </p:sp>
      <p:graphicFrame>
        <p:nvGraphicFramePr>
          <p:cNvPr id="23" name="Chart 1" descr=""/>
          <p:cNvGraphicFramePr/>
          <p:nvPr/>
        </p:nvGraphicFramePr>
        <p:xfrm>
          <a:off x="6172200" y="2240280"/>
          <a:ext cx="5303520" cy="2926080"/>
        </p:xfrm>
        <a:graphic xmlns:a="http://schemas.openxmlformats.org/drawingml/2006/main">
          <a:graphicData uri="http://schemas.openxmlformats.org/drawingml/2006/chart">
            <c:chart xmlns:c="http://schemas.openxmlformats.org/drawingml/2006/chart" r:id="rId3"/>
          </a:graphicData>
        </a:graphic>
      </p:graphicFrame>
      <p:sp>
        <p:nvSpPr>
          <p:cNvPr id="24" name="Text 18"/>
          <p:cNvSpPr txBox="1"/>
          <p:nvPr/>
        </p:nvSpPr>
        <p:spPr>
          <a:xfrm>
            <a:off x="6217920" y="5303520"/>
            <a:ext cx="5212080" cy="868680"/>
          </a:xfrm>
          <a:prstGeom prst="rect">
            <a:avLst/>
          </a:prstGeom>
          <a:noFill/>
          <a:ln/>
        </p:spPr>
        <p:txBody>
          <a:bodyPr wrap="square" lIns="0" tIns="0" rIns="0" bIns="0" rtlCol="0" anchor="ctr"/>
          <a:lstStyle/>
          <a:p>
            <a:pPr indent="0" marL="0">
              <a:buNone/>
            </a:pPr>
            <a:r>
              <a:rPr lang="en-US" sz="2200" b="1" dirty="0">
                <a:solidFill>
                  <a:srgbClr val="16A34A"/>
                </a:solidFill>
                <a:latin typeface="Roboto" pitchFamily="34" charset="0"/>
                <a:ea typeface="Roboto" pitchFamily="34" charset="-122"/>
                <a:cs typeface="Roboto" pitchFamily="34" charset="-120"/>
              </a:rPr>
              <a:t>96.7%  </a:t>
            </a:r>
            <a:pPr indent="0" marL="0">
              <a:buNone/>
            </a:pPr>
            <a:r>
              <a:rPr lang="en-US" sz="1100" dirty="0">
                <a:solidFill>
                  <a:srgbClr val="334155"/>
                </a:solidFill>
                <a:latin typeface="Roboto" pitchFamily="34" charset="0"/>
                <a:ea typeface="Roboto" pitchFamily="34" charset="-122"/>
                <a:cs typeface="Roboto" pitchFamily="34" charset="-120"/>
              </a:rPr>
              <a:t>of 300 fraud cases built from real forged documents, real faces and names are rated MEDIUM or HIGH (target ≥ 85%); one clean case in 300 is rated HIGH. On the 400 synthetic scenarios above, v2 scores 93%.</a:t>
            </a:r>
            <a:endParaRPr lang="en-US" sz="2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8229600" cy="256032"/>
          </a:xfrm>
          <a:prstGeom prst="rect">
            <a:avLst/>
          </a:prstGeom>
          <a:noFill/>
          <a:ln/>
        </p:spPr>
        <p:txBody>
          <a:bodyPr wrap="square" lIns="0" tIns="0" rIns="0" bIns="0" rtlCol="0" anchor="ctr"/>
          <a:lstStyle/>
          <a:p>
            <a:pPr indent="0" marL="0">
              <a:buNone/>
            </a:pPr>
            <a:r>
              <a:rPr lang="en-US" sz="1100" b="1" spc="200" kern="0" dirty="0">
                <a:solidFill>
                  <a:srgbClr val="4F46E5"/>
                </a:solidFill>
                <a:latin typeface="Roboto" pitchFamily="34" charset="0"/>
                <a:ea typeface="Roboto" pitchFamily="34" charset="-122"/>
                <a:cs typeface="Roboto" pitchFamily="34" charset="-120"/>
              </a:rPr>
              <a:t>THE 29 AGENTS · IDENTITY &amp; FRAUD EVIDENCE</a:t>
            </a:r>
            <a:endParaRPr lang="en-US" sz="1100" dirty="0"/>
          </a:p>
        </p:txBody>
      </p:sp>
      <p:sp>
        <p:nvSpPr>
          <p:cNvPr id="3" name="Text 1"/>
          <p:cNvSpPr txBox="1"/>
          <p:nvPr/>
        </p:nvSpPr>
        <p:spPr>
          <a:xfrm>
            <a:off x="548640" y="585216"/>
            <a:ext cx="11094415" cy="566928"/>
          </a:xfrm>
          <a:prstGeom prst="rect">
            <a:avLst/>
          </a:prstGeom>
          <a:noFill/>
          <a:ln/>
        </p:spPr>
        <p:txBody>
          <a:bodyPr wrap="square" lIns="0" tIns="0" rIns="0" bIns="0" rtlCol="0" anchor="ctr"/>
          <a:lstStyle/>
          <a:p>
            <a:pPr indent="0" marL="0">
              <a:buNone/>
            </a:pPr>
            <a:r>
              <a:rPr lang="en-US" sz="2800" b="1" dirty="0">
                <a:solidFill>
                  <a:srgbClr val="0F172A"/>
                </a:solidFill>
                <a:latin typeface="Roboto" pitchFamily="34" charset="0"/>
                <a:ea typeface="Roboto" pitchFamily="34" charset="-122"/>
                <a:cs typeface="Roboto" pitchFamily="34" charset="-120"/>
              </a:rPr>
              <a:t>Statement patterns and fraud triage</a:t>
            </a:r>
            <a:endParaRPr lang="en-US" sz="2800" dirty="0"/>
          </a:p>
        </p:txBody>
      </p:sp>
      <p:sp>
        <p:nvSpPr>
          <p:cNvPr id="4" name="Text 2"/>
          <p:cNvSpPr txBox="1"/>
          <p:nvPr/>
        </p:nvSpPr>
        <p:spPr>
          <a:xfrm>
            <a:off x="548640" y="1152144"/>
            <a:ext cx="11094415" cy="365760"/>
          </a:xfrm>
          <a:prstGeom prst="rect">
            <a:avLst/>
          </a:prstGeom>
          <a:noFill/>
          <a:ln/>
        </p:spPr>
        <p:txBody>
          <a:bodyPr wrap="square" lIns="0" tIns="0" rIns="0" bIns="0" rtlCol="0" anchor="ctr"/>
          <a:lstStyle/>
          <a:p>
            <a:pPr indent="0" marL="0">
              <a:buNone/>
            </a:pPr>
            <a:r>
              <a:rPr lang="en-US" sz="1400" dirty="0">
                <a:solidFill>
                  <a:srgbClr val="64748B"/>
                </a:solidFill>
                <a:latin typeface="Roboto" pitchFamily="34" charset="0"/>
                <a:ea typeface="Roboto" pitchFamily="34" charset="-122"/>
                <a:cs typeface="Roboto" pitchFamily="34" charset="-120"/>
              </a:rPr>
              <a:t>Patterns read the bank statement row by row; triage looks across all applications for rings.</a:t>
            </a:r>
            <a:endParaRPr lang="en-US" sz="1400" dirty="0"/>
          </a:p>
        </p:txBody>
      </p:sp>
      <p:pic>
        <p:nvPicPr>
          <p:cNvPr id="5" name="Image 0" descr="C:\Users\shrey\AppData\Local\Temp\claude\D--novacinternship-finsight\ef4ecb45-e580-4bc0-9be4-060aa240a5b2\scratchpad\deck\img\logo_lockup.png">    </p:cNvPr>
          <p:cNvPicPr>
            <a:picLocks noChangeAspect="1"/>
          </p:cNvPicPr>
          <p:nvPr/>
        </p:nvPicPr>
        <p:blipFill>
          <a:blip r:embed="rId1"/>
          <a:stretch>
            <a:fillRect/>
          </a:stretch>
        </p:blipFill>
        <p:spPr>
          <a:xfrm>
            <a:off x="10360152" y="6464808"/>
            <a:ext cx="843991" cy="237744"/>
          </a:xfrm>
          <a:prstGeom prst="rect">
            <a:avLst/>
          </a:prstGeom>
        </p:spPr>
      </p:pic>
      <p:sp>
        <p:nvSpPr>
          <p:cNvPr id="6" name="Text 3"/>
          <p:cNvSpPr txBox="1"/>
          <p:nvPr/>
        </p:nvSpPr>
        <p:spPr>
          <a:xfrm>
            <a:off x="11277295" y="6473952"/>
            <a:ext cx="365760" cy="228600"/>
          </a:xfrm>
          <a:prstGeom prst="rect">
            <a:avLst/>
          </a:prstGeom>
          <a:noFill/>
          <a:ln/>
        </p:spPr>
        <p:txBody>
          <a:bodyPr wrap="square" lIns="0" tIns="0" rIns="0" bIns="0" rtlCol="0" anchor="ctr"/>
          <a:lstStyle/>
          <a:p>
            <a:pPr algn="r" indent="0" marL="0">
              <a:buNone/>
            </a:pPr>
            <a:r>
              <a:rPr lang="en-US" sz="900" dirty="0">
                <a:solidFill>
                  <a:srgbClr val="94A3B8"/>
                </a:solidFill>
                <a:latin typeface="Roboto" pitchFamily="34" charset="0"/>
                <a:ea typeface="Roboto" pitchFamily="34" charset="-122"/>
                <a:cs typeface="Roboto" pitchFamily="34" charset="-120"/>
              </a:rPr>
              <a:t>19</a:t>
            </a:r>
            <a:endParaRPr lang="en-US" sz="900" dirty="0"/>
          </a:p>
        </p:txBody>
      </p:sp>
      <p:sp>
        <p:nvSpPr>
          <p:cNvPr id="8" name="Text 4"/>
          <p:cNvSpPr txBox="1"/>
          <p:nvPr/>
        </p:nvSpPr>
        <p:spPr>
          <a:xfrm>
            <a:off x="548640" y="1755648"/>
            <a:ext cx="4572000" cy="256032"/>
          </a:xfrm>
          <a:prstGeom prst="rect">
            <a:avLst/>
          </a:prstGeom>
          <a:noFill/>
          <a:ln/>
        </p:spPr>
        <p:txBody>
          <a:bodyPr wrap="square" lIns="0" tIns="0" rIns="0" bIns="0" rtlCol="0" anchor="ctr"/>
          <a:lstStyle/>
          <a:p>
            <a:pPr indent="0" marL="0">
              <a:buNone/>
            </a:pPr>
            <a:r>
              <a:rPr lang="en-US" sz="1050" b="1" spc="200" kern="0" dirty="0">
                <a:solidFill>
                  <a:srgbClr val="E11D48"/>
                </a:solidFill>
                <a:latin typeface="Roboto" pitchFamily="34" charset="0"/>
                <a:ea typeface="Roboto" pitchFamily="34" charset="-122"/>
                <a:cs typeface="Roboto" pitchFamily="34" charset="-120"/>
              </a:rPr>
              <a:t>#14 FRAUD PATTERNS</a:t>
            </a:r>
            <a:endParaRPr lang="en-US" sz="1050" dirty="0"/>
          </a:p>
        </p:txBody>
      </p:sp>
      <p:sp>
        <p:nvSpPr>
          <p:cNvPr id="9" name="Shape 5"/>
          <p:cNvSpPr/>
          <p:nvPr/>
        </p:nvSpPr>
        <p:spPr>
          <a:xfrm>
            <a:off x="548640" y="2103120"/>
            <a:ext cx="1600200" cy="731520"/>
          </a:xfrm>
          <a:prstGeom prst="roundRect">
            <a:avLst>
              <a:gd name="adj" fmla="val 10000"/>
            </a:avLst>
          </a:prstGeom>
          <a:solidFill>
            <a:srgbClr val="FFFFFF"/>
          </a:solidFill>
          <a:ln w="12700">
            <a:solidFill>
              <a:srgbClr val="E2E8F0"/>
            </a:solidFill>
            <a:prstDash val="solid"/>
          </a:ln>
        </p:spPr>
      </p:sp>
      <p:sp>
        <p:nvSpPr>
          <p:cNvPr id="10" name="Text 6"/>
          <p:cNvSpPr txBox="1"/>
          <p:nvPr/>
        </p:nvSpPr>
        <p:spPr>
          <a:xfrm>
            <a:off x="621792" y="2121408"/>
            <a:ext cx="1453896" cy="694944"/>
          </a:xfrm>
          <a:prstGeom prst="rect">
            <a:avLst/>
          </a:prstGeom>
          <a:noFill/>
          <a:ln/>
        </p:spPr>
        <p:txBody>
          <a:bodyPr wrap="square" lIns="0" tIns="0" rIns="0" bIns="0" rtlCol="0" anchor="ctr"/>
          <a:lstStyle/>
          <a:p>
            <a:pPr algn="ctr" indent="0" marL="0">
              <a:spcAft>
                <a:spcPts val="200"/>
              </a:spcAft>
              <a:buNone/>
            </a:pPr>
            <a:r>
              <a:rPr lang="en-US" sz="1050" b="1" dirty="0">
                <a:solidFill>
                  <a:srgbClr val="0F172A"/>
                </a:solidFill>
                <a:latin typeface="Roboto" pitchFamily="34" charset="0"/>
                <a:ea typeface="Roboto" pitchFamily="34" charset="-122"/>
                <a:cs typeface="Roboto" pitchFamily="34" charset="-120"/>
              </a:rPr>
              <a:t>PDF text layer</a:t>
            </a:r>
            <a:endParaRPr lang="en-US" sz="1050" dirty="0"/>
          </a:p>
          <a:p>
            <a:pPr algn="ctr" indent="0" marL="0">
              <a:spcAft>
                <a:spcPts val="200"/>
              </a:spcAft>
              <a:buNone/>
            </a:pPr>
            <a:r>
              <a:rPr lang="en-US" sz="900" dirty="0">
                <a:solidFill>
                  <a:srgbClr val="64748B"/>
                </a:solidFill>
                <a:latin typeface="Roboto" pitchFamily="34" charset="0"/>
                <a:ea typeface="Roboto" pitchFamily="34" charset="-122"/>
                <a:cs typeface="Roboto" pitchFamily="34" charset="-120"/>
              </a:rPr>
              <a:t>or OCR words</a:t>
            </a:r>
            <a:endParaRPr lang="en-US" sz="1050" dirty="0"/>
          </a:p>
        </p:txBody>
      </p:sp>
      <p:sp>
        <p:nvSpPr>
          <p:cNvPr id="11" name="Shape 7"/>
          <p:cNvSpPr/>
          <p:nvPr/>
        </p:nvSpPr>
        <p:spPr>
          <a:xfrm>
            <a:off x="2167128" y="2468880"/>
            <a:ext cx="146304" cy="0"/>
          </a:xfrm>
          <a:prstGeom prst="line">
            <a:avLst/>
          </a:prstGeom>
          <a:noFill/>
          <a:ln w="19050">
            <a:solidFill>
              <a:srgbClr val="94A3B8"/>
            </a:solidFill>
            <a:prstDash val="solid"/>
            <a:tailEnd type="triangle"/>
          </a:ln>
        </p:spPr>
      </p:sp>
      <p:sp>
        <p:nvSpPr>
          <p:cNvPr id="12" name="Shape 8"/>
          <p:cNvSpPr/>
          <p:nvPr/>
        </p:nvSpPr>
        <p:spPr>
          <a:xfrm>
            <a:off x="2331720" y="2103120"/>
            <a:ext cx="1600200" cy="731520"/>
          </a:xfrm>
          <a:prstGeom prst="roundRect">
            <a:avLst>
              <a:gd name="adj" fmla="val 10000"/>
            </a:avLst>
          </a:prstGeom>
          <a:solidFill>
            <a:srgbClr val="FFFFFF"/>
          </a:solidFill>
          <a:ln w="12700">
            <a:solidFill>
              <a:srgbClr val="E2E8F0"/>
            </a:solidFill>
            <a:prstDash val="solid"/>
          </a:ln>
        </p:spPr>
      </p:sp>
      <p:sp>
        <p:nvSpPr>
          <p:cNvPr id="13" name="Text 9"/>
          <p:cNvSpPr txBox="1"/>
          <p:nvPr/>
        </p:nvSpPr>
        <p:spPr>
          <a:xfrm>
            <a:off x="2404872" y="2121408"/>
            <a:ext cx="1453896" cy="694944"/>
          </a:xfrm>
          <a:prstGeom prst="rect">
            <a:avLst/>
          </a:prstGeom>
          <a:noFill/>
          <a:ln/>
        </p:spPr>
        <p:txBody>
          <a:bodyPr wrap="square" lIns="0" tIns="0" rIns="0" bIns="0" rtlCol="0" anchor="ctr"/>
          <a:lstStyle/>
          <a:p>
            <a:pPr algn="ctr" indent="0" marL="0">
              <a:spcAft>
                <a:spcPts val="200"/>
              </a:spcAft>
              <a:buNone/>
            </a:pPr>
            <a:r>
              <a:rPr lang="en-US" sz="1050" b="1" dirty="0">
                <a:solidFill>
                  <a:srgbClr val="0F172A"/>
                </a:solidFill>
                <a:latin typeface="Roboto" pitchFamily="34" charset="0"/>
                <a:ea typeface="Roboto" pitchFamily="34" charset="-122"/>
                <a:cs typeface="Roboto" pitchFamily="34" charset="-120"/>
              </a:rPr>
              <a:t>Tilt-corrected rows</a:t>
            </a:r>
            <a:endParaRPr lang="en-US" sz="1050" dirty="0"/>
          </a:p>
          <a:p>
            <a:pPr algn="ctr" indent="0" marL="0">
              <a:spcAft>
                <a:spcPts val="200"/>
              </a:spcAft>
              <a:buNone/>
            </a:pPr>
            <a:r>
              <a:rPr lang="en-US" sz="900" dirty="0">
                <a:solidFill>
                  <a:srgbClr val="64748B"/>
                </a:solidFill>
                <a:latin typeface="Roboto" pitchFamily="34" charset="0"/>
                <a:ea typeface="Roboto" pitchFamily="34" charset="-122"/>
                <a:cs typeface="Roboto" pitchFamily="34" charset="-120"/>
              </a:rPr>
              <a:t>date + amounts</a:t>
            </a:r>
            <a:endParaRPr lang="en-US" sz="1050" dirty="0"/>
          </a:p>
        </p:txBody>
      </p:sp>
      <p:sp>
        <p:nvSpPr>
          <p:cNvPr id="14" name="Shape 10"/>
          <p:cNvSpPr/>
          <p:nvPr/>
        </p:nvSpPr>
        <p:spPr>
          <a:xfrm>
            <a:off x="3950208" y="2468880"/>
            <a:ext cx="146304" cy="0"/>
          </a:xfrm>
          <a:prstGeom prst="line">
            <a:avLst/>
          </a:prstGeom>
          <a:noFill/>
          <a:ln w="19050">
            <a:solidFill>
              <a:srgbClr val="94A3B8"/>
            </a:solidFill>
            <a:prstDash val="solid"/>
            <a:tailEnd type="triangle"/>
          </a:ln>
        </p:spPr>
      </p:sp>
      <p:sp>
        <p:nvSpPr>
          <p:cNvPr id="15" name="Shape 11"/>
          <p:cNvSpPr/>
          <p:nvPr/>
        </p:nvSpPr>
        <p:spPr>
          <a:xfrm>
            <a:off x="4114800" y="2103120"/>
            <a:ext cx="1600200" cy="731520"/>
          </a:xfrm>
          <a:prstGeom prst="roundRect">
            <a:avLst>
              <a:gd name="adj" fmla="val 10000"/>
            </a:avLst>
          </a:prstGeom>
          <a:solidFill>
            <a:srgbClr val="FFFFFF"/>
          </a:solidFill>
          <a:ln w="12700">
            <a:solidFill>
              <a:srgbClr val="E2E8F0"/>
            </a:solidFill>
            <a:prstDash val="solid"/>
          </a:ln>
        </p:spPr>
      </p:sp>
      <p:sp>
        <p:nvSpPr>
          <p:cNvPr id="16" name="Text 12"/>
          <p:cNvSpPr txBox="1"/>
          <p:nvPr/>
        </p:nvSpPr>
        <p:spPr>
          <a:xfrm>
            <a:off x="4187952" y="2121408"/>
            <a:ext cx="1453896" cy="694944"/>
          </a:xfrm>
          <a:prstGeom prst="rect">
            <a:avLst/>
          </a:prstGeom>
          <a:noFill/>
          <a:ln/>
        </p:spPr>
        <p:txBody>
          <a:bodyPr wrap="square" lIns="0" tIns="0" rIns="0" bIns="0" rtlCol="0" anchor="ctr"/>
          <a:lstStyle/>
          <a:p>
            <a:pPr algn="ctr" indent="0" marL="0">
              <a:spcAft>
                <a:spcPts val="200"/>
              </a:spcAft>
              <a:buNone/>
            </a:pPr>
            <a:r>
              <a:rPr lang="en-US" sz="1050" b="1" dirty="0">
                <a:solidFill>
                  <a:srgbClr val="0F172A"/>
                </a:solidFill>
                <a:latin typeface="Roboto" pitchFamily="34" charset="0"/>
                <a:ea typeface="Roboto" pitchFamily="34" charset="-122"/>
                <a:cs typeface="Roboto" pitchFamily="34" charset="-120"/>
              </a:rPr>
              <a:t>Reconcile</a:t>
            </a:r>
            <a:endParaRPr lang="en-US" sz="1050" dirty="0"/>
          </a:p>
          <a:p>
            <a:pPr algn="ctr" indent="0" marL="0">
              <a:spcAft>
                <a:spcPts val="200"/>
              </a:spcAft>
              <a:buNone/>
            </a:pPr>
            <a:r>
              <a:rPr lang="en-US" sz="900" dirty="0">
                <a:solidFill>
                  <a:srgbClr val="64748B"/>
                </a:solidFill>
                <a:latin typeface="Roboto" pitchFamily="34" charset="0"/>
                <a:ea typeface="Roboto" pitchFamily="34" charset="-122"/>
                <a:cs typeface="Roboto" pitchFamily="34" charset="-120"/>
              </a:rPr>
              <a:t>debit / credit by balance</a:t>
            </a:r>
            <a:endParaRPr lang="en-US" sz="1050" dirty="0"/>
          </a:p>
        </p:txBody>
      </p:sp>
      <p:sp>
        <p:nvSpPr>
          <p:cNvPr id="17" name="Text 13"/>
          <p:cNvSpPr txBox="1"/>
          <p:nvPr/>
        </p:nvSpPr>
        <p:spPr>
          <a:xfrm>
            <a:off x="548640" y="3017520"/>
            <a:ext cx="3657600" cy="237744"/>
          </a:xfrm>
          <a:prstGeom prst="rect">
            <a:avLst/>
          </a:prstGeom>
          <a:noFill/>
          <a:ln/>
        </p:spPr>
        <p:txBody>
          <a:bodyPr wrap="square" lIns="0" tIns="0" rIns="0" bIns="0" rtlCol="0" anchor="ctr"/>
          <a:lstStyle/>
          <a:p>
            <a:pPr indent="0" marL="0">
              <a:buNone/>
            </a:pPr>
            <a:r>
              <a:rPr lang="en-US" sz="950" b="1" spc="100" kern="0" dirty="0">
                <a:solidFill>
                  <a:srgbClr val="64748B"/>
                </a:solidFill>
                <a:latin typeface="Roboto" pitchFamily="34" charset="0"/>
                <a:ea typeface="Roboto" pitchFamily="34" charset="-122"/>
                <a:cs typeface="Roboto" pitchFamily="34" charset="-120"/>
              </a:rPr>
              <a:t>FIVE PATTERNS</a:t>
            </a:r>
            <a:endParaRPr lang="en-US" sz="950" dirty="0"/>
          </a:p>
        </p:txBody>
      </p:sp>
      <p:sp>
        <p:nvSpPr>
          <p:cNvPr id="18" name="Shape 14"/>
          <p:cNvSpPr/>
          <p:nvPr/>
        </p:nvSpPr>
        <p:spPr>
          <a:xfrm>
            <a:off x="548640" y="3310128"/>
            <a:ext cx="5257800" cy="411480"/>
          </a:xfrm>
          <a:prstGeom prst="roundRect">
            <a:avLst>
              <a:gd name="adj" fmla="val 17778"/>
            </a:avLst>
          </a:prstGeom>
          <a:solidFill>
            <a:srgbClr val="FFF1F2"/>
          </a:solidFill>
          <a:ln w="12700">
            <a:solidFill>
              <a:srgbClr val="FECDD3"/>
            </a:solidFill>
            <a:prstDash val="solid"/>
          </a:ln>
        </p:spPr>
      </p:sp>
      <p:sp>
        <p:nvSpPr>
          <p:cNvPr id="19" name="Text 15"/>
          <p:cNvSpPr txBox="1"/>
          <p:nvPr/>
        </p:nvSpPr>
        <p:spPr>
          <a:xfrm>
            <a:off x="685800" y="3310128"/>
            <a:ext cx="5029200" cy="411480"/>
          </a:xfrm>
          <a:prstGeom prst="rect">
            <a:avLst/>
          </a:prstGeom>
          <a:noFill/>
          <a:ln/>
        </p:spPr>
        <p:txBody>
          <a:bodyPr wrap="square" lIns="0" tIns="0" rIns="0" bIns="0" rtlCol="0" anchor="ctr"/>
          <a:lstStyle/>
          <a:p>
            <a:pPr indent="0" marL="0">
              <a:buNone/>
            </a:pPr>
            <a:r>
              <a:rPr lang="en-US" sz="1100" b="1" dirty="0">
                <a:solidFill>
                  <a:srgbClr val="0F172A"/>
                </a:solidFill>
                <a:latin typeface="Roboto" pitchFamily="34" charset="0"/>
                <a:ea typeface="Roboto" pitchFamily="34" charset="-122"/>
                <a:cs typeface="Roboto" pitchFamily="34" charset="-120"/>
              </a:rPr>
              <a:t>Cash cycling  </a:t>
            </a:r>
            <a:pPr indent="0" marL="0">
              <a:buNone/>
            </a:pPr>
            <a:r>
              <a:rPr lang="en-US" sz="1100" dirty="0">
                <a:solidFill>
                  <a:srgbClr val="64748B"/>
                </a:solidFill>
                <a:latin typeface="Roboto" pitchFamily="34" charset="0"/>
                <a:ea typeface="Roboto" pitchFamily="34" charset="-122"/>
                <a:cs typeface="Roboto" pitchFamily="34" charset="-120"/>
              </a:rPr>
              <a:t>money in and straight back out</a:t>
            </a:r>
            <a:endParaRPr lang="en-US" sz="1100" dirty="0"/>
          </a:p>
        </p:txBody>
      </p:sp>
      <p:sp>
        <p:nvSpPr>
          <p:cNvPr id="20" name="Shape 16"/>
          <p:cNvSpPr/>
          <p:nvPr/>
        </p:nvSpPr>
        <p:spPr>
          <a:xfrm>
            <a:off x="548640" y="3785616"/>
            <a:ext cx="5257800" cy="411480"/>
          </a:xfrm>
          <a:prstGeom prst="roundRect">
            <a:avLst>
              <a:gd name="adj" fmla="val 17778"/>
            </a:avLst>
          </a:prstGeom>
          <a:solidFill>
            <a:srgbClr val="FFF1F2"/>
          </a:solidFill>
          <a:ln w="12700">
            <a:solidFill>
              <a:srgbClr val="FECDD3"/>
            </a:solidFill>
            <a:prstDash val="solid"/>
          </a:ln>
        </p:spPr>
      </p:sp>
      <p:sp>
        <p:nvSpPr>
          <p:cNvPr id="21" name="Text 17"/>
          <p:cNvSpPr txBox="1"/>
          <p:nvPr/>
        </p:nvSpPr>
        <p:spPr>
          <a:xfrm>
            <a:off x="685800" y="3785616"/>
            <a:ext cx="5029200" cy="411480"/>
          </a:xfrm>
          <a:prstGeom prst="rect">
            <a:avLst/>
          </a:prstGeom>
          <a:noFill/>
          <a:ln/>
        </p:spPr>
        <p:txBody>
          <a:bodyPr wrap="square" lIns="0" tIns="0" rIns="0" bIns="0" rtlCol="0" anchor="ctr"/>
          <a:lstStyle/>
          <a:p>
            <a:pPr indent="0" marL="0">
              <a:buNone/>
            </a:pPr>
            <a:r>
              <a:rPr lang="en-US" sz="1100" b="1" dirty="0">
                <a:solidFill>
                  <a:srgbClr val="0F172A"/>
                </a:solidFill>
                <a:latin typeface="Roboto" pitchFamily="34" charset="0"/>
                <a:ea typeface="Roboto" pitchFamily="34" charset="-122"/>
                <a:cs typeface="Roboto" pitchFamily="34" charset="-120"/>
              </a:rPr>
              <a:t>Sudden deposit  </a:t>
            </a:r>
            <a:pPr indent="0" marL="0">
              <a:buNone/>
            </a:pPr>
            <a:r>
              <a:rPr lang="en-US" sz="1100" dirty="0">
                <a:solidFill>
                  <a:srgbClr val="64748B"/>
                </a:solidFill>
                <a:latin typeface="Roboto" pitchFamily="34" charset="0"/>
                <a:ea typeface="Roboto" pitchFamily="34" charset="-122"/>
                <a:cs typeface="Roboto" pitchFamily="34" charset="-120"/>
              </a:rPr>
              <a:t>a lump sum just before applying</a:t>
            </a:r>
            <a:endParaRPr lang="en-US" sz="1100" dirty="0"/>
          </a:p>
        </p:txBody>
      </p:sp>
      <p:sp>
        <p:nvSpPr>
          <p:cNvPr id="22" name="Shape 18"/>
          <p:cNvSpPr/>
          <p:nvPr/>
        </p:nvSpPr>
        <p:spPr>
          <a:xfrm>
            <a:off x="548640" y="4261104"/>
            <a:ext cx="5257800" cy="411480"/>
          </a:xfrm>
          <a:prstGeom prst="roundRect">
            <a:avLst>
              <a:gd name="adj" fmla="val 17778"/>
            </a:avLst>
          </a:prstGeom>
          <a:solidFill>
            <a:srgbClr val="FFF1F2"/>
          </a:solidFill>
          <a:ln w="12700">
            <a:solidFill>
              <a:srgbClr val="FECDD3"/>
            </a:solidFill>
            <a:prstDash val="solid"/>
          </a:ln>
        </p:spPr>
      </p:sp>
      <p:sp>
        <p:nvSpPr>
          <p:cNvPr id="23" name="Text 19"/>
          <p:cNvSpPr txBox="1"/>
          <p:nvPr/>
        </p:nvSpPr>
        <p:spPr>
          <a:xfrm>
            <a:off x="685800" y="4261104"/>
            <a:ext cx="5029200" cy="411480"/>
          </a:xfrm>
          <a:prstGeom prst="rect">
            <a:avLst/>
          </a:prstGeom>
          <a:noFill/>
          <a:ln/>
        </p:spPr>
        <p:txBody>
          <a:bodyPr wrap="square" lIns="0" tIns="0" rIns="0" bIns="0" rtlCol="0" anchor="ctr"/>
          <a:lstStyle/>
          <a:p>
            <a:pPr indent="0" marL="0">
              <a:buNone/>
            </a:pPr>
            <a:r>
              <a:rPr lang="en-US" sz="1100" b="1" dirty="0">
                <a:solidFill>
                  <a:srgbClr val="0F172A"/>
                </a:solidFill>
                <a:latin typeface="Roboto" pitchFamily="34" charset="0"/>
                <a:ea typeface="Roboto" pitchFamily="34" charset="-122"/>
                <a:cs typeface="Roboto" pitchFamily="34" charset="-120"/>
              </a:rPr>
              <a:t>Window dressing  </a:t>
            </a:r>
            <a:pPr indent="0" marL="0">
              <a:buNone/>
            </a:pPr>
            <a:r>
              <a:rPr lang="en-US" sz="1100" dirty="0">
                <a:solidFill>
                  <a:srgbClr val="64748B"/>
                </a:solidFill>
                <a:latin typeface="Roboto" pitchFamily="34" charset="0"/>
                <a:ea typeface="Roboto" pitchFamily="34" charset="-122"/>
                <a:cs typeface="Roboto" pitchFamily="34" charset="-120"/>
              </a:rPr>
              <a:t>balance pumped near statement end</a:t>
            </a:r>
            <a:endParaRPr lang="en-US" sz="1100" dirty="0"/>
          </a:p>
        </p:txBody>
      </p:sp>
      <p:sp>
        <p:nvSpPr>
          <p:cNvPr id="24" name="Shape 20"/>
          <p:cNvSpPr/>
          <p:nvPr/>
        </p:nvSpPr>
        <p:spPr>
          <a:xfrm>
            <a:off x="548640" y="4736592"/>
            <a:ext cx="5257800" cy="411480"/>
          </a:xfrm>
          <a:prstGeom prst="roundRect">
            <a:avLst>
              <a:gd name="adj" fmla="val 17778"/>
            </a:avLst>
          </a:prstGeom>
          <a:solidFill>
            <a:srgbClr val="FFF1F2"/>
          </a:solidFill>
          <a:ln w="12700">
            <a:solidFill>
              <a:srgbClr val="FECDD3"/>
            </a:solidFill>
            <a:prstDash val="solid"/>
          </a:ln>
        </p:spPr>
      </p:sp>
      <p:sp>
        <p:nvSpPr>
          <p:cNvPr id="25" name="Text 21"/>
          <p:cNvSpPr txBox="1"/>
          <p:nvPr/>
        </p:nvSpPr>
        <p:spPr>
          <a:xfrm>
            <a:off x="685800" y="4736592"/>
            <a:ext cx="5029200" cy="411480"/>
          </a:xfrm>
          <a:prstGeom prst="rect">
            <a:avLst/>
          </a:prstGeom>
          <a:noFill/>
          <a:ln/>
        </p:spPr>
        <p:txBody>
          <a:bodyPr wrap="square" lIns="0" tIns="0" rIns="0" bIns="0" rtlCol="0" anchor="ctr"/>
          <a:lstStyle/>
          <a:p>
            <a:pPr indent="0" marL="0">
              <a:buNone/>
            </a:pPr>
            <a:r>
              <a:rPr lang="en-US" sz="1100" b="1" dirty="0">
                <a:solidFill>
                  <a:srgbClr val="0F172A"/>
                </a:solidFill>
                <a:latin typeface="Roboto" pitchFamily="34" charset="0"/>
                <a:ea typeface="Roboto" pitchFamily="34" charset="-122"/>
                <a:cs typeface="Roboto" pitchFamily="34" charset="-120"/>
              </a:rPr>
              <a:t>Income mismatch  </a:t>
            </a:r>
            <a:pPr indent="0" marL="0">
              <a:buNone/>
            </a:pPr>
            <a:r>
              <a:rPr lang="en-US" sz="1100" dirty="0">
                <a:solidFill>
                  <a:srgbClr val="64748B"/>
                </a:solidFill>
                <a:latin typeface="Roboto" pitchFamily="34" charset="0"/>
                <a:ea typeface="Roboto" pitchFamily="34" charset="-122"/>
                <a:cs typeface="Roboto" pitchFamily="34" charset="-120"/>
              </a:rPr>
              <a:t>salary credits ≠ payslip net</a:t>
            </a:r>
            <a:endParaRPr lang="en-US" sz="1100" dirty="0"/>
          </a:p>
        </p:txBody>
      </p:sp>
      <p:sp>
        <p:nvSpPr>
          <p:cNvPr id="26" name="Shape 22"/>
          <p:cNvSpPr/>
          <p:nvPr/>
        </p:nvSpPr>
        <p:spPr>
          <a:xfrm>
            <a:off x="548640" y="5212080"/>
            <a:ext cx="5257800" cy="411480"/>
          </a:xfrm>
          <a:prstGeom prst="roundRect">
            <a:avLst>
              <a:gd name="adj" fmla="val 17778"/>
            </a:avLst>
          </a:prstGeom>
          <a:solidFill>
            <a:srgbClr val="FFF1F2"/>
          </a:solidFill>
          <a:ln w="12700">
            <a:solidFill>
              <a:srgbClr val="FECDD3"/>
            </a:solidFill>
            <a:prstDash val="solid"/>
          </a:ln>
        </p:spPr>
      </p:sp>
      <p:sp>
        <p:nvSpPr>
          <p:cNvPr id="27" name="Text 23"/>
          <p:cNvSpPr txBox="1"/>
          <p:nvPr/>
        </p:nvSpPr>
        <p:spPr>
          <a:xfrm>
            <a:off x="685800" y="5212080"/>
            <a:ext cx="5029200" cy="411480"/>
          </a:xfrm>
          <a:prstGeom prst="rect">
            <a:avLst/>
          </a:prstGeom>
          <a:noFill/>
          <a:ln/>
        </p:spPr>
        <p:txBody>
          <a:bodyPr wrap="square" lIns="0" tIns="0" rIns="0" bIns="0" rtlCol="0" anchor="ctr"/>
          <a:lstStyle/>
          <a:p>
            <a:pPr indent="0" marL="0">
              <a:buNone/>
            </a:pPr>
            <a:r>
              <a:rPr lang="en-US" sz="1100" b="1" dirty="0">
                <a:solidFill>
                  <a:srgbClr val="0F172A"/>
                </a:solidFill>
                <a:latin typeface="Roboto" pitchFamily="34" charset="0"/>
                <a:ea typeface="Roboto" pitchFamily="34" charset="-122"/>
                <a:cs typeface="Roboto" pitchFamily="34" charset="-120"/>
              </a:rPr>
              <a:t>GST inflation  </a:t>
            </a:r>
            <a:pPr indent="0" marL="0">
              <a:buNone/>
            </a:pPr>
            <a:r>
              <a:rPr lang="en-US" sz="1100" dirty="0">
                <a:solidFill>
                  <a:srgbClr val="64748B"/>
                </a:solidFill>
                <a:latin typeface="Roboto" pitchFamily="34" charset="0"/>
                <a:ea typeface="Roboto" pitchFamily="34" charset="-122"/>
                <a:cs typeface="Roboto" pitchFamily="34" charset="-120"/>
              </a:rPr>
              <a:t>credits far below declared turnover</a:t>
            </a:r>
            <a:endParaRPr lang="en-US" sz="1100" dirty="0"/>
          </a:p>
        </p:txBody>
      </p:sp>
      <p:sp>
        <p:nvSpPr>
          <p:cNvPr id="28" name="Shape 24"/>
          <p:cNvSpPr/>
          <p:nvPr/>
        </p:nvSpPr>
        <p:spPr>
          <a:xfrm>
            <a:off x="548640" y="5760720"/>
            <a:ext cx="5257800" cy="603504"/>
          </a:xfrm>
          <a:prstGeom prst="roundRect">
            <a:avLst>
              <a:gd name="adj" fmla="val 12121"/>
            </a:avLst>
          </a:prstGeom>
          <a:solidFill>
            <a:srgbClr val="F8FAFC"/>
          </a:solidFill>
          <a:ln w="12700">
            <a:solidFill>
              <a:srgbClr val="E2E8F0"/>
            </a:solidFill>
            <a:prstDash val="solid"/>
          </a:ln>
        </p:spPr>
      </p:sp>
      <p:sp>
        <p:nvSpPr>
          <p:cNvPr id="29" name="Text 25"/>
          <p:cNvSpPr txBox="1"/>
          <p:nvPr/>
        </p:nvSpPr>
        <p:spPr>
          <a:xfrm>
            <a:off x="685800" y="5760720"/>
            <a:ext cx="1325880" cy="603504"/>
          </a:xfrm>
          <a:prstGeom prst="rect">
            <a:avLst/>
          </a:prstGeom>
          <a:noFill/>
          <a:ln/>
        </p:spPr>
        <p:txBody>
          <a:bodyPr wrap="square" lIns="0" tIns="0" rIns="0" bIns="0" rtlCol="0" anchor="ctr"/>
          <a:lstStyle/>
          <a:p>
            <a:pPr indent="0" marL="0">
              <a:buNone/>
            </a:pPr>
            <a:r>
              <a:rPr lang="en-US" sz="2000" b="1" dirty="0">
                <a:solidFill>
                  <a:srgbClr val="16A34A"/>
                </a:solidFill>
                <a:latin typeface="Roboto" pitchFamily="34" charset="0"/>
                <a:ea typeface="Roboto" pitchFamily="34" charset="-122"/>
                <a:cs typeface="Roboto" pitchFamily="34" charset="-120"/>
              </a:rPr>
              <a:t>F1 0.92</a:t>
            </a:r>
            <a:endParaRPr lang="en-US" sz="2000" dirty="0"/>
          </a:p>
        </p:txBody>
      </p:sp>
      <p:sp>
        <p:nvSpPr>
          <p:cNvPr id="30" name="Text 26"/>
          <p:cNvSpPr txBox="1"/>
          <p:nvPr/>
        </p:nvSpPr>
        <p:spPr>
          <a:xfrm>
            <a:off x="2057400" y="5760720"/>
            <a:ext cx="3657600" cy="603504"/>
          </a:xfrm>
          <a:prstGeom prst="rect">
            <a:avLst/>
          </a:prstGeom>
          <a:noFill/>
          <a:ln/>
        </p:spPr>
        <p:txBody>
          <a:bodyPr wrap="square" lIns="0" tIns="0" rIns="0" bIns="0" rtlCol="0" anchor="ctr"/>
          <a:lstStyle/>
          <a:p>
            <a:pPr indent="0" marL="0">
              <a:buNone/>
            </a:pPr>
            <a:r>
              <a:rPr lang="en-US" sz="1150" b="1" dirty="0">
                <a:solidFill>
                  <a:srgbClr val="0F172A"/>
                </a:solidFill>
                <a:latin typeface="Roboto" pitchFamily="34" charset="0"/>
                <a:ea typeface="Roboto" pitchFamily="34" charset="-122"/>
                <a:cs typeface="Roboto" pitchFamily="34" charset="-120"/>
              </a:rPr>
              <a:t>Pattern detection · 600 real accounts</a:t>
            </a:r>
            <a:endParaRPr lang="en-US" sz="1150" dirty="0"/>
          </a:p>
          <a:p>
            <a:pPr indent="0" marL="0">
              <a:buNone/>
            </a:pPr>
            <a:r>
              <a:rPr lang="en-US" sz="950" dirty="0">
                <a:solidFill>
                  <a:srgbClr val="64748B"/>
                </a:solidFill>
                <a:latin typeface="Roboto" pitchFamily="34" charset="0"/>
                <a:ea typeface="Roboto" pitchFamily="34" charset="-122"/>
                <a:cs typeface="Roboto" pitchFamily="34" charset="-120"/>
              </a:rPr>
              <a:t>statement rows recovered on Indian layouts: 4% → 95%</a:t>
            </a:r>
            <a:endParaRPr lang="en-US" sz="1150" dirty="0"/>
          </a:p>
        </p:txBody>
      </p:sp>
      <p:sp>
        <p:nvSpPr>
          <p:cNvPr id="31" name="Shape 27"/>
          <p:cNvSpPr/>
          <p:nvPr/>
        </p:nvSpPr>
        <p:spPr>
          <a:xfrm>
            <a:off x="5989320" y="1783080"/>
            <a:ext cx="5650992" cy="3053974"/>
          </a:xfrm>
          <a:prstGeom prst="roundRect">
            <a:avLst>
              <a:gd name="adj" fmla="val 2096"/>
            </a:avLst>
          </a:prstGeom>
          <a:solidFill>
            <a:srgbClr val="1E293B"/>
          </a:solidFill>
          <a:ln w="12700">
            <a:solidFill>
              <a:srgbClr val="1E293B"/>
            </a:solidFill>
            <a:prstDash val="solid"/>
          </a:ln>
          <a:effectLst>
            <a:outerShdw sx="100000" sy="100000" kx="0" ky="0" algn="bl" rotWithShape="0" blurRad="127000" dist="25400" dir="5400000">
              <a:srgbClr val="0F172A">
                <a:alpha val="12000"/>
              </a:srgbClr>
            </a:outerShdw>
          </a:effectLst>
        </p:spPr>
      </p:sp>
      <p:sp>
        <p:nvSpPr>
          <p:cNvPr id="32" name="Shape 28"/>
          <p:cNvSpPr/>
          <p:nvPr/>
        </p:nvSpPr>
        <p:spPr>
          <a:xfrm>
            <a:off x="6108192" y="1860804"/>
            <a:ext cx="82296" cy="82296"/>
          </a:xfrm>
          <a:prstGeom prst="ellipse">
            <a:avLst/>
          </a:prstGeom>
          <a:solidFill>
            <a:srgbClr val="F87171"/>
          </a:solidFill>
          <a:ln w="12700">
            <a:solidFill>
              <a:srgbClr val="F87171"/>
            </a:solidFill>
            <a:prstDash val="solid"/>
          </a:ln>
        </p:spPr>
      </p:sp>
      <p:sp>
        <p:nvSpPr>
          <p:cNvPr id="33" name="Shape 29"/>
          <p:cNvSpPr/>
          <p:nvPr/>
        </p:nvSpPr>
        <p:spPr>
          <a:xfrm>
            <a:off x="6245352" y="1860804"/>
            <a:ext cx="82296" cy="82296"/>
          </a:xfrm>
          <a:prstGeom prst="ellipse">
            <a:avLst/>
          </a:prstGeom>
          <a:solidFill>
            <a:srgbClr val="FBBF24"/>
          </a:solidFill>
          <a:ln w="12700">
            <a:solidFill>
              <a:srgbClr val="FBBF24"/>
            </a:solidFill>
            <a:prstDash val="solid"/>
          </a:ln>
        </p:spPr>
      </p:sp>
      <p:sp>
        <p:nvSpPr>
          <p:cNvPr id="34" name="Shape 30"/>
          <p:cNvSpPr/>
          <p:nvPr/>
        </p:nvSpPr>
        <p:spPr>
          <a:xfrm>
            <a:off x="6382512" y="1860804"/>
            <a:ext cx="82296" cy="82296"/>
          </a:xfrm>
          <a:prstGeom prst="ellipse">
            <a:avLst/>
          </a:prstGeom>
          <a:solidFill>
            <a:srgbClr val="34D399"/>
          </a:solidFill>
          <a:ln w="12700">
            <a:solidFill>
              <a:srgbClr val="34D399"/>
            </a:solidFill>
            <a:prstDash val="solid"/>
          </a:ln>
        </p:spPr>
      </p:sp>
      <p:pic>
        <p:nvPicPr>
          <p:cNvPr id="35" name="Image 1" descr="C:\Users\shrey\AppData\Local\Temp\claude\D--novacinternship-finsight\ef4ecb45-e580-4bc0-9be4-060aa240a5b2\scratchpad\deck\img\triage.png">    </p:cNvPr>
          <p:cNvPicPr>
            <a:picLocks noChangeAspect="1"/>
          </p:cNvPicPr>
          <p:nvPr/>
        </p:nvPicPr>
        <p:blipFill>
          <a:blip r:embed="rId2"/>
          <a:stretch>
            <a:fillRect/>
          </a:stretch>
        </p:blipFill>
        <p:spPr>
          <a:xfrm>
            <a:off x="6035040" y="2020824"/>
            <a:ext cx="5559552" cy="2770510"/>
          </a:xfrm>
          <a:prstGeom prst="rect">
            <a:avLst/>
          </a:prstGeom>
        </p:spPr>
      </p:pic>
      <p:sp>
        <p:nvSpPr>
          <p:cNvPr id="36" name="Text 31"/>
          <p:cNvSpPr txBox="1"/>
          <p:nvPr/>
        </p:nvSpPr>
        <p:spPr>
          <a:xfrm>
            <a:off x="5989320" y="5001646"/>
            <a:ext cx="4572000" cy="256032"/>
          </a:xfrm>
          <a:prstGeom prst="rect">
            <a:avLst/>
          </a:prstGeom>
          <a:noFill/>
          <a:ln/>
        </p:spPr>
        <p:txBody>
          <a:bodyPr wrap="square" lIns="0" tIns="0" rIns="0" bIns="0" rtlCol="0" anchor="ctr"/>
          <a:lstStyle/>
          <a:p>
            <a:pPr indent="0" marL="0">
              <a:buNone/>
            </a:pPr>
            <a:r>
              <a:rPr lang="en-US" sz="1050" b="1" spc="200" kern="0" dirty="0">
                <a:solidFill>
                  <a:srgbClr val="E11D48"/>
                </a:solidFill>
                <a:latin typeface="Roboto" pitchFamily="34" charset="0"/>
                <a:ea typeface="Roboto" pitchFamily="34" charset="-122"/>
                <a:cs typeface="Roboto" pitchFamily="34" charset="-120"/>
              </a:rPr>
              <a:t>#15 FRAUD TRIAGE</a:t>
            </a:r>
            <a:endParaRPr lang="en-US" sz="1050" dirty="0"/>
          </a:p>
        </p:txBody>
      </p:sp>
      <p:sp>
        <p:nvSpPr>
          <p:cNvPr id="37" name="Text 32"/>
          <p:cNvSpPr txBox="1"/>
          <p:nvPr/>
        </p:nvSpPr>
        <p:spPr>
          <a:xfrm>
            <a:off x="5989320" y="5294254"/>
            <a:ext cx="5650992" cy="1097280"/>
          </a:xfrm>
          <a:prstGeom prst="rect">
            <a:avLst/>
          </a:prstGeom>
          <a:noFill/>
          <a:ln/>
        </p:spPr>
        <p:txBody>
          <a:bodyPr wrap="square" lIns="0" tIns="0" rIns="0" bIns="0" rtlCol="0" anchor="t"/>
          <a:lstStyle/>
          <a:p>
            <a:pPr marL="177800" indent="-177800">
              <a:spcAft>
                <a:spcPts val="400"/>
              </a:spcAft>
              <a:buSzPct val="100000"/>
              <a:buChar char="•"/>
            </a:pPr>
            <a:r>
              <a:rPr lang="en-US" sz="1100" dirty="0">
                <a:solidFill>
                  <a:srgbClr val="334155"/>
                </a:solidFill>
                <a:latin typeface="Roboto" pitchFamily="34" charset="0"/>
                <a:ea typeface="Roboto" pitchFamily="34" charset="-122"/>
                <a:cs typeface="Roboto" pitchFamily="34" charset="-120"/>
              </a:rPr>
              <a:t>Links applications that share one face under several PANs, one bank account, one PAN with two faces, or one file</a:t>
            </a:r>
            <a:endParaRPr lang="en-US" sz="1100" dirty="0"/>
          </a:p>
          <a:p>
            <a:pPr marL="177800" indent="-177800">
              <a:spcAft>
                <a:spcPts val="400"/>
              </a:spcAft>
              <a:buSzPct val="100000"/>
              <a:buChar char="•"/>
            </a:pPr>
            <a:r>
              <a:rPr lang="en-US" sz="1100" dirty="0">
                <a:solidFill>
                  <a:srgbClr val="334155"/>
                </a:solidFill>
                <a:latin typeface="Roboto" pitchFamily="34" charset="0"/>
                <a:ea typeface="Roboto" pitchFamily="34" charset="-122"/>
                <a:cs typeface="Roboto" pitchFamily="34" charset="-120"/>
              </a:rPr>
              <a:t>Proposes cases only — a person decides what to open</a:t>
            </a:r>
            <a:endParaRPr lang="en-US" sz="1100" dirty="0"/>
          </a:p>
          <a:p>
            <a:pPr marL="177800" indent="-177800">
              <a:spcAft>
                <a:spcPts val="400"/>
              </a:spcAft>
              <a:buSzPct val="100000"/>
              <a:buChar char="•"/>
            </a:pPr>
            <a:r>
              <a:rPr lang="en-US" sz="1100" dirty="0">
                <a:solidFill>
                  <a:srgbClr val="334155"/>
                </a:solidFill>
                <a:latin typeface="Roboto" pitchFamily="34" charset="0"/>
                <a:ea typeface="Roboto" pitchFamily="34" charset="-122"/>
                <a:cs typeface="Roboto" pitchFamily="34" charset="-120"/>
              </a:rPr>
              <a:t>80 planted rings among 1,000 real faces: every proposal was a real ring (71 false rings before the stricter 1:N face threshold)</a:t>
            </a:r>
            <a:endParaRPr lang="en-US" sz="11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8229600" cy="256032"/>
          </a:xfrm>
          <a:prstGeom prst="rect">
            <a:avLst/>
          </a:prstGeom>
          <a:noFill/>
          <a:ln/>
        </p:spPr>
        <p:txBody>
          <a:bodyPr wrap="square" lIns="0" tIns="0" rIns="0" bIns="0" rtlCol="0" anchor="ctr"/>
          <a:lstStyle/>
          <a:p>
            <a:pPr indent="0" marL="0">
              <a:buNone/>
            </a:pPr>
            <a:r>
              <a:rPr lang="en-US" sz="1100" b="1" spc="200" kern="0" dirty="0">
                <a:solidFill>
                  <a:srgbClr val="4F46E5"/>
                </a:solidFill>
                <a:latin typeface="Roboto" pitchFamily="34" charset="0"/>
                <a:ea typeface="Roboto" pitchFamily="34" charset="-122"/>
                <a:cs typeface="Roboto" pitchFamily="34" charset="-120"/>
              </a:rPr>
              <a:t>THE 29 AGENTS · COMPLIANCE CREW</a:t>
            </a:r>
            <a:endParaRPr lang="en-US" sz="1100" dirty="0"/>
          </a:p>
        </p:txBody>
      </p:sp>
      <p:sp>
        <p:nvSpPr>
          <p:cNvPr id="3" name="Text 1"/>
          <p:cNvSpPr txBox="1"/>
          <p:nvPr/>
        </p:nvSpPr>
        <p:spPr>
          <a:xfrm>
            <a:off x="548640" y="585216"/>
            <a:ext cx="11094415" cy="566928"/>
          </a:xfrm>
          <a:prstGeom prst="rect">
            <a:avLst/>
          </a:prstGeom>
          <a:noFill/>
          <a:ln/>
        </p:spPr>
        <p:txBody>
          <a:bodyPr wrap="square" lIns="0" tIns="0" rIns="0" bIns="0" rtlCol="0" anchor="ctr"/>
          <a:lstStyle/>
          <a:p>
            <a:pPr indent="0" marL="0">
              <a:buNone/>
            </a:pPr>
            <a:r>
              <a:rPr lang="en-US" sz="2800" b="1" dirty="0">
                <a:solidFill>
                  <a:srgbClr val="0F172A"/>
                </a:solidFill>
                <a:latin typeface="Roboto" pitchFamily="34" charset="0"/>
                <a:ea typeface="Roboto" pitchFamily="34" charset="-122"/>
                <a:cs typeface="Roboto" pitchFamily="34" charset="-120"/>
              </a:rPr>
              <a:t>Compliance: RBI rules as data, answers with citations</a:t>
            </a:r>
            <a:endParaRPr lang="en-US" sz="2800" dirty="0"/>
          </a:p>
        </p:txBody>
      </p:sp>
      <p:sp>
        <p:nvSpPr>
          <p:cNvPr id="4" name="Text 2"/>
          <p:cNvSpPr txBox="1"/>
          <p:nvPr/>
        </p:nvSpPr>
        <p:spPr>
          <a:xfrm>
            <a:off x="548640" y="1152144"/>
            <a:ext cx="11094415" cy="365760"/>
          </a:xfrm>
          <a:prstGeom prst="rect">
            <a:avLst/>
          </a:prstGeom>
          <a:noFill/>
          <a:ln/>
        </p:spPr>
        <p:txBody>
          <a:bodyPr wrap="square" lIns="0" tIns="0" rIns="0" bIns="0" rtlCol="0" anchor="ctr"/>
          <a:lstStyle/>
          <a:p>
            <a:pPr indent="0" marL="0">
              <a:buNone/>
            </a:pPr>
            <a:r>
              <a:rPr lang="en-US" sz="1400" dirty="0">
                <a:solidFill>
                  <a:srgbClr val="64748B"/>
                </a:solidFill>
                <a:latin typeface="Roboto" pitchFamily="34" charset="0"/>
                <a:ea typeface="Roboto" pitchFamily="34" charset="-122"/>
                <a:cs typeface="Roboto" pitchFamily="34" charset="-120"/>
              </a:rPr>
              <a:t>Regulations are indexed once; rules are drafted by an agent and approved by a person; every case is checked against them.</a:t>
            </a:r>
            <a:endParaRPr lang="en-US" sz="1400" dirty="0"/>
          </a:p>
        </p:txBody>
      </p:sp>
      <p:pic>
        <p:nvPicPr>
          <p:cNvPr id="5" name="Image 0" descr="C:\Users\shrey\AppData\Local\Temp\claude\D--novacinternship-finsight\ef4ecb45-e580-4bc0-9be4-060aa240a5b2\scratchpad\deck\img\logo_lockup.png">    </p:cNvPr>
          <p:cNvPicPr>
            <a:picLocks noChangeAspect="1"/>
          </p:cNvPicPr>
          <p:nvPr/>
        </p:nvPicPr>
        <p:blipFill>
          <a:blip r:embed="rId1"/>
          <a:stretch>
            <a:fillRect/>
          </a:stretch>
        </p:blipFill>
        <p:spPr>
          <a:xfrm>
            <a:off x="10360152" y="6464808"/>
            <a:ext cx="843991" cy="237744"/>
          </a:xfrm>
          <a:prstGeom prst="rect">
            <a:avLst/>
          </a:prstGeom>
        </p:spPr>
      </p:pic>
      <p:sp>
        <p:nvSpPr>
          <p:cNvPr id="6" name="Text 3"/>
          <p:cNvSpPr txBox="1"/>
          <p:nvPr/>
        </p:nvSpPr>
        <p:spPr>
          <a:xfrm>
            <a:off x="11277295" y="6473952"/>
            <a:ext cx="365760" cy="228600"/>
          </a:xfrm>
          <a:prstGeom prst="rect">
            <a:avLst/>
          </a:prstGeom>
          <a:noFill/>
          <a:ln/>
        </p:spPr>
        <p:txBody>
          <a:bodyPr wrap="square" lIns="0" tIns="0" rIns="0" bIns="0" rtlCol="0" anchor="ctr"/>
          <a:lstStyle/>
          <a:p>
            <a:pPr algn="r" indent="0" marL="0">
              <a:buNone/>
            </a:pPr>
            <a:r>
              <a:rPr lang="en-US" sz="900" dirty="0">
                <a:solidFill>
                  <a:srgbClr val="94A3B8"/>
                </a:solidFill>
                <a:latin typeface="Roboto" pitchFamily="34" charset="0"/>
                <a:ea typeface="Roboto" pitchFamily="34" charset="-122"/>
                <a:cs typeface="Roboto" pitchFamily="34" charset="-120"/>
              </a:rPr>
              <a:t>20</a:t>
            </a:r>
            <a:endParaRPr lang="en-US" sz="900" dirty="0"/>
          </a:p>
        </p:txBody>
      </p:sp>
      <p:sp>
        <p:nvSpPr>
          <p:cNvPr id="8" name="Shape 4"/>
          <p:cNvSpPr/>
          <p:nvPr/>
        </p:nvSpPr>
        <p:spPr>
          <a:xfrm>
            <a:off x="548640" y="1783080"/>
            <a:ext cx="1664208" cy="914400"/>
          </a:xfrm>
          <a:prstGeom prst="roundRect">
            <a:avLst>
              <a:gd name="adj" fmla="val 8000"/>
            </a:avLst>
          </a:prstGeom>
          <a:solidFill>
            <a:srgbClr val="F8FAFC"/>
          </a:solidFill>
          <a:ln w="12700">
            <a:solidFill>
              <a:srgbClr val="E2E8F0"/>
            </a:solidFill>
            <a:prstDash val="solid"/>
          </a:ln>
        </p:spPr>
      </p:sp>
      <p:sp>
        <p:nvSpPr>
          <p:cNvPr id="9" name="Text 5"/>
          <p:cNvSpPr txBox="1"/>
          <p:nvPr/>
        </p:nvSpPr>
        <p:spPr>
          <a:xfrm>
            <a:off x="621792" y="1801368"/>
            <a:ext cx="1517904" cy="877824"/>
          </a:xfrm>
          <a:prstGeom prst="rect">
            <a:avLst/>
          </a:prstGeom>
          <a:noFill/>
          <a:ln/>
        </p:spPr>
        <p:txBody>
          <a:bodyPr wrap="square" lIns="0" tIns="0" rIns="0" bIns="0" rtlCol="0" anchor="ctr"/>
          <a:lstStyle/>
          <a:p>
            <a:pPr algn="ctr" indent="0" marL="0">
              <a:spcAft>
                <a:spcPts val="200"/>
              </a:spcAft>
              <a:buNone/>
            </a:pPr>
            <a:r>
              <a:rPr lang="en-US" sz="1100" b="1" dirty="0">
                <a:solidFill>
                  <a:srgbClr val="0F172A"/>
                </a:solidFill>
                <a:latin typeface="Roboto" pitchFamily="34" charset="0"/>
                <a:ea typeface="Roboto" pitchFamily="34" charset="-122"/>
                <a:cs typeface="Roboto" pitchFamily="34" charset="-120"/>
              </a:rPr>
              <a:t>RBI &amp; internal documents</a:t>
            </a:r>
            <a:endParaRPr lang="en-US" sz="1100" dirty="0"/>
          </a:p>
          <a:p>
            <a:pPr algn="ctr" indent="0" marL="0">
              <a:spcAft>
                <a:spcPts val="200"/>
              </a:spcAft>
              <a:buNone/>
            </a:pPr>
            <a:r>
              <a:rPr lang="en-US" sz="950" dirty="0">
                <a:solidFill>
                  <a:srgbClr val="64748B"/>
                </a:solidFill>
                <a:latin typeface="Roboto" pitchFamily="34" charset="0"/>
                <a:ea typeface="Roboto" pitchFamily="34" charset="-122"/>
                <a:cs typeface="Roboto" pitchFamily="34" charset="-120"/>
              </a:rPr>
              <a:t>6 seeded</a:t>
            </a:r>
            <a:endParaRPr lang="en-US" sz="1100" dirty="0"/>
          </a:p>
        </p:txBody>
      </p:sp>
      <p:sp>
        <p:nvSpPr>
          <p:cNvPr id="10" name="Shape 6"/>
          <p:cNvSpPr/>
          <p:nvPr/>
        </p:nvSpPr>
        <p:spPr>
          <a:xfrm>
            <a:off x="2231136" y="2240280"/>
            <a:ext cx="182880" cy="0"/>
          </a:xfrm>
          <a:prstGeom prst="line">
            <a:avLst/>
          </a:prstGeom>
          <a:noFill/>
          <a:ln w="19050">
            <a:solidFill>
              <a:srgbClr val="94A3B8"/>
            </a:solidFill>
            <a:prstDash val="solid"/>
            <a:tailEnd type="triangle"/>
          </a:ln>
        </p:spPr>
      </p:sp>
      <p:sp>
        <p:nvSpPr>
          <p:cNvPr id="11" name="Shape 7"/>
          <p:cNvSpPr/>
          <p:nvPr/>
        </p:nvSpPr>
        <p:spPr>
          <a:xfrm>
            <a:off x="2432304" y="1783080"/>
            <a:ext cx="1664208" cy="914400"/>
          </a:xfrm>
          <a:prstGeom prst="roundRect">
            <a:avLst>
              <a:gd name="adj" fmla="val 8000"/>
            </a:avLst>
          </a:prstGeom>
          <a:solidFill>
            <a:srgbClr val="ECFDF5"/>
          </a:solidFill>
          <a:ln w="12700">
            <a:solidFill>
              <a:srgbClr val="059669"/>
            </a:solidFill>
            <a:prstDash val="solid"/>
          </a:ln>
        </p:spPr>
      </p:sp>
      <p:sp>
        <p:nvSpPr>
          <p:cNvPr id="12" name="Text 8"/>
          <p:cNvSpPr txBox="1"/>
          <p:nvPr/>
        </p:nvSpPr>
        <p:spPr>
          <a:xfrm>
            <a:off x="2505456" y="1801368"/>
            <a:ext cx="1517904" cy="877824"/>
          </a:xfrm>
          <a:prstGeom prst="rect">
            <a:avLst/>
          </a:prstGeom>
          <a:noFill/>
          <a:ln/>
        </p:spPr>
        <p:txBody>
          <a:bodyPr wrap="square" lIns="0" tIns="0" rIns="0" bIns="0" rtlCol="0" anchor="ctr"/>
          <a:lstStyle/>
          <a:p>
            <a:pPr algn="ctr" indent="0" marL="0">
              <a:spcAft>
                <a:spcPts val="200"/>
              </a:spcAft>
              <a:buNone/>
            </a:pPr>
            <a:r>
              <a:rPr lang="en-US" sz="1100" b="1" dirty="0">
                <a:solidFill>
                  <a:srgbClr val="059669"/>
                </a:solidFill>
                <a:latin typeface="Roboto" pitchFamily="34" charset="0"/>
                <a:ea typeface="Roboto" pitchFamily="34" charset="-122"/>
                <a:cs typeface="Roboto" pitchFamily="34" charset="-120"/>
              </a:rPr>
              <a:t>#16 KB Ingestion</a:t>
            </a:r>
            <a:endParaRPr lang="en-US" sz="1100" dirty="0"/>
          </a:p>
          <a:p>
            <a:pPr algn="ctr" indent="0" marL="0">
              <a:spcAft>
                <a:spcPts val="200"/>
              </a:spcAft>
              <a:buNone/>
            </a:pPr>
            <a:r>
              <a:rPr lang="en-US" sz="950" dirty="0">
                <a:solidFill>
                  <a:srgbClr val="64748B"/>
                </a:solidFill>
                <a:latin typeface="Roboto" pitchFamily="34" charset="0"/>
                <a:ea typeface="Roboto" pitchFamily="34" charset="-122"/>
                <a:cs typeface="Roboto" pitchFamily="34" charset="-120"/>
              </a:rPr>
              <a:t>chunk &amp; index</a:t>
            </a:r>
            <a:endParaRPr lang="en-US" sz="1100" dirty="0"/>
          </a:p>
        </p:txBody>
      </p:sp>
      <p:sp>
        <p:nvSpPr>
          <p:cNvPr id="13" name="Shape 9"/>
          <p:cNvSpPr/>
          <p:nvPr/>
        </p:nvSpPr>
        <p:spPr>
          <a:xfrm>
            <a:off x="4114800" y="2240280"/>
            <a:ext cx="182880" cy="0"/>
          </a:xfrm>
          <a:prstGeom prst="line">
            <a:avLst/>
          </a:prstGeom>
          <a:noFill/>
          <a:ln w="19050">
            <a:solidFill>
              <a:srgbClr val="94A3B8"/>
            </a:solidFill>
            <a:prstDash val="solid"/>
            <a:tailEnd type="triangle"/>
          </a:ln>
        </p:spPr>
      </p:sp>
      <p:sp>
        <p:nvSpPr>
          <p:cNvPr id="14" name="Shape 10"/>
          <p:cNvSpPr/>
          <p:nvPr/>
        </p:nvSpPr>
        <p:spPr>
          <a:xfrm>
            <a:off x="4315968" y="1783080"/>
            <a:ext cx="1664208" cy="914400"/>
          </a:xfrm>
          <a:prstGeom prst="roundRect">
            <a:avLst>
              <a:gd name="adj" fmla="val 8000"/>
            </a:avLst>
          </a:prstGeom>
          <a:solidFill>
            <a:srgbClr val="ECFDF5"/>
          </a:solidFill>
          <a:ln w="12700">
            <a:solidFill>
              <a:srgbClr val="059669"/>
            </a:solidFill>
            <a:prstDash val="solid"/>
          </a:ln>
        </p:spPr>
      </p:sp>
      <p:sp>
        <p:nvSpPr>
          <p:cNvPr id="15" name="Text 11"/>
          <p:cNvSpPr txBox="1"/>
          <p:nvPr/>
        </p:nvSpPr>
        <p:spPr>
          <a:xfrm>
            <a:off x="4389120" y="1801368"/>
            <a:ext cx="1517904" cy="877824"/>
          </a:xfrm>
          <a:prstGeom prst="rect">
            <a:avLst/>
          </a:prstGeom>
          <a:noFill/>
          <a:ln/>
        </p:spPr>
        <p:txBody>
          <a:bodyPr wrap="square" lIns="0" tIns="0" rIns="0" bIns="0" rtlCol="0" anchor="ctr"/>
          <a:lstStyle/>
          <a:p>
            <a:pPr algn="ctr" indent="0" marL="0">
              <a:spcAft>
                <a:spcPts val="200"/>
              </a:spcAft>
              <a:buNone/>
            </a:pPr>
            <a:r>
              <a:rPr lang="en-US" sz="1100" b="1" dirty="0">
                <a:solidFill>
                  <a:srgbClr val="059669"/>
                </a:solidFill>
                <a:latin typeface="Roboto" pitchFamily="34" charset="0"/>
                <a:ea typeface="Roboto" pitchFamily="34" charset="-122"/>
                <a:cs typeface="Roboto" pitchFamily="34" charset="-120"/>
              </a:rPr>
              <a:t>#17 Rule Authoring</a:t>
            </a:r>
            <a:endParaRPr lang="en-US" sz="1100" dirty="0"/>
          </a:p>
          <a:p>
            <a:pPr algn="ctr" indent="0" marL="0">
              <a:spcAft>
                <a:spcPts val="200"/>
              </a:spcAft>
              <a:buNone/>
            </a:pPr>
            <a:r>
              <a:rPr lang="en-US" sz="950" dirty="0">
                <a:solidFill>
                  <a:srgbClr val="64748B"/>
                </a:solidFill>
                <a:latin typeface="Roboto" pitchFamily="34" charset="0"/>
                <a:ea typeface="Roboto" pitchFamily="34" charset="-122"/>
                <a:cs typeface="Roboto" pitchFamily="34" charset="-120"/>
              </a:rPr>
              <a:t>drafts candidates</a:t>
            </a:r>
            <a:endParaRPr lang="en-US" sz="1100" dirty="0"/>
          </a:p>
        </p:txBody>
      </p:sp>
      <p:sp>
        <p:nvSpPr>
          <p:cNvPr id="16" name="Shape 12"/>
          <p:cNvSpPr/>
          <p:nvPr/>
        </p:nvSpPr>
        <p:spPr>
          <a:xfrm>
            <a:off x="5998464" y="2240280"/>
            <a:ext cx="182880" cy="0"/>
          </a:xfrm>
          <a:prstGeom prst="line">
            <a:avLst/>
          </a:prstGeom>
          <a:noFill/>
          <a:ln w="19050">
            <a:solidFill>
              <a:srgbClr val="94A3B8"/>
            </a:solidFill>
            <a:prstDash val="solid"/>
            <a:tailEnd type="triangle"/>
          </a:ln>
        </p:spPr>
      </p:sp>
      <p:sp>
        <p:nvSpPr>
          <p:cNvPr id="17" name="Shape 13"/>
          <p:cNvSpPr/>
          <p:nvPr/>
        </p:nvSpPr>
        <p:spPr>
          <a:xfrm>
            <a:off x="6199632" y="1783080"/>
            <a:ext cx="1664208" cy="914400"/>
          </a:xfrm>
          <a:prstGeom prst="roundRect">
            <a:avLst>
              <a:gd name="adj" fmla="val 8000"/>
            </a:avLst>
          </a:prstGeom>
          <a:solidFill>
            <a:srgbClr val="FEF3C7"/>
          </a:solidFill>
          <a:ln w="12700">
            <a:solidFill>
              <a:srgbClr val="FCD34D"/>
            </a:solidFill>
            <a:prstDash val="solid"/>
          </a:ln>
        </p:spPr>
      </p:sp>
      <p:sp>
        <p:nvSpPr>
          <p:cNvPr id="18" name="Text 14"/>
          <p:cNvSpPr txBox="1"/>
          <p:nvPr/>
        </p:nvSpPr>
        <p:spPr>
          <a:xfrm>
            <a:off x="6272784" y="1801368"/>
            <a:ext cx="1517904" cy="877824"/>
          </a:xfrm>
          <a:prstGeom prst="rect">
            <a:avLst/>
          </a:prstGeom>
          <a:noFill/>
          <a:ln/>
        </p:spPr>
        <p:txBody>
          <a:bodyPr wrap="square" lIns="0" tIns="0" rIns="0" bIns="0" rtlCol="0" anchor="ctr"/>
          <a:lstStyle/>
          <a:p>
            <a:pPr algn="ctr" indent="0" marL="0">
              <a:spcAft>
                <a:spcPts val="200"/>
              </a:spcAft>
              <a:buNone/>
            </a:pPr>
            <a:r>
              <a:rPr lang="en-US" sz="1100" b="1" dirty="0">
                <a:solidFill>
                  <a:srgbClr val="92400E"/>
                </a:solidFill>
                <a:latin typeface="Roboto" pitchFamily="34" charset="0"/>
                <a:ea typeface="Roboto" pitchFamily="34" charset="-122"/>
                <a:cs typeface="Roboto" pitchFamily="34" charset="-120"/>
              </a:rPr>
              <a:t>Human checker</a:t>
            </a:r>
            <a:endParaRPr lang="en-US" sz="1100" dirty="0"/>
          </a:p>
          <a:p>
            <a:pPr algn="ctr" indent="0" marL="0">
              <a:spcAft>
                <a:spcPts val="200"/>
              </a:spcAft>
              <a:buNone/>
            </a:pPr>
            <a:r>
              <a:rPr lang="en-US" sz="950" dirty="0">
                <a:solidFill>
                  <a:srgbClr val="64748B"/>
                </a:solidFill>
                <a:latin typeface="Roboto" pitchFamily="34" charset="0"/>
                <a:ea typeface="Roboto" pitchFamily="34" charset="-122"/>
                <a:cs typeface="Roboto" pitchFamily="34" charset="-120"/>
              </a:rPr>
              <a:t>review queue</a:t>
            </a:r>
            <a:endParaRPr lang="en-US" sz="1100" dirty="0"/>
          </a:p>
        </p:txBody>
      </p:sp>
      <p:sp>
        <p:nvSpPr>
          <p:cNvPr id="19" name="Shape 15"/>
          <p:cNvSpPr/>
          <p:nvPr/>
        </p:nvSpPr>
        <p:spPr>
          <a:xfrm>
            <a:off x="7882128" y="2240280"/>
            <a:ext cx="182880" cy="0"/>
          </a:xfrm>
          <a:prstGeom prst="line">
            <a:avLst/>
          </a:prstGeom>
          <a:noFill/>
          <a:ln w="19050">
            <a:solidFill>
              <a:srgbClr val="94A3B8"/>
            </a:solidFill>
            <a:prstDash val="solid"/>
            <a:tailEnd type="triangle"/>
          </a:ln>
        </p:spPr>
      </p:sp>
      <p:sp>
        <p:nvSpPr>
          <p:cNvPr id="20" name="Shape 16"/>
          <p:cNvSpPr/>
          <p:nvPr/>
        </p:nvSpPr>
        <p:spPr>
          <a:xfrm>
            <a:off x="8083296" y="1783080"/>
            <a:ext cx="1664208" cy="914400"/>
          </a:xfrm>
          <a:prstGeom prst="roundRect">
            <a:avLst>
              <a:gd name="adj" fmla="val 8000"/>
            </a:avLst>
          </a:prstGeom>
          <a:solidFill>
            <a:srgbClr val="F8FAFC"/>
          </a:solidFill>
          <a:ln w="12700">
            <a:solidFill>
              <a:srgbClr val="E2E8F0"/>
            </a:solidFill>
            <a:prstDash val="solid"/>
          </a:ln>
        </p:spPr>
      </p:sp>
      <p:sp>
        <p:nvSpPr>
          <p:cNvPr id="21" name="Text 17"/>
          <p:cNvSpPr txBox="1"/>
          <p:nvPr/>
        </p:nvSpPr>
        <p:spPr>
          <a:xfrm>
            <a:off x="8156448" y="1801368"/>
            <a:ext cx="1517904" cy="877824"/>
          </a:xfrm>
          <a:prstGeom prst="rect">
            <a:avLst/>
          </a:prstGeom>
          <a:noFill/>
          <a:ln/>
        </p:spPr>
        <p:txBody>
          <a:bodyPr wrap="square" lIns="0" tIns="0" rIns="0" bIns="0" rtlCol="0" anchor="ctr"/>
          <a:lstStyle/>
          <a:p>
            <a:pPr algn="ctr" indent="0" marL="0">
              <a:spcAft>
                <a:spcPts val="200"/>
              </a:spcAft>
              <a:buNone/>
            </a:pPr>
            <a:r>
              <a:rPr lang="en-US" sz="1100" b="1" dirty="0">
                <a:solidFill>
                  <a:srgbClr val="0F172A"/>
                </a:solidFill>
                <a:latin typeface="Roboto" pitchFamily="34" charset="0"/>
                <a:ea typeface="Roboto" pitchFamily="34" charset="-122"/>
                <a:cs typeface="Roboto" pitchFamily="34" charset="-120"/>
              </a:rPr>
              <a:t>Active rules</a:t>
            </a:r>
            <a:endParaRPr lang="en-US" sz="1100" dirty="0"/>
          </a:p>
          <a:p>
            <a:pPr algn="ctr" indent="0" marL="0">
              <a:spcAft>
                <a:spcPts val="200"/>
              </a:spcAft>
              <a:buNone/>
            </a:pPr>
            <a:r>
              <a:rPr lang="en-US" sz="950" dirty="0">
                <a:solidFill>
                  <a:srgbClr val="64748B"/>
                </a:solidFill>
                <a:latin typeface="Roboto" pitchFamily="34" charset="0"/>
                <a:ea typeface="Roboto" pitchFamily="34" charset="-122"/>
                <a:cs typeface="Roboto" pitchFamily="34" charset="-120"/>
              </a:rPr>
              <a:t>15 today</a:t>
            </a:r>
            <a:endParaRPr lang="en-US" sz="1100" dirty="0"/>
          </a:p>
        </p:txBody>
      </p:sp>
      <p:sp>
        <p:nvSpPr>
          <p:cNvPr id="22" name="Shape 18"/>
          <p:cNvSpPr/>
          <p:nvPr/>
        </p:nvSpPr>
        <p:spPr>
          <a:xfrm>
            <a:off x="9765792" y="2240280"/>
            <a:ext cx="182880" cy="0"/>
          </a:xfrm>
          <a:prstGeom prst="line">
            <a:avLst/>
          </a:prstGeom>
          <a:noFill/>
          <a:ln w="19050">
            <a:solidFill>
              <a:srgbClr val="94A3B8"/>
            </a:solidFill>
            <a:prstDash val="solid"/>
            <a:tailEnd type="triangle"/>
          </a:ln>
        </p:spPr>
      </p:sp>
      <p:sp>
        <p:nvSpPr>
          <p:cNvPr id="23" name="Shape 19"/>
          <p:cNvSpPr/>
          <p:nvPr/>
        </p:nvSpPr>
        <p:spPr>
          <a:xfrm>
            <a:off x="9966960" y="1783080"/>
            <a:ext cx="1664208" cy="914400"/>
          </a:xfrm>
          <a:prstGeom prst="roundRect">
            <a:avLst>
              <a:gd name="adj" fmla="val 8000"/>
            </a:avLst>
          </a:prstGeom>
          <a:solidFill>
            <a:srgbClr val="ECFDF5"/>
          </a:solidFill>
          <a:ln w="12700">
            <a:solidFill>
              <a:srgbClr val="059669"/>
            </a:solidFill>
            <a:prstDash val="solid"/>
          </a:ln>
        </p:spPr>
      </p:sp>
      <p:sp>
        <p:nvSpPr>
          <p:cNvPr id="24" name="Text 20"/>
          <p:cNvSpPr txBox="1"/>
          <p:nvPr/>
        </p:nvSpPr>
        <p:spPr>
          <a:xfrm>
            <a:off x="10040112" y="1801368"/>
            <a:ext cx="1517904" cy="877824"/>
          </a:xfrm>
          <a:prstGeom prst="rect">
            <a:avLst/>
          </a:prstGeom>
          <a:noFill/>
          <a:ln/>
        </p:spPr>
        <p:txBody>
          <a:bodyPr wrap="square" lIns="0" tIns="0" rIns="0" bIns="0" rtlCol="0" anchor="ctr"/>
          <a:lstStyle/>
          <a:p>
            <a:pPr algn="ctr" indent="0" marL="0">
              <a:spcAft>
                <a:spcPts val="200"/>
              </a:spcAft>
              <a:buNone/>
            </a:pPr>
            <a:r>
              <a:rPr lang="en-US" sz="1100" b="1" dirty="0">
                <a:solidFill>
                  <a:srgbClr val="059669"/>
                </a:solidFill>
                <a:latin typeface="Roboto" pitchFamily="34" charset="0"/>
                <a:ea typeface="Roboto" pitchFamily="34" charset="-122"/>
                <a:cs typeface="Roboto" pitchFamily="34" charset="-120"/>
              </a:rPr>
              <a:t>#19 Policy Check</a:t>
            </a:r>
            <a:endParaRPr lang="en-US" sz="1100" dirty="0"/>
          </a:p>
          <a:p>
            <a:pPr algn="ctr" indent="0" marL="0">
              <a:spcAft>
                <a:spcPts val="200"/>
              </a:spcAft>
              <a:buNone/>
            </a:pPr>
            <a:r>
              <a:rPr lang="en-US" sz="950" dirty="0">
                <a:solidFill>
                  <a:srgbClr val="64748B"/>
                </a:solidFill>
                <a:latin typeface="Roboto" pitchFamily="34" charset="0"/>
                <a:ea typeface="Roboto" pitchFamily="34" charset="-122"/>
                <a:cs typeface="Roboto" pitchFamily="34" charset="-120"/>
              </a:rPr>
              <a:t>PASS · FAIL · NEED INFO</a:t>
            </a:r>
            <a:endParaRPr lang="en-US" sz="1100" dirty="0"/>
          </a:p>
        </p:txBody>
      </p:sp>
      <p:sp>
        <p:nvSpPr>
          <p:cNvPr id="25" name="Shape 21"/>
          <p:cNvSpPr/>
          <p:nvPr/>
        </p:nvSpPr>
        <p:spPr>
          <a:xfrm>
            <a:off x="3264408" y="2715768"/>
            <a:ext cx="0" cy="164592"/>
          </a:xfrm>
          <a:prstGeom prst="line">
            <a:avLst/>
          </a:prstGeom>
          <a:noFill/>
          <a:ln w="19050">
            <a:solidFill>
              <a:srgbClr val="94A3B8"/>
            </a:solidFill>
            <a:prstDash val="solid"/>
            <a:tailEnd type="triangle"/>
          </a:ln>
        </p:spPr>
      </p:sp>
      <p:sp>
        <p:nvSpPr>
          <p:cNvPr id="26" name="Shape 22"/>
          <p:cNvSpPr/>
          <p:nvPr/>
        </p:nvSpPr>
        <p:spPr>
          <a:xfrm>
            <a:off x="2203704" y="2898648"/>
            <a:ext cx="2121408" cy="457200"/>
          </a:xfrm>
          <a:prstGeom prst="roundRect">
            <a:avLst>
              <a:gd name="adj" fmla="val 16000"/>
            </a:avLst>
          </a:prstGeom>
          <a:solidFill>
            <a:srgbClr val="ECFDF5"/>
          </a:solidFill>
          <a:ln w="12700">
            <a:solidFill>
              <a:srgbClr val="059669"/>
            </a:solidFill>
            <a:prstDash val="solid"/>
          </a:ln>
        </p:spPr>
      </p:sp>
      <p:sp>
        <p:nvSpPr>
          <p:cNvPr id="27" name="Text 23"/>
          <p:cNvSpPr txBox="1"/>
          <p:nvPr/>
        </p:nvSpPr>
        <p:spPr>
          <a:xfrm>
            <a:off x="2276856" y="2916936"/>
            <a:ext cx="1975104" cy="420624"/>
          </a:xfrm>
          <a:prstGeom prst="rect">
            <a:avLst/>
          </a:prstGeom>
          <a:noFill/>
          <a:ln/>
        </p:spPr>
        <p:txBody>
          <a:bodyPr wrap="square" lIns="0" tIns="0" rIns="0" bIns="0" rtlCol="0" anchor="ctr"/>
          <a:lstStyle/>
          <a:p>
            <a:pPr algn="ctr" indent="0" marL="0">
              <a:spcAft>
                <a:spcPts val="200"/>
              </a:spcAft>
              <a:buNone/>
            </a:pPr>
            <a:r>
              <a:rPr lang="en-US" sz="1100" b="1" dirty="0">
                <a:solidFill>
                  <a:srgbClr val="059669"/>
                </a:solidFill>
                <a:latin typeface="Roboto" pitchFamily="34" charset="0"/>
                <a:ea typeface="Roboto" pitchFamily="34" charset="-122"/>
                <a:cs typeface="Roboto" pitchFamily="34" charset="-120"/>
              </a:rPr>
              <a:t>#18 Regulatory Q&amp;A</a:t>
            </a:r>
            <a:endParaRPr lang="en-US" sz="1100" dirty="0"/>
          </a:p>
        </p:txBody>
      </p:sp>
      <p:sp>
        <p:nvSpPr>
          <p:cNvPr id="28" name="Text 24"/>
          <p:cNvSpPr txBox="1"/>
          <p:nvPr/>
        </p:nvSpPr>
        <p:spPr>
          <a:xfrm>
            <a:off x="4462272" y="2898648"/>
            <a:ext cx="4572000" cy="457200"/>
          </a:xfrm>
          <a:prstGeom prst="rect">
            <a:avLst/>
          </a:prstGeom>
          <a:noFill/>
          <a:ln/>
        </p:spPr>
        <p:txBody>
          <a:bodyPr wrap="square" lIns="0" tIns="0" rIns="0" bIns="0" rtlCol="0" anchor="ctr"/>
          <a:lstStyle/>
          <a:p>
            <a:pPr indent="0" marL="0">
              <a:buNone/>
            </a:pPr>
            <a:r>
              <a:rPr lang="en-US" sz="1050" i="1" dirty="0">
                <a:solidFill>
                  <a:srgbClr val="64748B"/>
                </a:solidFill>
                <a:latin typeface="Roboto" pitchFamily="34" charset="0"/>
                <a:ea typeface="Roboto" pitchFamily="34" charset="-122"/>
                <a:cs typeface="Roboto" pitchFamily="34" charset="-120"/>
              </a:rPr>
              <a:t>retrieves the top-5 passages, then writes a cited, grounded answer</a:t>
            </a:r>
            <a:endParaRPr lang="en-US" sz="1050" dirty="0"/>
          </a:p>
        </p:txBody>
      </p:sp>
      <p:sp>
        <p:nvSpPr>
          <p:cNvPr id="29" name="Shape 25"/>
          <p:cNvSpPr/>
          <p:nvPr/>
        </p:nvSpPr>
        <p:spPr>
          <a:xfrm>
            <a:off x="548640" y="3566160"/>
            <a:ext cx="6062983" cy="2834640"/>
          </a:xfrm>
          <a:prstGeom prst="roundRect">
            <a:avLst>
              <a:gd name="adj" fmla="val 2258"/>
            </a:avLst>
          </a:prstGeom>
          <a:solidFill>
            <a:srgbClr val="1E293B"/>
          </a:solidFill>
          <a:ln w="12700">
            <a:solidFill>
              <a:srgbClr val="1E293B"/>
            </a:solidFill>
            <a:prstDash val="solid"/>
          </a:ln>
          <a:effectLst>
            <a:outerShdw sx="100000" sy="100000" kx="0" ky="0" algn="bl" rotWithShape="0" blurRad="127000" dist="25400" dir="5400000">
              <a:srgbClr val="0F172A">
                <a:alpha val="12000"/>
              </a:srgbClr>
            </a:outerShdw>
          </a:effectLst>
        </p:spPr>
      </p:sp>
      <p:sp>
        <p:nvSpPr>
          <p:cNvPr id="30" name="Shape 26"/>
          <p:cNvSpPr/>
          <p:nvPr/>
        </p:nvSpPr>
        <p:spPr>
          <a:xfrm>
            <a:off x="667512" y="3643884"/>
            <a:ext cx="82296" cy="82296"/>
          </a:xfrm>
          <a:prstGeom prst="ellipse">
            <a:avLst/>
          </a:prstGeom>
          <a:solidFill>
            <a:srgbClr val="F87171"/>
          </a:solidFill>
          <a:ln w="12700">
            <a:solidFill>
              <a:srgbClr val="F87171"/>
            </a:solidFill>
            <a:prstDash val="solid"/>
          </a:ln>
        </p:spPr>
      </p:sp>
      <p:sp>
        <p:nvSpPr>
          <p:cNvPr id="31" name="Shape 27"/>
          <p:cNvSpPr/>
          <p:nvPr/>
        </p:nvSpPr>
        <p:spPr>
          <a:xfrm>
            <a:off x="804672" y="3643884"/>
            <a:ext cx="82296" cy="82296"/>
          </a:xfrm>
          <a:prstGeom prst="ellipse">
            <a:avLst/>
          </a:prstGeom>
          <a:solidFill>
            <a:srgbClr val="FBBF24"/>
          </a:solidFill>
          <a:ln w="12700">
            <a:solidFill>
              <a:srgbClr val="FBBF24"/>
            </a:solidFill>
            <a:prstDash val="solid"/>
          </a:ln>
        </p:spPr>
      </p:sp>
      <p:sp>
        <p:nvSpPr>
          <p:cNvPr id="32" name="Shape 28"/>
          <p:cNvSpPr/>
          <p:nvPr/>
        </p:nvSpPr>
        <p:spPr>
          <a:xfrm>
            <a:off x="941832" y="3643884"/>
            <a:ext cx="82296" cy="82296"/>
          </a:xfrm>
          <a:prstGeom prst="ellipse">
            <a:avLst/>
          </a:prstGeom>
          <a:solidFill>
            <a:srgbClr val="34D399"/>
          </a:solidFill>
          <a:ln w="12700">
            <a:solidFill>
              <a:srgbClr val="34D399"/>
            </a:solidFill>
            <a:prstDash val="solid"/>
          </a:ln>
        </p:spPr>
      </p:sp>
      <p:pic>
        <p:nvPicPr>
          <p:cNvPr id="33" name="Image 1" descr="C:\Users\shrey\AppData\Local\Temp\claude\D--novacinternship-finsight\ef4ecb45-e580-4bc0-9be4-060aa240a5b2\scratchpad\deck\img\rbi_chat.png">    </p:cNvPr>
          <p:cNvPicPr>
            <a:picLocks noChangeAspect="1"/>
          </p:cNvPicPr>
          <p:nvPr/>
        </p:nvPicPr>
        <p:blipFill>
          <a:blip r:embed="rId2"/>
          <a:stretch>
            <a:fillRect/>
          </a:stretch>
        </p:blipFill>
        <p:spPr>
          <a:xfrm>
            <a:off x="594360" y="3803904"/>
            <a:ext cx="5971543" cy="2551176"/>
          </a:xfrm>
          <a:prstGeom prst="rect">
            <a:avLst/>
          </a:prstGeom>
        </p:spPr>
      </p:pic>
      <p:sp>
        <p:nvSpPr>
          <p:cNvPr id="34" name="Shape 29"/>
          <p:cNvSpPr/>
          <p:nvPr/>
        </p:nvSpPr>
        <p:spPr>
          <a:xfrm>
            <a:off x="7589520" y="3566160"/>
            <a:ext cx="4050792" cy="640080"/>
          </a:xfrm>
          <a:prstGeom prst="roundRect">
            <a:avLst>
              <a:gd name="adj" fmla="val 11429"/>
            </a:avLst>
          </a:prstGeom>
          <a:solidFill>
            <a:srgbClr val="F8FAFC"/>
          </a:solidFill>
          <a:ln w="12700">
            <a:solidFill>
              <a:srgbClr val="E2E8F0"/>
            </a:solidFill>
            <a:prstDash val="solid"/>
          </a:ln>
        </p:spPr>
      </p:sp>
      <p:sp>
        <p:nvSpPr>
          <p:cNvPr id="35" name="Text 30"/>
          <p:cNvSpPr txBox="1"/>
          <p:nvPr/>
        </p:nvSpPr>
        <p:spPr>
          <a:xfrm>
            <a:off x="7726680" y="3566160"/>
            <a:ext cx="1325880" cy="640080"/>
          </a:xfrm>
          <a:prstGeom prst="rect">
            <a:avLst/>
          </a:prstGeom>
          <a:noFill/>
          <a:ln/>
        </p:spPr>
        <p:txBody>
          <a:bodyPr wrap="square" lIns="0" tIns="0" rIns="0" bIns="0" rtlCol="0" anchor="ctr"/>
          <a:lstStyle/>
          <a:p>
            <a:pPr indent="0" marL="0">
              <a:buNone/>
            </a:pPr>
            <a:r>
              <a:rPr lang="en-US" sz="2000" b="1" dirty="0">
                <a:solidFill>
                  <a:srgbClr val="16A34A"/>
                </a:solidFill>
                <a:latin typeface="Roboto" pitchFamily="34" charset="0"/>
                <a:ea typeface="Roboto" pitchFamily="34" charset="-122"/>
                <a:cs typeface="Roboto" pitchFamily="34" charset="-120"/>
              </a:rPr>
              <a:t>92.7%</a:t>
            </a:r>
            <a:endParaRPr lang="en-US" sz="2000" dirty="0"/>
          </a:p>
        </p:txBody>
      </p:sp>
      <p:sp>
        <p:nvSpPr>
          <p:cNvPr id="36" name="Text 31"/>
          <p:cNvSpPr txBox="1"/>
          <p:nvPr/>
        </p:nvSpPr>
        <p:spPr>
          <a:xfrm>
            <a:off x="9098280" y="3566160"/>
            <a:ext cx="2450592" cy="640080"/>
          </a:xfrm>
          <a:prstGeom prst="rect">
            <a:avLst/>
          </a:prstGeom>
          <a:noFill/>
          <a:ln/>
        </p:spPr>
        <p:txBody>
          <a:bodyPr wrap="square" lIns="0" tIns="0" rIns="0" bIns="0" rtlCol="0" anchor="ctr"/>
          <a:lstStyle/>
          <a:p>
            <a:pPr indent="0" marL="0">
              <a:buNone/>
            </a:pPr>
            <a:r>
              <a:rPr lang="en-US" sz="1150" b="1" dirty="0">
                <a:solidFill>
                  <a:srgbClr val="0F172A"/>
                </a:solidFill>
                <a:latin typeface="Roboto" pitchFamily="34" charset="0"/>
                <a:ea typeface="Roboto" pitchFamily="34" charset="-122"/>
                <a:cs typeface="Roboto" pitchFamily="34" charset="-120"/>
              </a:rPr>
              <a:t>KB Ingestion</a:t>
            </a:r>
            <a:endParaRPr lang="en-US" sz="1150" dirty="0"/>
          </a:p>
          <a:p>
            <a:pPr indent="0" marL="0">
              <a:buNone/>
            </a:pPr>
            <a:r>
              <a:rPr lang="en-US" sz="950" dirty="0">
                <a:solidFill>
                  <a:srgbClr val="64748B"/>
                </a:solidFill>
                <a:latin typeface="Roboto" pitchFamily="34" charset="0"/>
                <a:ea typeface="Roboto" pitchFamily="34" charset="-122"/>
                <a:cs typeface="Roboto" pitchFamily="34" charset="-120"/>
              </a:rPr>
              <a:t>right document in top 5 · 1,000 questions</a:t>
            </a:r>
            <a:endParaRPr lang="en-US" sz="1150" dirty="0"/>
          </a:p>
        </p:txBody>
      </p:sp>
      <p:sp>
        <p:nvSpPr>
          <p:cNvPr id="37" name="Shape 32"/>
          <p:cNvSpPr/>
          <p:nvPr/>
        </p:nvSpPr>
        <p:spPr>
          <a:xfrm>
            <a:off x="7589520" y="4261104"/>
            <a:ext cx="4050792" cy="640080"/>
          </a:xfrm>
          <a:prstGeom prst="roundRect">
            <a:avLst>
              <a:gd name="adj" fmla="val 11429"/>
            </a:avLst>
          </a:prstGeom>
          <a:solidFill>
            <a:srgbClr val="F8FAFC"/>
          </a:solidFill>
          <a:ln w="12700">
            <a:solidFill>
              <a:srgbClr val="E2E8F0"/>
            </a:solidFill>
            <a:prstDash val="solid"/>
          </a:ln>
        </p:spPr>
      </p:sp>
      <p:sp>
        <p:nvSpPr>
          <p:cNvPr id="38" name="Text 33"/>
          <p:cNvSpPr txBox="1"/>
          <p:nvPr/>
        </p:nvSpPr>
        <p:spPr>
          <a:xfrm>
            <a:off x="7726680" y="4261104"/>
            <a:ext cx="1325880" cy="640080"/>
          </a:xfrm>
          <a:prstGeom prst="rect">
            <a:avLst/>
          </a:prstGeom>
          <a:noFill/>
          <a:ln/>
        </p:spPr>
        <p:txBody>
          <a:bodyPr wrap="square" lIns="0" tIns="0" rIns="0" bIns="0" rtlCol="0" anchor="ctr"/>
          <a:lstStyle/>
          <a:p>
            <a:pPr indent="0" marL="0">
              <a:buNone/>
            </a:pPr>
            <a:r>
              <a:rPr lang="en-US" sz="2000" b="1" dirty="0">
                <a:solidFill>
                  <a:srgbClr val="16A34A"/>
                </a:solidFill>
                <a:latin typeface="Roboto" pitchFamily="34" charset="0"/>
                <a:ea typeface="Roboto" pitchFamily="34" charset="-122"/>
                <a:cs typeface="Roboto" pitchFamily="34" charset="-120"/>
              </a:rPr>
              <a:t>83.7%</a:t>
            </a:r>
            <a:endParaRPr lang="en-US" sz="2000" dirty="0"/>
          </a:p>
        </p:txBody>
      </p:sp>
      <p:sp>
        <p:nvSpPr>
          <p:cNvPr id="39" name="Text 34"/>
          <p:cNvSpPr txBox="1"/>
          <p:nvPr/>
        </p:nvSpPr>
        <p:spPr>
          <a:xfrm>
            <a:off x="9098280" y="4261104"/>
            <a:ext cx="2450592" cy="640080"/>
          </a:xfrm>
          <a:prstGeom prst="rect">
            <a:avLst/>
          </a:prstGeom>
          <a:noFill/>
          <a:ln/>
        </p:spPr>
        <p:txBody>
          <a:bodyPr wrap="square" lIns="0" tIns="0" rIns="0" bIns="0" rtlCol="0" anchor="ctr"/>
          <a:lstStyle/>
          <a:p>
            <a:pPr indent="0" marL="0">
              <a:buNone/>
            </a:pPr>
            <a:r>
              <a:rPr lang="en-US" sz="1150" b="1" dirty="0">
                <a:solidFill>
                  <a:srgbClr val="0F172A"/>
                </a:solidFill>
                <a:latin typeface="Roboto" pitchFamily="34" charset="0"/>
                <a:ea typeface="Roboto" pitchFamily="34" charset="-122"/>
                <a:cs typeface="Roboto" pitchFamily="34" charset="-120"/>
              </a:rPr>
              <a:t>Rule Authoring</a:t>
            </a:r>
            <a:endParaRPr lang="en-US" sz="1150" dirty="0"/>
          </a:p>
          <a:p>
            <a:pPr indent="0" marL="0">
              <a:buNone/>
            </a:pPr>
            <a:r>
              <a:rPr lang="en-US" sz="950" dirty="0">
                <a:solidFill>
                  <a:srgbClr val="64748B"/>
                </a:solidFill>
                <a:latin typeface="Roboto" pitchFamily="34" charset="0"/>
                <a:ea typeface="Roboto" pitchFamily="34" charset="-122"/>
                <a:cs typeface="Roboto" pitchFamily="34" charset="-120"/>
              </a:rPr>
              <a:t>77 of 92 labelled obligations drafted as rules</a:t>
            </a:r>
            <a:endParaRPr lang="en-US" sz="1150" dirty="0"/>
          </a:p>
        </p:txBody>
      </p:sp>
      <p:sp>
        <p:nvSpPr>
          <p:cNvPr id="40" name="Shape 35"/>
          <p:cNvSpPr/>
          <p:nvPr/>
        </p:nvSpPr>
        <p:spPr>
          <a:xfrm>
            <a:off x="7589520" y="4956048"/>
            <a:ext cx="4050792" cy="640080"/>
          </a:xfrm>
          <a:prstGeom prst="roundRect">
            <a:avLst>
              <a:gd name="adj" fmla="val 11429"/>
            </a:avLst>
          </a:prstGeom>
          <a:solidFill>
            <a:srgbClr val="F8FAFC"/>
          </a:solidFill>
          <a:ln w="12700">
            <a:solidFill>
              <a:srgbClr val="E2E8F0"/>
            </a:solidFill>
            <a:prstDash val="solid"/>
          </a:ln>
        </p:spPr>
      </p:sp>
      <p:sp>
        <p:nvSpPr>
          <p:cNvPr id="41" name="Text 36"/>
          <p:cNvSpPr txBox="1"/>
          <p:nvPr/>
        </p:nvSpPr>
        <p:spPr>
          <a:xfrm>
            <a:off x="7726680" y="4956048"/>
            <a:ext cx="1325880" cy="640080"/>
          </a:xfrm>
          <a:prstGeom prst="rect">
            <a:avLst/>
          </a:prstGeom>
          <a:noFill/>
          <a:ln/>
        </p:spPr>
        <p:txBody>
          <a:bodyPr wrap="square" lIns="0" tIns="0" rIns="0" bIns="0" rtlCol="0" anchor="ctr"/>
          <a:lstStyle/>
          <a:p>
            <a:pPr indent="0" marL="0">
              <a:buNone/>
            </a:pPr>
            <a:r>
              <a:rPr lang="en-US" sz="2000" b="1" dirty="0">
                <a:solidFill>
                  <a:srgbClr val="16A34A"/>
                </a:solidFill>
                <a:latin typeface="Roboto" pitchFamily="34" charset="0"/>
                <a:ea typeface="Roboto" pitchFamily="34" charset="-122"/>
                <a:cs typeface="Roboto" pitchFamily="34" charset="-120"/>
              </a:rPr>
              <a:t>79.4%</a:t>
            </a:r>
            <a:endParaRPr lang="en-US" sz="2000" dirty="0"/>
          </a:p>
        </p:txBody>
      </p:sp>
      <p:sp>
        <p:nvSpPr>
          <p:cNvPr id="42" name="Text 37"/>
          <p:cNvSpPr txBox="1"/>
          <p:nvPr/>
        </p:nvSpPr>
        <p:spPr>
          <a:xfrm>
            <a:off x="9098280" y="4956048"/>
            <a:ext cx="2450592" cy="640080"/>
          </a:xfrm>
          <a:prstGeom prst="rect">
            <a:avLst/>
          </a:prstGeom>
          <a:noFill/>
          <a:ln/>
        </p:spPr>
        <p:txBody>
          <a:bodyPr wrap="square" lIns="0" tIns="0" rIns="0" bIns="0" rtlCol="0" anchor="ctr"/>
          <a:lstStyle/>
          <a:p>
            <a:pPr indent="0" marL="0">
              <a:buNone/>
            </a:pPr>
            <a:r>
              <a:rPr lang="en-US" sz="1150" b="1" dirty="0">
                <a:solidFill>
                  <a:srgbClr val="0F172A"/>
                </a:solidFill>
                <a:latin typeface="Roboto" pitchFamily="34" charset="0"/>
                <a:ea typeface="Roboto" pitchFamily="34" charset="-122"/>
                <a:cs typeface="Roboto" pitchFamily="34" charset="-120"/>
              </a:rPr>
              <a:t>Regulatory Q&amp;A</a:t>
            </a:r>
            <a:endParaRPr lang="en-US" sz="1150" dirty="0"/>
          </a:p>
          <a:p>
            <a:pPr indent="0" marL="0">
              <a:buNone/>
            </a:pPr>
            <a:r>
              <a:rPr lang="en-US" sz="950" dirty="0">
                <a:solidFill>
                  <a:srgbClr val="64748B"/>
                </a:solidFill>
                <a:latin typeface="Roboto" pitchFamily="34" charset="0"/>
                <a:ea typeface="Roboto" pitchFamily="34" charset="-122"/>
                <a:cs typeface="Roboto" pitchFamily="34" charset="-120"/>
              </a:rPr>
              <a:t>an answering passage in the top 10</a:t>
            </a:r>
            <a:endParaRPr lang="en-US" sz="1150" dirty="0"/>
          </a:p>
        </p:txBody>
      </p:sp>
      <p:sp>
        <p:nvSpPr>
          <p:cNvPr id="43" name="Shape 38"/>
          <p:cNvSpPr/>
          <p:nvPr/>
        </p:nvSpPr>
        <p:spPr>
          <a:xfrm>
            <a:off x="7589520" y="5650992"/>
            <a:ext cx="4050792" cy="640080"/>
          </a:xfrm>
          <a:prstGeom prst="roundRect">
            <a:avLst>
              <a:gd name="adj" fmla="val 11429"/>
            </a:avLst>
          </a:prstGeom>
          <a:solidFill>
            <a:srgbClr val="F8FAFC"/>
          </a:solidFill>
          <a:ln w="12700">
            <a:solidFill>
              <a:srgbClr val="E2E8F0"/>
            </a:solidFill>
            <a:prstDash val="solid"/>
          </a:ln>
        </p:spPr>
      </p:sp>
      <p:sp>
        <p:nvSpPr>
          <p:cNvPr id="44" name="Text 39"/>
          <p:cNvSpPr txBox="1"/>
          <p:nvPr/>
        </p:nvSpPr>
        <p:spPr>
          <a:xfrm>
            <a:off x="7726680" y="5650992"/>
            <a:ext cx="1325880" cy="640080"/>
          </a:xfrm>
          <a:prstGeom prst="rect">
            <a:avLst/>
          </a:prstGeom>
          <a:noFill/>
          <a:ln/>
        </p:spPr>
        <p:txBody>
          <a:bodyPr wrap="square" lIns="0" tIns="0" rIns="0" bIns="0" rtlCol="0" anchor="ctr"/>
          <a:lstStyle/>
          <a:p>
            <a:pPr indent="0" marL="0">
              <a:buNone/>
            </a:pPr>
            <a:r>
              <a:rPr lang="en-US" sz="2000" b="1" dirty="0">
                <a:solidFill>
                  <a:srgbClr val="16A34A"/>
                </a:solidFill>
                <a:latin typeface="Roboto" pitchFamily="34" charset="0"/>
                <a:ea typeface="Roboto" pitchFamily="34" charset="-122"/>
                <a:cs typeface="Roboto" pitchFamily="34" charset="-120"/>
              </a:rPr>
              <a:t>100%</a:t>
            </a:r>
            <a:endParaRPr lang="en-US" sz="2000" dirty="0"/>
          </a:p>
        </p:txBody>
      </p:sp>
      <p:sp>
        <p:nvSpPr>
          <p:cNvPr id="45" name="Text 40"/>
          <p:cNvSpPr txBox="1"/>
          <p:nvPr/>
        </p:nvSpPr>
        <p:spPr>
          <a:xfrm>
            <a:off x="9098280" y="5650992"/>
            <a:ext cx="2450592" cy="640080"/>
          </a:xfrm>
          <a:prstGeom prst="rect">
            <a:avLst/>
          </a:prstGeom>
          <a:noFill/>
          <a:ln/>
        </p:spPr>
        <p:txBody>
          <a:bodyPr wrap="square" lIns="0" tIns="0" rIns="0" bIns="0" rtlCol="0" anchor="ctr"/>
          <a:lstStyle/>
          <a:p>
            <a:pPr indent="0" marL="0">
              <a:buNone/>
            </a:pPr>
            <a:r>
              <a:rPr lang="en-US" sz="1150" b="1" dirty="0">
                <a:solidFill>
                  <a:srgbClr val="0F172A"/>
                </a:solidFill>
                <a:latin typeface="Roboto" pitchFamily="34" charset="0"/>
                <a:ea typeface="Roboto" pitchFamily="34" charset="-122"/>
                <a:cs typeface="Roboto" pitchFamily="34" charset="-120"/>
              </a:rPr>
              <a:t>Policy Check</a:t>
            </a:r>
            <a:endParaRPr lang="en-US" sz="1150" dirty="0"/>
          </a:p>
          <a:p>
            <a:pPr indent="0" marL="0">
              <a:buNone/>
            </a:pPr>
            <a:r>
              <a:rPr lang="en-US" sz="950" dirty="0">
                <a:solidFill>
                  <a:srgbClr val="64748B"/>
                </a:solidFill>
                <a:latin typeface="Roboto" pitchFamily="34" charset="0"/>
                <a:ea typeface="Roboto" pitchFamily="34" charset="-122"/>
                <a:cs typeface="Roboto" pitchFamily="34" charset="-120"/>
              </a:rPr>
              <a:t>116,000 verdicts equal an independent check</a:t>
            </a:r>
            <a:endParaRPr lang="en-US" sz="11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8229600" cy="256032"/>
          </a:xfrm>
          <a:prstGeom prst="rect">
            <a:avLst/>
          </a:prstGeom>
          <a:noFill/>
          <a:ln/>
        </p:spPr>
        <p:txBody>
          <a:bodyPr wrap="square" lIns="0" tIns="0" rIns="0" bIns="0" rtlCol="0" anchor="ctr"/>
          <a:lstStyle/>
          <a:p>
            <a:pPr indent="0" marL="0">
              <a:buNone/>
            </a:pPr>
            <a:r>
              <a:rPr lang="en-US" sz="1100" b="1" spc="200" kern="0" dirty="0">
                <a:solidFill>
                  <a:srgbClr val="4F46E5"/>
                </a:solidFill>
                <a:latin typeface="Roboto" pitchFamily="34" charset="0"/>
                <a:ea typeface="Roboto" pitchFamily="34" charset="-122"/>
                <a:cs typeface="Roboto" pitchFamily="34" charset="-120"/>
              </a:rPr>
              <a:t>THE 29 AGENTS · UNDERWRITING CREW</a:t>
            </a:r>
            <a:endParaRPr lang="en-US" sz="1100" dirty="0"/>
          </a:p>
        </p:txBody>
      </p:sp>
      <p:sp>
        <p:nvSpPr>
          <p:cNvPr id="3" name="Text 1"/>
          <p:cNvSpPr txBox="1"/>
          <p:nvPr/>
        </p:nvSpPr>
        <p:spPr>
          <a:xfrm>
            <a:off x="548640" y="585216"/>
            <a:ext cx="11094415" cy="566928"/>
          </a:xfrm>
          <a:prstGeom prst="rect">
            <a:avLst/>
          </a:prstGeom>
          <a:noFill/>
          <a:ln/>
        </p:spPr>
        <p:txBody>
          <a:bodyPr wrap="square" lIns="0" tIns="0" rIns="0" bIns="0" rtlCol="0" anchor="ctr"/>
          <a:lstStyle/>
          <a:p>
            <a:pPr indent="0" marL="0">
              <a:buNone/>
            </a:pPr>
            <a:r>
              <a:rPr lang="en-US" sz="2800" b="1" dirty="0">
                <a:solidFill>
                  <a:srgbClr val="0F172A"/>
                </a:solidFill>
                <a:latin typeface="Roboto" pitchFamily="34" charset="0"/>
                <a:ea typeface="Roboto" pitchFamily="34" charset="-122"/>
                <a:cs typeface="Roboto" pitchFamily="34" charset="-120"/>
              </a:rPr>
              <a:t>Underwriting: from income to a drafted offer</a:t>
            </a:r>
            <a:endParaRPr lang="en-US" sz="2800" dirty="0"/>
          </a:p>
        </p:txBody>
      </p:sp>
      <p:sp>
        <p:nvSpPr>
          <p:cNvPr id="4" name="Text 2"/>
          <p:cNvSpPr txBox="1"/>
          <p:nvPr/>
        </p:nvSpPr>
        <p:spPr>
          <a:xfrm>
            <a:off x="548640" y="1152144"/>
            <a:ext cx="11094415" cy="365760"/>
          </a:xfrm>
          <a:prstGeom prst="rect">
            <a:avLst/>
          </a:prstGeom>
          <a:noFill/>
          <a:ln/>
        </p:spPr>
        <p:txBody>
          <a:bodyPr wrap="square" lIns="0" tIns="0" rIns="0" bIns="0" rtlCol="0" anchor="ctr"/>
          <a:lstStyle/>
          <a:p>
            <a:pPr indent="0" marL="0">
              <a:buNone/>
            </a:pPr>
            <a:r>
              <a:rPr lang="en-US" sz="1400" dirty="0">
                <a:solidFill>
                  <a:srgbClr val="64748B"/>
                </a:solidFill>
                <a:latin typeface="Roboto" pitchFamily="34" charset="0"/>
                <a:ea typeface="Roboto" pitchFamily="34" charset="-122"/>
                <a:cs typeface="Roboto" pitchFamily="34" charset="-120"/>
              </a:rPr>
              <a:t>One click runs the chain; the only model calls are the two agents inside the crew. About 20 seconds.</a:t>
            </a:r>
            <a:endParaRPr lang="en-US" sz="1400" dirty="0"/>
          </a:p>
        </p:txBody>
      </p:sp>
      <p:pic>
        <p:nvPicPr>
          <p:cNvPr id="5" name="Image 0" descr="C:\Users\shrey\AppData\Local\Temp\claude\D--novacinternship-finsight\ef4ecb45-e580-4bc0-9be4-060aa240a5b2\scratchpad\deck\img\logo_lockup.png">    </p:cNvPr>
          <p:cNvPicPr>
            <a:picLocks noChangeAspect="1"/>
          </p:cNvPicPr>
          <p:nvPr/>
        </p:nvPicPr>
        <p:blipFill>
          <a:blip r:embed="rId1"/>
          <a:stretch>
            <a:fillRect/>
          </a:stretch>
        </p:blipFill>
        <p:spPr>
          <a:xfrm>
            <a:off x="10360152" y="6464808"/>
            <a:ext cx="843991" cy="237744"/>
          </a:xfrm>
          <a:prstGeom prst="rect">
            <a:avLst/>
          </a:prstGeom>
        </p:spPr>
      </p:pic>
      <p:sp>
        <p:nvSpPr>
          <p:cNvPr id="6" name="Text 3"/>
          <p:cNvSpPr txBox="1"/>
          <p:nvPr/>
        </p:nvSpPr>
        <p:spPr>
          <a:xfrm>
            <a:off x="11277295" y="6473952"/>
            <a:ext cx="365760" cy="228600"/>
          </a:xfrm>
          <a:prstGeom prst="rect">
            <a:avLst/>
          </a:prstGeom>
          <a:noFill/>
          <a:ln/>
        </p:spPr>
        <p:txBody>
          <a:bodyPr wrap="square" lIns="0" tIns="0" rIns="0" bIns="0" rtlCol="0" anchor="ctr"/>
          <a:lstStyle/>
          <a:p>
            <a:pPr algn="r" indent="0" marL="0">
              <a:buNone/>
            </a:pPr>
            <a:r>
              <a:rPr lang="en-US" sz="900" dirty="0">
                <a:solidFill>
                  <a:srgbClr val="94A3B8"/>
                </a:solidFill>
                <a:latin typeface="Roboto" pitchFamily="34" charset="0"/>
                <a:ea typeface="Roboto" pitchFamily="34" charset="-122"/>
                <a:cs typeface="Roboto" pitchFamily="34" charset="-120"/>
              </a:rPr>
              <a:t>21</a:t>
            </a:r>
            <a:endParaRPr lang="en-US" sz="900" dirty="0"/>
          </a:p>
        </p:txBody>
      </p:sp>
      <p:sp>
        <p:nvSpPr>
          <p:cNvPr id="8" name="Shape 4"/>
          <p:cNvSpPr/>
          <p:nvPr/>
        </p:nvSpPr>
        <p:spPr>
          <a:xfrm>
            <a:off x="548640" y="1783080"/>
            <a:ext cx="1600200" cy="1005840"/>
          </a:xfrm>
          <a:prstGeom prst="roundRect">
            <a:avLst>
              <a:gd name="adj" fmla="val 7273"/>
            </a:avLst>
          </a:prstGeom>
          <a:solidFill>
            <a:srgbClr val="FFFBEB"/>
          </a:solidFill>
          <a:ln w="12700">
            <a:solidFill>
              <a:srgbClr val="D97706"/>
            </a:solidFill>
            <a:prstDash val="solid"/>
          </a:ln>
        </p:spPr>
      </p:sp>
      <p:sp>
        <p:nvSpPr>
          <p:cNvPr id="9" name="Text 5"/>
          <p:cNvSpPr txBox="1"/>
          <p:nvPr/>
        </p:nvSpPr>
        <p:spPr>
          <a:xfrm>
            <a:off x="621792" y="1801368"/>
            <a:ext cx="1453896" cy="969264"/>
          </a:xfrm>
          <a:prstGeom prst="rect">
            <a:avLst/>
          </a:prstGeom>
          <a:noFill/>
          <a:ln/>
        </p:spPr>
        <p:txBody>
          <a:bodyPr wrap="square" lIns="0" tIns="0" rIns="0" bIns="0" rtlCol="0" anchor="ctr"/>
          <a:lstStyle/>
          <a:p>
            <a:pPr algn="ctr" indent="0" marL="0">
              <a:spcAft>
                <a:spcPts val="200"/>
              </a:spcAft>
              <a:buNone/>
            </a:pPr>
            <a:r>
              <a:rPr lang="en-US" sz="1200" b="1" dirty="0">
                <a:solidFill>
                  <a:srgbClr val="92400E"/>
                </a:solidFill>
                <a:latin typeface="Roboto" pitchFamily="34" charset="0"/>
                <a:ea typeface="Roboto" pitchFamily="34" charset="-122"/>
                <a:cs typeface="Roboto" pitchFamily="34" charset="-120"/>
              </a:rPr>
              <a:t>#20 Income</a:t>
            </a:r>
            <a:endParaRPr lang="en-US" sz="1200" dirty="0"/>
          </a:p>
          <a:p>
            <a:pPr algn="ctr" indent="0" marL="0">
              <a:spcAft>
                <a:spcPts val="200"/>
              </a:spcAft>
              <a:buNone/>
            </a:pPr>
            <a:r>
              <a:rPr lang="en-US" sz="950" dirty="0">
                <a:solidFill>
                  <a:srgbClr val="64748B"/>
                </a:solidFill>
                <a:latin typeface="Roboto" pitchFamily="34" charset="0"/>
                <a:ea typeface="Roboto" pitchFamily="34" charset="-122"/>
                <a:cs typeface="Roboto" pitchFamily="34" charset="-120"/>
              </a:rPr>
              <a:t>payslip · ITR · bank · GST</a:t>
            </a:r>
            <a:endParaRPr lang="en-US" sz="1200" dirty="0"/>
          </a:p>
        </p:txBody>
      </p:sp>
      <p:sp>
        <p:nvSpPr>
          <p:cNvPr id="10" name="Shape 6"/>
          <p:cNvSpPr/>
          <p:nvPr/>
        </p:nvSpPr>
        <p:spPr>
          <a:xfrm>
            <a:off x="2167128" y="2286000"/>
            <a:ext cx="182880" cy="0"/>
          </a:xfrm>
          <a:prstGeom prst="line">
            <a:avLst/>
          </a:prstGeom>
          <a:noFill/>
          <a:ln w="19050">
            <a:solidFill>
              <a:srgbClr val="94A3B8"/>
            </a:solidFill>
            <a:prstDash val="solid"/>
            <a:tailEnd type="triangle"/>
          </a:ln>
        </p:spPr>
      </p:sp>
      <p:sp>
        <p:nvSpPr>
          <p:cNvPr id="11" name="Shape 7"/>
          <p:cNvSpPr/>
          <p:nvPr/>
        </p:nvSpPr>
        <p:spPr>
          <a:xfrm>
            <a:off x="2368296" y="1783080"/>
            <a:ext cx="1600200" cy="1005840"/>
          </a:xfrm>
          <a:prstGeom prst="roundRect">
            <a:avLst>
              <a:gd name="adj" fmla="val 7273"/>
            </a:avLst>
          </a:prstGeom>
          <a:solidFill>
            <a:srgbClr val="FFFBEB"/>
          </a:solidFill>
          <a:ln w="12700">
            <a:solidFill>
              <a:srgbClr val="D97706"/>
            </a:solidFill>
            <a:prstDash val="solid"/>
          </a:ln>
        </p:spPr>
      </p:sp>
      <p:sp>
        <p:nvSpPr>
          <p:cNvPr id="12" name="Text 8"/>
          <p:cNvSpPr txBox="1"/>
          <p:nvPr/>
        </p:nvSpPr>
        <p:spPr>
          <a:xfrm>
            <a:off x="2441448" y="1801368"/>
            <a:ext cx="1453896" cy="969264"/>
          </a:xfrm>
          <a:prstGeom prst="rect">
            <a:avLst/>
          </a:prstGeom>
          <a:noFill/>
          <a:ln/>
        </p:spPr>
        <p:txBody>
          <a:bodyPr wrap="square" lIns="0" tIns="0" rIns="0" bIns="0" rtlCol="0" anchor="ctr"/>
          <a:lstStyle/>
          <a:p>
            <a:pPr algn="ctr" indent="0" marL="0">
              <a:spcAft>
                <a:spcPts val="200"/>
              </a:spcAft>
              <a:buNone/>
            </a:pPr>
            <a:r>
              <a:rPr lang="en-US" sz="1200" b="1" dirty="0">
                <a:solidFill>
                  <a:srgbClr val="92400E"/>
                </a:solidFill>
                <a:latin typeface="Roboto" pitchFamily="34" charset="0"/>
                <a:ea typeface="Roboto" pitchFamily="34" charset="-122"/>
                <a:cs typeface="Roboto" pitchFamily="34" charset="-120"/>
              </a:rPr>
              <a:t>#21 Risk</a:t>
            </a:r>
            <a:endParaRPr lang="en-US" sz="1200" dirty="0"/>
          </a:p>
          <a:p>
            <a:pPr algn="ctr" indent="0" marL="0">
              <a:spcAft>
                <a:spcPts val="200"/>
              </a:spcAft>
              <a:buNone/>
            </a:pPr>
            <a:r>
              <a:rPr lang="en-US" sz="950" dirty="0">
                <a:solidFill>
                  <a:srgbClr val="64748B"/>
                </a:solidFill>
                <a:latin typeface="Roboto" pitchFamily="34" charset="0"/>
                <a:ea typeface="Roboto" pitchFamily="34" charset="-122"/>
                <a:cs typeface="Roboto" pitchFamily="34" charset="-120"/>
              </a:rPr>
              <a:t>9 dimensions + XGBoost</a:t>
            </a:r>
            <a:endParaRPr lang="en-US" sz="1200" dirty="0"/>
          </a:p>
        </p:txBody>
      </p:sp>
      <p:sp>
        <p:nvSpPr>
          <p:cNvPr id="13" name="Shape 9"/>
          <p:cNvSpPr/>
          <p:nvPr/>
        </p:nvSpPr>
        <p:spPr>
          <a:xfrm>
            <a:off x="3986784" y="2286000"/>
            <a:ext cx="182880" cy="0"/>
          </a:xfrm>
          <a:prstGeom prst="line">
            <a:avLst/>
          </a:prstGeom>
          <a:noFill/>
          <a:ln w="19050">
            <a:solidFill>
              <a:srgbClr val="94A3B8"/>
            </a:solidFill>
            <a:prstDash val="solid"/>
            <a:tailEnd type="triangle"/>
          </a:ln>
        </p:spPr>
      </p:sp>
      <p:sp>
        <p:nvSpPr>
          <p:cNvPr id="14" name="Shape 10"/>
          <p:cNvSpPr/>
          <p:nvPr/>
        </p:nvSpPr>
        <p:spPr>
          <a:xfrm>
            <a:off x="4187952" y="1600200"/>
            <a:ext cx="3200400" cy="1371600"/>
          </a:xfrm>
          <a:prstGeom prst="roundRect">
            <a:avLst>
              <a:gd name="adj" fmla="val 6667"/>
            </a:avLst>
          </a:prstGeom>
          <a:solidFill>
            <a:srgbClr val="FFFFFF"/>
          </a:solidFill>
          <a:ln w="15875">
            <a:solidFill>
              <a:srgbClr val="D97706"/>
            </a:solidFill>
            <a:prstDash val="dash"/>
          </a:ln>
        </p:spPr>
      </p:sp>
      <p:sp>
        <p:nvSpPr>
          <p:cNvPr id="15" name="Text 11"/>
          <p:cNvSpPr txBox="1"/>
          <p:nvPr/>
        </p:nvSpPr>
        <p:spPr>
          <a:xfrm>
            <a:off x="4297680" y="1627632"/>
            <a:ext cx="3017520" cy="201168"/>
          </a:xfrm>
          <a:prstGeom prst="rect">
            <a:avLst/>
          </a:prstGeom>
          <a:noFill/>
          <a:ln/>
        </p:spPr>
        <p:txBody>
          <a:bodyPr wrap="square" lIns="0" tIns="0" rIns="0" bIns="0" rtlCol="0" anchor="ctr"/>
          <a:lstStyle/>
          <a:p>
            <a:pPr indent="0" marL="0">
              <a:buNone/>
            </a:pPr>
            <a:r>
              <a:rPr lang="en-US" sz="850" b="1" spc="100" kern="0" dirty="0">
                <a:solidFill>
                  <a:srgbClr val="92400E"/>
                </a:solidFill>
                <a:latin typeface="Roboto" pitchFamily="34" charset="0"/>
                <a:ea typeface="Roboto" pitchFamily="34" charset="-122"/>
                <a:cs typeface="Roboto" pitchFamily="34" charset="-120"/>
              </a:rPr>
              <a:t>UNDERWRITING CREW · 2 LLM CALLS</a:t>
            </a:r>
            <a:endParaRPr lang="en-US" sz="850" dirty="0"/>
          </a:p>
        </p:txBody>
      </p:sp>
      <p:sp>
        <p:nvSpPr>
          <p:cNvPr id="16" name="Shape 12"/>
          <p:cNvSpPr/>
          <p:nvPr/>
        </p:nvSpPr>
        <p:spPr>
          <a:xfrm>
            <a:off x="4315968" y="1892808"/>
            <a:ext cx="1417320" cy="868680"/>
          </a:xfrm>
          <a:prstGeom prst="roundRect">
            <a:avLst>
              <a:gd name="adj" fmla="val 8421"/>
            </a:avLst>
          </a:prstGeom>
          <a:solidFill>
            <a:srgbClr val="FFFBEB"/>
          </a:solidFill>
          <a:ln w="12700">
            <a:solidFill>
              <a:srgbClr val="D97706"/>
            </a:solidFill>
            <a:prstDash val="solid"/>
          </a:ln>
        </p:spPr>
      </p:sp>
      <p:sp>
        <p:nvSpPr>
          <p:cNvPr id="17" name="Text 13"/>
          <p:cNvSpPr txBox="1"/>
          <p:nvPr/>
        </p:nvSpPr>
        <p:spPr>
          <a:xfrm>
            <a:off x="4389120" y="1911096"/>
            <a:ext cx="1271016" cy="832104"/>
          </a:xfrm>
          <a:prstGeom prst="rect">
            <a:avLst/>
          </a:prstGeom>
          <a:noFill/>
          <a:ln/>
        </p:spPr>
        <p:txBody>
          <a:bodyPr wrap="square" lIns="0" tIns="0" rIns="0" bIns="0" rtlCol="0" anchor="ctr"/>
          <a:lstStyle/>
          <a:p>
            <a:pPr algn="ctr" indent="0" marL="0">
              <a:spcAft>
                <a:spcPts val="200"/>
              </a:spcAft>
              <a:buNone/>
            </a:pPr>
            <a:r>
              <a:rPr lang="en-US" sz="1100" b="1" dirty="0">
                <a:solidFill>
                  <a:srgbClr val="92400E"/>
                </a:solidFill>
                <a:latin typeface="Roboto" pitchFamily="34" charset="0"/>
                <a:ea typeface="Roboto" pitchFamily="34" charset="-122"/>
                <a:cs typeface="Roboto" pitchFamily="34" charset="-120"/>
              </a:rPr>
              <a:t>#23 Supervisor</a:t>
            </a:r>
            <a:endParaRPr lang="en-US" sz="1100" dirty="0"/>
          </a:p>
          <a:p>
            <a:pPr algn="ctr" indent="0" marL="0">
              <a:spcAft>
                <a:spcPts val="200"/>
              </a:spcAft>
              <a:buNone/>
            </a:pPr>
            <a:r>
              <a:rPr lang="en-US" sz="950" dirty="0">
                <a:solidFill>
                  <a:srgbClr val="64748B"/>
                </a:solidFill>
                <a:latin typeface="Roboto" pitchFamily="34" charset="0"/>
                <a:ea typeface="Roboto" pitchFamily="34" charset="-122"/>
                <a:cs typeface="Roboto" pitchFamily="34" charset="-120"/>
              </a:rPr>
              <a:t>tighten-only</a:t>
            </a:r>
            <a:endParaRPr lang="en-US" sz="1100" dirty="0"/>
          </a:p>
        </p:txBody>
      </p:sp>
      <p:sp>
        <p:nvSpPr>
          <p:cNvPr id="18" name="Shape 14"/>
          <p:cNvSpPr/>
          <p:nvPr/>
        </p:nvSpPr>
        <p:spPr>
          <a:xfrm>
            <a:off x="5852160" y="1892808"/>
            <a:ext cx="1417320" cy="868680"/>
          </a:xfrm>
          <a:prstGeom prst="roundRect">
            <a:avLst>
              <a:gd name="adj" fmla="val 8421"/>
            </a:avLst>
          </a:prstGeom>
          <a:solidFill>
            <a:srgbClr val="FFFBEB"/>
          </a:solidFill>
          <a:ln w="12700">
            <a:solidFill>
              <a:srgbClr val="D97706"/>
            </a:solidFill>
            <a:prstDash val="solid"/>
          </a:ln>
        </p:spPr>
      </p:sp>
      <p:sp>
        <p:nvSpPr>
          <p:cNvPr id="19" name="Text 15"/>
          <p:cNvSpPr txBox="1"/>
          <p:nvPr/>
        </p:nvSpPr>
        <p:spPr>
          <a:xfrm>
            <a:off x="5925312" y="1911096"/>
            <a:ext cx="1271016" cy="832104"/>
          </a:xfrm>
          <a:prstGeom prst="rect">
            <a:avLst/>
          </a:prstGeom>
          <a:noFill/>
          <a:ln/>
        </p:spPr>
        <p:txBody>
          <a:bodyPr wrap="square" lIns="0" tIns="0" rIns="0" bIns="0" rtlCol="0" anchor="ctr"/>
          <a:lstStyle/>
          <a:p>
            <a:pPr algn="ctr" indent="0" marL="0">
              <a:spcAft>
                <a:spcPts val="200"/>
              </a:spcAft>
              <a:buNone/>
            </a:pPr>
            <a:r>
              <a:rPr lang="en-US" sz="1100" b="1" dirty="0">
                <a:solidFill>
                  <a:srgbClr val="92400E"/>
                </a:solidFill>
                <a:latin typeface="Roboto" pitchFamily="34" charset="0"/>
                <a:ea typeface="Roboto" pitchFamily="34" charset="-122"/>
                <a:cs typeface="Roboto" pitchFamily="34" charset="-120"/>
              </a:rPr>
              <a:t>#22 Credit Memo</a:t>
            </a:r>
            <a:endParaRPr lang="en-US" sz="1100" dirty="0"/>
          </a:p>
          <a:p>
            <a:pPr algn="ctr" indent="0" marL="0">
              <a:spcAft>
                <a:spcPts val="200"/>
              </a:spcAft>
              <a:buNone/>
            </a:pPr>
            <a:r>
              <a:rPr lang="en-US" sz="950" dirty="0">
                <a:solidFill>
                  <a:srgbClr val="64748B"/>
                </a:solidFill>
                <a:latin typeface="Roboto" pitchFamily="34" charset="0"/>
                <a:ea typeface="Roboto" pitchFamily="34" charset="-122"/>
                <a:cs typeface="Roboto" pitchFamily="34" charset="-120"/>
              </a:rPr>
              <a:t>grounded</a:t>
            </a:r>
            <a:endParaRPr lang="en-US" sz="1100" dirty="0"/>
          </a:p>
        </p:txBody>
      </p:sp>
      <p:sp>
        <p:nvSpPr>
          <p:cNvPr id="20" name="Shape 16"/>
          <p:cNvSpPr/>
          <p:nvPr/>
        </p:nvSpPr>
        <p:spPr>
          <a:xfrm>
            <a:off x="7406640" y="2286000"/>
            <a:ext cx="182880" cy="0"/>
          </a:xfrm>
          <a:prstGeom prst="line">
            <a:avLst/>
          </a:prstGeom>
          <a:noFill/>
          <a:ln w="19050">
            <a:solidFill>
              <a:srgbClr val="94A3B8"/>
            </a:solidFill>
            <a:prstDash val="solid"/>
            <a:tailEnd type="triangle"/>
          </a:ln>
        </p:spPr>
      </p:sp>
      <p:sp>
        <p:nvSpPr>
          <p:cNvPr id="21" name="Shape 17"/>
          <p:cNvSpPr/>
          <p:nvPr/>
        </p:nvSpPr>
        <p:spPr>
          <a:xfrm>
            <a:off x="7607808" y="1783080"/>
            <a:ext cx="1280160" cy="1005840"/>
          </a:xfrm>
          <a:prstGeom prst="roundRect">
            <a:avLst>
              <a:gd name="adj" fmla="val 7273"/>
            </a:avLst>
          </a:prstGeom>
          <a:solidFill>
            <a:srgbClr val="FFFBEB"/>
          </a:solidFill>
          <a:ln w="12700">
            <a:solidFill>
              <a:srgbClr val="D97706"/>
            </a:solidFill>
            <a:prstDash val="solid"/>
          </a:ln>
        </p:spPr>
      </p:sp>
      <p:sp>
        <p:nvSpPr>
          <p:cNvPr id="22" name="Text 18"/>
          <p:cNvSpPr txBox="1"/>
          <p:nvPr/>
        </p:nvSpPr>
        <p:spPr>
          <a:xfrm>
            <a:off x="7680960" y="1801368"/>
            <a:ext cx="1133856" cy="969264"/>
          </a:xfrm>
          <a:prstGeom prst="rect">
            <a:avLst/>
          </a:prstGeom>
          <a:noFill/>
          <a:ln/>
        </p:spPr>
        <p:txBody>
          <a:bodyPr wrap="square" lIns="0" tIns="0" rIns="0" bIns="0" rtlCol="0" anchor="ctr"/>
          <a:lstStyle/>
          <a:p>
            <a:pPr algn="ctr" indent="0" marL="0">
              <a:spcAft>
                <a:spcPts val="200"/>
              </a:spcAft>
              <a:buNone/>
            </a:pPr>
            <a:r>
              <a:rPr lang="en-US" sz="1200" b="1" dirty="0">
                <a:solidFill>
                  <a:srgbClr val="92400E"/>
                </a:solidFill>
                <a:latin typeface="Roboto" pitchFamily="34" charset="0"/>
                <a:ea typeface="Roboto" pitchFamily="34" charset="-122"/>
                <a:cs typeface="Roboto" pitchFamily="34" charset="-120"/>
              </a:rPr>
              <a:t>#24 Offer</a:t>
            </a:r>
            <a:endParaRPr lang="en-US" sz="1200" dirty="0"/>
          </a:p>
          <a:p>
            <a:pPr algn="ctr" indent="0" marL="0">
              <a:spcAft>
                <a:spcPts val="200"/>
              </a:spcAft>
              <a:buNone/>
            </a:pPr>
            <a:r>
              <a:rPr lang="en-US" sz="950" dirty="0">
                <a:solidFill>
                  <a:srgbClr val="64748B"/>
                </a:solidFill>
                <a:latin typeface="Roboto" pitchFamily="34" charset="0"/>
                <a:ea typeface="Roboto" pitchFamily="34" charset="-122"/>
                <a:cs typeface="Roboto" pitchFamily="34" charset="-120"/>
              </a:rPr>
              <a:t>rate · EMI</a:t>
            </a:r>
            <a:endParaRPr lang="en-US" sz="1200" dirty="0"/>
          </a:p>
        </p:txBody>
      </p:sp>
      <p:sp>
        <p:nvSpPr>
          <p:cNvPr id="23" name="Shape 19"/>
          <p:cNvSpPr/>
          <p:nvPr/>
        </p:nvSpPr>
        <p:spPr>
          <a:xfrm>
            <a:off x="8906256" y="2286000"/>
            <a:ext cx="182880" cy="0"/>
          </a:xfrm>
          <a:prstGeom prst="line">
            <a:avLst/>
          </a:prstGeom>
          <a:noFill/>
          <a:ln w="19050">
            <a:solidFill>
              <a:srgbClr val="94A3B8"/>
            </a:solidFill>
            <a:prstDash val="solid"/>
            <a:tailEnd type="triangle"/>
          </a:ln>
        </p:spPr>
      </p:sp>
      <p:sp>
        <p:nvSpPr>
          <p:cNvPr id="24" name="Shape 20"/>
          <p:cNvSpPr/>
          <p:nvPr/>
        </p:nvSpPr>
        <p:spPr>
          <a:xfrm>
            <a:off x="9107424" y="1783080"/>
            <a:ext cx="1280160" cy="1005840"/>
          </a:xfrm>
          <a:prstGeom prst="roundRect">
            <a:avLst>
              <a:gd name="adj" fmla="val 7273"/>
            </a:avLst>
          </a:prstGeom>
          <a:solidFill>
            <a:srgbClr val="FFFBEB"/>
          </a:solidFill>
          <a:ln w="12700">
            <a:solidFill>
              <a:srgbClr val="D97706"/>
            </a:solidFill>
            <a:prstDash val="solid"/>
          </a:ln>
        </p:spPr>
      </p:sp>
      <p:sp>
        <p:nvSpPr>
          <p:cNvPr id="25" name="Text 21"/>
          <p:cNvSpPr txBox="1"/>
          <p:nvPr/>
        </p:nvSpPr>
        <p:spPr>
          <a:xfrm>
            <a:off x="9180576" y="1801368"/>
            <a:ext cx="1133856" cy="969264"/>
          </a:xfrm>
          <a:prstGeom prst="rect">
            <a:avLst/>
          </a:prstGeom>
          <a:noFill/>
          <a:ln/>
        </p:spPr>
        <p:txBody>
          <a:bodyPr wrap="square" lIns="0" tIns="0" rIns="0" bIns="0" rtlCol="0" anchor="ctr"/>
          <a:lstStyle/>
          <a:p>
            <a:pPr algn="ctr" indent="0" marL="0">
              <a:spcAft>
                <a:spcPts val="200"/>
              </a:spcAft>
              <a:buNone/>
            </a:pPr>
            <a:r>
              <a:rPr lang="en-US" sz="1200" b="1" dirty="0">
                <a:solidFill>
                  <a:srgbClr val="92400E"/>
                </a:solidFill>
                <a:latin typeface="Roboto" pitchFamily="34" charset="0"/>
                <a:ea typeface="Roboto" pitchFamily="34" charset="-122"/>
                <a:cs typeface="Roboto" pitchFamily="34" charset="-120"/>
              </a:rPr>
              <a:t>#25 Router</a:t>
            </a:r>
            <a:endParaRPr lang="en-US" sz="1200" dirty="0"/>
          </a:p>
          <a:p>
            <a:pPr algn="ctr" indent="0" marL="0">
              <a:spcAft>
                <a:spcPts val="200"/>
              </a:spcAft>
              <a:buNone/>
            </a:pPr>
            <a:r>
              <a:rPr lang="en-US" sz="950" dirty="0">
                <a:solidFill>
                  <a:srgbClr val="64748B"/>
                </a:solidFill>
                <a:latin typeface="Roboto" pitchFamily="34" charset="0"/>
                <a:ea typeface="Roboto" pitchFamily="34" charset="-122"/>
                <a:cs typeface="Roboto" pitchFamily="34" charset="-120"/>
              </a:rPr>
              <a:t>next step + owner</a:t>
            </a:r>
            <a:endParaRPr lang="en-US" sz="1200" dirty="0"/>
          </a:p>
        </p:txBody>
      </p:sp>
      <p:sp>
        <p:nvSpPr>
          <p:cNvPr id="26" name="Shape 22"/>
          <p:cNvSpPr/>
          <p:nvPr/>
        </p:nvSpPr>
        <p:spPr>
          <a:xfrm>
            <a:off x="10405872" y="2286000"/>
            <a:ext cx="182880" cy="0"/>
          </a:xfrm>
          <a:prstGeom prst="line">
            <a:avLst/>
          </a:prstGeom>
          <a:noFill/>
          <a:ln w="19050">
            <a:solidFill>
              <a:srgbClr val="94A3B8"/>
            </a:solidFill>
            <a:prstDash val="solid"/>
            <a:tailEnd type="triangle"/>
          </a:ln>
        </p:spPr>
      </p:sp>
      <p:sp>
        <p:nvSpPr>
          <p:cNvPr id="27" name="Shape 23"/>
          <p:cNvSpPr/>
          <p:nvPr/>
        </p:nvSpPr>
        <p:spPr>
          <a:xfrm>
            <a:off x="10607040" y="1783080"/>
            <a:ext cx="1033272" cy="1005840"/>
          </a:xfrm>
          <a:prstGeom prst="roundRect">
            <a:avLst>
              <a:gd name="adj" fmla="val 7273"/>
            </a:avLst>
          </a:prstGeom>
          <a:solidFill>
            <a:srgbClr val="F5F3FF"/>
          </a:solidFill>
          <a:ln w="12700">
            <a:solidFill>
              <a:srgbClr val="7C3AED"/>
            </a:solidFill>
            <a:prstDash val="solid"/>
          </a:ln>
        </p:spPr>
      </p:sp>
      <p:sp>
        <p:nvSpPr>
          <p:cNvPr id="28" name="Text 24"/>
          <p:cNvSpPr txBox="1"/>
          <p:nvPr/>
        </p:nvSpPr>
        <p:spPr>
          <a:xfrm>
            <a:off x="10680192" y="1801368"/>
            <a:ext cx="886968" cy="969264"/>
          </a:xfrm>
          <a:prstGeom prst="rect">
            <a:avLst/>
          </a:prstGeom>
          <a:noFill/>
          <a:ln/>
        </p:spPr>
        <p:txBody>
          <a:bodyPr wrap="square" lIns="0" tIns="0" rIns="0" bIns="0" rtlCol="0" anchor="ctr"/>
          <a:lstStyle/>
          <a:p>
            <a:pPr algn="ctr" indent="0" marL="0">
              <a:spcAft>
                <a:spcPts val="200"/>
              </a:spcAft>
              <a:buNone/>
            </a:pPr>
            <a:r>
              <a:rPr lang="en-US" sz="1200" b="1" dirty="0">
                <a:solidFill>
                  <a:srgbClr val="7C3AED"/>
                </a:solidFill>
                <a:latin typeface="Roboto" pitchFamily="34" charset="0"/>
                <a:ea typeface="Roboto" pitchFamily="34" charset="-122"/>
                <a:cs typeface="Roboto" pitchFamily="34" charset="-120"/>
              </a:rPr>
              <a:t>#26 Notifier</a:t>
            </a:r>
            <a:endParaRPr lang="en-US" sz="1200" dirty="0"/>
          </a:p>
          <a:p>
            <a:pPr algn="ctr" indent="0" marL="0">
              <a:spcAft>
                <a:spcPts val="200"/>
              </a:spcAft>
              <a:buNone/>
            </a:pPr>
            <a:r>
              <a:rPr lang="en-US" sz="950" dirty="0">
                <a:solidFill>
                  <a:srgbClr val="64748B"/>
                </a:solidFill>
                <a:latin typeface="Roboto" pitchFamily="34" charset="0"/>
                <a:ea typeface="Roboto" pitchFamily="34" charset="-122"/>
                <a:cs typeface="Roboto" pitchFamily="34" charset="-120"/>
              </a:rPr>
              <a:t>in-app</a:t>
            </a:r>
            <a:endParaRPr lang="en-US" sz="1200" dirty="0"/>
          </a:p>
        </p:txBody>
      </p:sp>
      <p:sp>
        <p:nvSpPr>
          <p:cNvPr id="29" name="Shape 25"/>
          <p:cNvSpPr/>
          <p:nvPr/>
        </p:nvSpPr>
        <p:spPr>
          <a:xfrm>
            <a:off x="548640" y="3246120"/>
            <a:ext cx="5343664" cy="3154680"/>
          </a:xfrm>
          <a:prstGeom prst="roundRect">
            <a:avLst>
              <a:gd name="adj" fmla="val 2029"/>
            </a:avLst>
          </a:prstGeom>
          <a:solidFill>
            <a:srgbClr val="1E293B"/>
          </a:solidFill>
          <a:ln w="12700">
            <a:solidFill>
              <a:srgbClr val="1E293B"/>
            </a:solidFill>
            <a:prstDash val="solid"/>
          </a:ln>
          <a:effectLst>
            <a:outerShdw sx="100000" sy="100000" kx="0" ky="0" algn="bl" rotWithShape="0" blurRad="127000" dist="25400" dir="5400000">
              <a:srgbClr val="0F172A">
                <a:alpha val="12000"/>
              </a:srgbClr>
            </a:outerShdw>
          </a:effectLst>
        </p:spPr>
      </p:sp>
      <p:sp>
        <p:nvSpPr>
          <p:cNvPr id="30" name="Shape 26"/>
          <p:cNvSpPr/>
          <p:nvPr/>
        </p:nvSpPr>
        <p:spPr>
          <a:xfrm>
            <a:off x="667512" y="3323844"/>
            <a:ext cx="82296" cy="82296"/>
          </a:xfrm>
          <a:prstGeom prst="ellipse">
            <a:avLst/>
          </a:prstGeom>
          <a:solidFill>
            <a:srgbClr val="F87171"/>
          </a:solidFill>
          <a:ln w="12700">
            <a:solidFill>
              <a:srgbClr val="F87171"/>
            </a:solidFill>
            <a:prstDash val="solid"/>
          </a:ln>
        </p:spPr>
      </p:sp>
      <p:sp>
        <p:nvSpPr>
          <p:cNvPr id="31" name="Shape 27"/>
          <p:cNvSpPr/>
          <p:nvPr/>
        </p:nvSpPr>
        <p:spPr>
          <a:xfrm>
            <a:off x="804672" y="3323844"/>
            <a:ext cx="82296" cy="82296"/>
          </a:xfrm>
          <a:prstGeom prst="ellipse">
            <a:avLst/>
          </a:prstGeom>
          <a:solidFill>
            <a:srgbClr val="FBBF24"/>
          </a:solidFill>
          <a:ln w="12700">
            <a:solidFill>
              <a:srgbClr val="FBBF24"/>
            </a:solidFill>
            <a:prstDash val="solid"/>
          </a:ln>
        </p:spPr>
      </p:sp>
      <p:sp>
        <p:nvSpPr>
          <p:cNvPr id="32" name="Shape 28"/>
          <p:cNvSpPr/>
          <p:nvPr/>
        </p:nvSpPr>
        <p:spPr>
          <a:xfrm>
            <a:off x="941832" y="3323844"/>
            <a:ext cx="82296" cy="82296"/>
          </a:xfrm>
          <a:prstGeom prst="ellipse">
            <a:avLst/>
          </a:prstGeom>
          <a:solidFill>
            <a:srgbClr val="34D399"/>
          </a:solidFill>
          <a:ln w="12700">
            <a:solidFill>
              <a:srgbClr val="34D399"/>
            </a:solidFill>
            <a:prstDash val="solid"/>
          </a:ln>
        </p:spPr>
      </p:sp>
      <p:pic>
        <p:nvPicPr>
          <p:cNvPr id="33" name="Image 1" descr="C:\Users\shrey\AppData\Local\Temp\claude\D--novacinternship-finsight\ef4ecb45-e580-4bc0-9be4-060aa240a5b2\scratchpad\deck\img\memo_top.png">    </p:cNvPr>
          <p:cNvPicPr>
            <a:picLocks noChangeAspect="1"/>
          </p:cNvPicPr>
          <p:nvPr/>
        </p:nvPicPr>
        <p:blipFill>
          <a:blip r:embed="rId2"/>
          <a:stretch>
            <a:fillRect/>
          </a:stretch>
        </p:blipFill>
        <p:spPr>
          <a:xfrm>
            <a:off x="594360" y="3483864"/>
            <a:ext cx="5252224" cy="2871216"/>
          </a:xfrm>
          <a:prstGeom prst="rect">
            <a:avLst/>
          </a:prstGeom>
        </p:spPr>
      </p:pic>
      <p:sp>
        <p:nvSpPr>
          <p:cNvPr id="34" name="Shape 29"/>
          <p:cNvSpPr/>
          <p:nvPr/>
        </p:nvSpPr>
        <p:spPr>
          <a:xfrm>
            <a:off x="7132320" y="3246120"/>
            <a:ext cx="4507992" cy="713232"/>
          </a:xfrm>
          <a:prstGeom prst="roundRect">
            <a:avLst>
              <a:gd name="adj" fmla="val 10256"/>
            </a:avLst>
          </a:prstGeom>
          <a:solidFill>
            <a:srgbClr val="F8FAFC"/>
          </a:solidFill>
          <a:ln w="12700">
            <a:solidFill>
              <a:srgbClr val="E2E8F0"/>
            </a:solidFill>
            <a:prstDash val="solid"/>
          </a:ln>
        </p:spPr>
      </p:sp>
      <p:sp>
        <p:nvSpPr>
          <p:cNvPr id="35" name="Text 30"/>
          <p:cNvSpPr txBox="1"/>
          <p:nvPr/>
        </p:nvSpPr>
        <p:spPr>
          <a:xfrm>
            <a:off x="7269480" y="3246120"/>
            <a:ext cx="1325880" cy="713232"/>
          </a:xfrm>
          <a:prstGeom prst="rect">
            <a:avLst/>
          </a:prstGeom>
          <a:noFill/>
          <a:ln/>
        </p:spPr>
        <p:txBody>
          <a:bodyPr wrap="square" lIns="0" tIns="0" rIns="0" bIns="0" rtlCol="0" anchor="ctr"/>
          <a:lstStyle/>
          <a:p>
            <a:pPr indent="0" marL="0">
              <a:buNone/>
            </a:pPr>
            <a:r>
              <a:rPr lang="en-US" sz="2000" b="1" dirty="0">
                <a:solidFill>
                  <a:srgbClr val="16A34A"/>
                </a:solidFill>
                <a:latin typeface="Roboto" pitchFamily="34" charset="0"/>
                <a:ea typeface="Roboto" pitchFamily="34" charset="-122"/>
                <a:cs typeface="Roboto" pitchFamily="34" charset="-120"/>
              </a:rPr>
              <a:t>F1 1.00</a:t>
            </a:r>
            <a:endParaRPr lang="en-US" sz="2000" dirty="0"/>
          </a:p>
        </p:txBody>
      </p:sp>
      <p:sp>
        <p:nvSpPr>
          <p:cNvPr id="36" name="Text 31"/>
          <p:cNvSpPr txBox="1"/>
          <p:nvPr/>
        </p:nvSpPr>
        <p:spPr>
          <a:xfrm>
            <a:off x="8641080" y="3246120"/>
            <a:ext cx="2907792" cy="713232"/>
          </a:xfrm>
          <a:prstGeom prst="rect">
            <a:avLst/>
          </a:prstGeom>
          <a:noFill/>
          <a:ln/>
        </p:spPr>
        <p:txBody>
          <a:bodyPr wrap="square" lIns="0" tIns="0" rIns="0" bIns="0" rtlCol="0" anchor="ctr"/>
          <a:lstStyle/>
          <a:p>
            <a:pPr indent="0" marL="0">
              <a:buNone/>
            </a:pPr>
            <a:r>
              <a:rPr lang="en-US" sz="1150" b="1" dirty="0">
                <a:solidFill>
                  <a:srgbClr val="0F172A"/>
                </a:solidFill>
                <a:latin typeface="Roboto" pitchFamily="34" charset="0"/>
                <a:ea typeface="Roboto" pitchFamily="34" charset="-122"/>
                <a:cs typeface="Roboto" pitchFamily="34" charset="-120"/>
              </a:rPr>
              <a:t>Income Analysis</a:t>
            </a:r>
            <a:endParaRPr lang="en-US" sz="1150" dirty="0"/>
          </a:p>
          <a:p>
            <a:pPr indent="0" marL="0">
              <a:buNone/>
            </a:pPr>
            <a:r>
              <a:rPr lang="en-US" sz="950" dirty="0">
                <a:solidFill>
                  <a:srgbClr val="64748B"/>
                </a:solidFill>
                <a:latin typeface="Roboto" pitchFamily="34" charset="0"/>
                <a:ea typeface="Roboto" pitchFamily="34" charset="-122"/>
                <a:cs typeface="Roboto" pitchFamily="34" charset="-120"/>
              </a:rPr>
              <a:t>inflated income flagged on 400 real account histories</a:t>
            </a:r>
            <a:endParaRPr lang="en-US" sz="1150" dirty="0"/>
          </a:p>
        </p:txBody>
      </p:sp>
      <p:sp>
        <p:nvSpPr>
          <p:cNvPr id="37" name="Shape 32"/>
          <p:cNvSpPr/>
          <p:nvPr/>
        </p:nvSpPr>
        <p:spPr>
          <a:xfrm>
            <a:off x="7132320" y="4005072"/>
            <a:ext cx="4507992" cy="713232"/>
          </a:xfrm>
          <a:prstGeom prst="roundRect">
            <a:avLst>
              <a:gd name="adj" fmla="val 10256"/>
            </a:avLst>
          </a:prstGeom>
          <a:solidFill>
            <a:srgbClr val="F8FAFC"/>
          </a:solidFill>
          <a:ln w="12700">
            <a:solidFill>
              <a:srgbClr val="E2E8F0"/>
            </a:solidFill>
            <a:prstDash val="solid"/>
          </a:ln>
        </p:spPr>
      </p:sp>
      <p:sp>
        <p:nvSpPr>
          <p:cNvPr id="38" name="Text 33"/>
          <p:cNvSpPr txBox="1"/>
          <p:nvPr/>
        </p:nvSpPr>
        <p:spPr>
          <a:xfrm>
            <a:off x="7269480" y="4005072"/>
            <a:ext cx="1325880" cy="713232"/>
          </a:xfrm>
          <a:prstGeom prst="rect">
            <a:avLst/>
          </a:prstGeom>
          <a:noFill/>
          <a:ln/>
        </p:spPr>
        <p:txBody>
          <a:bodyPr wrap="square" lIns="0" tIns="0" rIns="0" bIns="0" rtlCol="0" anchor="ctr"/>
          <a:lstStyle/>
          <a:p>
            <a:pPr indent="0" marL="0">
              <a:buNone/>
            </a:pPr>
            <a:r>
              <a:rPr lang="en-US" sz="2000" b="1" dirty="0">
                <a:solidFill>
                  <a:srgbClr val="16A34A"/>
                </a:solidFill>
                <a:latin typeface="Roboto" pitchFamily="34" charset="0"/>
                <a:ea typeface="Roboto" pitchFamily="34" charset="-122"/>
                <a:cs typeface="Roboto" pitchFamily="34" charset="-120"/>
              </a:rPr>
              <a:t>100%</a:t>
            </a:r>
            <a:endParaRPr lang="en-US" sz="2000" dirty="0"/>
          </a:p>
        </p:txBody>
      </p:sp>
      <p:sp>
        <p:nvSpPr>
          <p:cNvPr id="39" name="Text 34"/>
          <p:cNvSpPr txBox="1"/>
          <p:nvPr/>
        </p:nvSpPr>
        <p:spPr>
          <a:xfrm>
            <a:off x="8641080" y="4005072"/>
            <a:ext cx="2907792" cy="713232"/>
          </a:xfrm>
          <a:prstGeom prst="rect">
            <a:avLst/>
          </a:prstGeom>
          <a:noFill/>
          <a:ln/>
        </p:spPr>
        <p:txBody>
          <a:bodyPr wrap="square" lIns="0" tIns="0" rIns="0" bIns="0" rtlCol="0" anchor="ctr"/>
          <a:lstStyle/>
          <a:p>
            <a:pPr indent="0" marL="0">
              <a:buNone/>
            </a:pPr>
            <a:r>
              <a:rPr lang="en-US" sz="1150" b="1" dirty="0">
                <a:solidFill>
                  <a:srgbClr val="0F172A"/>
                </a:solidFill>
                <a:latin typeface="Roboto" pitchFamily="34" charset="0"/>
                <a:ea typeface="Roboto" pitchFamily="34" charset="-122"/>
                <a:cs typeface="Roboto" pitchFamily="34" charset="-120"/>
              </a:rPr>
              <a:t>Credit Memo</a:t>
            </a:r>
            <a:endParaRPr lang="en-US" sz="1150" dirty="0"/>
          </a:p>
          <a:p>
            <a:pPr indent="0" marL="0">
              <a:buNone/>
            </a:pPr>
            <a:r>
              <a:rPr lang="en-US" sz="950" dirty="0">
                <a:solidFill>
                  <a:srgbClr val="64748B"/>
                </a:solidFill>
                <a:latin typeface="Roboto" pitchFamily="34" charset="0"/>
                <a:ea typeface="Roboto" pitchFamily="34" charset="-122"/>
                <a:cs typeface="Roboto" pitchFamily="34" charset="-120"/>
              </a:rPr>
              <a:t>120 memos on real loans cite only real figures</a:t>
            </a:r>
            <a:endParaRPr lang="en-US" sz="1150" dirty="0"/>
          </a:p>
        </p:txBody>
      </p:sp>
      <p:sp>
        <p:nvSpPr>
          <p:cNvPr id="40" name="Shape 35"/>
          <p:cNvSpPr/>
          <p:nvPr/>
        </p:nvSpPr>
        <p:spPr>
          <a:xfrm>
            <a:off x="7132320" y="4764024"/>
            <a:ext cx="4507992" cy="713232"/>
          </a:xfrm>
          <a:prstGeom prst="roundRect">
            <a:avLst>
              <a:gd name="adj" fmla="val 10256"/>
            </a:avLst>
          </a:prstGeom>
          <a:solidFill>
            <a:srgbClr val="F8FAFC"/>
          </a:solidFill>
          <a:ln w="12700">
            <a:solidFill>
              <a:srgbClr val="E2E8F0"/>
            </a:solidFill>
            <a:prstDash val="solid"/>
          </a:ln>
        </p:spPr>
      </p:sp>
      <p:sp>
        <p:nvSpPr>
          <p:cNvPr id="41" name="Text 36"/>
          <p:cNvSpPr txBox="1"/>
          <p:nvPr/>
        </p:nvSpPr>
        <p:spPr>
          <a:xfrm>
            <a:off x="7269480" y="4764024"/>
            <a:ext cx="1325880" cy="713232"/>
          </a:xfrm>
          <a:prstGeom prst="rect">
            <a:avLst/>
          </a:prstGeom>
          <a:noFill/>
          <a:ln/>
        </p:spPr>
        <p:txBody>
          <a:bodyPr wrap="square" lIns="0" tIns="0" rIns="0" bIns="0" rtlCol="0" anchor="ctr"/>
          <a:lstStyle/>
          <a:p>
            <a:pPr indent="0" marL="0">
              <a:buNone/>
            </a:pPr>
            <a:r>
              <a:rPr lang="en-US" sz="2000" b="1" dirty="0">
                <a:solidFill>
                  <a:srgbClr val="16A34A"/>
                </a:solidFill>
                <a:latin typeface="Roboto" pitchFamily="34" charset="0"/>
                <a:ea typeface="Roboto" pitchFamily="34" charset="-122"/>
                <a:cs typeface="Roboto" pitchFamily="34" charset="-120"/>
              </a:rPr>
              <a:t>0.72×</a:t>
            </a:r>
            <a:endParaRPr lang="en-US" sz="2000" dirty="0"/>
          </a:p>
        </p:txBody>
      </p:sp>
      <p:sp>
        <p:nvSpPr>
          <p:cNvPr id="42" name="Text 37"/>
          <p:cNvSpPr txBox="1"/>
          <p:nvPr/>
        </p:nvSpPr>
        <p:spPr>
          <a:xfrm>
            <a:off x="8641080" y="4764024"/>
            <a:ext cx="2907792" cy="713232"/>
          </a:xfrm>
          <a:prstGeom prst="rect">
            <a:avLst/>
          </a:prstGeom>
          <a:noFill/>
          <a:ln/>
        </p:spPr>
        <p:txBody>
          <a:bodyPr wrap="square" lIns="0" tIns="0" rIns="0" bIns="0" rtlCol="0" anchor="ctr"/>
          <a:lstStyle/>
          <a:p>
            <a:pPr indent="0" marL="0">
              <a:buNone/>
            </a:pPr>
            <a:r>
              <a:rPr lang="en-US" sz="1150" b="1" dirty="0">
                <a:solidFill>
                  <a:srgbClr val="0F172A"/>
                </a:solidFill>
                <a:latin typeface="Roboto" pitchFamily="34" charset="0"/>
                <a:ea typeface="Roboto" pitchFamily="34" charset="-122"/>
                <a:cs typeface="Roboto" pitchFamily="34" charset="-120"/>
              </a:rPr>
              <a:t>Supervisor</a:t>
            </a:r>
            <a:endParaRPr lang="en-US" sz="1150" dirty="0"/>
          </a:p>
          <a:p>
            <a:pPr indent="0" marL="0">
              <a:buNone/>
            </a:pPr>
            <a:r>
              <a:rPr lang="en-US" sz="950" dirty="0">
                <a:solidFill>
                  <a:srgbClr val="64748B"/>
                </a:solidFill>
                <a:latin typeface="Roboto" pitchFamily="34" charset="0"/>
                <a:ea typeface="Roboto" pitchFamily="34" charset="-122"/>
                <a:cs typeface="Roboto" pitchFamily="34" charset="-120"/>
              </a:rPr>
              <a:t>defaults among loans it would approve vs all loans</a:t>
            </a:r>
            <a:endParaRPr lang="en-US" sz="1150" dirty="0"/>
          </a:p>
        </p:txBody>
      </p:sp>
      <p:sp>
        <p:nvSpPr>
          <p:cNvPr id="43" name="Shape 38"/>
          <p:cNvSpPr/>
          <p:nvPr/>
        </p:nvSpPr>
        <p:spPr>
          <a:xfrm>
            <a:off x="7132320" y="5522976"/>
            <a:ext cx="4507992" cy="713232"/>
          </a:xfrm>
          <a:prstGeom prst="roundRect">
            <a:avLst>
              <a:gd name="adj" fmla="val 10256"/>
            </a:avLst>
          </a:prstGeom>
          <a:solidFill>
            <a:srgbClr val="F8FAFC"/>
          </a:solidFill>
          <a:ln w="12700">
            <a:solidFill>
              <a:srgbClr val="E2E8F0"/>
            </a:solidFill>
            <a:prstDash val="solid"/>
          </a:ln>
        </p:spPr>
      </p:sp>
      <p:sp>
        <p:nvSpPr>
          <p:cNvPr id="44" name="Text 39"/>
          <p:cNvSpPr txBox="1"/>
          <p:nvPr/>
        </p:nvSpPr>
        <p:spPr>
          <a:xfrm>
            <a:off x="7269480" y="5522976"/>
            <a:ext cx="1325880" cy="713232"/>
          </a:xfrm>
          <a:prstGeom prst="rect">
            <a:avLst/>
          </a:prstGeom>
          <a:noFill/>
          <a:ln/>
        </p:spPr>
        <p:txBody>
          <a:bodyPr wrap="square" lIns="0" tIns="0" rIns="0" bIns="0" rtlCol="0" anchor="ctr"/>
          <a:lstStyle/>
          <a:p>
            <a:pPr indent="0" marL="0">
              <a:buNone/>
            </a:pPr>
            <a:r>
              <a:rPr lang="en-US" sz="2000" b="1" dirty="0">
                <a:solidFill>
                  <a:srgbClr val="16A34A"/>
                </a:solidFill>
                <a:latin typeface="Roboto" pitchFamily="34" charset="0"/>
                <a:ea typeface="Roboto" pitchFamily="34" charset="-122"/>
                <a:cs typeface="Roboto" pitchFamily="34" charset="-120"/>
              </a:rPr>
              <a:t>100%</a:t>
            </a:r>
            <a:endParaRPr lang="en-US" sz="2000" dirty="0"/>
          </a:p>
        </p:txBody>
      </p:sp>
      <p:sp>
        <p:nvSpPr>
          <p:cNvPr id="45" name="Text 40"/>
          <p:cNvSpPr txBox="1"/>
          <p:nvPr/>
        </p:nvSpPr>
        <p:spPr>
          <a:xfrm>
            <a:off x="8641080" y="5522976"/>
            <a:ext cx="2907792" cy="713232"/>
          </a:xfrm>
          <a:prstGeom prst="rect">
            <a:avLst/>
          </a:prstGeom>
          <a:noFill/>
          <a:ln/>
        </p:spPr>
        <p:txBody>
          <a:bodyPr wrap="square" lIns="0" tIns="0" rIns="0" bIns="0" rtlCol="0" anchor="ctr"/>
          <a:lstStyle/>
          <a:p>
            <a:pPr indent="0" marL="0">
              <a:buNone/>
            </a:pPr>
            <a:r>
              <a:rPr lang="en-US" sz="1150" b="1" dirty="0">
                <a:solidFill>
                  <a:srgbClr val="0F172A"/>
                </a:solidFill>
                <a:latin typeface="Roboto" pitchFamily="34" charset="0"/>
                <a:ea typeface="Roboto" pitchFamily="34" charset="-122"/>
                <a:cs typeface="Roboto" pitchFamily="34" charset="-120"/>
              </a:rPr>
              <a:t>Offer · Router</a:t>
            </a:r>
            <a:endParaRPr lang="en-US" sz="1150" dirty="0"/>
          </a:p>
          <a:p>
            <a:pPr indent="0" marL="0">
              <a:buNone/>
            </a:pPr>
            <a:r>
              <a:rPr lang="en-US" sz="950" dirty="0">
                <a:solidFill>
                  <a:srgbClr val="64748B"/>
                </a:solidFill>
                <a:latin typeface="Roboto" pitchFamily="34" charset="0"/>
                <a:ea typeface="Roboto" pitchFamily="34" charset="-122"/>
                <a:cs typeface="Roboto" pitchFamily="34" charset="-120"/>
              </a:rPr>
              <a:t>EMI = formula (2,000 offers) · 147 status moves</a:t>
            </a:r>
            <a:endParaRPr lang="en-US" sz="11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8229600" cy="256032"/>
          </a:xfrm>
          <a:prstGeom prst="rect">
            <a:avLst/>
          </a:prstGeom>
          <a:noFill/>
          <a:ln/>
        </p:spPr>
        <p:txBody>
          <a:bodyPr wrap="square" lIns="0" tIns="0" rIns="0" bIns="0" rtlCol="0" anchor="ctr"/>
          <a:lstStyle/>
          <a:p>
            <a:pPr indent="0" marL="0">
              <a:buNone/>
            </a:pPr>
            <a:r>
              <a:rPr lang="en-US" sz="1100" b="1" spc="200" kern="0" dirty="0">
                <a:solidFill>
                  <a:srgbClr val="4F46E5"/>
                </a:solidFill>
                <a:latin typeface="Roboto" pitchFamily="34" charset="0"/>
                <a:ea typeface="Roboto" pitchFamily="34" charset="-122"/>
                <a:cs typeface="Roboto" pitchFamily="34" charset="-120"/>
              </a:rPr>
              <a:t>THE 29 AGENTS · UNDERWRITING CREW</a:t>
            </a:r>
            <a:endParaRPr lang="en-US" sz="1100" dirty="0"/>
          </a:p>
        </p:txBody>
      </p:sp>
      <p:sp>
        <p:nvSpPr>
          <p:cNvPr id="3" name="Text 1"/>
          <p:cNvSpPr txBox="1"/>
          <p:nvPr/>
        </p:nvSpPr>
        <p:spPr>
          <a:xfrm>
            <a:off x="548640" y="585216"/>
            <a:ext cx="11094415" cy="566928"/>
          </a:xfrm>
          <a:prstGeom prst="rect">
            <a:avLst/>
          </a:prstGeom>
          <a:noFill/>
          <a:ln/>
        </p:spPr>
        <p:txBody>
          <a:bodyPr wrap="square" lIns="0" tIns="0" rIns="0" bIns="0" rtlCol="0" anchor="ctr"/>
          <a:lstStyle/>
          <a:p>
            <a:pPr indent="0" marL="0">
              <a:buNone/>
            </a:pPr>
            <a:r>
              <a:rPr lang="en-US" sz="2800" b="1" dirty="0">
                <a:solidFill>
                  <a:srgbClr val="0F172A"/>
                </a:solidFill>
                <a:latin typeface="Roboto" pitchFamily="34" charset="0"/>
                <a:ea typeface="Roboto" pitchFamily="34" charset="-122"/>
                <a:cs typeface="Roboto" pitchFamily="34" charset="-120"/>
              </a:rPr>
              <a:t>Risk Scoring: nine dimensions plus a machine-learning check</a:t>
            </a:r>
            <a:endParaRPr lang="en-US" sz="2800" dirty="0"/>
          </a:p>
        </p:txBody>
      </p:sp>
      <p:sp>
        <p:nvSpPr>
          <p:cNvPr id="4" name="Text 2"/>
          <p:cNvSpPr txBox="1"/>
          <p:nvPr/>
        </p:nvSpPr>
        <p:spPr>
          <a:xfrm>
            <a:off x="548640" y="1152144"/>
            <a:ext cx="11094415" cy="365760"/>
          </a:xfrm>
          <a:prstGeom prst="rect">
            <a:avLst/>
          </a:prstGeom>
          <a:noFill/>
          <a:ln/>
        </p:spPr>
        <p:txBody>
          <a:bodyPr wrap="square" lIns="0" tIns="0" rIns="0" bIns="0" rtlCol="0" anchor="ctr"/>
          <a:lstStyle/>
          <a:p>
            <a:pPr indent="0" marL="0">
              <a:buNone/>
            </a:pPr>
            <a:r>
              <a:rPr lang="en-US" sz="1400" dirty="0">
                <a:solidFill>
                  <a:srgbClr val="64748B"/>
                </a:solidFill>
                <a:latin typeface="Roboto" pitchFamily="34" charset="0"/>
                <a:ea typeface="Roboto" pitchFamily="34" charset="-122"/>
                <a:cs typeface="Roboto" pitchFamily="34" charset="-120"/>
              </a:rPr>
              <a:t>A 12 × 9 weight matrix (one row per product) gives the grade; a trained default model adjusts it within ±25 points.</a:t>
            </a:r>
            <a:endParaRPr lang="en-US" sz="1400" dirty="0"/>
          </a:p>
        </p:txBody>
      </p:sp>
      <p:pic>
        <p:nvPicPr>
          <p:cNvPr id="5" name="Image 0" descr="C:\Users\shrey\AppData\Local\Temp\claude\D--novacinternship-finsight\ef4ecb45-e580-4bc0-9be4-060aa240a5b2\scratchpad\deck\img\logo_lockup.png">    </p:cNvPr>
          <p:cNvPicPr>
            <a:picLocks noChangeAspect="1"/>
          </p:cNvPicPr>
          <p:nvPr/>
        </p:nvPicPr>
        <p:blipFill>
          <a:blip r:embed="rId1"/>
          <a:stretch>
            <a:fillRect/>
          </a:stretch>
        </p:blipFill>
        <p:spPr>
          <a:xfrm>
            <a:off x="10360152" y="6464808"/>
            <a:ext cx="843991" cy="237744"/>
          </a:xfrm>
          <a:prstGeom prst="rect">
            <a:avLst/>
          </a:prstGeom>
        </p:spPr>
      </p:pic>
      <p:sp>
        <p:nvSpPr>
          <p:cNvPr id="6" name="Text 3"/>
          <p:cNvSpPr txBox="1"/>
          <p:nvPr/>
        </p:nvSpPr>
        <p:spPr>
          <a:xfrm>
            <a:off x="11277295" y="6473952"/>
            <a:ext cx="365760" cy="228600"/>
          </a:xfrm>
          <a:prstGeom prst="rect">
            <a:avLst/>
          </a:prstGeom>
          <a:noFill/>
          <a:ln/>
        </p:spPr>
        <p:txBody>
          <a:bodyPr wrap="square" lIns="0" tIns="0" rIns="0" bIns="0" rtlCol="0" anchor="ctr"/>
          <a:lstStyle/>
          <a:p>
            <a:pPr algn="r" indent="0" marL="0">
              <a:buNone/>
            </a:pPr>
            <a:r>
              <a:rPr lang="en-US" sz="900" dirty="0">
                <a:solidFill>
                  <a:srgbClr val="94A3B8"/>
                </a:solidFill>
                <a:latin typeface="Roboto" pitchFamily="34" charset="0"/>
                <a:ea typeface="Roboto" pitchFamily="34" charset="-122"/>
                <a:cs typeface="Roboto" pitchFamily="34" charset="-120"/>
              </a:rPr>
              <a:t>22</a:t>
            </a:r>
            <a:endParaRPr lang="en-US" sz="900" dirty="0"/>
          </a:p>
        </p:txBody>
      </p:sp>
      <p:graphicFrame>
        <p:nvGraphicFramePr>
          <p:cNvPr id="8" name="Chart 0" descr=""/>
          <p:cNvGraphicFramePr/>
          <p:nvPr/>
        </p:nvGraphicFramePr>
        <p:xfrm>
          <a:off x="548640" y="1691640"/>
          <a:ext cx="4846320" cy="3246120"/>
        </p:xfrm>
        <a:graphic xmlns:a="http://schemas.openxmlformats.org/drawingml/2006/main">
          <a:graphicData uri="http://schemas.openxmlformats.org/drawingml/2006/chart">
            <c:chart xmlns:c="http://schemas.openxmlformats.org/drawingml/2006/chart" r:id="rId2"/>
          </a:graphicData>
        </a:graphic>
      </p:graphicFrame>
      <p:sp>
        <p:nvSpPr>
          <p:cNvPr id="9" name="Shape 4"/>
          <p:cNvSpPr/>
          <p:nvPr/>
        </p:nvSpPr>
        <p:spPr>
          <a:xfrm>
            <a:off x="548640" y="5074920"/>
            <a:ext cx="2331720" cy="1234440"/>
          </a:xfrm>
          <a:prstGeom prst="roundRect">
            <a:avLst>
              <a:gd name="adj" fmla="val 7407"/>
            </a:avLst>
          </a:prstGeom>
          <a:solidFill>
            <a:srgbClr val="F8FAFC"/>
          </a:solidFill>
          <a:ln w="12700">
            <a:solidFill>
              <a:srgbClr val="E2E8F0"/>
            </a:solidFill>
            <a:prstDash val="solid"/>
          </a:ln>
        </p:spPr>
      </p:sp>
      <p:sp>
        <p:nvSpPr>
          <p:cNvPr id="10" name="Text 5"/>
          <p:cNvSpPr txBox="1"/>
          <p:nvPr/>
        </p:nvSpPr>
        <p:spPr>
          <a:xfrm>
            <a:off x="685800" y="5074920"/>
            <a:ext cx="2103120" cy="1234440"/>
          </a:xfrm>
          <a:prstGeom prst="rect">
            <a:avLst/>
          </a:prstGeom>
          <a:noFill/>
          <a:ln/>
        </p:spPr>
        <p:txBody>
          <a:bodyPr wrap="square" lIns="0" tIns="0" rIns="0" bIns="0" rtlCol="0" anchor="ctr"/>
          <a:lstStyle/>
          <a:p>
            <a:pPr indent="0" marL="0">
              <a:buNone/>
            </a:pPr>
            <a:r>
              <a:rPr lang="en-US" sz="1900" b="1" dirty="0">
                <a:solidFill>
                  <a:srgbClr val="16A34A"/>
                </a:solidFill>
                <a:latin typeface="Roboto" pitchFamily="34" charset="0"/>
                <a:ea typeface="Roboto" pitchFamily="34" charset="-122"/>
                <a:cs typeface="Roboto" pitchFamily="34" charset="-120"/>
              </a:rPr>
              <a:t>66% → 83%</a:t>
            </a:r>
            <a:endParaRPr lang="en-US" sz="1900" dirty="0"/>
          </a:p>
          <a:p>
            <a:pPr indent="0" marL="0">
              <a:buNone/>
            </a:pPr>
            <a:r>
              <a:rPr lang="en-US" sz="950" dirty="0">
                <a:solidFill>
                  <a:srgbClr val="64748B"/>
                </a:solidFill>
                <a:latin typeface="Roboto" pitchFamily="34" charset="0"/>
                <a:ea typeface="Roboto" pitchFamily="34" charset="-122"/>
                <a:cs typeface="Roboto" pitchFamily="34" charset="-120"/>
              </a:rPr>
              <a:t>of a trained model's skill on 5,000 real two-wheeler loans (target ≥ 75%)</a:t>
            </a:r>
            <a:endParaRPr lang="en-US" sz="1900" dirty="0"/>
          </a:p>
        </p:txBody>
      </p:sp>
      <p:sp>
        <p:nvSpPr>
          <p:cNvPr id="11" name="Shape 6"/>
          <p:cNvSpPr/>
          <p:nvPr/>
        </p:nvSpPr>
        <p:spPr>
          <a:xfrm>
            <a:off x="3017520" y="5074920"/>
            <a:ext cx="2377440" cy="1234440"/>
          </a:xfrm>
          <a:prstGeom prst="roundRect">
            <a:avLst>
              <a:gd name="adj" fmla="val 7407"/>
            </a:avLst>
          </a:prstGeom>
          <a:solidFill>
            <a:srgbClr val="F8FAFC"/>
          </a:solidFill>
          <a:ln w="12700">
            <a:solidFill>
              <a:srgbClr val="E2E8F0"/>
            </a:solidFill>
            <a:prstDash val="solid"/>
          </a:ln>
        </p:spPr>
      </p:sp>
      <p:sp>
        <p:nvSpPr>
          <p:cNvPr id="12" name="Text 7"/>
          <p:cNvSpPr txBox="1"/>
          <p:nvPr/>
        </p:nvSpPr>
        <p:spPr>
          <a:xfrm>
            <a:off x="3154680" y="5074920"/>
            <a:ext cx="2148840" cy="1234440"/>
          </a:xfrm>
          <a:prstGeom prst="rect">
            <a:avLst/>
          </a:prstGeom>
          <a:noFill/>
          <a:ln/>
        </p:spPr>
        <p:txBody>
          <a:bodyPr wrap="square" lIns="0" tIns="0" rIns="0" bIns="0" rtlCol="0" anchor="ctr"/>
          <a:lstStyle/>
          <a:p>
            <a:pPr indent="0" marL="0">
              <a:buNone/>
            </a:pPr>
            <a:r>
              <a:rPr lang="en-US" sz="1900" b="1" dirty="0">
                <a:solidFill>
                  <a:srgbClr val="16A34A"/>
                </a:solidFill>
                <a:latin typeface="Roboto" pitchFamily="34" charset="0"/>
                <a:ea typeface="Roboto" pitchFamily="34" charset="-122"/>
                <a:cs typeface="Roboto" pitchFamily="34" charset="-120"/>
              </a:rPr>
              <a:t>0 of 750</a:t>
            </a:r>
            <a:endParaRPr lang="en-US" sz="1900" dirty="0"/>
          </a:p>
          <a:p>
            <a:pPr indent="0" marL="0">
              <a:buNone/>
            </a:pPr>
            <a:r>
              <a:rPr lang="en-US" sz="950" dirty="0">
                <a:solidFill>
                  <a:srgbClr val="64748B"/>
                </a:solidFill>
                <a:latin typeface="Roboto" pitchFamily="34" charset="0"/>
                <a:ea typeface="Roboto" pitchFamily="34" charset="-122"/>
                <a:cs typeface="Roboto" pitchFamily="34" charset="-120"/>
              </a:rPr>
              <a:t>checks where a worse input lowered the risk score</a:t>
            </a:r>
            <a:endParaRPr lang="en-US" sz="1900" dirty="0"/>
          </a:p>
        </p:txBody>
      </p:sp>
      <p:sp>
        <p:nvSpPr>
          <p:cNvPr id="13" name="Shape 8"/>
          <p:cNvSpPr/>
          <p:nvPr/>
        </p:nvSpPr>
        <p:spPr>
          <a:xfrm>
            <a:off x="5669280" y="1737360"/>
            <a:ext cx="5971032" cy="3535175"/>
          </a:xfrm>
          <a:prstGeom prst="roundRect">
            <a:avLst>
              <a:gd name="adj" fmla="val 1811"/>
            </a:avLst>
          </a:prstGeom>
          <a:solidFill>
            <a:srgbClr val="1E293B"/>
          </a:solidFill>
          <a:ln w="12700">
            <a:solidFill>
              <a:srgbClr val="1E293B"/>
            </a:solidFill>
            <a:prstDash val="solid"/>
          </a:ln>
          <a:effectLst>
            <a:outerShdw sx="100000" sy="100000" kx="0" ky="0" algn="bl" rotWithShape="0" blurRad="127000" dist="25400" dir="5400000">
              <a:srgbClr val="0F172A">
                <a:alpha val="12000"/>
              </a:srgbClr>
            </a:outerShdw>
          </a:effectLst>
        </p:spPr>
      </p:sp>
      <p:sp>
        <p:nvSpPr>
          <p:cNvPr id="14" name="Shape 9"/>
          <p:cNvSpPr/>
          <p:nvPr/>
        </p:nvSpPr>
        <p:spPr>
          <a:xfrm>
            <a:off x="5788152" y="1815084"/>
            <a:ext cx="82296" cy="82296"/>
          </a:xfrm>
          <a:prstGeom prst="ellipse">
            <a:avLst/>
          </a:prstGeom>
          <a:solidFill>
            <a:srgbClr val="F87171"/>
          </a:solidFill>
          <a:ln w="12700">
            <a:solidFill>
              <a:srgbClr val="F87171"/>
            </a:solidFill>
            <a:prstDash val="solid"/>
          </a:ln>
        </p:spPr>
      </p:sp>
      <p:sp>
        <p:nvSpPr>
          <p:cNvPr id="15" name="Shape 10"/>
          <p:cNvSpPr/>
          <p:nvPr/>
        </p:nvSpPr>
        <p:spPr>
          <a:xfrm>
            <a:off x="5925312" y="1815084"/>
            <a:ext cx="82296" cy="82296"/>
          </a:xfrm>
          <a:prstGeom prst="ellipse">
            <a:avLst/>
          </a:prstGeom>
          <a:solidFill>
            <a:srgbClr val="FBBF24"/>
          </a:solidFill>
          <a:ln w="12700">
            <a:solidFill>
              <a:srgbClr val="FBBF24"/>
            </a:solidFill>
            <a:prstDash val="solid"/>
          </a:ln>
        </p:spPr>
      </p:sp>
      <p:sp>
        <p:nvSpPr>
          <p:cNvPr id="16" name="Shape 11"/>
          <p:cNvSpPr/>
          <p:nvPr/>
        </p:nvSpPr>
        <p:spPr>
          <a:xfrm>
            <a:off x="6062472" y="1815084"/>
            <a:ext cx="82296" cy="82296"/>
          </a:xfrm>
          <a:prstGeom prst="ellipse">
            <a:avLst/>
          </a:prstGeom>
          <a:solidFill>
            <a:srgbClr val="34D399"/>
          </a:solidFill>
          <a:ln w="12700">
            <a:solidFill>
              <a:srgbClr val="34D399"/>
            </a:solidFill>
            <a:prstDash val="solid"/>
          </a:ln>
        </p:spPr>
      </p:sp>
      <p:pic>
        <p:nvPicPr>
          <p:cNvPr id="17" name="Image 1" descr="C:\Users\shrey\AppData\Local\Temp\claude\D--novacinternship-finsight\ef4ecb45-e580-4bc0-9be4-060aa240a5b2\scratchpad\deck\img\risk.png">    </p:cNvPr>
          <p:cNvPicPr>
            <a:picLocks noChangeAspect="1"/>
          </p:cNvPicPr>
          <p:nvPr/>
        </p:nvPicPr>
        <p:blipFill>
          <a:blip r:embed="rId3"/>
          <a:stretch>
            <a:fillRect/>
          </a:stretch>
        </p:blipFill>
        <p:spPr>
          <a:xfrm>
            <a:off x="5715000" y="1975104"/>
            <a:ext cx="5879592" cy="3251711"/>
          </a:xfrm>
          <a:prstGeom prst="rect">
            <a:avLst/>
          </a:prstGeom>
        </p:spPr>
      </p:pic>
      <p:sp>
        <p:nvSpPr>
          <p:cNvPr id="18" name="Text 12"/>
          <p:cNvSpPr txBox="1"/>
          <p:nvPr/>
        </p:nvSpPr>
        <p:spPr>
          <a:xfrm>
            <a:off x="5669280" y="5382263"/>
            <a:ext cx="5971032" cy="274320"/>
          </a:xfrm>
          <a:prstGeom prst="rect">
            <a:avLst/>
          </a:prstGeom>
          <a:noFill/>
          <a:ln/>
        </p:spPr>
        <p:txBody>
          <a:bodyPr wrap="square" lIns="0" tIns="0" rIns="0" bIns="0" rtlCol="0" anchor="ctr"/>
          <a:lstStyle/>
          <a:p>
            <a:pPr indent="0" marL="0">
              <a:buNone/>
            </a:pPr>
            <a:r>
              <a:rPr lang="en-US" sz="1050" i="1" dirty="0">
                <a:solidFill>
                  <a:srgbClr val="64748B"/>
                </a:solidFill>
                <a:latin typeface="Roboto" pitchFamily="34" charset="0"/>
                <a:ea typeface="Roboto" pitchFamily="34" charset="-122"/>
                <a:cs typeface="Roboto" pitchFamily="34" charset="-120"/>
              </a:rPr>
              <a:t>Application › Risk Analysis: agent score, ML default probability and what drives each.</a:t>
            </a:r>
            <a:endParaRPr lang="en-US" sz="10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8229600" cy="256032"/>
          </a:xfrm>
          <a:prstGeom prst="rect">
            <a:avLst/>
          </a:prstGeom>
          <a:noFill/>
          <a:ln/>
        </p:spPr>
        <p:txBody>
          <a:bodyPr wrap="square" lIns="0" tIns="0" rIns="0" bIns="0" rtlCol="0" anchor="ctr"/>
          <a:lstStyle/>
          <a:p>
            <a:pPr indent="0" marL="0">
              <a:buNone/>
            </a:pPr>
            <a:r>
              <a:rPr lang="en-US" sz="1100" b="1" spc="200" kern="0" dirty="0">
                <a:solidFill>
                  <a:srgbClr val="4F46E5"/>
                </a:solidFill>
                <a:latin typeface="Roboto" pitchFamily="34" charset="0"/>
                <a:ea typeface="Roboto" pitchFamily="34" charset="-122"/>
                <a:cs typeface="Roboto" pitchFamily="34" charset="-120"/>
              </a:rPr>
              <a:t>THE 29 AGENTS · OPERATIONS CREW</a:t>
            </a:r>
            <a:endParaRPr lang="en-US" sz="1100" dirty="0"/>
          </a:p>
        </p:txBody>
      </p:sp>
      <p:sp>
        <p:nvSpPr>
          <p:cNvPr id="3" name="Text 1"/>
          <p:cNvSpPr txBox="1"/>
          <p:nvPr/>
        </p:nvSpPr>
        <p:spPr>
          <a:xfrm>
            <a:off x="548640" y="585216"/>
            <a:ext cx="11094415" cy="566928"/>
          </a:xfrm>
          <a:prstGeom prst="rect">
            <a:avLst/>
          </a:prstGeom>
          <a:noFill/>
          <a:ln/>
        </p:spPr>
        <p:txBody>
          <a:bodyPr wrap="square" lIns="0" tIns="0" rIns="0" bIns="0" rtlCol="0" anchor="ctr"/>
          <a:lstStyle/>
          <a:p>
            <a:pPr indent="0" marL="0">
              <a:buNone/>
            </a:pPr>
            <a:r>
              <a:rPr lang="en-US" sz="2800" b="1" dirty="0">
                <a:solidFill>
                  <a:srgbClr val="0F172A"/>
                </a:solidFill>
                <a:latin typeface="Roboto" pitchFamily="34" charset="0"/>
                <a:ea typeface="Roboto" pitchFamily="34" charset="-122"/>
                <a:cs typeface="Roboto" pitchFamily="34" charset="-120"/>
              </a:rPr>
              <a:t>Operations: notify, keep the record, watch the process</a:t>
            </a:r>
            <a:endParaRPr lang="en-US" sz="2800" dirty="0"/>
          </a:p>
        </p:txBody>
      </p:sp>
      <p:sp>
        <p:nvSpPr>
          <p:cNvPr id="4" name="Text 2"/>
          <p:cNvSpPr txBox="1"/>
          <p:nvPr/>
        </p:nvSpPr>
        <p:spPr>
          <a:xfrm>
            <a:off x="548640" y="1152144"/>
            <a:ext cx="11094415" cy="365760"/>
          </a:xfrm>
          <a:prstGeom prst="rect">
            <a:avLst/>
          </a:prstGeom>
          <a:noFill/>
          <a:ln/>
        </p:spPr>
        <p:txBody>
          <a:bodyPr wrap="square" lIns="0" tIns="0" rIns="0" bIns="0" rtlCol="0" anchor="ctr"/>
          <a:lstStyle/>
          <a:p>
            <a:pPr indent="0" marL="0">
              <a:buNone/>
            </a:pPr>
            <a:r>
              <a:rPr lang="en-US" sz="1400" dirty="0">
                <a:solidFill>
                  <a:srgbClr val="64748B"/>
                </a:solidFill>
                <a:latin typeface="Roboto" pitchFamily="34" charset="0"/>
                <a:ea typeface="Roboto" pitchFamily="34" charset="-122"/>
                <a:cs typeface="Roboto" pitchFamily="34" charset="-120"/>
              </a:rPr>
              <a:t>Three back-office agents. None of them can send anything outside the app.</a:t>
            </a:r>
            <a:endParaRPr lang="en-US" sz="1400" dirty="0"/>
          </a:p>
        </p:txBody>
      </p:sp>
      <p:pic>
        <p:nvPicPr>
          <p:cNvPr id="5" name="Image 0" descr="C:\Users\shrey\AppData\Local\Temp\claude\D--novacinternship-finsight\ef4ecb45-e580-4bc0-9be4-060aa240a5b2\scratchpad\deck\img\logo_lockup.png">    </p:cNvPr>
          <p:cNvPicPr>
            <a:picLocks noChangeAspect="1"/>
          </p:cNvPicPr>
          <p:nvPr/>
        </p:nvPicPr>
        <p:blipFill>
          <a:blip r:embed="rId1"/>
          <a:stretch>
            <a:fillRect/>
          </a:stretch>
        </p:blipFill>
        <p:spPr>
          <a:xfrm>
            <a:off x="10360152" y="6464808"/>
            <a:ext cx="843991" cy="237744"/>
          </a:xfrm>
          <a:prstGeom prst="rect">
            <a:avLst/>
          </a:prstGeom>
        </p:spPr>
      </p:pic>
      <p:sp>
        <p:nvSpPr>
          <p:cNvPr id="6" name="Text 3"/>
          <p:cNvSpPr txBox="1"/>
          <p:nvPr/>
        </p:nvSpPr>
        <p:spPr>
          <a:xfrm>
            <a:off x="11277295" y="6473952"/>
            <a:ext cx="365760" cy="228600"/>
          </a:xfrm>
          <a:prstGeom prst="rect">
            <a:avLst/>
          </a:prstGeom>
          <a:noFill/>
          <a:ln/>
        </p:spPr>
        <p:txBody>
          <a:bodyPr wrap="square" lIns="0" tIns="0" rIns="0" bIns="0" rtlCol="0" anchor="ctr"/>
          <a:lstStyle/>
          <a:p>
            <a:pPr algn="r" indent="0" marL="0">
              <a:buNone/>
            </a:pPr>
            <a:r>
              <a:rPr lang="en-US" sz="900" dirty="0">
                <a:solidFill>
                  <a:srgbClr val="94A3B8"/>
                </a:solidFill>
                <a:latin typeface="Roboto" pitchFamily="34" charset="0"/>
                <a:ea typeface="Roboto" pitchFamily="34" charset="-122"/>
                <a:cs typeface="Roboto" pitchFamily="34" charset="-120"/>
              </a:rPr>
              <a:t>23</a:t>
            </a:r>
            <a:endParaRPr lang="en-US" sz="900" dirty="0"/>
          </a:p>
        </p:txBody>
      </p:sp>
      <p:sp>
        <p:nvSpPr>
          <p:cNvPr id="8" name="Shape 4"/>
          <p:cNvSpPr/>
          <p:nvPr/>
        </p:nvSpPr>
        <p:spPr>
          <a:xfrm>
            <a:off x="548640" y="1783080"/>
            <a:ext cx="5120640" cy="1371600"/>
          </a:xfrm>
          <a:prstGeom prst="roundRect">
            <a:avLst>
              <a:gd name="adj" fmla="val 6667"/>
            </a:avLst>
          </a:prstGeom>
          <a:solidFill>
            <a:srgbClr val="F5F3FF"/>
          </a:solidFill>
          <a:ln w="12700">
            <a:solidFill>
              <a:srgbClr val="DDD6FE"/>
            </a:solidFill>
            <a:prstDash val="solid"/>
          </a:ln>
        </p:spPr>
      </p:sp>
      <p:sp>
        <p:nvSpPr>
          <p:cNvPr id="9" name="Shape 5"/>
          <p:cNvSpPr/>
          <p:nvPr/>
        </p:nvSpPr>
        <p:spPr>
          <a:xfrm>
            <a:off x="749808" y="2011680"/>
            <a:ext cx="548640" cy="548640"/>
          </a:xfrm>
          <a:prstGeom prst="ellipse">
            <a:avLst/>
          </a:prstGeom>
          <a:solidFill>
            <a:srgbClr val="FFFFFF"/>
          </a:solidFill>
          <a:ln w="12700">
            <a:solidFill>
              <a:srgbClr val="FFFFFF"/>
            </a:solidFill>
            <a:prstDash val="solid"/>
          </a:ln>
        </p:spPr>
      </p:sp>
      <p:pic>
        <p:nvPicPr>
          <p:cNvPr id="10" name="Image 1" descr="preencoded.png">    </p:cNvPr>
          <p:cNvPicPr>
            <a:picLocks noChangeAspect="1"/>
          </p:cNvPicPr>
          <p:nvPr/>
        </p:nvPicPr>
        <p:blipFill>
          <a:blip r:embed="rId2"/>
          <a:stretch>
            <a:fillRect/>
          </a:stretch>
        </p:blipFill>
        <p:spPr>
          <a:xfrm>
            <a:off x="870509" y="2132381"/>
            <a:ext cx="307238" cy="307238"/>
          </a:xfrm>
          <a:prstGeom prst="rect">
            <a:avLst/>
          </a:prstGeom>
        </p:spPr>
      </p:pic>
      <p:sp>
        <p:nvSpPr>
          <p:cNvPr id="11" name="Text 6"/>
          <p:cNvSpPr txBox="1"/>
          <p:nvPr/>
        </p:nvSpPr>
        <p:spPr>
          <a:xfrm>
            <a:off x="1463040" y="1874520"/>
            <a:ext cx="4069080" cy="1188720"/>
          </a:xfrm>
          <a:prstGeom prst="rect">
            <a:avLst/>
          </a:prstGeom>
          <a:noFill/>
          <a:ln/>
        </p:spPr>
        <p:txBody>
          <a:bodyPr wrap="square" lIns="0" tIns="0" rIns="0" bIns="0" rtlCol="0" anchor="ctr"/>
          <a:lstStyle/>
          <a:p>
            <a:pPr indent="0" marL="0">
              <a:spcAft>
                <a:spcPts val="300"/>
              </a:spcAft>
              <a:buNone/>
            </a:pPr>
            <a:r>
              <a:rPr lang="en-US" sz="1350" b="1" dirty="0">
                <a:solidFill>
                  <a:srgbClr val="0F172A"/>
                </a:solidFill>
                <a:latin typeface="Roboto" pitchFamily="34" charset="0"/>
                <a:ea typeface="Roboto" pitchFamily="34" charset="-122"/>
                <a:cs typeface="Roboto" pitchFamily="34" charset="-120"/>
              </a:rPr>
              <a:t>#26 Notifier</a:t>
            </a:r>
            <a:endParaRPr lang="en-US" sz="1350" dirty="0"/>
          </a:p>
          <a:p>
            <a:pPr indent="0" marL="0">
              <a:spcAft>
                <a:spcPts val="300"/>
              </a:spcAft>
              <a:buNone/>
            </a:pPr>
            <a:r>
              <a:rPr lang="en-US" sz="1100" dirty="0">
                <a:solidFill>
                  <a:srgbClr val="334155"/>
                </a:solidFill>
                <a:latin typeface="Roboto" pitchFamily="34" charset="0"/>
                <a:ea typeface="Roboto" pitchFamily="34" charset="-122"/>
                <a:cs typeface="Roboto" pitchFamily="34" charset="-120"/>
              </a:rPr>
              <a:t>Drafts notification rows from templates for borrower, officer and head.</a:t>
            </a:r>
            <a:endParaRPr lang="en-US" sz="1350" dirty="0"/>
          </a:p>
          <a:p>
            <a:pPr indent="0" marL="0">
              <a:spcAft>
                <a:spcPts val="300"/>
              </a:spcAft>
              <a:buNone/>
            </a:pPr>
            <a:r>
              <a:rPr lang="en-US" sz="1000" b="1" dirty="0">
                <a:solidFill>
                  <a:srgbClr val="16A34A"/>
                </a:solidFill>
                <a:latin typeface="Roboto" pitchFamily="34" charset="0"/>
                <a:ea typeface="Roboto" pitchFamily="34" charset="-122"/>
                <a:cs typeface="Roboto" pitchFamily="34" charset="-120"/>
              </a:rPr>
              <a:t>1,000 notifications, all 16 events: 100% correct · 0 outbound attempts</a:t>
            </a:r>
            <a:endParaRPr lang="en-US" sz="1350" dirty="0"/>
          </a:p>
        </p:txBody>
      </p:sp>
      <p:sp>
        <p:nvSpPr>
          <p:cNvPr id="12" name="Shape 7"/>
          <p:cNvSpPr/>
          <p:nvPr/>
        </p:nvSpPr>
        <p:spPr>
          <a:xfrm>
            <a:off x="548640" y="3319272"/>
            <a:ext cx="5120640" cy="1371600"/>
          </a:xfrm>
          <a:prstGeom prst="roundRect">
            <a:avLst>
              <a:gd name="adj" fmla="val 6667"/>
            </a:avLst>
          </a:prstGeom>
          <a:solidFill>
            <a:srgbClr val="F5F3FF"/>
          </a:solidFill>
          <a:ln w="12700">
            <a:solidFill>
              <a:srgbClr val="DDD6FE"/>
            </a:solidFill>
            <a:prstDash val="solid"/>
          </a:ln>
        </p:spPr>
      </p:sp>
      <p:sp>
        <p:nvSpPr>
          <p:cNvPr id="13" name="Shape 8"/>
          <p:cNvSpPr/>
          <p:nvPr/>
        </p:nvSpPr>
        <p:spPr>
          <a:xfrm>
            <a:off x="749808" y="3547872"/>
            <a:ext cx="548640" cy="548640"/>
          </a:xfrm>
          <a:prstGeom prst="ellipse">
            <a:avLst/>
          </a:prstGeom>
          <a:solidFill>
            <a:srgbClr val="FFFFFF"/>
          </a:solidFill>
          <a:ln w="12700">
            <a:solidFill>
              <a:srgbClr val="FFFFFF"/>
            </a:solidFill>
            <a:prstDash val="solid"/>
          </a:ln>
        </p:spPr>
      </p:sp>
      <p:pic>
        <p:nvPicPr>
          <p:cNvPr id="14" name="Image 2" descr="preencoded.png">    </p:cNvPr>
          <p:cNvPicPr>
            <a:picLocks noChangeAspect="1"/>
          </p:cNvPicPr>
          <p:nvPr/>
        </p:nvPicPr>
        <p:blipFill>
          <a:blip r:embed="rId3"/>
          <a:stretch>
            <a:fillRect/>
          </a:stretch>
        </p:blipFill>
        <p:spPr>
          <a:xfrm>
            <a:off x="870509" y="3668573"/>
            <a:ext cx="307238" cy="307238"/>
          </a:xfrm>
          <a:prstGeom prst="rect">
            <a:avLst/>
          </a:prstGeom>
        </p:spPr>
      </p:pic>
      <p:sp>
        <p:nvSpPr>
          <p:cNvPr id="15" name="Text 9"/>
          <p:cNvSpPr txBox="1"/>
          <p:nvPr/>
        </p:nvSpPr>
        <p:spPr>
          <a:xfrm>
            <a:off x="1463040" y="3410712"/>
            <a:ext cx="4069080" cy="1188720"/>
          </a:xfrm>
          <a:prstGeom prst="rect">
            <a:avLst/>
          </a:prstGeom>
          <a:noFill/>
          <a:ln/>
        </p:spPr>
        <p:txBody>
          <a:bodyPr wrap="square" lIns="0" tIns="0" rIns="0" bIns="0" rtlCol="0" anchor="ctr"/>
          <a:lstStyle/>
          <a:p>
            <a:pPr indent="0" marL="0">
              <a:spcAft>
                <a:spcPts val="300"/>
              </a:spcAft>
              <a:buNone/>
            </a:pPr>
            <a:r>
              <a:rPr lang="en-US" sz="1350" b="1" dirty="0">
                <a:solidFill>
                  <a:srgbClr val="0F172A"/>
                </a:solidFill>
                <a:latin typeface="Roboto" pitchFamily="34" charset="0"/>
                <a:ea typeface="Roboto" pitchFamily="34" charset="-122"/>
                <a:cs typeface="Roboto" pitchFamily="34" charset="-120"/>
              </a:rPr>
              <a:t>#27 Audit / Storage</a:t>
            </a:r>
            <a:endParaRPr lang="en-US" sz="1350" dirty="0"/>
          </a:p>
          <a:p>
            <a:pPr indent="0" marL="0">
              <a:spcAft>
                <a:spcPts val="300"/>
              </a:spcAft>
              <a:buNone/>
            </a:pPr>
            <a:r>
              <a:rPr lang="en-US" sz="1100" dirty="0">
                <a:solidFill>
                  <a:srgbClr val="334155"/>
                </a:solidFill>
                <a:latin typeface="Roboto" pitchFamily="34" charset="0"/>
                <a:ea typeface="Roboto" pitchFamily="34" charset="-122"/>
                <a:cs typeface="Roboto" pitchFamily="34" charset="-120"/>
              </a:rPr>
              <a:t>Persists files and SQL rows; officers see a masked copy.</a:t>
            </a:r>
            <a:endParaRPr lang="en-US" sz="1350" dirty="0"/>
          </a:p>
          <a:p>
            <a:pPr indent="0" marL="0">
              <a:spcAft>
                <a:spcPts val="300"/>
              </a:spcAft>
              <a:buNone/>
            </a:pPr>
            <a:r>
              <a:rPr lang="en-US" sz="1000" b="1" dirty="0">
                <a:solidFill>
                  <a:srgbClr val="16A34A"/>
                </a:solidFill>
                <a:latin typeface="Roboto" pitchFamily="34" charset="0"/>
                <a:ea typeface="Roboto" pitchFamily="34" charset="-122"/>
                <a:cs typeface="Roboto" pitchFamily="34" charset="-120"/>
              </a:rPr>
              <a:t>120 real files intact · no PAN or Aadhaar on the officer sheet</a:t>
            </a:r>
            <a:endParaRPr lang="en-US" sz="1350" dirty="0"/>
          </a:p>
        </p:txBody>
      </p:sp>
      <p:sp>
        <p:nvSpPr>
          <p:cNvPr id="16" name="Shape 10"/>
          <p:cNvSpPr/>
          <p:nvPr/>
        </p:nvSpPr>
        <p:spPr>
          <a:xfrm>
            <a:off x="548640" y="4855464"/>
            <a:ext cx="5120640" cy="1371600"/>
          </a:xfrm>
          <a:prstGeom prst="roundRect">
            <a:avLst>
              <a:gd name="adj" fmla="val 6667"/>
            </a:avLst>
          </a:prstGeom>
          <a:solidFill>
            <a:srgbClr val="F5F3FF"/>
          </a:solidFill>
          <a:ln w="12700">
            <a:solidFill>
              <a:srgbClr val="DDD6FE"/>
            </a:solidFill>
            <a:prstDash val="solid"/>
          </a:ln>
        </p:spPr>
      </p:sp>
      <p:sp>
        <p:nvSpPr>
          <p:cNvPr id="17" name="Shape 11"/>
          <p:cNvSpPr/>
          <p:nvPr/>
        </p:nvSpPr>
        <p:spPr>
          <a:xfrm>
            <a:off x="749808" y="5084064"/>
            <a:ext cx="548640" cy="548640"/>
          </a:xfrm>
          <a:prstGeom prst="ellipse">
            <a:avLst/>
          </a:prstGeom>
          <a:solidFill>
            <a:srgbClr val="FFFFFF"/>
          </a:solidFill>
          <a:ln w="12700">
            <a:solidFill>
              <a:srgbClr val="FFFFFF"/>
            </a:solidFill>
            <a:prstDash val="solid"/>
          </a:ln>
        </p:spPr>
      </p:sp>
      <p:pic>
        <p:nvPicPr>
          <p:cNvPr id="18" name="Image 3" descr="preencoded.png">    </p:cNvPr>
          <p:cNvPicPr>
            <a:picLocks noChangeAspect="1"/>
          </p:cNvPicPr>
          <p:nvPr/>
        </p:nvPicPr>
        <p:blipFill>
          <a:blip r:embed="rId4"/>
          <a:stretch>
            <a:fillRect/>
          </a:stretch>
        </p:blipFill>
        <p:spPr>
          <a:xfrm>
            <a:off x="870509" y="5204765"/>
            <a:ext cx="307238" cy="307238"/>
          </a:xfrm>
          <a:prstGeom prst="rect">
            <a:avLst/>
          </a:prstGeom>
        </p:spPr>
      </p:pic>
      <p:sp>
        <p:nvSpPr>
          <p:cNvPr id="19" name="Text 12"/>
          <p:cNvSpPr txBox="1"/>
          <p:nvPr/>
        </p:nvSpPr>
        <p:spPr>
          <a:xfrm>
            <a:off x="1463040" y="4946904"/>
            <a:ext cx="4069080" cy="1188720"/>
          </a:xfrm>
          <a:prstGeom prst="rect">
            <a:avLst/>
          </a:prstGeom>
          <a:noFill/>
          <a:ln/>
        </p:spPr>
        <p:txBody>
          <a:bodyPr wrap="square" lIns="0" tIns="0" rIns="0" bIns="0" rtlCol="0" anchor="ctr"/>
          <a:lstStyle/>
          <a:p>
            <a:pPr indent="0" marL="0">
              <a:spcAft>
                <a:spcPts val="300"/>
              </a:spcAft>
              <a:buNone/>
            </a:pPr>
            <a:r>
              <a:rPr lang="en-US" sz="1350" b="1" dirty="0">
                <a:solidFill>
                  <a:srgbClr val="0F172A"/>
                </a:solidFill>
                <a:latin typeface="Roboto" pitchFamily="34" charset="0"/>
                <a:ea typeface="Roboto" pitchFamily="34" charset="-122"/>
                <a:cs typeface="Roboto" pitchFamily="34" charset="-120"/>
              </a:rPr>
              <a:t>#28 Process-Mining Analyst</a:t>
            </a:r>
            <a:endParaRPr lang="en-US" sz="1350" dirty="0"/>
          </a:p>
          <a:p>
            <a:pPr indent="0" marL="0">
              <a:spcAft>
                <a:spcPts val="300"/>
              </a:spcAft>
              <a:buNone/>
            </a:pPr>
            <a:r>
              <a:rPr lang="en-US" sz="1100" dirty="0">
                <a:solidFill>
                  <a:srgbClr val="334155"/>
                </a:solidFill>
                <a:latin typeface="Roboto" pitchFamily="34" charset="0"/>
                <a:ea typeface="Roboto" pitchFamily="34" charset="-122"/>
                <a:cs typeface="Roboto" pitchFamily="34" charset="-120"/>
              </a:rPr>
              <a:t>Conformance, variants, waits and slow agents from pm.* views; optional grounded briefing.</a:t>
            </a:r>
            <a:endParaRPr lang="en-US" sz="1350" dirty="0"/>
          </a:p>
          <a:p>
            <a:pPr indent="0" marL="0">
              <a:spcAft>
                <a:spcPts val="300"/>
              </a:spcAft>
              <a:buNone/>
            </a:pPr>
            <a:r>
              <a:rPr lang="en-US" sz="1000" b="1" dirty="0">
                <a:solidFill>
                  <a:srgbClr val="16A34A"/>
                </a:solidFill>
                <a:latin typeface="Roboto" pitchFamily="34" charset="0"/>
                <a:ea typeface="Roboto" pitchFamily="34" charset="-122"/>
                <a:cs typeface="Roboto" pitchFamily="34" charset="-120"/>
              </a:rPr>
              <a:t>38 of 38 figures equal pm4py on a real bank's event log (BPI 2017)</a:t>
            </a:r>
            <a:endParaRPr lang="en-US" sz="1350" dirty="0"/>
          </a:p>
        </p:txBody>
      </p:sp>
      <p:sp>
        <p:nvSpPr>
          <p:cNvPr id="20" name="Shape 13"/>
          <p:cNvSpPr/>
          <p:nvPr/>
        </p:nvSpPr>
        <p:spPr>
          <a:xfrm>
            <a:off x="5897880" y="1783080"/>
            <a:ext cx="5742432" cy="3579876"/>
          </a:xfrm>
          <a:prstGeom prst="roundRect">
            <a:avLst>
              <a:gd name="adj" fmla="val 1788"/>
            </a:avLst>
          </a:prstGeom>
          <a:solidFill>
            <a:srgbClr val="1E293B"/>
          </a:solidFill>
          <a:ln w="12700">
            <a:solidFill>
              <a:srgbClr val="1E293B"/>
            </a:solidFill>
            <a:prstDash val="solid"/>
          </a:ln>
          <a:effectLst>
            <a:outerShdw sx="100000" sy="100000" kx="0" ky="0" algn="bl" rotWithShape="0" blurRad="127000" dist="25400" dir="5400000">
              <a:srgbClr val="0F172A">
                <a:alpha val="12000"/>
              </a:srgbClr>
            </a:outerShdw>
          </a:effectLst>
        </p:spPr>
      </p:sp>
      <p:sp>
        <p:nvSpPr>
          <p:cNvPr id="21" name="Shape 14"/>
          <p:cNvSpPr/>
          <p:nvPr/>
        </p:nvSpPr>
        <p:spPr>
          <a:xfrm>
            <a:off x="6016752" y="1860804"/>
            <a:ext cx="82296" cy="82296"/>
          </a:xfrm>
          <a:prstGeom prst="ellipse">
            <a:avLst/>
          </a:prstGeom>
          <a:solidFill>
            <a:srgbClr val="F87171"/>
          </a:solidFill>
          <a:ln w="12700">
            <a:solidFill>
              <a:srgbClr val="F87171"/>
            </a:solidFill>
            <a:prstDash val="solid"/>
          </a:ln>
        </p:spPr>
      </p:sp>
      <p:sp>
        <p:nvSpPr>
          <p:cNvPr id="22" name="Shape 15"/>
          <p:cNvSpPr/>
          <p:nvPr/>
        </p:nvSpPr>
        <p:spPr>
          <a:xfrm>
            <a:off x="6153912" y="1860804"/>
            <a:ext cx="82296" cy="82296"/>
          </a:xfrm>
          <a:prstGeom prst="ellipse">
            <a:avLst/>
          </a:prstGeom>
          <a:solidFill>
            <a:srgbClr val="FBBF24"/>
          </a:solidFill>
          <a:ln w="12700">
            <a:solidFill>
              <a:srgbClr val="FBBF24"/>
            </a:solidFill>
            <a:prstDash val="solid"/>
          </a:ln>
        </p:spPr>
      </p:sp>
      <p:sp>
        <p:nvSpPr>
          <p:cNvPr id="23" name="Shape 16"/>
          <p:cNvSpPr/>
          <p:nvPr/>
        </p:nvSpPr>
        <p:spPr>
          <a:xfrm>
            <a:off x="6291072" y="1860804"/>
            <a:ext cx="82296" cy="82296"/>
          </a:xfrm>
          <a:prstGeom prst="ellipse">
            <a:avLst/>
          </a:prstGeom>
          <a:solidFill>
            <a:srgbClr val="34D399"/>
          </a:solidFill>
          <a:ln w="12700">
            <a:solidFill>
              <a:srgbClr val="34D399"/>
            </a:solidFill>
            <a:prstDash val="solid"/>
          </a:ln>
        </p:spPr>
      </p:sp>
      <p:pic>
        <p:nvPicPr>
          <p:cNvPr id="24" name="Image 4" descr="C:\Users\shrey\AppData\Local\Temp\claude\D--novacinternship-finsight\ef4ecb45-e580-4bc0-9be4-060aa240a5b2\scratchpad\deck\img\pm.png">    </p:cNvPr>
          <p:cNvPicPr>
            <a:picLocks noChangeAspect="1"/>
          </p:cNvPicPr>
          <p:nvPr/>
        </p:nvPicPr>
        <p:blipFill>
          <a:blip r:embed="rId5"/>
          <a:stretch>
            <a:fillRect/>
          </a:stretch>
        </p:blipFill>
        <p:spPr>
          <a:xfrm>
            <a:off x="5943600" y="2020824"/>
            <a:ext cx="5650992" cy="3296412"/>
          </a:xfrm>
          <a:prstGeom prst="rect">
            <a:avLst/>
          </a:prstGeom>
        </p:spPr>
      </p:pic>
      <p:sp>
        <p:nvSpPr>
          <p:cNvPr id="25" name="Text 17"/>
          <p:cNvSpPr txBox="1"/>
          <p:nvPr/>
        </p:nvSpPr>
        <p:spPr>
          <a:xfrm>
            <a:off x="5897880" y="5472684"/>
            <a:ext cx="5742432" cy="457200"/>
          </a:xfrm>
          <a:prstGeom prst="rect">
            <a:avLst/>
          </a:prstGeom>
          <a:noFill/>
          <a:ln/>
        </p:spPr>
        <p:txBody>
          <a:bodyPr wrap="square" lIns="0" tIns="0" rIns="0" bIns="0" rtlCol="0" anchor="ctr"/>
          <a:lstStyle/>
          <a:p>
            <a:pPr indent="0" marL="0">
              <a:buNone/>
            </a:pPr>
            <a:r>
              <a:rPr lang="en-US" sz="1050" i="1" dirty="0">
                <a:solidFill>
                  <a:srgbClr val="64748B"/>
                </a:solidFill>
                <a:latin typeface="Roboto" pitchFamily="34" charset="0"/>
                <a:ea typeface="Roboto" pitchFamily="34" charset="-122"/>
                <a:cs typeface="Roboto" pitchFamily="34" charset="-120"/>
              </a:rPr>
              <a:t>Agent Activity › Process Mining — seeded demo process data: 0% conformant paths, 23 cases overdue.</a:t>
            </a:r>
            <a:endParaRPr lang="en-US" sz="10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1417320"/>
            <a:ext cx="3657600" cy="1188720"/>
          </a:xfrm>
          <a:prstGeom prst="rect">
            <a:avLst/>
          </a:prstGeom>
          <a:noFill/>
          <a:ln/>
        </p:spPr>
        <p:txBody>
          <a:bodyPr wrap="square" lIns="0" tIns="0" rIns="0" bIns="0" rtlCol="0" anchor="ctr"/>
          <a:lstStyle/>
          <a:p>
            <a:pPr indent="0" marL="0">
              <a:buNone/>
            </a:pPr>
            <a:r>
              <a:rPr lang="en-US" sz="8800" b="1" dirty="0">
                <a:solidFill>
                  <a:srgbClr val="818CF8"/>
                </a:solidFill>
                <a:latin typeface="Roboto" pitchFamily="34" charset="0"/>
                <a:ea typeface="Roboto" pitchFamily="34" charset="-122"/>
                <a:cs typeface="Roboto" pitchFamily="34" charset="-120"/>
              </a:rPr>
              <a:t>03</a:t>
            </a:r>
            <a:endParaRPr lang="en-US" sz="8800" dirty="0"/>
          </a:p>
        </p:txBody>
      </p:sp>
      <p:sp>
        <p:nvSpPr>
          <p:cNvPr id="3" name="Text 1"/>
          <p:cNvSpPr txBox="1"/>
          <p:nvPr/>
        </p:nvSpPr>
        <p:spPr>
          <a:xfrm>
            <a:off x="548640" y="2697480"/>
            <a:ext cx="7772400" cy="822960"/>
          </a:xfrm>
          <a:prstGeom prst="rect">
            <a:avLst/>
          </a:prstGeom>
          <a:noFill/>
          <a:ln/>
        </p:spPr>
        <p:txBody>
          <a:bodyPr wrap="square" lIns="0" tIns="0" rIns="0" bIns="0" rtlCol="0" anchor="ctr"/>
          <a:lstStyle/>
          <a:p>
            <a:pPr indent="0" marL="0">
              <a:buNone/>
            </a:pPr>
            <a:r>
              <a:rPr lang="en-US" sz="4000" b="1" dirty="0">
                <a:solidFill>
                  <a:srgbClr val="FFFFFF"/>
                </a:solidFill>
                <a:latin typeface="Roboto" pitchFamily="34" charset="0"/>
                <a:ea typeface="Roboto" pitchFamily="34" charset="-122"/>
                <a:cs typeface="Roboto" pitchFamily="34" charset="-120"/>
              </a:rPr>
              <a:t>Workflows</a:t>
            </a:r>
            <a:endParaRPr lang="en-US" sz="4000" dirty="0"/>
          </a:p>
        </p:txBody>
      </p:sp>
      <p:sp>
        <p:nvSpPr>
          <p:cNvPr id="4" name="Text 2"/>
          <p:cNvSpPr txBox="1"/>
          <p:nvPr/>
        </p:nvSpPr>
        <p:spPr>
          <a:xfrm>
            <a:off x="548640" y="3520440"/>
            <a:ext cx="7132320" cy="822960"/>
          </a:xfrm>
          <a:prstGeom prst="rect">
            <a:avLst/>
          </a:prstGeom>
          <a:noFill/>
          <a:ln/>
        </p:spPr>
        <p:txBody>
          <a:bodyPr wrap="square" lIns="0" tIns="0" rIns="0" bIns="0" rtlCol="0" anchor="t"/>
          <a:lstStyle/>
          <a:p>
            <a:pPr indent="0" marL="0">
              <a:buNone/>
            </a:pPr>
            <a:r>
              <a:rPr lang="en-US" sz="1700" dirty="0">
                <a:solidFill>
                  <a:srgbClr val="CBD5E1"/>
                </a:solidFill>
                <a:latin typeface="Roboto" pitchFamily="34" charset="0"/>
                <a:ea typeface="Roboto" pitchFamily="34" charset="-122"/>
                <a:cs typeface="Roboto" pitchFamily="34" charset="-120"/>
              </a:rPr>
              <a:t>How a loan moves through its lifecycle, who acts at each step, and what a real run looks like.</a:t>
            </a:r>
            <a:endParaRPr lang="en-US" sz="1700" dirty="0"/>
          </a:p>
        </p:txBody>
      </p:sp>
      <p:sp>
        <p:nvSpPr>
          <p:cNvPr id="5" name="Text 3"/>
          <p:cNvSpPr txBox="1"/>
          <p:nvPr/>
        </p:nvSpPr>
        <p:spPr>
          <a:xfrm>
            <a:off x="548640" y="4754880"/>
            <a:ext cx="3657600" cy="274320"/>
          </a:xfrm>
          <a:prstGeom prst="rect">
            <a:avLst/>
          </a:prstGeom>
          <a:noFill/>
          <a:ln/>
        </p:spPr>
        <p:txBody>
          <a:bodyPr wrap="square" lIns="0" tIns="0" rIns="0" bIns="0" rtlCol="0" anchor="ctr"/>
          <a:lstStyle/>
          <a:p>
            <a:pPr indent="0" marL="0">
              <a:buNone/>
            </a:pPr>
            <a:r>
              <a:rPr lang="en-US" sz="1050" b="1" spc="200" kern="0" dirty="0">
                <a:solidFill>
                  <a:srgbClr val="94A3B8"/>
                </a:solidFill>
                <a:latin typeface="Roboto" pitchFamily="34" charset="0"/>
                <a:ea typeface="Roboto" pitchFamily="34" charset="-122"/>
                <a:cs typeface="Roboto" pitchFamily="34" charset="-120"/>
              </a:rPr>
              <a:t>IN THIS SECTION</a:t>
            </a:r>
            <a:endParaRPr lang="en-US" sz="1050" dirty="0"/>
          </a:p>
        </p:txBody>
      </p:sp>
      <p:sp>
        <p:nvSpPr>
          <p:cNvPr id="6" name="Shape 4"/>
          <p:cNvSpPr/>
          <p:nvPr/>
        </p:nvSpPr>
        <p:spPr>
          <a:xfrm>
            <a:off x="548640" y="5102352"/>
            <a:ext cx="1280160" cy="384048"/>
          </a:xfrm>
          <a:prstGeom prst="roundRect">
            <a:avLst>
              <a:gd name="adj" fmla="val 50000"/>
            </a:avLst>
          </a:prstGeom>
          <a:solidFill>
            <a:srgbClr val="1E293B"/>
          </a:solidFill>
          <a:ln w="12700">
            <a:solidFill>
              <a:srgbClr val="334155"/>
            </a:solidFill>
            <a:prstDash val="solid"/>
          </a:ln>
        </p:spPr>
      </p:sp>
      <p:sp>
        <p:nvSpPr>
          <p:cNvPr id="7" name="Text 5"/>
          <p:cNvSpPr txBox="1"/>
          <p:nvPr/>
        </p:nvSpPr>
        <p:spPr>
          <a:xfrm>
            <a:off x="548640" y="5102352"/>
            <a:ext cx="1280160" cy="384048"/>
          </a:xfrm>
          <a:prstGeom prst="rect">
            <a:avLst/>
          </a:prstGeom>
          <a:noFill/>
          <a:ln/>
        </p:spPr>
        <p:txBody>
          <a:bodyPr wrap="square" lIns="0" tIns="0" rIns="0" bIns="0" rtlCol="0" anchor="ctr"/>
          <a:lstStyle/>
          <a:p>
            <a:pPr algn="ctr" indent="0" marL="0">
              <a:buNone/>
            </a:pPr>
            <a:r>
              <a:rPr lang="en-US" sz="1200" dirty="0">
                <a:solidFill>
                  <a:srgbClr val="E2E8F0"/>
                </a:solidFill>
                <a:latin typeface="Roboto" pitchFamily="34" charset="0"/>
                <a:ea typeface="Roboto" pitchFamily="34" charset="-122"/>
                <a:cs typeface="Roboto" pitchFamily="34" charset="-120"/>
              </a:rPr>
              <a:t>Loan lifecycle</a:t>
            </a:r>
            <a:endParaRPr lang="en-US" sz="1200" dirty="0"/>
          </a:p>
        </p:txBody>
      </p:sp>
      <p:sp>
        <p:nvSpPr>
          <p:cNvPr id="8" name="Shape 6"/>
          <p:cNvSpPr/>
          <p:nvPr/>
        </p:nvSpPr>
        <p:spPr>
          <a:xfrm>
            <a:off x="1956816" y="5102352"/>
            <a:ext cx="1572768" cy="384048"/>
          </a:xfrm>
          <a:prstGeom prst="roundRect">
            <a:avLst>
              <a:gd name="adj" fmla="val 50000"/>
            </a:avLst>
          </a:prstGeom>
          <a:solidFill>
            <a:srgbClr val="1E293B"/>
          </a:solidFill>
          <a:ln w="12700">
            <a:solidFill>
              <a:srgbClr val="334155"/>
            </a:solidFill>
            <a:prstDash val="solid"/>
          </a:ln>
        </p:spPr>
      </p:sp>
      <p:sp>
        <p:nvSpPr>
          <p:cNvPr id="9" name="Text 7"/>
          <p:cNvSpPr txBox="1"/>
          <p:nvPr/>
        </p:nvSpPr>
        <p:spPr>
          <a:xfrm>
            <a:off x="1956816" y="5102352"/>
            <a:ext cx="1572768" cy="384048"/>
          </a:xfrm>
          <a:prstGeom prst="rect">
            <a:avLst/>
          </a:prstGeom>
          <a:noFill/>
          <a:ln/>
        </p:spPr>
        <p:txBody>
          <a:bodyPr wrap="square" lIns="0" tIns="0" rIns="0" bIns="0" rtlCol="0" anchor="ctr"/>
          <a:lstStyle/>
          <a:p>
            <a:pPr algn="ctr" indent="0" marL="0">
              <a:buNone/>
            </a:pPr>
            <a:r>
              <a:rPr lang="en-US" sz="1200" dirty="0">
                <a:solidFill>
                  <a:srgbClr val="E2E8F0"/>
                </a:solidFill>
                <a:latin typeface="Roboto" pitchFamily="34" charset="0"/>
                <a:ea typeface="Roboto" pitchFamily="34" charset="-122"/>
                <a:cs typeface="Roboto" pitchFamily="34" charset="-120"/>
              </a:rPr>
              <a:t>End-to-end journey</a:t>
            </a:r>
            <a:endParaRPr lang="en-US" sz="1200" dirty="0"/>
          </a:p>
        </p:txBody>
      </p:sp>
      <p:sp>
        <p:nvSpPr>
          <p:cNvPr id="10" name="Shape 8"/>
          <p:cNvSpPr/>
          <p:nvPr/>
        </p:nvSpPr>
        <p:spPr>
          <a:xfrm>
            <a:off x="3657600" y="5102352"/>
            <a:ext cx="987552" cy="384048"/>
          </a:xfrm>
          <a:prstGeom prst="roundRect">
            <a:avLst>
              <a:gd name="adj" fmla="val 50000"/>
            </a:avLst>
          </a:prstGeom>
          <a:solidFill>
            <a:srgbClr val="1E293B"/>
          </a:solidFill>
          <a:ln w="12700">
            <a:solidFill>
              <a:srgbClr val="334155"/>
            </a:solidFill>
            <a:prstDash val="solid"/>
          </a:ln>
        </p:spPr>
      </p:sp>
      <p:sp>
        <p:nvSpPr>
          <p:cNvPr id="11" name="Text 9"/>
          <p:cNvSpPr txBox="1"/>
          <p:nvPr/>
        </p:nvSpPr>
        <p:spPr>
          <a:xfrm>
            <a:off x="3657600" y="5102352"/>
            <a:ext cx="987552" cy="384048"/>
          </a:xfrm>
          <a:prstGeom prst="rect">
            <a:avLst/>
          </a:prstGeom>
          <a:noFill/>
          <a:ln/>
        </p:spPr>
        <p:txBody>
          <a:bodyPr wrap="square" lIns="0" tIns="0" rIns="0" bIns="0" rtlCol="0" anchor="ctr"/>
          <a:lstStyle/>
          <a:p>
            <a:pPr algn="ctr" indent="0" marL="0">
              <a:buNone/>
            </a:pPr>
            <a:r>
              <a:rPr lang="en-US" sz="1200" dirty="0">
                <a:solidFill>
                  <a:srgbClr val="E2E8F0"/>
                </a:solidFill>
                <a:latin typeface="Roboto" pitchFamily="34" charset="0"/>
                <a:ea typeface="Roboto" pitchFamily="34" charset="-122"/>
                <a:cs typeface="Roboto" pitchFamily="34" charset="-120"/>
              </a:rPr>
              <a:t>A real run</a:t>
            </a:r>
            <a:endParaRPr lang="en-US" sz="1200" dirty="0"/>
          </a:p>
        </p:txBody>
      </p:sp>
      <p:sp>
        <p:nvSpPr>
          <p:cNvPr id="12" name="Shape 10"/>
          <p:cNvSpPr/>
          <p:nvPr/>
        </p:nvSpPr>
        <p:spPr>
          <a:xfrm>
            <a:off x="8549640" y="1600200"/>
            <a:ext cx="3108960" cy="3108960"/>
          </a:xfrm>
          <a:prstGeom prst="ellipse">
            <a:avLst/>
          </a:prstGeom>
          <a:solidFill>
            <a:srgbClr val="1E293B"/>
          </a:solidFill>
          <a:ln w="12700">
            <a:solidFill>
              <a:srgbClr val="334155"/>
            </a:solidFill>
            <a:prstDash val="solid"/>
          </a:ln>
        </p:spPr>
      </p:sp>
      <p:pic>
        <p:nvPicPr>
          <p:cNvPr id="13" name="Image 0" descr="preencoded.png">    </p:cNvPr>
          <p:cNvPicPr>
            <a:picLocks noChangeAspect="1"/>
          </p:cNvPicPr>
          <p:nvPr/>
        </p:nvPicPr>
        <p:blipFill>
          <a:blip r:embed="rId1"/>
          <a:stretch>
            <a:fillRect/>
          </a:stretch>
        </p:blipFill>
        <p:spPr>
          <a:xfrm>
            <a:off x="9326880" y="2377440"/>
            <a:ext cx="1554480" cy="1554480"/>
          </a:xfrm>
          <a:prstGeom prst="rect">
            <a:avLst/>
          </a:prstGeom>
        </p:spPr>
      </p:pic>
      <p:pic>
        <p:nvPicPr>
          <p:cNvPr id="14" name="Image 1" descr="C:\Users\shrey\AppData\Local\Temp\claude\D--novacinternship-finsight\ef4ecb45-e580-4bc0-9be4-060aa240a5b2\scratchpad\deck\img\logo_mark_light.png">    </p:cNvPr>
          <p:cNvPicPr>
            <a:picLocks noChangeAspect="1"/>
          </p:cNvPicPr>
          <p:nvPr/>
        </p:nvPicPr>
        <p:blipFill>
          <a:blip r:embed="rId2"/>
          <a:stretch>
            <a:fillRect/>
          </a:stretch>
        </p:blipFill>
        <p:spPr>
          <a:xfrm>
            <a:off x="548640" y="502920"/>
            <a:ext cx="354509" cy="457200"/>
          </a:xfrm>
          <a:prstGeom prst="rect">
            <a:avLst/>
          </a:prstGeom>
        </p:spPr>
      </p:pic>
      <p:pic>
        <p:nvPicPr>
          <p:cNvPr id="15" name="Image 2" descr="C:\Users\shrey\AppData\Local\Temp\claude\D--novacinternship-finsight\ef4ecb45-e580-4bc0-9be4-060aa240a5b2\scratchpad\deck\img\logo_lockup_light.png">    </p:cNvPr>
          <p:cNvPicPr>
            <a:picLocks noChangeAspect="1"/>
          </p:cNvPicPr>
          <p:nvPr/>
        </p:nvPicPr>
        <p:blipFill>
          <a:blip r:embed="rId3"/>
          <a:stretch>
            <a:fillRect/>
          </a:stretch>
        </p:blipFill>
        <p:spPr>
          <a:xfrm>
            <a:off x="10360152" y="6464808"/>
            <a:ext cx="843991" cy="237744"/>
          </a:xfrm>
          <a:prstGeom prst="rect">
            <a:avLst/>
          </a:prstGeom>
        </p:spPr>
      </p:pic>
      <p:sp>
        <p:nvSpPr>
          <p:cNvPr id="16" name="Text 11"/>
          <p:cNvSpPr txBox="1"/>
          <p:nvPr/>
        </p:nvSpPr>
        <p:spPr>
          <a:xfrm>
            <a:off x="11277295" y="6473952"/>
            <a:ext cx="365760" cy="228600"/>
          </a:xfrm>
          <a:prstGeom prst="rect">
            <a:avLst/>
          </a:prstGeom>
          <a:noFill/>
          <a:ln/>
        </p:spPr>
        <p:txBody>
          <a:bodyPr wrap="square" lIns="0" tIns="0" rIns="0" bIns="0" rtlCol="0" anchor="ctr"/>
          <a:lstStyle/>
          <a:p>
            <a:pPr algn="r" indent="0" marL="0">
              <a:buNone/>
            </a:pPr>
            <a:r>
              <a:rPr lang="en-US" sz="900" dirty="0">
                <a:solidFill>
                  <a:srgbClr val="64748B"/>
                </a:solidFill>
                <a:latin typeface="Roboto" pitchFamily="34" charset="0"/>
                <a:ea typeface="Roboto" pitchFamily="34" charset="-122"/>
                <a:cs typeface="Roboto"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8229600" cy="256032"/>
          </a:xfrm>
          <a:prstGeom prst="rect">
            <a:avLst/>
          </a:prstGeom>
          <a:noFill/>
          <a:ln/>
        </p:spPr>
        <p:txBody>
          <a:bodyPr wrap="square" lIns="0" tIns="0" rIns="0" bIns="0" rtlCol="0" anchor="ctr"/>
          <a:lstStyle/>
          <a:p>
            <a:pPr indent="0" marL="0">
              <a:buNone/>
            </a:pPr>
            <a:r>
              <a:rPr lang="en-US" sz="1100" b="1" spc="200" kern="0" dirty="0">
                <a:solidFill>
                  <a:srgbClr val="4F46E5"/>
                </a:solidFill>
                <a:latin typeface="Roboto" pitchFamily="34" charset="0"/>
                <a:ea typeface="Roboto" pitchFamily="34" charset="-122"/>
                <a:cs typeface="Roboto" pitchFamily="34" charset="-120"/>
              </a:rPr>
              <a:t>WORKFLOWS</a:t>
            </a:r>
            <a:endParaRPr lang="en-US" sz="1100" dirty="0"/>
          </a:p>
        </p:txBody>
      </p:sp>
      <p:sp>
        <p:nvSpPr>
          <p:cNvPr id="3" name="Text 1"/>
          <p:cNvSpPr txBox="1"/>
          <p:nvPr/>
        </p:nvSpPr>
        <p:spPr>
          <a:xfrm>
            <a:off x="548640" y="585216"/>
            <a:ext cx="11094415" cy="566928"/>
          </a:xfrm>
          <a:prstGeom prst="rect">
            <a:avLst/>
          </a:prstGeom>
          <a:noFill/>
          <a:ln/>
        </p:spPr>
        <p:txBody>
          <a:bodyPr wrap="square" lIns="0" tIns="0" rIns="0" bIns="0" rtlCol="0" anchor="ctr"/>
          <a:lstStyle/>
          <a:p>
            <a:pPr indent="0" marL="0">
              <a:buNone/>
            </a:pPr>
            <a:r>
              <a:rPr lang="en-US" sz="2800" b="1" dirty="0">
                <a:solidFill>
                  <a:srgbClr val="0F172A"/>
                </a:solidFill>
                <a:latin typeface="Roboto" pitchFamily="34" charset="0"/>
                <a:ea typeface="Roboto" pitchFamily="34" charset="-122"/>
                <a:cs typeface="Roboto" pitchFamily="34" charset="-120"/>
              </a:rPr>
              <a:t>The loan lifecycle</a:t>
            </a:r>
            <a:endParaRPr lang="en-US" sz="2800" dirty="0"/>
          </a:p>
        </p:txBody>
      </p:sp>
      <p:sp>
        <p:nvSpPr>
          <p:cNvPr id="4" name="Text 2"/>
          <p:cNvSpPr txBox="1"/>
          <p:nvPr/>
        </p:nvSpPr>
        <p:spPr>
          <a:xfrm>
            <a:off x="548640" y="1152144"/>
            <a:ext cx="11094415" cy="365760"/>
          </a:xfrm>
          <a:prstGeom prst="rect">
            <a:avLst/>
          </a:prstGeom>
          <a:noFill/>
          <a:ln/>
        </p:spPr>
        <p:txBody>
          <a:bodyPr wrap="square" lIns="0" tIns="0" rIns="0" bIns="0" rtlCol="0" anchor="ctr"/>
          <a:lstStyle/>
          <a:p>
            <a:pPr indent="0" marL="0">
              <a:buNone/>
            </a:pPr>
            <a:r>
              <a:rPr lang="en-US" sz="1400" dirty="0">
                <a:solidFill>
                  <a:srgbClr val="64748B"/>
                </a:solidFill>
                <a:latin typeface="Roboto" pitchFamily="34" charset="0"/>
                <a:ea typeface="Roboto" pitchFamily="34" charset="-122"/>
                <a:cs typeface="Roboto" pitchFamily="34" charset="-120"/>
              </a:rPr>
              <a:t>One path for every product plus its own branch. The Workflow Router only recommends; a person moves the status.</a:t>
            </a:r>
            <a:endParaRPr lang="en-US" sz="1400" dirty="0"/>
          </a:p>
        </p:txBody>
      </p:sp>
      <p:pic>
        <p:nvPicPr>
          <p:cNvPr id="5" name="Image 0" descr="C:\Users\shrey\AppData\Local\Temp\claude\D--novacinternship-finsight\ef4ecb45-e580-4bc0-9be4-060aa240a5b2\scratchpad\deck\img\logo_lockup.png">    </p:cNvPr>
          <p:cNvPicPr>
            <a:picLocks noChangeAspect="1"/>
          </p:cNvPicPr>
          <p:nvPr/>
        </p:nvPicPr>
        <p:blipFill>
          <a:blip r:embed="rId1"/>
          <a:stretch>
            <a:fillRect/>
          </a:stretch>
        </p:blipFill>
        <p:spPr>
          <a:xfrm>
            <a:off x="10360152" y="6464808"/>
            <a:ext cx="843991" cy="237744"/>
          </a:xfrm>
          <a:prstGeom prst="rect">
            <a:avLst/>
          </a:prstGeom>
        </p:spPr>
      </p:pic>
      <p:sp>
        <p:nvSpPr>
          <p:cNvPr id="6" name="Text 3"/>
          <p:cNvSpPr txBox="1"/>
          <p:nvPr/>
        </p:nvSpPr>
        <p:spPr>
          <a:xfrm>
            <a:off x="11277295" y="6473952"/>
            <a:ext cx="365760" cy="228600"/>
          </a:xfrm>
          <a:prstGeom prst="rect">
            <a:avLst/>
          </a:prstGeom>
          <a:noFill/>
          <a:ln/>
        </p:spPr>
        <p:txBody>
          <a:bodyPr wrap="square" lIns="0" tIns="0" rIns="0" bIns="0" rtlCol="0" anchor="ctr"/>
          <a:lstStyle/>
          <a:p>
            <a:pPr algn="r" indent="0" marL="0">
              <a:buNone/>
            </a:pPr>
            <a:r>
              <a:rPr lang="en-US" sz="900" dirty="0">
                <a:solidFill>
                  <a:srgbClr val="94A3B8"/>
                </a:solidFill>
                <a:latin typeface="Roboto" pitchFamily="34" charset="0"/>
                <a:ea typeface="Roboto" pitchFamily="34" charset="-122"/>
                <a:cs typeface="Roboto" pitchFamily="34" charset="-120"/>
              </a:rPr>
              <a:t>25</a:t>
            </a:r>
            <a:endParaRPr lang="en-US" sz="900" dirty="0"/>
          </a:p>
        </p:txBody>
      </p:sp>
      <p:sp>
        <p:nvSpPr>
          <p:cNvPr id="8" name="Shape 4"/>
          <p:cNvSpPr/>
          <p:nvPr/>
        </p:nvSpPr>
        <p:spPr>
          <a:xfrm>
            <a:off x="548640" y="1874520"/>
            <a:ext cx="1920240" cy="777240"/>
          </a:xfrm>
          <a:prstGeom prst="roundRect">
            <a:avLst>
              <a:gd name="adj" fmla="val 9412"/>
            </a:avLst>
          </a:prstGeom>
          <a:solidFill>
            <a:srgbClr val="EEF2FF"/>
          </a:solidFill>
          <a:ln w="12700">
            <a:solidFill>
              <a:srgbClr val="C7D2FE"/>
            </a:solidFill>
            <a:prstDash val="solid"/>
          </a:ln>
        </p:spPr>
      </p:sp>
      <p:sp>
        <p:nvSpPr>
          <p:cNvPr id="9" name="Text 5"/>
          <p:cNvSpPr txBox="1"/>
          <p:nvPr/>
        </p:nvSpPr>
        <p:spPr>
          <a:xfrm>
            <a:off x="621792" y="1892808"/>
            <a:ext cx="1773936" cy="740664"/>
          </a:xfrm>
          <a:prstGeom prst="rect">
            <a:avLst/>
          </a:prstGeom>
          <a:noFill/>
          <a:ln/>
        </p:spPr>
        <p:txBody>
          <a:bodyPr wrap="square" lIns="0" tIns="0" rIns="0" bIns="0" rtlCol="0" anchor="ctr"/>
          <a:lstStyle/>
          <a:p>
            <a:pPr algn="ctr" indent="0" marL="0">
              <a:spcAft>
                <a:spcPts val="200"/>
              </a:spcAft>
              <a:buNone/>
            </a:pPr>
            <a:r>
              <a:rPr lang="en-US" sz="1150" b="1" dirty="0">
                <a:solidFill>
                  <a:srgbClr val="3730A3"/>
                </a:solidFill>
                <a:latin typeface="Roboto" pitchFamily="34" charset="0"/>
                <a:ea typeface="Roboto" pitchFamily="34" charset="-122"/>
                <a:cs typeface="Roboto" pitchFamily="34" charset="-120"/>
              </a:rPr>
              <a:t>draft</a:t>
            </a:r>
            <a:endParaRPr lang="en-US" sz="1150" dirty="0"/>
          </a:p>
          <a:p>
            <a:pPr algn="ctr" indent="0" marL="0">
              <a:spcAft>
                <a:spcPts val="200"/>
              </a:spcAft>
              <a:buNone/>
            </a:pPr>
            <a:r>
              <a:rPr lang="en-US" sz="950" dirty="0">
                <a:solidFill>
                  <a:srgbClr val="64748B"/>
                </a:solidFill>
                <a:latin typeface="Roboto" pitchFamily="34" charset="0"/>
                <a:ea typeface="Roboto" pitchFamily="34" charset="-122"/>
                <a:cs typeface="Roboto" pitchFamily="34" charset="-120"/>
              </a:rPr>
              <a:t>borrower</a:t>
            </a:r>
            <a:endParaRPr lang="en-US" sz="1150" dirty="0"/>
          </a:p>
        </p:txBody>
      </p:sp>
      <p:sp>
        <p:nvSpPr>
          <p:cNvPr id="10" name="Shape 6"/>
          <p:cNvSpPr/>
          <p:nvPr/>
        </p:nvSpPr>
        <p:spPr>
          <a:xfrm>
            <a:off x="2487168" y="2258568"/>
            <a:ext cx="329184" cy="0"/>
          </a:xfrm>
          <a:prstGeom prst="line">
            <a:avLst/>
          </a:prstGeom>
          <a:noFill/>
          <a:ln w="19050">
            <a:solidFill>
              <a:srgbClr val="4F46E5"/>
            </a:solidFill>
            <a:prstDash val="solid"/>
            <a:tailEnd type="triangle"/>
          </a:ln>
        </p:spPr>
      </p:sp>
      <p:sp>
        <p:nvSpPr>
          <p:cNvPr id="11" name="Shape 7"/>
          <p:cNvSpPr/>
          <p:nvPr/>
        </p:nvSpPr>
        <p:spPr>
          <a:xfrm>
            <a:off x="2834640" y="1874520"/>
            <a:ext cx="1920240" cy="777240"/>
          </a:xfrm>
          <a:prstGeom prst="roundRect">
            <a:avLst>
              <a:gd name="adj" fmla="val 9412"/>
            </a:avLst>
          </a:prstGeom>
          <a:solidFill>
            <a:srgbClr val="EEF2FF"/>
          </a:solidFill>
          <a:ln w="12700">
            <a:solidFill>
              <a:srgbClr val="C7D2FE"/>
            </a:solidFill>
            <a:prstDash val="solid"/>
          </a:ln>
        </p:spPr>
      </p:sp>
      <p:sp>
        <p:nvSpPr>
          <p:cNvPr id="12" name="Text 8"/>
          <p:cNvSpPr txBox="1"/>
          <p:nvPr/>
        </p:nvSpPr>
        <p:spPr>
          <a:xfrm>
            <a:off x="2907792" y="1892808"/>
            <a:ext cx="1773936" cy="740664"/>
          </a:xfrm>
          <a:prstGeom prst="rect">
            <a:avLst/>
          </a:prstGeom>
          <a:noFill/>
          <a:ln/>
        </p:spPr>
        <p:txBody>
          <a:bodyPr wrap="square" lIns="0" tIns="0" rIns="0" bIns="0" rtlCol="0" anchor="ctr"/>
          <a:lstStyle/>
          <a:p>
            <a:pPr algn="ctr" indent="0" marL="0">
              <a:spcAft>
                <a:spcPts val="200"/>
              </a:spcAft>
              <a:buNone/>
            </a:pPr>
            <a:r>
              <a:rPr lang="en-US" sz="1150" b="1" dirty="0">
                <a:solidFill>
                  <a:srgbClr val="3730A3"/>
                </a:solidFill>
                <a:latin typeface="Roboto" pitchFamily="34" charset="0"/>
                <a:ea typeface="Roboto" pitchFamily="34" charset="-122"/>
                <a:cs typeface="Roboto" pitchFamily="34" charset="-120"/>
              </a:rPr>
              <a:t>submitted</a:t>
            </a:r>
            <a:endParaRPr lang="en-US" sz="1150" dirty="0"/>
          </a:p>
          <a:p>
            <a:pPr algn="ctr" indent="0" marL="0">
              <a:spcAft>
                <a:spcPts val="200"/>
              </a:spcAft>
              <a:buNone/>
            </a:pPr>
            <a:r>
              <a:rPr lang="en-US" sz="950" dirty="0">
                <a:solidFill>
                  <a:srgbClr val="64748B"/>
                </a:solidFill>
                <a:latin typeface="Roboto" pitchFamily="34" charset="0"/>
                <a:ea typeface="Roboto" pitchFamily="34" charset="-122"/>
                <a:cs typeface="Roboto" pitchFamily="34" charset="-120"/>
              </a:rPr>
              <a:t>system</a:t>
            </a:r>
            <a:endParaRPr lang="en-US" sz="1150" dirty="0"/>
          </a:p>
        </p:txBody>
      </p:sp>
      <p:sp>
        <p:nvSpPr>
          <p:cNvPr id="13" name="Shape 9"/>
          <p:cNvSpPr/>
          <p:nvPr/>
        </p:nvSpPr>
        <p:spPr>
          <a:xfrm>
            <a:off x="4773168" y="2258568"/>
            <a:ext cx="329184" cy="0"/>
          </a:xfrm>
          <a:prstGeom prst="line">
            <a:avLst/>
          </a:prstGeom>
          <a:noFill/>
          <a:ln w="19050">
            <a:solidFill>
              <a:srgbClr val="4F46E5"/>
            </a:solidFill>
            <a:prstDash val="solid"/>
            <a:tailEnd type="triangle"/>
          </a:ln>
        </p:spPr>
      </p:sp>
      <p:sp>
        <p:nvSpPr>
          <p:cNvPr id="14" name="Shape 10"/>
          <p:cNvSpPr/>
          <p:nvPr/>
        </p:nvSpPr>
        <p:spPr>
          <a:xfrm>
            <a:off x="5120640" y="1874520"/>
            <a:ext cx="1920240" cy="777240"/>
          </a:xfrm>
          <a:prstGeom prst="roundRect">
            <a:avLst>
              <a:gd name="adj" fmla="val 9412"/>
            </a:avLst>
          </a:prstGeom>
          <a:solidFill>
            <a:srgbClr val="EEF2FF"/>
          </a:solidFill>
          <a:ln w="12700">
            <a:solidFill>
              <a:srgbClr val="C7D2FE"/>
            </a:solidFill>
            <a:prstDash val="solid"/>
          </a:ln>
        </p:spPr>
      </p:sp>
      <p:sp>
        <p:nvSpPr>
          <p:cNvPr id="15" name="Text 11"/>
          <p:cNvSpPr txBox="1"/>
          <p:nvPr/>
        </p:nvSpPr>
        <p:spPr>
          <a:xfrm>
            <a:off x="5193792" y="1892808"/>
            <a:ext cx="1773936" cy="740664"/>
          </a:xfrm>
          <a:prstGeom prst="rect">
            <a:avLst/>
          </a:prstGeom>
          <a:noFill/>
          <a:ln/>
        </p:spPr>
        <p:txBody>
          <a:bodyPr wrap="square" lIns="0" tIns="0" rIns="0" bIns="0" rtlCol="0" anchor="ctr"/>
          <a:lstStyle/>
          <a:p>
            <a:pPr algn="ctr" indent="0" marL="0">
              <a:spcAft>
                <a:spcPts val="200"/>
              </a:spcAft>
              <a:buNone/>
            </a:pPr>
            <a:r>
              <a:rPr lang="en-US" sz="1150" b="1" dirty="0">
                <a:solidFill>
                  <a:srgbClr val="3730A3"/>
                </a:solidFill>
                <a:latin typeface="Roboto" pitchFamily="34" charset="0"/>
                <a:ea typeface="Roboto" pitchFamily="34" charset="-122"/>
                <a:cs typeface="Roboto" pitchFamily="34" charset="-120"/>
              </a:rPr>
              <a:t>documentsProcessing</a:t>
            </a:r>
            <a:endParaRPr lang="en-US" sz="1150" dirty="0"/>
          </a:p>
          <a:p>
            <a:pPr algn="ctr" indent="0" marL="0">
              <a:spcAft>
                <a:spcPts val="200"/>
              </a:spcAft>
              <a:buNone/>
            </a:pPr>
            <a:r>
              <a:rPr lang="en-US" sz="950" dirty="0">
                <a:solidFill>
                  <a:srgbClr val="64748B"/>
                </a:solidFill>
                <a:latin typeface="Roboto" pitchFamily="34" charset="0"/>
                <a:ea typeface="Roboto" pitchFamily="34" charset="-122"/>
                <a:cs typeface="Roboto" pitchFamily="34" charset="-120"/>
              </a:rPr>
              <a:t>agents: intake crew</a:t>
            </a:r>
            <a:endParaRPr lang="en-US" sz="1150" dirty="0"/>
          </a:p>
        </p:txBody>
      </p:sp>
      <p:sp>
        <p:nvSpPr>
          <p:cNvPr id="16" name="Shape 12"/>
          <p:cNvSpPr/>
          <p:nvPr/>
        </p:nvSpPr>
        <p:spPr>
          <a:xfrm>
            <a:off x="7059168" y="2258568"/>
            <a:ext cx="329184" cy="0"/>
          </a:xfrm>
          <a:prstGeom prst="line">
            <a:avLst/>
          </a:prstGeom>
          <a:noFill/>
          <a:ln w="19050">
            <a:solidFill>
              <a:srgbClr val="4F46E5"/>
            </a:solidFill>
            <a:prstDash val="solid"/>
            <a:tailEnd type="triangle"/>
          </a:ln>
        </p:spPr>
      </p:sp>
      <p:sp>
        <p:nvSpPr>
          <p:cNvPr id="17" name="Shape 13"/>
          <p:cNvSpPr/>
          <p:nvPr/>
        </p:nvSpPr>
        <p:spPr>
          <a:xfrm>
            <a:off x="7406640" y="1874520"/>
            <a:ext cx="1920240" cy="777240"/>
          </a:xfrm>
          <a:prstGeom prst="roundRect">
            <a:avLst>
              <a:gd name="adj" fmla="val 9412"/>
            </a:avLst>
          </a:prstGeom>
          <a:solidFill>
            <a:srgbClr val="EEF2FF"/>
          </a:solidFill>
          <a:ln w="12700">
            <a:solidFill>
              <a:srgbClr val="C7D2FE"/>
            </a:solidFill>
            <a:prstDash val="solid"/>
          </a:ln>
        </p:spPr>
      </p:sp>
      <p:sp>
        <p:nvSpPr>
          <p:cNvPr id="18" name="Text 14"/>
          <p:cNvSpPr txBox="1"/>
          <p:nvPr/>
        </p:nvSpPr>
        <p:spPr>
          <a:xfrm>
            <a:off x="7479792" y="1892808"/>
            <a:ext cx="1773936" cy="740664"/>
          </a:xfrm>
          <a:prstGeom prst="rect">
            <a:avLst/>
          </a:prstGeom>
          <a:noFill/>
          <a:ln/>
        </p:spPr>
        <p:txBody>
          <a:bodyPr wrap="square" lIns="0" tIns="0" rIns="0" bIns="0" rtlCol="0" anchor="ctr"/>
          <a:lstStyle/>
          <a:p>
            <a:pPr algn="ctr" indent="0" marL="0">
              <a:spcAft>
                <a:spcPts val="200"/>
              </a:spcAft>
              <a:buNone/>
            </a:pPr>
            <a:r>
              <a:rPr lang="en-US" sz="1150" b="1" dirty="0">
                <a:solidFill>
                  <a:srgbClr val="3730A3"/>
                </a:solidFill>
                <a:latin typeface="Roboto" pitchFamily="34" charset="0"/>
                <a:ea typeface="Roboto" pitchFamily="34" charset="-122"/>
                <a:cs typeface="Roboto" pitchFamily="34" charset="-120"/>
              </a:rPr>
              <a:t>documentsVerified</a:t>
            </a:r>
            <a:endParaRPr lang="en-US" sz="1150" dirty="0"/>
          </a:p>
          <a:p>
            <a:pPr algn="ctr" indent="0" marL="0">
              <a:spcAft>
                <a:spcPts val="200"/>
              </a:spcAft>
              <a:buNone/>
            </a:pPr>
            <a:r>
              <a:rPr lang="en-US" sz="950" dirty="0">
                <a:solidFill>
                  <a:srgbClr val="64748B"/>
                </a:solidFill>
                <a:latin typeface="Roboto" pitchFamily="34" charset="0"/>
                <a:ea typeface="Roboto" pitchFamily="34" charset="-122"/>
                <a:cs typeface="Roboto" pitchFamily="34" charset="-120"/>
              </a:rPr>
              <a:t>officer</a:t>
            </a:r>
            <a:endParaRPr lang="en-US" sz="1150" dirty="0"/>
          </a:p>
        </p:txBody>
      </p:sp>
      <p:sp>
        <p:nvSpPr>
          <p:cNvPr id="19" name="Shape 15"/>
          <p:cNvSpPr/>
          <p:nvPr/>
        </p:nvSpPr>
        <p:spPr>
          <a:xfrm>
            <a:off x="9345168" y="2258568"/>
            <a:ext cx="329184" cy="0"/>
          </a:xfrm>
          <a:prstGeom prst="line">
            <a:avLst/>
          </a:prstGeom>
          <a:noFill/>
          <a:ln w="19050">
            <a:solidFill>
              <a:srgbClr val="4F46E5"/>
            </a:solidFill>
            <a:prstDash val="solid"/>
            <a:tailEnd type="triangle"/>
          </a:ln>
        </p:spPr>
      </p:sp>
      <p:sp>
        <p:nvSpPr>
          <p:cNvPr id="20" name="Shape 16"/>
          <p:cNvSpPr/>
          <p:nvPr/>
        </p:nvSpPr>
        <p:spPr>
          <a:xfrm>
            <a:off x="9692640" y="1874520"/>
            <a:ext cx="1920240" cy="777240"/>
          </a:xfrm>
          <a:prstGeom prst="roundRect">
            <a:avLst>
              <a:gd name="adj" fmla="val 9412"/>
            </a:avLst>
          </a:prstGeom>
          <a:solidFill>
            <a:srgbClr val="FEF3C7"/>
          </a:solidFill>
          <a:ln w="12700">
            <a:solidFill>
              <a:srgbClr val="FCD34D"/>
            </a:solidFill>
            <a:prstDash val="solid"/>
          </a:ln>
        </p:spPr>
      </p:sp>
      <p:sp>
        <p:nvSpPr>
          <p:cNvPr id="21" name="Text 17"/>
          <p:cNvSpPr txBox="1"/>
          <p:nvPr/>
        </p:nvSpPr>
        <p:spPr>
          <a:xfrm>
            <a:off x="9765792" y="1892808"/>
            <a:ext cx="1773936" cy="740664"/>
          </a:xfrm>
          <a:prstGeom prst="rect">
            <a:avLst/>
          </a:prstGeom>
          <a:noFill/>
          <a:ln/>
        </p:spPr>
        <p:txBody>
          <a:bodyPr wrap="square" lIns="0" tIns="0" rIns="0" bIns="0" rtlCol="0" anchor="ctr"/>
          <a:lstStyle/>
          <a:p>
            <a:pPr algn="ctr" indent="0" marL="0">
              <a:spcAft>
                <a:spcPts val="200"/>
              </a:spcAft>
              <a:buNone/>
            </a:pPr>
            <a:r>
              <a:rPr lang="en-US" sz="1150" b="1" dirty="0">
                <a:solidFill>
                  <a:srgbClr val="92400E"/>
                </a:solidFill>
                <a:latin typeface="Roboto" pitchFamily="34" charset="0"/>
                <a:ea typeface="Roboto" pitchFamily="34" charset="-122"/>
                <a:cs typeface="Roboto" pitchFamily="34" charset="-120"/>
              </a:rPr>
              <a:t>product checks</a:t>
            </a:r>
            <a:endParaRPr lang="en-US" sz="1150" dirty="0"/>
          </a:p>
          <a:p>
            <a:pPr algn="ctr" indent="0" marL="0">
              <a:spcAft>
                <a:spcPts val="200"/>
              </a:spcAft>
              <a:buNone/>
            </a:pPr>
            <a:r>
              <a:rPr lang="en-US" sz="950" dirty="0">
                <a:solidFill>
                  <a:srgbClr val="64748B"/>
                </a:solidFill>
                <a:latin typeface="Roboto" pitchFamily="34" charset="0"/>
                <a:ea typeface="Roboto" pitchFamily="34" charset="-122"/>
                <a:cs typeface="Roboto" pitchFamily="34" charset="-120"/>
              </a:rPr>
              <a:t>branch · see below</a:t>
            </a:r>
            <a:endParaRPr lang="en-US" sz="1150" dirty="0"/>
          </a:p>
        </p:txBody>
      </p:sp>
      <p:sp>
        <p:nvSpPr>
          <p:cNvPr id="22" name="Shape 18"/>
          <p:cNvSpPr/>
          <p:nvPr/>
        </p:nvSpPr>
        <p:spPr>
          <a:xfrm>
            <a:off x="10652760" y="2670048"/>
            <a:ext cx="0" cy="557784"/>
          </a:xfrm>
          <a:prstGeom prst="line">
            <a:avLst/>
          </a:prstGeom>
          <a:noFill/>
          <a:ln w="19050">
            <a:solidFill>
              <a:srgbClr val="4F46E5"/>
            </a:solidFill>
            <a:prstDash val="solid"/>
            <a:tailEnd type="triangle"/>
          </a:ln>
        </p:spPr>
      </p:sp>
      <p:sp>
        <p:nvSpPr>
          <p:cNvPr id="23" name="Shape 19"/>
          <p:cNvSpPr/>
          <p:nvPr/>
        </p:nvSpPr>
        <p:spPr>
          <a:xfrm>
            <a:off x="548640" y="3246120"/>
            <a:ext cx="1920240" cy="777240"/>
          </a:xfrm>
          <a:prstGeom prst="roundRect">
            <a:avLst>
              <a:gd name="adj" fmla="val 9412"/>
            </a:avLst>
          </a:prstGeom>
          <a:solidFill>
            <a:srgbClr val="DCFCE7"/>
          </a:solidFill>
          <a:ln w="12700">
            <a:solidFill>
              <a:srgbClr val="86EFAC"/>
            </a:solidFill>
            <a:prstDash val="solid"/>
          </a:ln>
        </p:spPr>
      </p:sp>
      <p:sp>
        <p:nvSpPr>
          <p:cNvPr id="24" name="Text 20"/>
          <p:cNvSpPr txBox="1"/>
          <p:nvPr/>
        </p:nvSpPr>
        <p:spPr>
          <a:xfrm>
            <a:off x="621792" y="3264408"/>
            <a:ext cx="1773936" cy="740664"/>
          </a:xfrm>
          <a:prstGeom prst="rect">
            <a:avLst/>
          </a:prstGeom>
          <a:noFill/>
          <a:ln/>
        </p:spPr>
        <p:txBody>
          <a:bodyPr wrap="square" lIns="0" tIns="0" rIns="0" bIns="0" rtlCol="0" anchor="ctr"/>
          <a:lstStyle/>
          <a:p>
            <a:pPr algn="ctr" indent="0" marL="0">
              <a:spcAft>
                <a:spcPts val="200"/>
              </a:spcAft>
              <a:buNone/>
            </a:pPr>
            <a:r>
              <a:rPr lang="en-US" sz="1150" b="1" dirty="0">
                <a:solidFill>
                  <a:srgbClr val="166534"/>
                </a:solidFill>
                <a:latin typeface="Roboto" pitchFamily="34" charset="0"/>
                <a:ea typeface="Roboto" pitchFamily="34" charset="-122"/>
                <a:cs typeface="Roboto" pitchFamily="34" charset="-120"/>
              </a:rPr>
              <a:t>disbursed</a:t>
            </a:r>
            <a:endParaRPr lang="en-US" sz="1150" dirty="0"/>
          </a:p>
          <a:p>
            <a:pPr algn="ctr" indent="0" marL="0">
              <a:spcAft>
                <a:spcPts val="200"/>
              </a:spcAft>
              <a:buNone/>
            </a:pPr>
            <a:r>
              <a:rPr lang="en-US" sz="950" dirty="0">
                <a:solidFill>
                  <a:srgbClr val="64748B"/>
                </a:solidFill>
                <a:latin typeface="Roboto" pitchFamily="34" charset="0"/>
                <a:ea typeface="Roboto" pitchFamily="34" charset="-122"/>
                <a:cs typeface="Roboto" pitchFamily="34" charset="-120"/>
              </a:rPr>
              <a:t>—</a:t>
            </a:r>
            <a:endParaRPr lang="en-US" sz="1150" dirty="0"/>
          </a:p>
        </p:txBody>
      </p:sp>
      <p:sp>
        <p:nvSpPr>
          <p:cNvPr id="25" name="Shape 21"/>
          <p:cNvSpPr/>
          <p:nvPr/>
        </p:nvSpPr>
        <p:spPr>
          <a:xfrm flipH="1">
            <a:off x="2487168" y="3630168"/>
            <a:ext cx="329184" cy="0"/>
          </a:xfrm>
          <a:prstGeom prst="line">
            <a:avLst/>
          </a:prstGeom>
          <a:noFill/>
          <a:ln w="19050">
            <a:solidFill>
              <a:srgbClr val="4F46E5"/>
            </a:solidFill>
            <a:prstDash val="solid"/>
            <a:tailEnd type="triangle"/>
          </a:ln>
        </p:spPr>
      </p:sp>
      <p:sp>
        <p:nvSpPr>
          <p:cNvPr id="26" name="Shape 22"/>
          <p:cNvSpPr/>
          <p:nvPr/>
        </p:nvSpPr>
        <p:spPr>
          <a:xfrm>
            <a:off x="2834640" y="3246120"/>
            <a:ext cx="1920240" cy="777240"/>
          </a:xfrm>
          <a:prstGeom prst="roundRect">
            <a:avLst>
              <a:gd name="adj" fmla="val 9412"/>
            </a:avLst>
          </a:prstGeom>
          <a:solidFill>
            <a:srgbClr val="EEF2FF"/>
          </a:solidFill>
          <a:ln w="12700">
            <a:solidFill>
              <a:srgbClr val="C7D2FE"/>
            </a:solidFill>
            <a:prstDash val="solid"/>
          </a:ln>
        </p:spPr>
      </p:sp>
      <p:sp>
        <p:nvSpPr>
          <p:cNvPr id="27" name="Text 23"/>
          <p:cNvSpPr txBox="1"/>
          <p:nvPr/>
        </p:nvSpPr>
        <p:spPr>
          <a:xfrm>
            <a:off x="2907792" y="3264408"/>
            <a:ext cx="1773936" cy="740664"/>
          </a:xfrm>
          <a:prstGeom prst="rect">
            <a:avLst/>
          </a:prstGeom>
          <a:noFill/>
          <a:ln/>
        </p:spPr>
        <p:txBody>
          <a:bodyPr wrap="square" lIns="0" tIns="0" rIns="0" bIns="0" rtlCol="0" anchor="ctr"/>
          <a:lstStyle/>
          <a:p>
            <a:pPr algn="ctr" indent="0" marL="0">
              <a:spcAft>
                <a:spcPts val="200"/>
              </a:spcAft>
              <a:buNone/>
            </a:pPr>
            <a:r>
              <a:rPr lang="en-US" sz="1150" b="1" dirty="0">
                <a:solidFill>
                  <a:srgbClr val="3730A3"/>
                </a:solidFill>
                <a:latin typeface="Roboto" pitchFamily="34" charset="0"/>
                <a:ea typeface="Roboto" pitchFamily="34" charset="-122"/>
                <a:cs typeface="Roboto" pitchFamily="34" charset="-120"/>
              </a:rPr>
              <a:t>sanctioned</a:t>
            </a:r>
            <a:endParaRPr lang="en-US" sz="1150" dirty="0"/>
          </a:p>
          <a:p>
            <a:pPr algn="ctr" indent="0" marL="0">
              <a:spcAft>
                <a:spcPts val="200"/>
              </a:spcAft>
              <a:buNone/>
            </a:pPr>
            <a:r>
              <a:rPr lang="en-US" sz="950" dirty="0">
                <a:solidFill>
                  <a:srgbClr val="64748B"/>
                </a:solidFill>
                <a:latin typeface="Roboto" pitchFamily="34" charset="0"/>
                <a:ea typeface="Roboto" pitchFamily="34" charset="-122"/>
                <a:cs typeface="Roboto" pitchFamily="34" charset="-120"/>
              </a:rPr>
              <a:t>operations</a:t>
            </a:r>
            <a:endParaRPr lang="en-US" sz="1150" dirty="0"/>
          </a:p>
        </p:txBody>
      </p:sp>
      <p:sp>
        <p:nvSpPr>
          <p:cNvPr id="28" name="Shape 24"/>
          <p:cNvSpPr/>
          <p:nvPr/>
        </p:nvSpPr>
        <p:spPr>
          <a:xfrm flipH="1">
            <a:off x="4773168" y="3630168"/>
            <a:ext cx="329184" cy="0"/>
          </a:xfrm>
          <a:prstGeom prst="line">
            <a:avLst/>
          </a:prstGeom>
          <a:noFill/>
          <a:ln w="19050">
            <a:solidFill>
              <a:srgbClr val="4F46E5"/>
            </a:solidFill>
            <a:prstDash val="solid"/>
            <a:tailEnd type="triangle"/>
          </a:ln>
        </p:spPr>
      </p:sp>
      <p:sp>
        <p:nvSpPr>
          <p:cNvPr id="29" name="Shape 25"/>
          <p:cNvSpPr/>
          <p:nvPr/>
        </p:nvSpPr>
        <p:spPr>
          <a:xfrm>
            <a:off x="5120640" y="3246120"/>
            <a:ext cx="1920240" cy="777240"/>
          </a:xfrm>
          <a:prstGeom prst="roundRect">
            <a:avLst>
              <a:gd name="adj" fmla="val 9412"/>
            </a:avLst>
          </a:prstGeom>
          <a:solidFill>
            <a:srgbClr val="EEF2FF"/>
          </a:solidFill>
          <a:ln w="12700">
            <a:solidFill>
              <a:srgbClr val="C7D2FE"/>
            </a:solidFill>
            <a:prstDash val="solid"/>
          </a:ln>
        </p:spPr>
      </p:sp>
      <p:sp>
        <p:nvSpPr>
          <p:cNvPr id="30" name="Text 26"/>
          <p:cNvSpPr txBox="1"/>
          <p:nvPr/>
        </p:nvSpPr>
        <p:spPr>
          <a:xfrm>
            <a:off x="5193792" y="3264408"/>
            <a:ext cx="1773936" cy="740664"/>
          </a:xfrm>
          <a:prstGeom prst="rect">
            <a:avLst/>
          </a:prstGeom>
          <a:noFill/>
          <a:ln/>
        </p:spPr>
        <p:txBody>
          <a:bodyPr wrap="square" lIns="0" tIns="0" rIns="0" bIns="0" rtlCol="0" anchor="ctr"/>
          <a:lstStyle/>
          <a:p>
            <a:pPr algn="ctr" indent="0" marL="0">
              <a:spcAft>
                <a:spcPts val="200"/>
              </a:spcAft>
              <a:buNone/>
            </a:pPr>
            <a:r>
              <a:rPr lang="en-US" sz="1150" b="1" dirty="0">
                <a:solidFill>
                  <a:srgbClr val="3730A3"/>
                </a:solidFill>
                <a:latin typeface="Roboto" pitchFamily="34" charset="0"/>
                <a:ea typeface="Roboto" pitchFamily="34" charset="-122"/>
                <a:cs typeface="Roboto" pitchFamily="34" charset="-120"/>
              </a:rPr>
              <a:t>accepted</a:t>
            </a:r>
            <a:endParaRPr lang="en-US" sz="1150" dirty="0"/>
          </a:p>
          <a:p>
            <a:pPr algn="ctr" indent="0" marL="0">
              <a:spcAft>
                <a:spcPts val="200"/>
              </a:spcAft>
              <a:buNone/>
            </a:pPr>
            <a:r>
              <a:rPr lang="en-US" sz="950" dirty="0">
                <a:solidFill>
                  <a:srgbClr val="64748B"/>
                </a:solidFill>
                <a:latin typeface="Roboto" pitchFamily="34" charset="0"/>
                <a:ea typeface="Roboto" pitchFamily="34" charset="-122"/>
                <a:cs typeface="Roboto" pitchFamily="34" charset="-120"/>
              </a:rPr>
              <a:t>officer / head</a:t>
            </a:r>
            <a:endParaRPr lang="en-US" sz="1150" dirty="0"/>
          </a:p>
        </p:txBody>
      </p:sp>
      <p:sp>
        <p:nvSpPr>
          <p:cNvPr id="31" name="Shape 27"/>
          <p:cNvSpPr/>
          <p:nvPr/>
        </p:nvSpPr>
        <p:spPr>
          <a:xfrm flipH="1">
            <a:off x="7059168" y="3630168"/>
            <a:ext cx="329184" cy="0"/>
          </a:xfrm>
          <a:prstGeom prst="line">
            <a:avLst/>
          </a:prstGeom>
          <a:noFill/>
          <a:ln w="19050">
            <a:solidFill>
              <a:srgbClr val="4F46E5"/>
            </a:solidFill>
            <a:prstDash val="solid"/>
            <a:tailEnd type="triangle"/>
          </a:ln>
        </p:spPr>
      </p:sp>
      <p:sp>
        <p:nvSpPr>
          <p:cNvPr id="32" name="Shape 28"/>
          <p:cNvSpPr/>
          <p:nvPr/>
        </p:nvSpPr>
        <p:spPr>
          <a:xfrm>
            <a:off x="7406640" y="3246120"/>
            <a:ext cx="1920240" cy="777240"/>
          </a:xfrm>
          <a:prstGeom prst="roundRect">
            <a:avLst>
              <a:gd name="adj" fmla="val 9412"/>
            </a:avLst>
          </a:prstGeom>
          <a:solidFill>
            <a:srgbClr val="EEF2FF"/>
          </a:solidFill>
          <a:ln w="12700">
            <a:solidFill>
              <a:srgbClr val="C7D2FE"/>
            </a:solidFill>
            <a:prstDash val="solid"/>
          </a:ln>
        </p:spPr>
      </p:sp>
      <p:sp>
        <p:nvSpPr>
          <p:cNvPr id="33" name="Text 29"/>
          <p:cNvSpPr txBox="1"/>
          <p:nvPr/>
        </p:nvSpPr>
        <p:spPr>
          <a:xfrm>
            <a:off x="7479792" y="3264408"/>
            <a:ext cx="1773936" cy="740664"/>
          </a:xfrm>
          <a:prstGeom prst="rect">
            <a:avLst/>
          </a:prstGeom>
          <a:noFill/>
          <a:ln/>
        </p:spPr>
        <p:txBody>
          <a:bodyPr wrap="square" lIns="0" tIns="0" rIns="0" bIns="0" rtlCol="0" anchor="ctr"/>
          <a:lstStyle/>
          <a:p>
            <a:pPr algn="ctr" indent="0" marL="0">
              <a:spcAft>
                <a:spcPts val="200"/>
              </a:spcAft>
              <a:buNone/>
            </a:pPr>
            <a:r>
              <a:rPr lang="en-US" sz="1150" b="1" dirty="0">
                <a:solidFill>
                  <a:srgbClr val="3730A3"/>
                </a:solidFill>
                <a:latin typeface="Roboto" pitchFamily="34" charset="0"/>
                <a:ea typeface="Roboto" pitchFamily="34" charset="-122"/>
                <a:cs typeface="Roboto" pitchFamily="34" charset="-120"/>
              </a:rPr>
              <a:t>offerGenerated</a:t>
            </a:r>
            <a:endParaRPr lang="en-US" sz="1150" dirty="0"/>
          </a:p>
          <a:p>
            <a:pPr algn="ctr" indent="0" marL="0">
              <a:spcAft>
                <a:spcPts val="200"/>
              </a:spcAft>
              <a:buNone/>
            </a:pPr>
            <a:r>
              <a:rPr lang="en-US" sz="950" dirty="0">
                <a:solidFill>
                  <a:srgbClr val="64748B"/>
                </a:solidFill>
                <a:latin typeface="Roboto" pitchFamily="34" charset="0"/>
                <a:ea typeface="Roboto" pitchFamily="34" charset="-122"/>
                <a:cs typeface="Roboto" pitchFamily="34" charset="-120"/>
              </a:rPr>
              <a:t>borrower</a:t>
            </a:r>
            <a:endParaRPr lang="en-US" sz="1150" dirty="0"/>
          </a:p>
        </p:txBody>
      </p:sp>
      <p:sp>
        <p:nvSpPr>
          <p:cNvPr id="34" name="Shape 30"/>
          <p:cNvSpPr/>
          <p:nvPr/>
        </p:nvSpPr>
        <p:spPr>
          <a:xfrm flipH="1">
            <a:off x="9345168" y="3630168"/>
            <a:ext cx="329184" cy="0"/>
          </a:xfrm>
          <a:prstGeom prst="line">
            <a:avLst/>
          </a:prstGeom>
          <a:noFill/>
          <a:ln w="19050">
            <a:solidFill>
              <a:srgbClr val="4F46E5"/>
            </a:solidFill>
            <a:prstDash val="solid"/>
            <a:tailEnd type="triangle"/>
          </a:ln>
        </p:spPr>
      </p:sp>
      <p:sp>
        <p:nvSpPr>
          <p:cNvPr id="35" name="Shape 31"/>
          <p:cNvSpPr/>
          <p:nvPr/>
        </p:nvSpPr>
        <p:spPr>
          <a:xfrm>
            <a:off x="9692640" y="3246120"/>
            <a:ext cx="1920240" cy="777240"/>
          </a:xfrm>
          <a:prstGeom prst="roundRect">
            <a:avLst>
              <a:gd name="adj" fmla="val 9412"/>
            </a:avLst>
          </a:prstGeom>
          <a:solidFill>
            <a:srgbClr val="EEF2FF"/>
          </a:solidFill>
          <a:ln w="12700">
            <a:solidFill>
              <a:srgbClr val="C7D2FE"/>
            </a:solidFill>
            <a:prstDash val="solid"/>
          </a:ln>
        </p:spPr>
      </p:sp>
      <p:sp>
        <p:nvSpPr>
          <p:cNvPr id="36" name="Text 32"/>
          <p:cNvSpPr txBox="1"/>
          <p:nvPr/>
        </p:nvSpPr>
        <p:spPr>
          <a:xfrm>
            <a:off x="9765792" y="3264408"/>
            <a:ext cx="1773936" cy="740664"/>
          </a:xfrm>
          <a:prstGeom prst="rect">
            <a:avLst/>
          </a:prstGeom>
          <a:noFill/>
          <a:ln/>
        </p:spPr>
        <p:txBody>
          <a:bodyPr wrap="square" lIns="0" tIns="0" rIns="0" bIns="0" rtlCol="0" anchor="ctr"/>
          <a:lstStyle/>
          <a:p>
            <a:pPr algn="ctr" indent="0" marL="0">
              <a:spcAft>
                <a:spcPts val="200"/>
              </a:spcAft>
              <a:buNone/>
            </a:pPr>
            <a:r>
              <a:rPr lang="en-US" sz="1150" b="1" dirty="0">
                <a:solidFill>
                  <a:srgbClr val="3730A3"/>
                </a:solidFill>
                <a:latin typeface="Roboto" pitchFamily="34" charset="0"/>
                <a:ea typeface="Roboto" pitchFamily="34" charset="-122"/>
                <a:cs typeface="Roboto" pitchFamily="34" charset="-120"/>
              </a:rPr>
              <a:t>underReview</a:t>
            </a:r>
            <a:endParaRPr lang="en-US" sz="1150" dirty="0"/>
          </a:p>
          <a:p>
            <a:pPr algn="ctr" indent="0" marL="0">
              <a:spcAft>
                <a:spcPts val="200"/>
              </a:spcAft>
              <a:buNone/>
            </a:pPr>
            <a:r>
              <a:rPr lang="en-US" sz="950" dirty="0">
                <a:solidFill>
                  <a:srgbClr val="64748B"/>
                </a:solidFill>
                <a:latin typeface="Roboto" pitchFamily="34" charset="0"/>
                <a:ea typeface="Roboto" pitchFamily="34" charset="-122"/>
                <a:cs typeface="Roboto" pitchFamily="34" charset="-120"/>
              </a:rPr>
              <a:t>officer · credit committee</a:t>
            </a:r>
            <a:endParaRPr lang="en-US" sz="1150" dirty="0"/>
          </a:p>
        </p:txBody>
      </p:sp>
      <p:sp>
        <p:nvSpPr>
          <p:cNvPr id="37" name="Shape 33"/>
          <p:cNvSpPr/>
          <p:nvPr/>
        </p:nvSpPr>
        <p:spPr>
          <a:xfrm>
            <a:off x="5212080" y="1581912"/>
            <a:ext cx="1737360" cy="246888"/>
          </a:xfrm>
          <a:prstGeom prst="roundRect">
            <a:avLst>
              <a:gd name="adj" fmla="val 50000"/>
            </a:avLst>
          </a:prstGeom>
          <a:solidFill>
            <a:srgbClr val="FFF1F2"/>
          </a:solidFill>
          <a:ln w="12700">
            <a:solidFill>
              <a:srgbClr val="FFF1F2"/>
            </a:solidFill>
            <a:prstDash val="solid"/>
          </a:ln>
        </p:spPr>
      </p:sp>
      <p:sp>
        <p:nvSpPr>
          <p:cNvPr id="38" name="Text 34"/>
          <p:cNvSpPr txBox="1"/>
          <p:nvPr/>
        </p:nvSpPr>
        <p:spPr>
          <a:xfrm>
            <a:off x="5212080" y="1581912"/>
            <a:ext cx="1737360" cy="246888"/>
          </a:xfrm>
          <a:prstGeom prst="rect">
            <a:avLst/>
          </a:prstGeom>
          <a:noFill/>
          <a:ln/>
        </p:spPr>
        <p:txBody>
          <a:bodyPr wrap="square" lIns="0" tIns="0" rIns="0" bIns="0" rtlCol="0" anchor="ctr"/>
          <a:lstStyle/>
          <a:p>
            <a:pPr algn="ctr" indent="0" marL="0">
              <a:buNone/>
            </a:pPr>
            <a:r>
              <a:rPr lang="en-US" sz="850" b="1" dirty="0">
                <a:solidFill>
                  <a:srgbClr val="9F1239"/>
                </a:solidFill>
                <a:latin typeface="Roboto" pitchFamily="34" charset="0"/>
                <a:ea typeface="Roboto" pitchFamily="34" charset="-122"/>
                <a:cs typeface="Roboto" pitchFamily="34" charset="-120"/>
              </a:rPr>
              <a:t>Intake · Privacy</a:t>
            </a:r>
            <a:endParaRPr lang="en-US" sz="850" dirty="0"/>
          </a:p>
        </p:txBody>
      </p:sp>
      <p:sp>
        <p:nvSpPr>
          <p:cNvPr id="39" name="Shape 35"/>
          <p:cNvSpPr/>
          <p:nvPr/>
        </p:nvSpPr>
        <p:spPr>
          <a:xfrm>
            <a:off x="7498080" y="1581912"/>
            <a:ext cx="1737360" cy="246888"/>
          </a:xfrm>
          <a:prstGeom prst="roundRect">
            <a:avLst>
              <a:gd name="adj" fmla="val 50000"/>
            </a:avLst>
          </a:prstGeom>
          <a:solidFill>
            <a:srgbClr val="FFF1F2"/>
          </a:solidFill>
          <a:ln w="12700">
            <a:solidFill>
              <a:srgbClr val="FFF1F2"/>
            </a:solidFill>
            <a:prstDash val="solid"/>
          </a:ln>
        </p:spPr>
      </p:sp>
      <p:sp>
        <p:nvSpPr>
          <p:cNvPr id="40" name="Text 36"/>
          <p:cNvSpPr txBox="1"/>
          <p:nvPr/>
        </p:nvSpPr>
        <p:spPr>
          <a:xfrm>
            <a:off x="7498080" y="1581912"/>
            <a:ext cx="1737360" cy="246888"/>
          </a:xfrm>
          <a:prstGeom prst="rect">
            <a:avLst/>
          </a:prstGeom>
          <a:noFill/>
          <a:ln/>
        </p:spPr>
        <p:txBody>
          <a:bodyPr wrap="square" lIns="0" tIns="0" rIns="0" bIns="0" rtlCol="0" anchor="ctr"/>
          <a:lstStyle/>
          <a:p>
            <a:pPr algn="ctr" indent="0" marL="0">
              <a:buNone/>
            </a:pPr>
            <a:r>
              <a:rPr lang="en-US" sz="850" b="1" dirty="0">
                <a:solidFill>
                  <a:srgbClr val="9F1239"/>
                </a:solidFill>
                <a:latin typeface="Roboto" pitchFamily="34" charset="0"/>
                <a:ea typeface="Roboto" pitchFamily="34" charset="-122"/>
                <a:cs typeface="Roboto" pitchFamily="34" charset="-120"/>
              </a:rPr>
              <a:t>Case assessment</a:t>
            </a:r>
            <a:endParaRPr lang="en-US" sz="850" dirty="0"/>
          </a:p>
        </p:txBody>
      </p:sp>
      <p:sp>
        <p:nvSpPr>
          <p:cNvPr id="41" name="Shape 37"/>
          <p:cNvSpPr/>
          <p:nvPr/>
        </p:nvSpPr>
        <p:spPr>
          <a:xfrm>
            <a:off x="9784080" y="4069080"/>
            <a:ext cx="1737360" cy="246888"/>
          </a:xfrm>
          <a:prstGeom prst="roundRect">
            <a:avLst>
              <a:gd name="adj" fmla="val 50000"/>
            </a:avLst>
          </a:prstGeom>
          <a:solidFill>
            <a:srgbClr val="FFF1F2"/>
          </a:solidFill>
          <a:ln w="12700">
            <a:solidFill>
              <a:srgbClr val="FFF1F2"/>
            </a:solidFill>
            <a:prstDash val="solid"/>
          </a:ln>
        </p:spPr>
      </p:sp>
      <p:sp>
        <p:nvSpPr>
          <p:cNvPr id="42" name="Text 38"/>
          <p:cNvSpPr txBox="1"/>
          <p:nvPr/>
        </p:nvSpPr>
        <p:spPr>
          <a:xfrm>
            <a:off x="9784080" y="4069080"/>
            <a:ext cx="1737360" cy="246888"/>
          </a:xfrm>
          <a:prstGeom prst="rect">
            <a:avLst/>
          </a:prstGeom>
          <a:noFill/>
          <a:ln/>
        </p:spPr>
        <p:txBody>
          <a:bodyPr wrap="square" lIns="0" tIns="0" rIns="0" bIns="0" rtlCol="0" anchor="ctr"/>
          <a:lstStyle/>
          <a:p>
            <a:pPr algn="ctr" indent="0" marL="0">
              <a:buNone/>
            </a:pPr>
            <a:r>
              <a:rPr lang="en-US" sz="850" b="1" dirty="0">
                <a:solidFill>
                  <a:srgbClr val="9F1239"/>
                </a:solidFill>
                <a:latin typeface="Roboto" pitchFamily="34" charset="0"/>
                <a:ea typeface="Roboto" pitchFamily="34" charset="-122"/>
                <a:cs typeface="Roboto" pitchFamily="34" charset="-120"/>
              </a:rPr>
              <a:t>Underwriting crew · Router</a:t>
            </a:r>
            <a:endParaRPr lang="en-US" sz="850" dirty="0"/>
          </a:p>
        </p:txBody>
      </p:sp>
      <p:sp>
        <p:nvSpPr>
          <p:cNvPr id="43" name="Shape 39"/>
          <p:cNvSpPr/>
          <p:nvPr/>
        </p:nvSpPr>
        <p:spPr>
          <a:xfrm>
            <a:off x="7498080" y="4069080"/>
            <a:ext cx="1737360" cy="246888"/>
          </a:xfrm>
          <a:prstGeom prst="roundRect">
            <a:avLst>
              <a:gd name="adj" fmla="val 50000"/>
            </a:avLst>
          </a:prstGeom>
          <a:solidFill>
            <a:srgbClr val="FFF1F2"/>
          </a:solidFill>
          <a:ln w="12700">
            <a:solidFill>
              <a:srgbClr val="FFF1F2"/>
            </a:solidFill>
            <a:prstDash val="solid"/>
          </a:ln>
        </p:spPr>
      </p:sp>
      <p:sp>
        <p:nvSpPr>
          <p:cNvPr id="44" name="Text 40"/>
          <p:cNvSpPr txBox="1"/>
          <p:nvPr/>
        </p:nvSpPr>
        <p:spPr>
          <a:xfrm>
            <a:off x="7498080" y="4069080"/>
            <a:ext cx="1737360" cy="246888"/>
          </a:xfrm>
          <a:prstGeom prst="rect">
            <a:avLst/>
          </a:prstGeom>
          <a:noFill/>
          <a:ln/>
        </p:spPr>
        <p:txBody>
          <a:bodyPr wrap="square" lIns="0" tIns="0" rIns="0" bIns="0" rtlCol="0" anchor="ctr"/>
          <a:lstStyle/>
          <a:p>
            <a:pPr algn="ctr" indent="0" marL="0">
              <a:buNone/>
            </a:pPr>
            <a:r>
              <a:rPr lang="en-US" sz="850" b="1" dirty="0">
                <a:solidFill>
                  <a:srgbClr val="9F1239"/>
                </a:solidFill>
                <a:latin typeface="Roboto" pitchFamily="34" charset="0"/>
                <a:ea typeface="Roboto" pitchFamily="34" charset="-122"/>
                <a:cs typeface="Roboto" pitchFamily="34" charset="-120"/>
              </a:rPr>
              <a:t>Offer Generation</a:t>
            </a:r>
            <a:endParaRPr lang="en-US" sz="850" dirty="0"/>
          </a:p>
        </p:txBody>
      </p:sp>
      <p:sp>
        <p:nvSpPr>
          <p:cNvPr id="45" name="Shape 41"/>
          <p:cNvSpPr/>
          <p:nvPr/>
        </p:nvSpPr>
        <p:spPr>
          <a:xfrm>
            <a:off x="5212080" y="4069080"/>
            <a:ext cx="1737360" cy="246888"/>
          </a:xfrm>
          <a:prstGeom prst="roundRect">
            <a:avLst>
              <a:gd name="adj" fmla="val 50000"/>
            </a:avLst>
          </a:prstGeom>
          <a:solidFill>
            <a:srgbClr val="FEF3C7"/>
          </a:solidFill>
          <a:ln w="12700">
            <a:solidFill>
              <a:srgbClr val="FEF3C7"/>
            </a:solidFill>
            <a:prstDash val="solid"/>
          </a:ln>
        </p:spPr>
      </p:sp>
      <p:sp>
        <p:nvSpPr>
          <p:cNvPr id="46" name="Text 42"/>
          <p:cNvSpPr txBox="1"/>
          <p:nvPr/>
        </p:nvSpPr>
        <p:spPr>
          <a:xfrm>
            <a:off x="5212080" y="4069080"/>
            <a:ext cx="1737360" cy="246888"/>
          </a:xfrm>
          <a:prstGeom prst="rect">
            <a:avLst/>
          </a:prstGeom>
          <a:noFill/>
          <a:ln/>
        </p:spPr>
        <p:txBody>
          <a:bodyPr wrap="square" lIns="0" tIns="0" rIns="0" bIns="0" rtlCol="0" anchor="ctr"/>
          <a:lstStyle/>
          <a:p>
            <a:pPr algn="ctr" indent="0" marL="0">
              <a:buNone/>
            </a:pPr>
            <a:r>
              <a:rPr lang="en-US" sz="850" b="1" dirty="0">
                <a:solidFill>
                  <a:srgbClr val="92400E"/>
                </a:solidFill>
                <a:latin typeface="Roboto" pitchFamily="34" charset="0"/>
                <a:ea typeface="Roboto" pitchFamily="34" charset="-122"/>
                <a:cs typeface="Roboto" pitchFamily="34" charset="-120"/>
              </a:rPr>
              <a:t>Head approves &gt; ₹5 lakh</a:t>
            </a:r>
            <a:endParaRPr lang="en-US" sz="850" dirty="0"/>
          </a:p>
        </p:txBody>
      </p:sp>
      <p:sp>
        <p:nvSpPr>
          <p:cNvPr id="47" name="Text 43"/>
          <p:cNvSpPr txBox="1"/>
          <p:nvPr/>
        </p:nvSpPr>
        <p:spPr>
          <a:xfrm>
            <a:off x="548640" y="4526280"/>
            <a:ext cx="7315200" cy="256032"/>
          </a:xfrm>
          <a:prstGeom prst="rect">
            <a:avLst/>
          </a:prstGeom>
          <a:noFill/>
          <a:ln/>
        </p:spPr>
        <p:txBody>
          <a:bodyPr wrap="square" lIns="0" tIns="0" rIns="0" bIns="0" rtlCol="0" anchor="ctr"/>
          <a:lstStyle/>
          <a:p>
            <a:pPr indent="0" marL="0">
              <a:buNone/>
            </a:pPr>
            <a:r>
              <a:rPr lang="en-US" sz="1050" b="1" spc="100" kern="0" dirty="0">
                <a:solidFill>
                  <a:srgbClr val="64748B"/>
                </a:solidFill>
                <a:latin typeface="Roboto" pitchFamily="34" charset="0"/>
                <a:ea typeface="Roboto" pitchFamily="34" charset="-122"/>
                <a:cs typeface="Roboto" pitchFamily="34" charset="-120"/>
              </a:rPr>
              <a:t>PRODUCT BRANCHES (between documentsVerified and review)</a:t>
            </a:r>
            <a:endParaRPr lang="en-US" sz="1050" dirty="0"/>
          </a:p>
        </p:txBody>
      </p:sp>
      <p:sp>
        <p:nvSpPr>
          <p:cNvPr id="48" name="Shape 44"/>
          <p:cNvSpPr/>
          <p:nvPr/>
        </p:nvSpPr>
        <p:spPr>
          <a:xfrm>
            <a:off x="548640" y="4846320"/>
            <a:ext cx="3566160" cy="603504"/>
          </a:xfrm>
          <a:prstGeom prst="roundRect">
            <a:avLst>
              <a:gd name="adj" fmla="val 12121"/>
            </a:avLst>
          </a:prstGeom>
          <a:solidFill>
            <a:srgbClr val="F8FAFC"/>
          </a:solidFill>
          <a:ln w="12700">
            <a:solidFill>
              <a:srgbClr val="E2E8F0"/>
            </a:solidFill>
            <a:prstDash val="solid"/>
          </a:ln>
        </p:spPr>
      </p:sp>
      <p:sp>
        <p:nvSpPr>
          <p:cNvPr id="49" name="Text 45"/>
          <p:cNvSpPr txBox="1"/>
          <p:nvPr/>
        </p:nvSpPr>
        <p:spPr>
          <a:xfrm>
            <a:off x="685800" y="4846320"/>
            <a:ext cx="3337560" cy="603504"/>
          </a:xfrm>
          <a:prstGeom prst="rect">
            <a:avLst/>
          </a:prstGeom>
          <a:noFill/>
          <a:ln/>
        </p:spPr>
        <p:txBody>
          <a:bodyPr wrap="square" lIns="0" tIns="0" rIns="0" bIns="0" rtlCol="0" anchor="ctr"/>
          <a:lstStyle/>
          <a:p>
            <a:pPr indent="0" marL="0">
              <a:buNone/>
            </a:pPr>
            <a:r>
              <a:rPr lang="en-US" sz="1050" b="1" dirty="0">
                <a:solidFill>
                  <a:srgbClr val="0F172A"/>
                </a:solidFill>
                <a:latin typeface="Roboto" pitchFamily="34" charset="0"/>
                <a:ea typeface="Roboto" pitchFamily="34" charset="-122"/>
                <a:cs typeface="Roboto" pitchFamily="34" charset="-120"/>
              </a:rPr>
              <a:t>Gold  </a:t>
            </a:r>
            <a:pPr indent="0" marL="0">
              <a:buNone/>
            </a:pPr>
            <a:r>
              <a:rPr lang="en-US" sz="1050" dirty="0">
                <a:solidFill>
                  <a:srgbClr val="64748B"/>
                </a:solidFill>
                <a:latin typeface="Roboto" pitchFamily="34" charset="0"/>
                <a:ea typeface="Roboto" pitchFamily="34" charset="-122"/>
                <a:cs typeface="Roboto" pitchFamily="34" charset="-120"/>
              </a:rPr>
              <a:t>valuation scheduled → valued</a:t>
            </a:r>
            <a:endParaRPr lang="en-US" sz="1050" dirty="0"/>
          </a:p>
        </p:txBody>
      </p:sp>
      <p:sp>
        <p:nvSpPr>
          <p:cNvPr id="50" name="Shape 46"/>
          <p:cNvSpPr/>
          <p:nvPr/>
        </p:nvSpPr>
        <p:spPr>
          <a:xfrm>
            <a:off x="4297680" y="4846320"/>
            <a:ext cx="3566160" cy="603504"/>
          </a:xfrm>
          <a:prstGeom prst="roundRect">
            <a:avLst>
              <a:gd name="adj" fmla="val 12121"/>
            </a:avLst>
          </a:prstGeom>
          <a:solidFill>
            <a:srgbClr val="F8FAFC"/>
          </a:solidFill>
          <a:ln w="12700">
            <a:solidFill>
              <a:srgbClr val="E2E8F0"/>
            </a:solidFill>
            <a:prstDash val="solid"/>
          </a:ln>
        </p:spPr>
      </p:sp>
      <p:sp>
        <p:nvSpPr>
          <p:cNvPr id="51" name="Text 47"/>
          <p:cNvSpPr txBox="1"/>
          <p:nvPr/>
        </p:nvSpPr>
        <p:spPr>
          <a:xfrm>
            <a:off x="4434840" y="4846320"/>
            <a:ext cx="3337560" cy="603504"/>
          </a:xfrm>
          <a:prstGeom prst="rect">
            <a:avLst/>
          </a:prstGeom>
          <a:noFill/>
          <a:ln/>
        </p:spPr>
        <p:txBody>
          <a:bodyPr wrap="square" lIns="0" tIns="0" rIns="0" bIns="0" rtlCol="0" anchor="ctr"/>
          <a:lstStyle/>
          <a:p>
            <a:pPr indent="0" marL="0">
              <a:buNone/>
            </a:pPr>
            <a:r>
              <a:rPr lang="en-US" sz="1050" b="1" dirty="0">
                <a:solidFill>
                  <a:srgbClr val="0F172A"/>
                </a:solidFill>
                <a:latin typeface="Roboto" pitchFamily="34" charset="0"/>
                <a:ea typeface="Roboto" pitchFamily="34" charset="-122"/>
                <a:cs typeface="Roboto" pitchFamily="34" charset="-120"/>
              </a:rPr>
              <a:t>Tractor · Microfinance  </a:t>
            </a:r>
            <a:pPr indent="0" marL="0">
              <a:buNone/>
            </a:pPr>
            <a:r>
              <a:rPr lang="en-US" sz="1050" dirty="0">
                <a:solidFill>
                  <a:srgbClr val="64748B"/>
                </a:solidFill>
                <a:latin typeface="Roboto" pitchFamily="34" charset="0"/>
                <a:ea typeface="Roboto" pitchFamily="34" charset="-122"/>
                <a:cs typeface="Roboto" pitchFamily="34" charset="-120"/>
              </a:rPr>
              <a:t>field verification</a:t>
            </a:r>
            <a:endParaRPr lang="en-US" sz="1050" dirty="0"/>
          </a:p>
        </p:txBody>
      </p:sp>
      <p:sp>
        <p:nvSpPr>
          <p:cNvPr id="52" name="Shape 48"/>
          <p:cNvSpPr/>
          <p:nvPr/>
        </p:nvSpPr>
        <p:spPr>
          <a:xfrm>
            <a:off x="8046720" y="4846320"/>
            <a:ext cx="3566160" cy="603504"/>
          </a:xfrm>
          <a:prstGeom prst="roundRect">
            <a:avLst>
              <a:gd name="adj" fmla="val 12121"/>
            </a:avLst>
          </a:prstGeom>
          <a:solidFill>
            <a:srgbClr val="F8FAFC"/>
          </a:solidFill>
          <a:ln w="12700">
            <a:solidFill>
              <a:srgbClr val="E2E8F0"/>
            </a:solidFill>
            <a:prstDash val="solid"/>
          </a:ln>
        </p:spPr>
      </p:sp>
      <p:sp>
        <p:nvSpPr>
          <p:cNvPr id="53" name="Text 49"/>
          <p:cNvSpPr txBox="1"/>
          <p:nvPr/>
        </p:nvSpPr>
        <p:spPr>
          <a:xfrm>
            <a:off x="8183880" y="4846320"/>
            <a:ext cx="3337560" cy="603504"/>
          </a:xfrm>
          <a:prstGeom prst="rect">
            <a:avLst/>
          </a:prstGeom>
          <a:noFill/>
          <a:ln/>
        </p:spPr>
        <p:txBody>
          <a:bodyPr wrap="square" lIns="0" tIns="0" rIns="0" bIns="0" rtlCol="0" anchor="ctr"/>
          <a:lstStyle/>
          <a:p>
            <a:pPr indent="0" marL="0">
              <a:buNone/>
            </a:pPr>
            <a:r>
              <a:rPr lang="en-US" sz="1050" b="1" dirty="0">
                <a:solidFill>
                  <a:srgbClr val="0F172A"/>
                </a:solidFill>
                <a:latin typeface="Roboto" pitchFamily="34" charset="0"/>
                <a:ea typeface="Roboto" pitchFamily="34" charset="-122"/>
                <a:cs typeface="Roboto" pitchFamily="34" charset="-120"/>
              </a:rPr>
              <a:t>Loan Against Property  </a:t>
            </a:r>
            <a:pPr indent="0" marL="0">
              <a:buNone/>
            </a:pPr>
            <a:r>
              <a:rPr lang="en-US" sz="1050" dirty="0">
                <a:solidFill>
                  <a:srgbClr val="64748B"/>
                </a:solidFill>
                <a:latin typeface="Roboto" pitchFamily="34" charset="0"/>
                <a:ea typeface="Roboto" pitchFamily="34" charset="-122"/>
                <a:cs typeface="Roboto" pitchFamily="34" charset="-120"/>
              </a:rPr>
              <a:t>property valuation → legal</a:t>
            </a:r>
            <a:endParaRPr lang="en-US" sz="1050" dirty="0"/>
          </a:p>
        </p:txBody>
      </p:sp>
      <p:sp>
        <p:nvSpPr>
          <p:cNvPr id="54" name="Shape 50"/>
          <p:cNvSpPr/>
          <p:nvPr/>
        </p:nvSpPr>
        <p:spPr>
          <a:xfrm>
            <a:off x="548640" y="5559552"/>
            <a:ext cx="3566160" cy="603504"/>
          </a:xfrm>
          <a:prstGeom prst="roundRect">
            <a:avLst>
              <a:gd name="adj" fmla="val 12121"/>
            </a:avLst>
          </a:prstGeom>
          <a:solidFill>
            <a:srgbClr val="F8FAFC"/>
          </a:solidFill>
          <a:ln w="12700">
            <a:solidFill>
              <a:srgbClr val="E2E8F0"/>
            </a:solidFill>
            <a:prstDash val="solid"/>
          </a:ln>
        </p:spPr>
      </p:sp>
      <p:sp>
        <p:nvSpPr>
          <p:cNvPr id="55" name="Text 51"/>
          <p:cNvSpPr txBox="1"/>
          <p:nvPr/>
        </p:nvSpPr>
        <p:spPr>
          <a:xfrm>
            <a:off x="685800" y="5559552"/>
            <a:ext cx="3337560" cy="603504"/>
          </a:xfrm>
          <a:prstGeom prst="rect">
            <a:avLst/>
          </a:prstGeom>
          <a:noFill/>
          <a:ln/>
        </p:spPr>
        <p:txBody>
          <a:bodyPr wrap="square" lIns="0" tIns="0" rIns="0" bIns="0" rtlCol="0" anchor="ctr"/>
          <a:lstStyle/>
          <a:p>
            <a:pPr indent="0" marL="0">
              <a:buNone/>
            </a:pPr>
            <a:r>
              <a:rPr lang="en-US" sz="1050" b="1" dirty="0">
                <a:solidFill>
                  <a:srgbClr val="0F172A"/>
                </a:solidFill>
                <a:latin typeface="Roboto" pitchFamily="34" charset="0"/>
                <a:ea typeface="Roboto" pitchFamily="34" charset="-122"/>
                <a:cs typeface="Roboto" pitchFamily="34" charset="-120"/>
              </a:rPr>
              <a:t>Home  </a:t>
            </a:r>
            <a:pPr indent="0" marL="0">
              <a:buNone/>
            </a:pPr>
            <a:r>
              <a:rPr lang="en-US" sz="1050" dirty="0">
                <a:solidFill>
                  <a:srgbClr val="64748B"/>
                </a:solidFill>
                <a:latin typeface="Roboto" pitchFamily="34" charset="0"/>
                <a:ea typeface="Roboto" pitchFamily="34" charset="-122"/>
                <a:cs typeface="Roboto" pitchFamily="34" charset="-120"/>
              </a:rPr>
              <a:t>6 checks: property, legal, income, docs, technical</a:t>
            </a:r>
            <a:endParaRPr lang="en-US" sz="1050" dirty="0"/>
          </a:p>
        </p:txBody>
      </p:sp>
      <p:sp>
        <p:nvSpPr>
          <p:cNvPr id="56" name="Shape 52"/>
          <p:cNvSpPr/>
          <p:nvPr/>
        </p:nvSpPr>
        <p:spPr>
          <a:xfrm>
            <a:off x="4297680" y="5559552"/>
            <a:ext cx="3566160" cy="603504"/>
          </a:xfrm>
          <a:prstGeom prst="roundRect">
            <a:avLst>
              <a:gd name="adj" fmla="val 12121"/>
            </a:avLst>
          </a:prstGeom>
          <a:solidFill>
            <a:srgbClr val="F8FAFC"/>
          </a:solidFill>
          <a:ln w="12700">
            <a:solidFill>
              <a:srgbClr val="E2E8F0"/>
            </a:solidFill>
            <a:prstDash val="solid"/>
          </a:ln>
        </p:spPr>
      </p:sp>
      <p:sp>
        <p:nvSpPr>
          <p:cNvPr id="57" name="Text 53"/>
          <p:cNvSpPr txBox="1"/>
          <p:nvPr/>
        </p:nvSpPr>
        <p:spPr>
          <a:xfrm>
            <a:off x="4434840" y="5559552"/>
            <a:ext cx="3337560" cy="603504"/>
          </a:xfrm>
          <a:prstGeom prst="rect">
            <a:avLst/>
          </a:prstGeom>
          <a:noFill/>
          <a:ln/>
        </p:spPr>
        <p:txBody>
          <a:bodyPr wrap="square" lIns="0" tIns="0" rIns="0" bIns="0" rtlCol="0" anchor="ctr"/>
          <a:lstStyle/>
          <a:p>
            <a:pPr indent="0" marL="0">
              <a:buNone/>
            </a:pPr>
            <a:r>
              <a:rPr lang="en-US" sz="1050" b="1" dirty="0">
                <a:solidFill>
                  <a:srgbClr val="0F172A"/>
                </a:solidFill>
                <a:latin typeface="Roboto" pitchFamily="34" charset="0"/>
                <a:ea typeface="Roboto" pitchFamily="34" charset="-122"/>
                <a:cs typeface="Roboto" pitchFamily="34" charset="-120"/>
              </a:rPr>
              <a:t>MSME · Working capital  </a:t>
            </a:r>
            <a:pPr indent="0" marL="0">
              <a:buNone/>
            </a:pPr>
            <a:r>
              <a:rPr lang="en-US" sz="1050" dirty="0">
                <a:solidFill>
                  <a:srgbClr val="64748B"/>
                </a:solidFill>
                <a:latin typeface="Roboto" pitchFamily="34" charset="0"/>
                <a:ea typeface="Roboto" pitchFamily="34" charset="-122"/>
                <a:cs typeface="Roboto" pitchFamily="34" charset="-120"/>
              </a:rPr>
              <a:t>bank &amp; GST analysis → committee</a:t>
            </a:r>
            <a:endParaRPr lang="en-US" sz="1050" dirty="0"/>
          </a:p>
        </p:txBody>
      </p:sp>
      <p:sp>
        <p:nvSpPr>
          <p:cNvPr id="58" name="Shape 54"/>
          <p:cNvSpPr/>
          <p:nvPr/>
        </p:nvSpPr>
        <p:spPr>
          <a:xfrm>
            <a:off x="8046720" y="5559552"/>
            <a:ext cx="3566160" cy="603504"/>
          </a:xfrm>
          <a:prstGeom prst="roundRect">
            <a:avLst>
              <a:gd name="adj" fmla="val 12121"/>
            </a:avLst>
          </a:prstGeom>
          <a:solidFill>
            <a:srgbClr val="F8FAFC"/>
          </a:solidFill>
          <a:ln w="12700">
            <a:solidFill>
              <a:srgbClr val="E2E8F0"/>
            </a:solidFill>
            <a:prstDash val="solid"/>
          </a:ln>
        </p:spPr>
      </p:sp>
      <p:sp>
        <p:nvSpPr>
          <p:cNvPr id="59" name="Text 55"/>
          <p:cNvSpPr txBox="1"/>
          <p:nvPr/>
        </p:nvSpPr>
        <p:spPr>
          <a:xfrm>
            <a:off x="8183880" y="5559552"/>
            <a:ext cx="3337560" cy="603504"/>
          </a:xfrm>
          <a:prstGeom prst="rect">
            <a:avLst/>
          </a:prstGeom>
          <a:noFill/>
          <a:ln/>
        </p:spPr>
        <p:txBody>
          <a:bodyPr wrap="square" lIns="0" tIns="0" rIns="0" bIns="0" rtlCol="0" anchor="ctr"/>
          <a:lstStyle/>
          <a:p>
            <a:pPr indent="0" marL="0">
              <a:buNone/>
            </a:pPr>
            <a:r>
              <a:rPr lang="en-US" sz="1050" b="1" dirty="0">
                <a:solidFill>
                  <a:srgbClr val="0F172A"/>
                </a:solidFill>
                <a:latin typeface="Roboto" pitchFamily="34" charset="0"/>
                <a:ea typeface="Roboto" pitchFamily="34" charset="-122"/>
                <a:cs typeface="Roboto" pitchFamily="34" charset="-120"/>
              </a:rPr>
              <a:t>Used vehicle  </a:t>
            </a:r>
            <a:pPr indent="0" marL="0">
              <a:buNone/>
            </a:pPr>
            <a:r>
              <a:rPr lang="en-US" sz="1050" dirty="0">
                <a:solidFill>
                  <a:srgbClr val="64748B"/>
                </a:solidFill>
                <a:latin typeface="Roboto" pitchFamily="34" charset="0"/>
                <a:ea typeface="Roboto" pitchFamily="34" charset="-122"/>
                <a:cs typeface="Roboto" pitchFamily="34" charset="-120"/>
              </a:rPr>
              <a:t>vehicle inspection</a:t>
            </a:r>
            <a:endParaRPr lang="en-US" sz="10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8229600" cy="256032"/>
          </a:xfrm>
          <a:prstGeom prst="rect">
            <a:avLst/>
          </a:prstGeom>
          <a:noFill/>
          <a:ln/>
        </p:spPr>
        <p:txBody>
          <a:bodyPr wrap="square" lIns="0" tIns="0" rIns="0" bIns="0" rtlCol="0" anchor="ctr"/>
          <a:lstStyle/>
          <a:p>
            <a:pPr indent="0" marL="0">
              <a:buNone/>
            </a:pPr>
            <a:r>
              <a:rPr lang="en-US" sz="1100" b="1" spc="200" kern="0" dirty="0">
                <a:solidFill>
                  <a:srgbClr val="4F46E5"/>
                </a:solidFill>
                <a:latin typeface="Roboto" pitchFamily="34" charset="0"/>
                <a:ea typeface="Roboto" pitchFamily="34" charset="-122"/>
                <a:cs typeface="Roboto" pitchFamily="34" charset="-120"/>
              </a:rPr>
              <a:t>WORKFLOWS</a:t>
            </a:r>
            <a:endParaRPr lang="en-US" sz="1100" dirty="0"/>
          </a:p>
        </p:txBody>
      </p:sp>
      <p:sp>
        <p:nvSpPr>
          <p:cNvPr id="3" name="Text 1"/>
          <p:cNvSpPr txBox="1"/>
          <p:nvPr/>
        </p:nvSpPr>
        <p:spPr>
          <a:xfrm>
            <a:off x="548640" y="585216"/>
            <a:ext cx="11094415" cy="566928"/>
          </a:xfrm>
          <a:prstGeom prst="rect">
            <a:avLst/>
          </a:prstGeom>
          <a:noFill/>
          <a:ln/>
        </p:spPr>
        <p:txBody>
          <a:bodyPr wrap="square" lIns="0" tIns="0" rIns="0" bIns="0" rtlCol="0" anchor="ctr"/>
          <a:lstStyle/>
          <a:p>
            <a:pPr indent="0" marL="0">
              <a:buNone/>
            </a:pPr>
            <a:r>
              <a:rPr lang="en-US" sz="2800" b="1" dirty="0">
                <a:solidFill>
                  <a:srgbClr val="0F172A"/>
                </a:solidFill>
                <a:latin typeface="Roboto" pitchFamily="34" charset="0"/>
                <a:ea typeface="Roboto" pitchFamily="34" charset="-122"/>
                <a:cs typeface="Roboto" pitchFamily="34" charset="-120"/>
              </a:rPr>
              <a:t>End to end: who does what</a:t>
            </a:r>
            <a:endParaRPr lang="en-US" sz="2800" dirty="0"/>
          </a:p>
        </p:txBody>
      </p:sp>
      <p:sp>
        <p:nvSpPr>
          <p:cNvPr id="4" name="Text 2"/>
          <p:cNvSpPr txBox="1"/>
          <p:nvPr/>
        </p:nvSpPr>
        <p:spPr>
          <a:xfrm>
            <a:off x="548640" y="1152144"/>
            <a:ext cx="11094415" cy="365760"/>
          </a:xfrm>
          <a:prstGeom prst="rect">
            <a:avLst/>
          </a:prstGeom>
          <a:noFill/>
          <a:ln/>
        </p:spPr>
        <p:txBody>
          <a:bodyPr wrap="square" lIns="0" tIns="0" rIns="0" bIns="0" rtlCol="0" anchor="ctr"/>
          <a:lstStyle/>
          <a:p>
            <a:pPr indent="0" marL="0">
              <a:buNone/>
            </a:pPr>
            <a:r>
              <a:rPr lang="en-US" sz="1400" dirty="0">
                <a:solidFill>
                  <a:srgbClr val="64748B"/>
                </a:solidFill>
                <a:latin typeface="Roboto" pitchFamily="34" charset="0"/>
                <a:ea typeface="Roboto" pitchFamily="34" charset="-122"/>
                <a:cs typeface="Roboto" pitchFamily="34" charset="-120"/>
              </a:rPr>
              <a:t>Agents work between the human steps; every agent output is evidence for the next person.</a:t>
            </a:r>
            <a:endParaRPr lang="en-US" sz="1400" dirty="0"/>
          </a:p>
        </p:txBody>
      </p:sp>
      <p:pic>
        <p:nvPicPr>
          <p:cNvPr id="5" name="Image 0" descr="C:\Users\shrey\AppData\Local\Temp\claude\D--novacinternship-finsight\ef4ecb45-e580-4bc0-9be4-060aa240a5b2\scratchpad\deck\img\logo_lockup.png">    </p:cNvPr>
          <p:cNvPicPr>
            <a:picLocks noChangeAspect="1"/>
          </p:cNvPicPr>
          <p:nvPr/>
        </p:nvPicPr>
        <p:blipFill>
          <a:blip r:embed="rId1"/>
          <a:stretch>
            <a:fillRect/>
          </a:stretch>
        </p:blipFill>
        <p:spPr>
          <a:xfrm>
            <a:off x="10360152" y="6464808"/>
            <a:ext cx="843991" cy="237744"/>
          </a:xfrm>
          <a:prstGeom prst="rect">
            <a:avLst/>
          </a:prstGeom>
        </p:spPr>
      </p:pic>
      <p:sp>
        <p:nvSpPr>
          <p:cNvPr id="6" name="Text 3"/>
          <p:cNvSpPr txBox="1"/>
          <p:nvPr/>
        </p:nvSpPr>
        <p:spPr>
          <a:xfrm>
            <a:off x="11277295" y="6473952"/>
            <a:ext cx="365760" cy="228600"/>
          </a:xfrm>
          <a:prstGeom prst="rect">
            <a:avLst/>
          </a:prstGeom>
          <a:noFill/>
          <a:ln/>
        </p:spPr>
        <p:txBody>
          <a:bodyPr wrap="square" lIns="0" tIns="0" rIns="0" bIns="0" rtlCol="0" anchor="ctr"/>
          <a:lstStyle/>
          <a:p>
            <a:pPr algn="r" indent="0" marL="0">
              <a:buNone/>
            </a:pPr>
            <a:r>
              <a:rPr lang="en-US" sz="900" dirty="0">
                <a:solidFill>
                  <a:srgbClr val="94A3B8"/>
                </a:solidFill>
                <a:latin typeface="Roboto" pitchFamily="34" charset="0"/>
                <a:ea typeface="Roboto" pitchFamily="34" charset="-122"/>
                <a:cs typeface="Roboto" pitchFamily="34" charset="-120"/>
              </a:rPr>
              <a:t>26</a:t>
            </a:r>
            <a:endParaRPr lang="en-US" sz="900" dirty="0"/>
          </a:p>
        </p:txBody>
      </p:sp>
      <p:sp>
        <p:nvSpPr>
          <p:cNvPr id="8" name="Shape 4"/>
          <p:cNvSpPr/>
          <p:nvPr/>
        </p:nvSpPr>
        <p:spPr>
          <a:xfrm>
            <a:off x="548640" y="1728216"/>
            <a:ext cx="11094415" cy="1042416"/>
          </a:xfrm>
          <a:prstGeom prst="roundRect">
            <a:avLst>
              <a:gd name="adj" fmla="val 5263"/>
            </a:avLst>
          </a:prstGeom>
          <a:solidFill>
            <a:srgbClr val="F8FAFC"/>
          </a:solidFill>
          <a:ln w="12700">
            <a:solidFill>
              <a:srgbClr val="E2E8F0"/>
            </a:solidFill>
            <a:prstDash val="solid"/>
          </a:ln>
        </p:spPr>
      </p:sp>
      <p:sp>
        <p:nvSpPr>
          <p:cNvPr id="9" name="Shape 5"/>
          <p:cNvSpPr/>
          <p:nvPr/>
        </p:nvSpPr>
        <p:spPr>
          <a:xfrm>
            <a:off x="658368" y="2020824"/>
            <a:ext cx="420624" cy="420624"/>
          </a:xfrm>
          <a:prstGeom prst="ellipse">
            <a:avLst/>
          </a:prstGeom>
          <a:solidFill>
            <a:srgbClr val="EEF2FF"/>
          </a:solidFill>
          <a:ln w="12700">
            <a:solidFill>
              <a:srgbClr val="EEF2FF"/>
            </a:solidFill>
            <a:prstDash val="solid"/>
          </a:ln>
        </p:spPr>
      </p:sp>
      <p:pic>
        <p:nvPicPr>
          <p:cNvPr id="10" name="Image 1" descr="preencoded.png">    </p:cNvPr>
          <p:cNvPicPr>
            <a:picLocks noChangeAspect="1"/>
          </p:cNvPicPr>
          <p:nvPr/>
        </p:nvPicPr>
        <p:blipFill>
          <a:blip r:embed="rId2"/>
          <a:stretch>
            <a:fillRect/>
          </a:stretch>
        </p:blipFill>
        <p:spPr>
          <a:xfrm>
            <a:off x="750905" y="2113361"/>
            <a:ext cx="235549" cy="235549"/>
          </a:xfrm>
          <a:prstGeom prst="rect">
            <a:avLst/>
          </a:prstGeom>
        </p:spPr>
      </p:pic>
      <p:sp>
        <p:nvSpPr>
          <p:cNvPr id="11" name="Text 6"/>
          <p:cNvSpPr txBox="1"/>
          <p:nvPr/>
        </p:nvSpPr>
        <p:spPr>
          <a:xfrm>
            <a:off x="1143000" y="1691640"/>
            <a:ext cx="868680" cy="1115568"/>
          </a:xfrm>
          <a:prstGeom prst="rect">
            <a:avLst/>
          </a:prstGeom>
          <a:noFill/>
          <a:ln/>
        </p:spPr>
        <p:txBody>
          <a:bodyPr wrap="square" lIns="0" tIns="0" rIns="0" bIns="0" rtlCol="0" anchor="ctr"/>
          <a:lstStyle/>
          <a:p>
            <a:pPr indent="0" marL="0">
              <a:buNone/>
            </a:pPr>
            <a:r>
              <a:rPr lang="en-US" sz="1200" b="1" dirty="0">
                <a:solidFill>
                  <a:srgbClr val="0F172A"/>
                </a:solidFill>
                <a:latin typeface="Roboto" pitchFamily="34" charset="0"/>
                <a:ea typeface="Roboto" pitchFamily="34" charset="-122"/>
                <a:cs typeface="Roboto" pitchFamily="34" charset="-120"/>
              </a:rPr>
              <a:t>Borrower</a:t>
            </a:r>
            <a:endParaRPr lang="en-US" sz="1200" dirty="0"/>
          </a:p>
        </p:txBody>
      </p:sp>
      <p:sp>
        <p:nvSpPr>
          <p:cNvPr id="12" name="Shape 7"/>
          <p:cNvSpPr/>
          <p:nvPr/>
        </p:nvSpPr>
        <p:spPr>
          <a:xfrm>
            <a:off x="548640" y="2843784"/>
            <a:ext cx="11094415" cy="1042416"/>
          </a:xfrm>
          <a:prstGeom prst="roundRect">
            <a:avLst>
              <a:gd name="adj" fmla="val 5263"/>
            </a:avLst>
          </a:prstGeom>
          <a:solidFill>
            <a:srgbClr val="FFFFFF"/>
          </a:solidFill>
          <a:ln w="12700">
            <a:solidFill>
              <a:srgbClr val="E2E8F0"/>
            </a:solidFill>
            <a:prstDash val="solid"/>
          </a:ln>
        </p:spPr>
      </p:sp>
      <p:sp>
        <p:nvSpPr>
          <p:cNvPr id="13" name="Shape 8"/>
          <p:cNvSpPr/>
          <p:nvPr/>
        </p:nvSpPr>
        <p:spPr>
          <a:xfrm>
            <a:off x="658368" y="3136392"/>
            <a:ext cx="420624" cy="420624"/>
          </a:xfrm>
          <a:prstGeom prst="ellipse">
            <a:avLst/>
          </a:prstGeom>
          <a:solidFill>
            <a:srgbClr val="FFF1F2"/>
          </a:solidFill>
          <a:ln w="12700">
            <a:solidFill>
              <a:srgbClr val="FFF1F2"/>
            </a:solidFill>
            <a:prstDash val="solid"/>
          </a:ln>
        </p:spPr>
      </p:sp>
      <p:pic>
        <p:nvPicPr>
          <p:cNvPr id="14" name="Image 2" descr="preencoded.png">    </p:cNvPr>
          <p:cNvPicPr>
            <a:picLocks noChangeAspect="1"/>
          </p:cNvPicPr>
          <p:nvPr/>
        </p:nvPicPr>
        <p:blipFill>
          <a:blip r:embed="rId3"/>
          <a:stretch>
            <a:fillRect/>
          </a:stretch>
        </p:blipFill>
        <p:spPr>
          <a:xfrm>
            <a:off x="750905" y="3228929"/>
            <a:ext cx="235549" cy="235549"/>
          </a:xfrm>
          <a:prstGeom prst="rect">
            <a:avLst/>
          </a:prstGeom>
        </p:spPr>
      </p:pic>
      <p:sp>
        <p:nvSpPr>
          <p:cNvPr id="15" name="Text 9"/>
          <p:cNvSpPr txBox="1"/>
          <p:nvPr/>
        </p:nvSpPr>
        <p:spPr>
          <a:xfrm>
            <a:off x="1143000" y="2807208"/>
            <a:ext cx="868680" cy="1115568"/>
          </a:xfrm>
          <a:prstGeom prst="rect">
            <a:avLst/>
          </a:prstGeom>
          <a:noFill/>
          <a:ln/>
        </p:spPr>
        <p:txBody>
          <a:bodyPr wrap="square" lIns="0" tIns="0" rIns="0" bIns="0" rtlCol="0" anchor="ctr"/>
          <a:lstStyle/>
          <a:p>
            <a:pPr indent="0" marL="0">
              <a:buNone/>
            </a:pPr>
            <a:r>
              <a:rPr lang="en-US" sz="1200" b="1" dirty="0">
                <a:solidFill>
                  <a:srgbClr val="0F172A"/>
                </a:solidFill>
                <a:latin typeface="Roboto" pitchFamily="34" charset="0"/>
                <a:ea typeface="Roboto" pitchFamily="34" charset="-122"/>
                <a:cs typeface="Roboto" pitchFamily="34" charset="-120"/>
              </a:rPr>
              <a:t>AI agents</a:t>
            </a:r>
            <a:endParaRPr lang="en-US" sz="1200" dirty="0"/>
          </a:p>
        </p:txBody>
      </p:sp>
      <p:sp>
        <p:nvSpPr>
          <p:cNvPr id="16" name="Shape 10"/>
          <p:cNvSpPr/>
          <p:nvPr/>
        </p:nvSpPr>
        <p:spPr>
          <a:xfrm>
            <a:off x="548640" y="3959352"/>
            <a:ext cx="11094415" cy="1042416"/>
          </a:xfrm>
          <a:prstGeom prst="roundRect">
            <a:avLst>
              <a:gd name="adj" fmla="val 5263"/>
            </a:avLst>
          </a:prstGeom>
          <a:solidFill>
            <a:srgbClr val="F8FAFC"/>
          </a:solidFill>
          <a:ln w="12700">
            <a:solidFill>
              <a:srgbClr val="E2E8F0"/>
            </a:solidFill>
            <a:prstDash val="solid"/>
          </a:ln>
        </p:spPr>
      </p:sp>
      <p:sp>
        <p:nvSpPr>
          <p:cNvPr id="17" name="Shape 11"/>
          <p:cNvSpPr/>
          <p:nvPr/>
        </p:nvSpPr>
        <p:spPr>
          <a:xfrm>
            <a:off x="658368" y="4251960"/>
            <a:ext cx="420624" cy="420624"/>
          </a:xfrm>
          <a:prstGeom prst="ellipse">
            <a:avLst/>
          </a:prstGeom>
          <a:solidFill>
            <a:srgbClr val="CCFBF1"/>
          </a:solidFill>
          <a:ln w="12700">
            <a:solidFill>
              <a:srgbClr val="CCFBF1"/>
            </a:solidFill>
            <a:prstDash val="solid"/>
          </a:ln>
        </p:spPr>
      </p:sp>
      <p:pic>
        <p:nvPicPr>
          <p:cNvPr id="18" name="Image 3" descr="preencoded.png">    </p:cNvPr>
          <p:cNvPicPr>
            <a:picLocks noChangeAspect="1"/>
          </p:cNvPicPr>
          <p:nvPr/>
        </p:nvPicPr>
        <p:blipFill>
          <a:blip r:embed="rId4"/>
          <a:stretch>
            <a:fillRect/>
          </a:stretch>
        </p:blipFill>
        <p:spPr>
          <a:xfrm>
            <a:off x="750905" y="4344497"/>
            <a:ext cx="235549" cy="235549"/>
          </a:xfrm>
          <a:prstGeom prst="rect">
            <a:avLst/>
          </a:prstGeom>
        </p:spPr>
      </p:pic>
      <p:sp>
        <p:nvSpPr>
          <p:cNvPr id="19" name="Text 12"/>
          <p:cNvSpPr txBox="1"/>
          <p:nvPr/>
        </p:nvSpPr>
        <p:spPr>
          <a:xfrm>
            <a:off x="1143000" y="3922776"/>
            <a:ext cx="868680" cy="1115568"/>
          </a:xfrm>
          <a:prstGeom prst="rect">
            <a:avLst/>
          </a:prstGeom>
          <a:noFill/>
          <a:ln/>
        </p:spPr>
        <p:txBody>
          <a:bodyPr wrap="square" lIns="0" tIns="0" rIns="0" bIns="0" rtlCol="0" anchor="ctr"/>
          <a:lstStyle/>
          <a:p>
            <a:pPr indent="0" marL="0">
              <a:buNone/>
            </a:pPr>
            <a:r>
              <a:rPr lang="en-US" sz="1200" b="1" dirty="0">
                <a:solidFill>
                  <a:srgbClr val="0F172A"/>
                </a:solidFill>
                <a:latin typeface="Roboto" pitchFamily="34" charset="0"/>
                <a:ea typeface="Roboto" pitchFamily="34" charset="-122"/>
                <a:cs typeface="Roboto" pitchFamily="34" charset="-120"/>
              </a:rPr>
              <a:t>Officer</a:t>
            </a:r>
            <a:endParaRPr lang="en-US" sz="1200" dirty="0"/>
          </a:p>
        </p:txBody>
      </p:sp>
      <p:sp>
        <p:nvSpPr>
          <p:cNvPr id="20" name="Shape 13"/>
          <p:cNvSpPr/>
          <p:nvPr/>
        </p:nvSpPr>
        <p:spPr>
          <a:xfrm>
            <a:off x="548640" y="5074920"/>
            <a:ext cx="11094415" cy="1042416"/>
          </a:xfrm>
          <a:prstGeom prst="roundRect">
            <a:avLst>
              <a:gd name="adj" fmla="val 5263"/>
            </a:avLst>
          </a:prstGeom>
          <a:solidFill>
            <a:srgbClr val="FFFFFF"/>
          </a:solidFill>
          <a:ln w="12700">
            <a:solidFill>
              <a:srgbClr val="E2E8F0"/>
            </a:solidFill>
            <a:prstDash val="solid"/>
          </a:ln>
        </p:spPr>
      </p:sp>
      <p:sp>
        <p:nvSpPr>
          <p:cNvPr id="21" name="Shape 14"/>
          <p:cNvSpPr/>
          <p:nvPr/>
        </p:nvSpPr>
        <p:spPr>
          <a:xfrm>
            <a:off x="658368" y="5367528"/>
            <a:ext cx="420624" cy="420624"/>
          </a:xfrm>
          <a:prstGeom prst="ellipse">
            <a:avLst/>
          </a:prstGeom>
          <a:solidFill>
            <a:srgbClr val="FFFBEB"/>
          </a:solidFill>
          <a:ln w="12700">
            <a:solidFill>
              <a:srgbClr val="FFFBEB"/>
            </a:solidFill>
            <a:prstDash val="solid"/>
          </a:ln>
        </p:spPr>
      </p:sp>
      <p:pic>
        <p:nvPicPr>
          <p:cNvPr id="22" name="Image 4" descr="preencoded.png">    </p:cNvPr>
          <p:cNvPicPr>
            <a:picLocks noChangeAspect="1"/>
          </p:cNvPicPr>
          <p:nvPr/>
        </p:nvPicPr>
        <p:blipFill>
          <a:blip r:embed="rId5"/>
          <a:stretch>
            <a:fillRect/>
          </a:stretch>
        </p:blipFill>
        <p:spPr>
          <a:xfrm>
            <a:off x="750905" y="5460065"/>
            <a:ext cx="235549" cy="235549"/>
          </a:xfrm>
          <a:prstGeom prst="rect">
            <a:avLst/>
          </a:prstGeom>
        </p:spPr>
      </p:pic>
      <p:sp>
        <p:nvSpPr>
          <p:cNvPr id="23" name="Text 15"/>
          <p:cNvSpPr txBox="1"/>
          <p:nvPr/>
        </p:nvSpPr>
        <p:spPr>
          <a:xfrm>
            <a:off x="1143000" y="5038344"/>
            <a:ext cx="868680" cy="1115568"/>
          </a:xfrm>
          <a:prstGeom prst="rect">
            <a:avLst/>
          </a:prstGeom>
          <a:noFill/>
          <a:ln/>
        </p:spPr>
        <p:txBody>
          <a:bodyPr wrap="square" lIns="0" tIns="0" rIns="0" bIns="0" rtlCol="0" anchor="ctr"/>
          <a:lstStyle/>
          <a:p>
            <a:pPr indent="0" marL="0">
              <a:buNone/>
            </a:pPr>
            <a:r>
              <a:rPr lang="en-US" sz="1200" b="1" dirty="0">
                <a:solidFill>
                  <a:srgbClr val="0F172A"/>
                </a:solidFill>
                <a:latin typeface="Roboto" pitchFamily="34" charset="0"/>
                <a:ea typeface="Roboto" pitchFamily="34" charset="-122"/>
                <a:cs typeface="Roboto" pitchFamily="34" charset="-120"/>
              </a:rPr>
              <a:t>Head</a:t>
            </a:r>
            <a:endParaRPr lang="en-US" sz="1200" dirty="0"/>
          </a:p>
        </p:txBody>
      </p:sp>
      <p:sp>
        <p:nvSpPr>
          <p:cNvPr id="24" name="Shape 16"/>
          <p:cNvSpPr/>
          <p:nvPr/>
        </p:nvSpPr>
        <p:spPr>
          <a:xfrm flipH="1">
            <a:off x="3336760" y="2633472"/>
            <a:ext cx="37376" cy="347472"/>
          </a:xfrm>
          <a:prstGeom prst="line">
            <a:avLst/>
          </a:prstGeom>
          <a:noFill/>
          <a:ln w="15875">
            <a:solidFill>
              <a:srgbClr val="94A3B8"/>
            </a:solidFill>
            <a:prstDash val="solid"/>
            <a:tailEnd type="triangle"/>
          </a:ln>
        </p:spPr>
      </p:sp>
      <p:sp>
        <p:nvSpPr>
          <p:cNvPr id="25" name="Shape 17"/>
          <p:cNvSpPr/>
          <p:nvPr/>
        </p:nvSpPr>
        <p:spPr>
          <a:xfrm flipH="1" flipV="1">
            <a:off x="4341800" y="2633472"/>
            <a:ext cx="37376" cy="347472"/>
          </a:xfrm>
          <a:prstGeom prst="line">
            <a:avLst/>
          </a:prstGeom>
          <a:noFill/>
          <a:ln w="15875">
            <a:solidFill>
              <a:srgbClr val="94A3B8"/>
            </a:solidFill>
            <a:prstDash val="solid"/>
            <a:tailEnd type="triangle"/>
          </a:ln>
        </p:spPr>
      </p:sp>
      <p:sp>
        <p:nvSpPr>
          <p:cNvPr id="26" name="Shape 18"/>
          <p:cNvSpPr/>
          <p:nvPr/>
        </p:nvSpPr>
        <p:spPr>
          <a:xfrm flipH="1">
            <a:off x="5346840" y="2633472"/>
            <a:ext cx="37376" cy="347472"/>
          </a:xfrm>
          <a:prstGeom prst="line">
            <a:avLst/>
          </a:prstGeom>
          <a:noFill/>
          <a:ln w="15875">
            <a:solidFill>
              <a:srgbClr val="94A3B8"/>
            </a:solidFill>
            <a:prstDash val="solid"/>
            <a:tailEnd type="triangle"/>
          </a:ln>
        </p:spPr>
      </p:sp>
      <p:sp>
        <p:nvSpPr>
          <p:cNvPr id="27" name="Shape 19"/>
          <p:cNvSpPr/>
          <p:nvPr/>
        </p:nvSpPr>
        <p:spPr>
          <a:xfrm flipH="1">
            <a:off x="6351880" y="3749040"/>
            <a:ext cx="37376" cy="347472"/>
          </a:xfrm>
          <a:prstGeom prst="line">
            <a:avLst/>
          </a:prstGeom>
          <a:noFill/>
          <a:ln w="15875">
            <a:solidFill>
              <a:srgbClr val="94A3B8"/>
            </a:solidFill>
            <a:prstDash val="solid"/>
            <a:tailEnd type="triangle"/>
          </a:ln>
        </p:spPr>
      </p:sp>
      <p:sp>
        <p:nvSpPr>
          <p:cNvPr id="28" name="Shape 20"/>
          <p:cNvSpPr/>
          <p:nvPr/>
        </p:nvSpPr>
        <p:spPr>
          <a:xfrm flipH="1" flipV="1">
            <a:off x="7356919" y="3749040"/>
            <a:ext cx="37376" cy="347472"/>
          </a:xfrm>
          <a:prstGeom prst="line">
            <a:avLst/>
          </a:prstGeom>
          <a:noFill/>
          <a:ln w="15875">
            <a:solidFill>
              <a:srgbClr val="94A3B8"/>
            </a:solidFill>
            <a:prstDash val="solid"/>
            <a:tailEnd type="triangle"/>
          </a:ln>
        </p:spPr>
      </p:sp>
      <p:sp>
        <p:nvSpPr>
          <p:cNvPr id="29" name="Shape 21"/>
          <p:cNvSpPr/>
          <p:nvPr/>
        </p:nvSpPr>
        <p:spPr>
          <a:xfrm flipH="1">
            <a:off x="8361959" y="3749040"/>
            <a:ext cx="37376" cy="347472"/>
          </a:xfrm>
          <a:prstGeom prst="line">
            <a:avLst/>
          </a:prstGeom>
          <a:noFill/>
          <a:ln w="15875">
            <a:solidFill>
              <a:srgbClr val="94A3B8"/>
            </a:solidFill>
            <a:prstDash val="solid"/>
            <a:tailEnd type="triangle"/>
          </a:ln>
        </p:spPr>
      </p:sp>
      <p:sp>
        <p:nvSpPr>
          <p:cNvPr id="30" name="Shape 22"/>
          <p:cNvSpPr/>
          <p:nvPr/>
        </p:nvSpPr>
        <p:spPr>
          <a:xfrm flipH="1">
            <a:off x="9366999" y="4864608"/>
            <a:ext cx="37376" cy="347472"/>
          </a:xfrm>
          <a:prstGeom prst="line">
            <a:avLst/>
          </a:prstGeom>
          <a:noFill/>
          <a:ln w="15875">
            <a:solidFill>
              <a:srgbClr val="94A3B8"/>
            </a:solidFill>
            <a:prstDash val="solid"/>
            <a:tailEnd type="triangle"/>
          </a:ln>
        </p:spPr>
      </p:sp>
      <p:sp>
        <p:nvSpPr>
          <p:cNvPr id="31" name="Shape 23"/>
          <p:cNvSpPr/>
          <p:nvPr/>
        </p:nvSpPr>
        <p:spPr>
          <a:xfrm flipH="1" flipV="1">
            <a:off x="10372039" y="2633472"/>
            <a:ext cx="37376" cy="2578608"/>
          </a:xfrm>
          <a:prstGeom prst="line">
            <a:avLst/>
          </a:prstGeom>
          <a:noFill/>
          <a:ln w="15875">
            <a:solidFill>
              <a:srgbClr val="94A3B8"/>
            </a:solidFill>
            <a:prstDash val="solid"/>
            <a:tailEnd type="triangle"/>
          </a:ln>
        </p:spPr>
      </p:sp>
      <p:sp>
        <p:nvSpPr>
          <p:cNvPr id="32" name="Shape 24"/>
          <p:cNvSpPr/>
          <p:nvPr/>
        </p:nvSpPr>
        <p:spPr>
          <a:xfrm>
            <a:off x="2103120" y="1865376"/>
            <a:ext cx="1499616" cy="768096"/>
          </a:xfrm>
          <a:prstGeom prst="roundRect">
            <a:avLst>
              <a:gd name="adj" fmla="val 9524"/>
            </a:avLst>
          </a:prstGeom>
          <a:solidFill>
            <a:srgbClr val="FFFFFF"/>
          </a:solidFill>
          <a:ln w="15875">
            <a:solidFill>
              <a:srgbClr val="4F46E5"/>
            </a:solidFill>
            <a:prstDash val="solid"/>
          </a:ln>
          <a:effectLst>
            <a:outerShdw sx="100000" sy="100000" kx="0" ky="0" algn="bl" rotWithShape="0" blurRad="127000" dist="25400" dir="5400000">
              <a:srgbClr val="0F172A">
                <a:alpha val="12000"/>
              </a:srgbClr>
            </a:outerShdw>
          </a:effectLst>
        </p:spPr>
      </p:sp>
      <p:sp>
        <p:nvSpPr>
          <p:cNvPr id="33" name="Shape 25"/>
          <p:cNvSpPr/>
          <p:nvPr/>
        </p:nvSpPr>
        <p:spPr>
          <a:xfrm>
            <a:off x="2176272" y="1938528"/>
            <a:ext cx="256032" cy="256032"/>
          </a:xfrm>
          <a:prstGeom prst="roundRect">
            <a:avLst>
              <a:gd name="adj" fmla="val 50000"/>
            </a:avLst>
          </a:prstGeom>
          <a:solidFill>
            <a:srgbClr val="4F46E5"/>
          </a:solidFill>
          <a:ln w="12700">
            <a:solidFill>
              <a:srgbClr val="4F46E5"/>
            </a:solidFill>
            <a:prstDash val="solid"/>
          </a:ln>
        </p:spPr>
      </p:sp>
      <p:sp>
        <p:nvSpPr>
          <p:cNvPr id="34" name="Text 26"/>
          <p:cNvSpPr txBox="1"/>
          <p:nvPr/>
        </p:nvSpPr>
        <p:spPr>
          <a:xfrm>
            <a:off x="2176272" y="19385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Roboto" pitchFamily="34" charset="0"/>
                <a:ea typeface="Roboto" pitchFamily="34" charset="-122"/>
                <a:cs typeface="Roboto" pitchFamily="34" charset="-120"/>
              </a:rPr>
              <a:t>1</a:t>
            </a:r>
            <a:endParaRPr lang="en-US" sz="900" dirty="0"/>
          </a:p>
        </p:txBody>
      </p:sp>
      <p:sp>
        <p:nvSpPr>
          <p:cNvPr id="35" name="Text 27"/>
          <p:cNvSpPr txBox="1"/>
          <p:nvPr/>
        </p:nvSpPr>
        <p:spPr>
          <a:xfrm>
            <a:off x="2505456" y="1901952"/>
            <a:ext cx="1042416" cy="694944"/>
          </a:xfrm>
          <a:prstGeom prst="rect">
            <a:avLst/>
          </a:prstGeom>
          <a:noFill/>
          <a:ln/>
        </p:spPr>
        <p:txBody>
          <a:bodyPr wrap="square" lIns="0" tIns="0" rIns="0" bIns="0" rtlCol="0" anchor="ctr"/>
          <a:lstStyle/>
          <a:p>
            <a:pPr indent="0" marL="0">
              <a:buNone/>
            </a:pPr>
            <a:r>
              <a:rPr lang="en-US" sz="950" dirty="0">
                <a:solidFill>
                  <a:srgbClr val="0F172A"/>
                </a:solidFill>
                <a:latin typeface="Roboto" pitchFamily="34" charset="0"/>
                <a:ea typeface="Roboto" pitchFamily="34" charset="-122"/>
                <a:cs typeface="Roboto" pitchFamily="34" charset="-120"/>
              </a:rPr>
              <a:t>Picks a product, uploads documents</a:t>
            </a:r>
            <a:endParaRPr lang="en-US" sz="950" dirty="0"/>
          </a:p>
        </p:txBody>
      </p:sp>
      <p:sp>
        <p:nvSpPr>
          <p:cNvPr id="36" name="Shape 28"/>
          <p:cNvSpPr/>
          <p:nvPr/>
        </p:nvSpPr>
        <p:spPr>
          <a:xfrm>
            <a:off x="3108160" y="2980944"/>
            <a:ext cx="1499616" cy="768096"/>
          </a:xfrm>
          <a:prstGeom prst="roundRect">
            <a:avLst>
              <a:gd name="adj" fmla="val 9524"/>
            </a:avLst>
          </a:prstGeom>
          <a:solidFill>
            <a:srgbClr val="FFFFFF"/>
          </a:solidFill>
          <a:ln w="15875">
            <a:solidFill>
              <a:srgbClr val="E11D48"/>
            </a:solidFill>
            <a:prstDash val="solid"/>
          </a:ln>
          <a:effectLst>
            <a:outerShdw sx="100000" sy="100000" kx="0" ky="0" algn="bl" rotWithShape="0" blurRad="127000" dist="25400" dir="5400000">
              <a:srgbClr val="0F172A">
                <a:alpha val="12000"/>
              </a:srgbClr>
            </a:outerShdw>
          </a:effectLst>
        </p:spPr>
      </p:sp>
      <p:sp>
        <p:nvSpPr>
          <p:cNvPr id="37" name="Shape 29"/>
          <p:cNvSpPr/>
          <p:nvPr/>
        </p:nvSpPr>
        <p:spPr>
          <a:xfrm>
            <a:off x="3181312" y="3054096"/>
            <a:ext cx="256032" cy="256032"/>
          </a:xfrm>
          <a:prstGeom prst="roundRect">
            <a:avLst>
              <a:gd name="adj" fmla="val 50000"/>
            </a:avLst>
          </a:prstGeom>
          <a:solidFill>
            <a:srgbClr val="E11D48"/>
          </a:solidFill>
          <a:ln w="12700">
            <a:solidFill>
              <a:srgbClr val="E11D48"/>
            </a:solidFill>
            <a:prstDash val="solid"/>
          </a:ln>
        </p:spPr>
      </p:sp>
      <p:sp>
        <p:nvSpPr>
          <p:cNvPr id="38" name="Text 30"/>
          <p:cNvSpPr txBox="1"/>
          <p:nvPr/>
        </p:nvSpPr>
        <p:spPr>
          <a:xfrm>
            <a:off x="3181312" y="305409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Roboto" pitchFamily="34" charset="0"/>
                <a:ea typeface="Roboto" pitchFamily="34" charset="-122"/>
                <a:cs typeface="Roboto" pitchFamily="34" charset="-120"/>
              </a:rPr>
              <a:t>2</a:t>
            </a:r>
            <a:endParaRPr lang="en-US" sz="900" dirty="0"/>
          </a:p>
        </p:txBody>
      </p:sp>
      <p:sp>
        <p:nvSpPr>
          <p:cNvPr id="39" name="Text 31"/>
          <p:cNvSpPr txBox="1"/>
          <p:nvPr/>
        </p:nvSpPr>
        <p:spPr>
          <a:xfrm>
            <a:off x="3510496" y="3017520"/>
            <a:ext cx="1042416" cy="694944"/>
          </a:xfrm>
          <a:prstGeom prst="rect">
            <a:avLst/>
          </a:prstGeom>
          <a:noFill/>
          <a:ln/>
        </p:spPr>
        <p:txBody>
          <a:bodyPr wrap="square" lIns="0" tIns="0" rIns="0" bIns="0" rtlCol="0" anchor="ctr"/>
          <a:lstStyle/>
          <a:p>
            <a:pPr indent="0" marL="0">
              <a:buNone/>
            </a:pPr>
            <a:r>
              <a:rPr lang="en-US" sz="950" dirty="0">
                <a:solidFill>
                  <a:srgbClr val="0F172A"/>
                </a:solidFill>
                <a:latin typeface="Roboto" pitchFamily="34" charset="0"/>
                <a:ea typeface="Roboto" pitchFamily="34" charset="-122"/>
                <a:cs typeface="Roboto" pitchFamily="34" charset="-120"/>
              </a:rPr>
              <a:t>Intake + masking read each file</a:t>
            </a:r>
            <a:endParaRPr lang="en-US" sz="950" dirty="0"/>
          </a:p>
        </p:txBody>
      </p:sp>
      <p:sp>
        <p:nvSpPr>
          <p:cNvPr id="40" name="Shape 32"/>
          <p:cNvSpPr/>
          <p:nvPr/>
        </p:nvSpPr>
        <p:spPr>
          <a:xfrm>
            <a:off x="4113200" y="1865376"/>
            <a:ext cx="1499616" cy="768096"/>
          </a:xfrm>
          <a:prstGeom prst="roundRect">
            <a:avLst>
              <a:gd name="adj" fmla="val 9524"/>
            </a:avLst>
          </a:prstGeom>
          <a:solidFill>
            <a:srgbClr val="FFFFFF"/>
          </a:solidFill>
          <a:ln w="15875">
            <a:solidFill>
              <a:srgbClr val="4F46E5"/>
            </a:solidFill>
            <a:prstDash val="solid"/>
          </a:ln>
          <a:effectLst>
            <a:outerShdw sx="100000" sy="100000" kx="0" ky="0" algn="bl" rotWithShape="0" blurRad="127000" dist="25400" dir="5400000">
              <a:srgbClr val="0F172A">
                <a:alpha val="12000"/>
              </a:srgbClr>
            </a:outerShdw>
          </a:effectLst>
        </p:spPr>
      </p:sp>
      <p:sp>
        <p:nvSpPr>
          <p:cNvPr id="41" name="Shape 33"/>
          <p:cNvSpPr/>
          <p:nvPr/>
        </p:nvSpPr>
        <p:spPr>
          <a:xfrm>
            <a:off x="4186352" y="1938528"/>
            <a:ext cx="256032" cy="256032"/>
          </a:xfrm>
          <a:prstGeom prst="roundRect">
            <a:avLst>
              <a:gd name="adj" fmla="val 50000"/>
            </a:avLst>
          </a:prstGeom>
          <a:solidFill>
            <a:srgbClr val="4F46E5"/>
          </a:solidFill>
          <a:ln w="12700">
            <a:solidFill>
              <a:srgbClr val="4F46E5"/>
            </a:solidFill>
            <a:prstDash val="solid"/>
          </a:ln>
        </p:spPr>
      </p:sp>
      <p:sp>
        <p:nvSpPr>
          <p:cNvPr id="42" name="Text 34"/>
          <p:cNvSpPr txBox="1"/>
          <p:nvPr/>
        </p:nvSpPr>
        <p:spPr>
          <a:xfrm>
            <a:off x="4186352" y="19385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Roboto" pitchFamily="34" charset="0"/>
                <a:ea typeface="Roboto" pitchFamily="34" charset="-122"/>
                <a:cs typeface="Roboto" pitchFamily="34" charset="-120"/>
              </a:rPr>
              <a:t>3</a:t>
            </a:r>
            <a:endParaRPr lang="en-US" sz="900" dirty="0"/>
          </a:p>
        </p:txBody>
      </p:sp>
      <p:sp>
        <p:nvSpPr>
          <p:cNvPr id="43" name="Text 35"/>
          <p:cNvSpPr txBox="1"/>
          <p:nvPr/>
        </p:nvSpPr>
        <p:spPr>
          <a:xfrm>
            <a:off x="4515536" y="1901952"/>
            <a:ext cx="1042416" cy="694944"/>
          </a:xfrm>
          <a:prstGeom prst="rect">
            <a:avLst/>
          </a:prstGeom>
          <a:noFill/>
          <a:ln/>
        </p:spPr>
        <p:txBody>
          <a:bodyPr wrap="square" lIns="0" tIns="0" rIns="0" bIns="0" rtlCol="0" anchor="ctr"/>
          <a:lstStyle/>
          <a:p>
            <a:pPr indent="0" marL="0">
              <a:buNone/>
            </a:pPr>
            <a:r>
              <a:rPr lang="en-US" sz="950" dirty="0">
                <a:solidFill>
                  <a:srgbClr val="0F172A"/>
                </a:solidFill>
                <a:latin typeface="Roboto" pitchFamily="34" charset="0"/>
                <a:ea typeface="Roboto" pitchFamily="34" charset="-122"/>
                <a:cs typeface="Roboto" pitchFamily="34" charset="-120"/>
              </a:rPr>
              <a:t>Confirms fields, takes a selfie, submits</a:t>
            </a:r>
            <a:endParaRPr lang="en-US" sz="950" dirty="0"/>
          </a:p>
        </p:txBody>
      </p:sp>
      <p:sp>
        <p:nvSpPr>
          <p:cNvPr id="44" name="Shape 36"/>
          <p:cNvSpPr/>
          <p:nvPr/>
        </p:nvSpPr>
        <p:spPr>
          <a:xfrm>
            <a:off x="5118240" y="2980944"/>
            <a:ext cx="1499616" cy="768096"/>
          </a:xfrm>
          <a:prstGeom prst="roundRect">
            <a:avLst>
              <a:gd name="adj" fmla="val 9524"/>
            </a:avLst>
          </a:prstGeom>
          <a:solidFill>
            <a:srgbClr val="FFFFFF"/>
          </a:solidFill>
          <a:ln w="15875">
            <a:solidFill>
              <a:srgbClr val="E11D48"/>
            </a:solidFill>
            <a:prstDash val="solid"/>
          </a:ln>
          <a:effectLst>
            <a:outerShdw sx="100000" sy="100000" kx="0" ky="0" algn="bl" rotWithShape="0" blurRad="127000" dist="25400" dir="5400000">
              <a:srgbClr val="0F172A">
                <a:alpha val="12000"/>
              </a:srgbClr>
            </a:outerShdw>
          </a:effectLst>
        </p:spPr>
      </p:sp>
      <p:sp>
        <p:nvSpPr>
          <p:cNvPr id="45" name="Shape 37"/>
          <p:cNvSpPr/>
          <p:nvPr/>
        </p:nvSpPr>
        <p:spPr>
          <a:xfrm>
            <a:off x="5191392" y="3054096"/>
            <a:ext cx="256032" cy="256032"/>
          </a:xfrm>
          <a:prstGeom prst="roundRect">
            <a:avLst>
              <a:gd name="adj" fmla="val 50000"/>
            </a:avLst>
          </a:prstGeom>
          <a:solidFill>
            <a:srgbClr val="E11D48"/>
          </a:solidFill>
          <a:ln w="12700">
            <a:solidFill>
              <a:srgbClr val="E11D48"/>
            </a:solidFill>
            <a:prstDash val="solid"/>
          </a:ln>
        </p:spPr>
      </p:sp>
      <p:sp>
        <p:nvSpPr>
          <p:cNvPr id="46" name="Text 38"/>
          <p:cNvSpPr txBox="1"/>
          <p:nvPr/>
        </p:nvSpPr>
        <p:spPr>
          <a:xfrm>
            <a:off x="5191392" y="305409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Roboto" pitchFamily="34" charset="0"/>
                <a:ea typeface="Roboto" pitchFamily="34" charset="-122"/>
                <a:cs typeface="Roboto" pitchFamily="34" charset="-120"/>
              </a:rPr>
              <a:t>4</a:t>
            </a:r>
            <a:endParaRPr lang="en-US" sz="900" dirty="0"/>
          </a:p>
        </p:txBody>
      </p:sp>
      <p:sp>
        <p:nvSpPr>
          <p:cNvPr id="47" name="Text 39"/>
          <p:cNvSpPr txBox="1"/>
          <p:nvPr/>
        </p:nvSpPr>
        <p:spPr>
          <a:xfrm>
            <a:off x="5520576" y="3017520"/>
            <a:ext cx="1042416" cy="694944"/>
          </a:xfrm>
          <a:prstGeom prst="rect">
            <a:avLst/>
          </a:prstGeom>
          <a:noFill/>
          <a:ln/>
        </p:spPr>
        <p:txBody>
          <a:bodyPr wrap="square" lIns="0" tIns="0" rIns="0" bIns="0" rtlCol="0" anchor="ctr"/>
          <a:lstStyle/>
          <a:p>
            <a:pPr indent="0" marL="0">
              <a:buNone/>
            </a:pPr>
            <a:r>
              <a:rPr lang="en-US" sz="950" dirty="0">
                <a:solidFill>
                  <a:srgbClr val="0F172A"/>
                </a:solidFill>
                <a:latin typeface="Roboto" pitchFamily="34" charset="0"/>
                <a:ea typeface="Roboto" pitchFamily="34" charset="-122"/>
                <a:cs typeface="Roboto" pitchFamily="34" charset="-120"/>
              </a:rPr>
              <a:t>Integrity, face, liveness, case assessment</a:t>
            </a:r>
            <a:endParaRPr lang="en-US" sz="950" dirty="0"/>
          </a:p>
        </p:txBody>
      </p:sp>
      <p:sp>
        <p:nvSpPr>
          <p:cNvPr id="48" name="Shape 40"/>
          <p:cNvSpPr/>
          <p:nvPr/>
        </p:nvSpPr>
        <p:spPr>
          <a:xfrm>
            <a:off x="6123280" y="4096512"/>
            <a:ext cx="1499616" cy="768096"/>
          </a:xfrm>
          <a:prstGeom prst="roundRect">
            <a:avLst>
              <a:gd name="adj" fmla="val 9524"/>
            </a:avLst>
          </a:prstGeom>
          <a:solidFill>
            <a:srgbClr val="FFFFFF"/>
          </a:solidFill>
          <a:ln w="15875">
            <a:solidFill>
              <a:srgbClr val="0F766E"/>
            </a:solidFill>
            <a:prstDash val="solid"/>
          </a:ln>
          <a:effectLst>
            <a:outerShdw sx="100000" sy="100000" kx="0" ky="0" algn="bl" rotWithShape="0" blurRad="127000" dist="25400" dir="5400000">
              <a:srgbClr val="0F172A">
                <a:alpha val="12000"/>
              </a:srgbClr>
            </a:outerShdw>
          </a:effectLst>
        </p:spPr>
      </p:sp>
      <p:sp>
        <p:nvSpPr>
          <p:cNvPr id="49" name="Shape 41"/>
          <p:cNvSpPr/>
          <p:nvPr/>
        </p:nvSpPr>
        <p:spPr>
          <a:xfrm>
            <a:off x="6196432" y="4169664"/>
            <a:ext cx="256032" cy="256032"/>
          </a:xfrm>
          <a:prstGeom prst="roundRect">
            <a:avLst>
              <a:gd name="adj" fmla="val 50000"/>
            </a:avLst>
          </a:prstGeom>
          <a:solidFill>
            <a:srgbClr val="0F766E"/>
          </a:solidFill>
          <a:ln w="12700">
            <a:solidFill>
              <a:srgbClr val="0F766E"/>
            </a:solidFill>
            <a:prstDash val="solid"/>
          </a:ln>
        </p:spPr>
      </p:sp>
      <p:sp>
        <p:nvSpPr>
          <p:cNvPr id="50" name="Text 42"/>
          <p:cNvSpPr txBox="1"/>
          <p:nvPr/>
        </p:nvSpPr>
        <p:spPr>
          <a:xfrm>
            <a:off x="6196432" y="4169664"/>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Roboto" pitchFamily="34" charset="0"/>
                <a:ea typeface="Roboto" pitchFamily="34" charset="-122"/>
                <a:cs typeface="Roboto" pitchFamily="34" charset="-120"/>
              </a:rPr>
              <a:t>5</a:t>
            </a:r>
            <a:endParaRPr lang="en-US" sz="900" dirty="0"/>
          </a:p>
        </p:txBody>
      </p:sp>
      <p:sp>
        <p:nvSpPr>
          <p:cNvPr id="51" name="Text 43"/>
          <p:cNvSpPr txBox="1"/>
          <p:nvPr/>
        </p:nvSpPr>
        <p:spPr>
          <a:xfrm>
            <a:off x="6525616" y="4133088"/>
            <a:ext cx="1042416" cy="694944"/>
          </a:xfrm>
          <a:prstGeom prst="rect">
            <a:avLst/>
          </a:prstGeom>
          <a:noFill/>
          <a:ln/>
        </p:spPr>
        <p:txBody>
          <a:bodyPr wrap="square" lIns="0" tIns="0" rIns="0" bIns="0" rtlCol="0" anchor="ctr"/>
          <a:lstStyle/>
          <a:p>
            <a:pPr indent="0" marL="0">
              <a:buNone/>
            </a:pPr>
            <a:r>
              <a:rPr lang="en-US" sz="950" dirty="0">
                <a:solidFill>
                  <a:srgbClr val="0F172A"/>
                </a:solidFill>
                <a:latin typeface="Roboto" pitchFamily="34" charset="0"/>
                <a:ea typeface="Roboto" pitchFamily="34" charset="-122"/>
                <a:cs typeface="Roboto" pitchFamily="34" charset="-120"/>
              </a:rPr>
              <a:t>Reviews fraud report and policy check</a:t>
            </a:r>
            <a:endParaRPr lang="en-US" sz="950" dirty="0"/>
          </a:p>
        </p:txBody>
      </p:sp>
      <p:sp>
        <p:nvSpPr>
          <p:cNvPr id="52" name="Shape 44"/>
          <p:cNvSpPr/>
          <p:nvPr/>
        </p:nvSpPr>
        <p:spPr>
          <a:xfrm>
            <a:off x="7128319" y="2980944"/>
            <a:ext cx="1499616" cy="768096"/>
          </a:xfrm>
          <a:prstGeom prst="roundRect">
            <a:avLst>
              <a:gd name="adj" fmla="val 9524"/>
            </a:avLst>
          </a:prstGeom>
          <a:solidFill>
            <a:srgbClr val="FFFFFF"/>
          </a:solidFill>
          <a:ln w="15875">
            <a:solidFill>
              <a:srgbClr val="E11D48"/>
            </a:solidFill>
            <a:prstDash val="solid"/>
          </a:ln>
          <a:effectLst>
            <a:outerShdw sx="100000" sy="100000" kx="0" ky="0" algn="bl" rotWithShape="0" blurRad="127000" dist="25400" dir="5400000">
              <a:srgbClr val="0F172A">
                <a:alpha val="12000"/>
              </a:srgbClr>
            </a:outerShdw>
          </a:effectLst>
        </p:spPr>
      </p:sp>
      <p:sp>
        <p:nvSpPr>
          <p:cNvPr id="53" name="Shape 45"/>
          <p:cNvSpPr/>
          <p:nvPr/>
        </p:nvSpPr>
        <p:spPr>
          <a:xfrm>
            <a:off x="7201471" y="3054096"/>
            <a:ext cx="256032" cy="256032"/>
          </a:xfrm>
          <a:prstGeom prst="roundRect">
            <a:avLst>
              <a:gd name="adj" fmla="val 50000"/>
            </a:avLst>
          </a:prstGeom>
          <a:solidFill>
            <a:srgbClr val="E11D48"/>
          </a:solidFill>
          <a:ln w="12700">
            <a:solidFill>
              <a:srgbClr val="E11D48"/>
            </a:solidFill>
            <a:prstDash val="solid"/>
          </a:ln>
        </p:spPr>
      </p:sp>
      <p:sp>
        <p:nvSpPr>
          <p:cNvPr id="54" name="Text 46"/>
          <p:cNvSpPr txBox="1"/>
          <p:nvPr/>
        </p:nvSpPr>
        <p:spPr>
          <a:xfrm>
            <a:off x="7201471" y="305409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Roboto" pitchFamily="34" charset="0"/>
                <a:ea typeface="Roboto" pitchFamily="34" charset="-122"/>
                <a:cs typeface="Roboto" pitchFamily="34" charset="-120"/>
              </a:rPr>
              <a:t>6</a:t>
            </a:r>
            <a:endParaRPr lang="en-US" sz="900" dirty="0"/>
          </a:p>
        </p:txBody>
      </p:sp>
      <p:sp>
        <p:nvSpPr>
          <p:cNvPr id="55" name="Text 47"/>
          <p:cNvSpPr txBox="1"/>
          <p:nvPr/>
        </p:nvSpPr>
        <p:spPr>
          <a:xfrm>
            <a:off x="7530655" y="3017520"/>
            <a:ext cx="1042416" cy="694944"/>
          </a:xfrm>
          <a:prstGeom prst="rect">
            <a:avLst/>
          </a:prstGeom>
          <a:noFill/>
          <a:ln/>
        </p:spPr>
        <p:txBody>
          <a:bodyPr wrap="square" lIns="0" tIns="0" rIns="0" bIns="0" rtlCol="0" anchor="ctr"/>
          <a:lstStyle/>
          <a:p>
            <a:pPr indent="0" marL="0">
              <a:buNone/>
            </a:pPr>
            <a:r>
              <a:rPr lang="en-US" sz="950" dirty="0">
                <a:solidFill>
                  <a:srgbClr val="0F172A"/>
                </a:solidFill>
                <a:latin typeface="Roboto" pitchFamily="34" charset="0"/>
                <a:ea typeface="Roboto" pitchFamily="34" charset="-122"/>
                <a:cs typeface="Roboto" pitchFamily="34" charset="-120"/>
              </a:rPr>
              <a:t>Underwriting crew drafts memo &amp; offer</a:t>
            </a:r>
            <a:endParaRPr lang="en-US" sz="950" dirty="0"/>
          </a:p>
        </p:txBody>
      </p:sp>
      <p:sp>
        <p:nvSpPr>
          <p:cNvPr id="56" name="Shape 48"/>
          <p:cNvSpPr/>
          <p:nvPr/>
        </p:nvSpPr>
        <p:spPr>
          <a:xfrm>
            <a:off x="8133359" y="4096512"/>
            <a:ext cx="1499616" cy="768096"/>
          </a:xfrm>
          <a:prstGeom prst="roundRect">
            <a:avLst>
              <a:gd name="adj" fmla="val 9524"/>
            </a:avLst>
          </a:prstGeom>
          <a:solidFill>
            <a:srgbClr val="FFFFFF"/>
          </a:solidFill>
          <a:ln w="15875">
            <a:solidFill>
              <a:srgbClr val="0F766E"/>
            </a:solidFill>
            <a:prstDash val="solid"/>
          </a:ln>
          <a:effectLst>
            <a:outerShdw sx="100000" sy="100000" kx="0" ky="0" algn="bl" rotWithShape="0" blurRad="127000" dist="25400" dir="5400000">
              <a:srgbClr val="0F172A">
                <a:alpha val="12000"/>
              </a:srgbClr>
            </a:outerShdw>
          </a:effectLst>
        </p:spPr>
      </p:sp>
      <p:sp>
        <p:nvSpPr>
          <p:cNvPr id="57" name="Shape 49"/>
          <p:cNvSpPr/>
          <p:nvPr/>
        </p:nvSpPr>
        <p:spPr>
          <a:xfrm>
            <a:off x="8206511" y="4169664"/>
            <a:ext cx="256032" cy="256032"/>
          </a:xfrm>
          <a:prstGeom prst="roundRect">
            <a:avLst>
              <a:gd name="adj" fmla="val 50000"/>
            </a:avLst>
          </a:prstGeom>
          <a:solidFill>
            <a:srgbClr val="0F766E"/>
          </a:solidFill>
          <a:ln w="12700">
            <a:solidFill>
              <a:srgbClr val="0F766E"/>
            </a:solidFill>
            <a:prstDash val="solid"/>
          </a:ln>
        </p:spPr>
      </p:sp>
      <p:sp>
        <p:nvSpPr>
          <p:cNvPr id="58" name="Text 50"/>
          <p:cNvSpPr txBox="1"/>
          <p:nvPr/>
        </p:nvSpPr>
        <p:spPr>
          <a:xfrm>
            <a:off x="8206511" y="4169664"/>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Roboto" pitchFamily="34" charset="0"/>
                <a:ea typeface="Roboto" pitchFamily="34" charset="-122"/>
                <a:cs typeface="Roboto" pitchFamily="34" charset="-120"/>
              </a:rPr>
              <a:t>7</a:t>
            </a:r>
            <a:endParaRPr lang="en-US" sz="900" dirty="0"/>
          </a:p>
        </p:txBody>
      </p:sp>
      <p:sp>
        <p:nvSpPr>
          <p:cNvPr id="59" name="Text 51"/>
          <p:cNvSpPr txBox="1"/>
          <p:nvPr/>
        </p:nvSpPr>
        <p:spPr>
          <a:xfrm>
            <a:off x="8535695" y="4133088"/>
            <a:ext cx="1042416" cy="694944"/>
          </a:xfrm>
          <a:prstGeom prst="rect">
            <a:avLst/>
          </a:prstGeom>
          <a:noFill/>
          <a:ln/>
        </p:spPr>
        <p:txBody>
          <a:bodyPr wrap="square" lIns="0" tIns="0" rIns="0" bIns="0" rtlCol="0" anchor="ctr"/>
          <a:lstStyle/>
          <a:p>
            <a:pPr indent="0" marL="0">
              <a:buNone/>
            </a:pPr>
            <a:r>
              <a:rPr lang="en-US" sz="950" dirty="0">
                <a:solidFill>
                  <a:srgbClr val="0F172A"/>
                </a:solidFill>
                <a:latin typeface="Roboto" pitchFamily="34" charset="0"/>
                <a:ea typeface="Roboto" pitchFamily="34" charset="-122"/>
                <a:cs typeface="Roboto" pitchFamily="34" charset="-120"/>
              </a:rPr>
              <a:t>Recommends approve or reject</a:t>
            </a:r>
            <a:endParaRPr lang="en-US" sz="950" dirty="0"/>
          </a:p>
        </p:txBody>
      </p:sp>
      <p:sp>
        <p:nvSpPr>
          <p:cNvPr id="60" name="Shape 52"/>
          <p:cNvSpPr/>
          <p:nvPr/>
        </p:nvSpPr>
        <p:spPr>
          <a:xfrm>
            <a:off x="9138399" y="5212080"/>
            <a:ext cx="1499616" cy="768096"/>
          </a:xfrm>
          <a:prstGeom prst="roundRect">
            <a:avLst>
              <a:gd name="adj" fmla="val 9524"/>
            </a:avLst>
          </a:prstGeom>
          <a:solidFill>
            <a:srgbClr val="FFFFFF"/>
          </a:solidFill>
          <a:ln w="15875">
            <a:solidFill>
              <a:srgbClr val="D97706"/>
            </a:solidFill>
            <a:prstDash val="solid"/>
          </a:ln>
          <a:effectLst>
            <a:outerShdw sx="100000" sy="100000" kx="0" ky="0" algn="bl" rotWithShape="0" blurRad="127000" dist="25400" dir="5400000">
              <a:srgbClr val="0F172A">
                <a:alpha val="12000"/>
              </a:srgbClr>
            </a:outerShdw>
          </a:effectLst>
        </p:spPr>
      </p:sp>
      <p:sp>
        <p:nvSpPr>
          <p:cNvPr id="61" name="Shape 53"/>
          <p:cNvSpPr/>
          <p:nvPr/>
        </p:nvSpPr>
        <p:spPr>
          <a:xfrm>
            <a:off x="9211551" y="5285232"/>
            <a:ext cx="256032" cy="256032"/>
          </a:xfrm>
          <a:prstGeom prst="roundRect">
            <a:avLst>
              <a:gd name="adj" fmla="val 50000"/>
            </a:avLst>
          </a:prstGeom>
          <a:solidFill>
            <a:srgbClr val="D97706"/>
          </a:solidFill>
          <a:ln w="12700">
            <a:solidFill>
              <a:srgbClr val="D97706"/>
            </a:solidFill>
            <a:prstDash val="solid"/>
          </a:ln>
        </p:spPr>
      </p:sp>
      <p:sp>
        <p:nvSpPr>
          <p:cNvPr id="62" name="Text 54"/>
          <p:cNvSpPr txBox="1"/>
          <p:nvPr/>
        </p:nvSpPr>
        <p:spPr>
          <a:xfrm>
            <a:off x="9211551" y="528523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Roboto" pitchFamily="34" charset="0"/>
                <a:ea typeface="Roboto" pitchFamily="34" charset="-122"/>
                <a:cs typeface="Roboto" pitchFamily="34" charset="-120"/>
              </a:rPr>
              <a:t>8</a:t>
            </a:r>
            <a:endParaRPr lang="en-US" sz="900" dirty="0"/>
          </a:p>
        </p:txBody>
      </p:sp>
      <p:sp>
        <p:nvSpPr>
          <p:cNvPr id="63" name="Text 55"/>
          <p:cNvSpPr txBox="1"/>
          <p:nvPr/>
        </p:nvSpPr>
        <p:spPr>
          <a:xfrm>
            <a:off x="9540735" y="5248656"/>
            <a:ext cx="1042416" cy="694944"/>
          </a:xfrm>
          <a:prstGeom prst="rect">
            <a:avLst/>
          </a:prstGeom>
          <a:noFill/>
          <a:ln/>
        </p:spPr>
        <p:txBody>
          <a:bodyPr wrap="square" lIns="0" tIns="0" rIns="0" bIns="0" rtlCol="0" anchor="ctr"/>
          <a:lstStyle/>
          <a:p>
            <a:pPr indent="0" marL="0">
              <a:buNone/>
            </a:pPr>
            <a:r>
              <a:rPr lang="en-US" sz="950" dirty="0">
                <a:solidFill>
                  <a:srgbClr val="0F172A"/>
                </a:solidFill>
                <a:latin typeface="Roboto" pitchFamily="34" charset="0"/>
                <a:ea typeface="Roboto" pitchFamily="34" charset="-122"/>
                <a:cs typeface="Roboto" pitchFamily="34" charset="-120"/>
              </a:rPr>
              <a:t>Approves above ₹5 lakh</a:t>
            </a:r>
            <a:endParaRPr lang="en-US" sz="950" dirty="0"/>
          </a:p>
        </p:txBody>
      </p:sp>
      <p:sp>
        <p:nvSpPr>
          <p:cNvPr id="64" name="Shape 56"/>
          <p:cNvSpPr/>
          <p:nvPr/>
        </p:nvSpPr>
        <p:spPr>
          <a:xfrm>
            <a:off x="10143439" y="1865376"/>
            <a:ext cx="1499616" cy="768096"/>
          </a:xfrm>
          <a:prstGeom prst="roundRect">
            <a:avLst>
              <a:gd name="adj" fmla="val 9524"/>
            </a:avLst>
          </a:prstGeom>
          <a:solidFill>
            <a:srgbClr val="FFFFFF"/>
          </a:solidFill>
          <a:ln w="15875">
            <a:solidFill>
              <a:srgbClr val="4F46E5"/>
            </a:solidFill>
            <a:prstDash val="solid"/>
          </a:ln>
          <a:effectLst>
            <a:outerShdw sx="100000" sy="100000" kx="0" ky="0" algn="bl" rotWithShape="0" blurRad="127000" dist="25400" dir="5400000">
              <a:srgbClr val="0F172A">
                <a:alpha val="12000"/>
              </a:srgbClr>
            </a:outerShdw>
          </a:effectLst>
        </p:spPr>
      </p:sp>
      <p:sp>
        <p:nvSpPr>
          <p:cNvPr id="65" name="Shape 57"/>
          <p:cNvSpPr/>
          <p:nvPr/>
        </p:nvSpPr>
        <p:spPr>
          <a:xfrm>
            <a:off x="10216591" y="1938528"/>
            <a:ext cx="256032" cy="256032"/>
          </a:xfrm>
          <a:prstGeom prst="roundRect">
            <a:avLst>
              <a:gd name="adj" fmla="val 50000"/>
            </a:avLst>
          </a:prstGeom>
          <a:solidFill>
            <a:srgbClr val="4F46E5"/>
          </a:solidFill>
          <a:ln w="12700">
            <a:solidFill>
              <a:srgbClr val="4F46E5"/>
            </a:solidFill>
            <a:prstDash val="solid"/>
          </a:ln>
        </p:spPr>
      </p:sp>
      <p:sp>
        <p:nvSpPr>
          <p:cNvPr id="66" name="Text 58"/>
          <p:cNvSpPr txBox="1"/>
          <p:nvPr/>
        </p:nvSpPr>
        <p:spPr>
          <a:xfrm>
            <a:off x="10216591" y="19385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Roboto" pitchFamily="34" charset="0"/>
                <a:ea typeface="Roboto" pitchFamily="34" charset="-122"/>
                <a:cs typeface="Roboto" pitchFamily="34" charset="-120"/>
              </a:rPr>
              <a:t>9</a:t>
            </a:r>
            <a:endParaRPr lang="en-US" sz="900" dirty="0"/>
          </a:p>
        </p:txBody>
      </p:sp>
      <p:sp>
        <p:nvSpPr>
          <p:cNvPr id="67" name="Text 59"/>
          <p:cNvSpPr txBox="1"/>
          <p:nvPr/>
        </p:nvSpPr>
        <p:spPr>
          <a:xfrm>
            <a:off x="10545775" y="1901952"/>
            <a:ext cx="1042416" cy="694944"/>
          </a:xfrm>
          <a:prstGeom prst="rect">
            <a:avLst/>
          </a:prstGeom>
          <a:noFill/>
          <a:ln/>
        </p:spPr>
        <p:txBody>
          <a:bodyPr wrap="square" lIns="0" tIns="0" rIns="0" bIns="0" rtlCol="0" anchor="ctr"/>
          <a:lstStyle/>
          <a:p>
            <a:pPr indent="0" marL="0">
              <a:buNone/>
            </a:pPr>
            <a:r>
              <a:rPr lang="en-US" sz="950" dirty="0">
                <a:solidFill>
                  <a:srgbClr val="0F172A"/>
                </a:solidFill>
                <a:latin typeface="Roboto" pitchFamily="34" charset="0"/>
                <a:ea typeface="Roboto" pitchFamily="34" charset="-122"/>
                <a:cs typeface="Roboto" pitchFamily="34" charset="-120"/>
              </a:rPr>
              <a:t>Receives and accepts the offer</a:t>
            </a:r>
            <a:endParaRPr lang="en-US" sz="9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8229600" cy="256032"/>
          </a:xfrm>
          <a:prstGeom prst="rect">
            <a:avLst/>
          </a:prstGeom>
          <a:noFill/>
          <a:ln/>
        </p:spPr>
        <p:txBody>
          <a:bodyPr wrap="square" lIns="0" tIns="0" rIns="0" bIns="0" rtlCol="0" anchor="ctr"/>
          <a:lstStyle/>
          <a:p>
            <a:pPr indent="0" marL="0">
              <a:buNone/>
            </a:pPr>
            <a:r>
              <a:rPr lang="en-US" sz="1100" b="1" spc="200" kern="0" dirty="0">
                <a:solidFill>
                  <a:srgbClr val="4F46E5"/>
                </a:solidFill>
                <a:latin typeface="Roboto" pitchFamily="34" charset="0"/>
                <a:ea typeface="Roboto" pitchFamily="34" charset="-122"/>
                <a:cs typeface="Roboto" pitchFamily="34" charset="-120"/>
              </a:rPr>
              <a:t>WORKFLOWS</a:t>
            </a:r>
            <a:endParaRPr lang="en-US" sz="1100" dirty="0"/>
          </a:p>
        </p:txBody>
      </p:sp>
      <p:sp>
        <p:nvSpPr>
          <p:cNvPr id="3" name="Text 1"/>
          <p:cNvSpPr txBox="1"/>
          <p:nvPr/>
        </p:nvSpPr>
        <p:spPr>
          <a:xfrm>
            <a:off x="548640" y="585216"/>
            <a:ext cx="11094415" cy="566928"/>
          </a:xfrm>
          <a:prstGeom prst="rect">
            <a:avLst/>
          </a:prstGeom>
          <a:noFill/>
          <a:ln/>
        </p:spPr>
        <p:txBody>
          <a:bodyPr wrap="square" lIns="0" tIns="0" rIns="0" bIns="0" rtlCol="0" anchor="ctr"/>
          <a:lstStyle/>
          <a:p>
            <a:pPr indent="0" marL="0">
              <a:buNone/>
            </a:pPr>
            <a:r>
              <a:rPr lang="en-US" sz="2800" b="1" dirty="0">
                <a:solidFill>
                  <a:srgbClr val="0F172A"/>
                </a:solidFill>
                <a:latin typeface="Roboto" pitchFamily="34" charset="0"/>
                <a:ea typeface="Roboto" pitchFamily="34" charset="-122"/>
                <a:cs typeface="Roboto" pitchFamily="34" charset="-120"/>
              </a:rPr>
              <a:t>A real run through the wizard</a:t>
            </a:r>
            <a:endParaRPr lang="en-US" sz="2800" dirty="0"/>
          </a:p>
        </p:txBody>
      </p:sp>
      <p:sp>
        <p:nvSpPr>
          <p:cNvPr id="4" name="Text 2"/>
          <p:cNvSpPr txBox="1"/>
          <p:nvPr/>
        </p:nvSpPr>
        <p:spPr>
          <a:xfrm>
            <a:off x="548640" y="1152144"/>
            <a:ext cx="11094415" cy="365760"/>
          </a:xfrm>
          <a:prstGeom prst="rect">
            <a:avLst/>
          </a:prstGeom>
          <a:noFill/>
          <a:ln/>
        </p:spPr>
        <p:txBody>
          <a:bodyPr wrap="square" lIns="0" tIns="0" rIns="0" bIns="0" rtlCol="0" anchor="ctr"/>
          <a:lstStyle/>
          <a:p>
            <a:pPr indent="0" marL="0">
              <a:buNone/>
            </a:pPr>
            <a:r>
              <a:rPr lang="en-US" sz="1400" dirty="0">
                <a:solidFill>
                  <a:srgbClr val="64748B"/>
                </a:solidFill>
                <a:latin typeface="Roboto" pitchFamily="34" charset="0"/>
                <a:ea typeface="Roboto" pitchFamily="34" charset="-122"/>
                <a:cs typeface="Roboto" pitchFamily="34" charset="-120"/>
              </a:rPr>
              <a:t>Captured from the app with a synthetic applicant (generated identity — no real personal data).</a:t>
            </a:r>
            <a:endParaRPr lang="en-US" sz="1400" dirty="0"/>
          </a:p>
        </p:txBody>
      </p:sp>
      <p:pic>
        <p:nvPicPr>
          <p:cNvPr id="5" name="Image 0" descr="C:\Users\shrey\AppData\Local\Temp\claude\D--novacinternship-finsight\ef4ecb45-e580-4bc0-9be4-060aa240a5b2\scratchpad\deck\img\logo_lockup.png">    </p:cNvPr>
          <p:cNvPicPr>
            <a:picLocks noChangeAspect="1"/>
          </p:cNvPicPr>
          <p:nvPr/>
        </p:nvPicPr>
        <p:blipFill>
          <a:blip r:embed="rId1"/>
          <a:stretch>
            <a:fillRect/>
          </a:stretch>
        </p:blipFill>
        <p:spPr>
          <a:xfrm>
            <a:off x="10360152" y="6464808"/>
            <a:ext cx="843991" cy="237744"/>
          </a:xfrm>
          <a:prstGeom prst="rect">
            <a:avLst/>
          </a:prstGeom>
        </p:spPr>
      </p:pic>
      <p:sp>
        <p:nvSpPr>
          <p:cNvPr id="6" name="Text 3"/>
          <p:cNvSpPr txBox="1"/>
          <p:nvPr/>
        </p:nvSpPr>
        <p:spPr>
          <a:xfrm>
            <a:off x="11277295" y="6473952"/>
            <a:ext cx="365760" cy="228600"/>
          </a:xfrm>
          <a:prstGeom prst="rect">
            <a:avLst/>
          </a:prstGeom>
          <a:noFill/>
          <a:ln/>
        </p:spPr>
        <p:txBody>
          <a:bodyPr wrap="square" lIns="0" tIns="0" rIns="0" bIns="0" rtlCol="0" anchor="ctr"/>
          <a:lstStyle/>
          <a:p>
            <a:pPr algn="r" indent="0" marL="0">
              <a:buNone/>
            </a:pPr>
            <a:r>
              <a:rPr lang="en-US" sz="900" dirty="0">
                <a:solidFill>
                  <a:srgbClr val="94A3B8"/>
                </a:solidFill>
                <a:latin typeface="Roboto" pitchFamily="34" charset="0"/>
                <a:ea typeface="Roboto" pitchFamily="34" charset="-122"/>
                <a:cs typeface="Roboto" pitchFamily="34" charset="-120"/>
              </a:rPr>
              <a:t>27</a:t>
            </a:r>
            <a:endParaRPr lang="en-US" sz="900" dirty="0"/>
          </a:p>
        </p:txBody>
      </p:sp>
      <p:sp>
        <p:nvSpPr>
          <p:cNvPr id="8" name="Shape 4"/>
          <p:cNvSpPr/>
          <p:nvPr/>
        </p:nvSpPr>
        <p:spPr>
          <a:xfrm>
            <a:off x="1913839" y="1645920"/>
            <a:ext cx="292608" cy="292608"/>
          </a:xfrm>
          <a:prstGeom prst="roundRect">
            <a:avLst>
              <a:gd name="adj" fmla="val 50000"/>
            </a:avLst>
          </a:prstGeom>
          <a:solidFill>
            <a:srgbClr val="4F46E5"/>
          </a:solidFill>
          <a:ln w="12700">
            <a:solidFill>
              <a:srgbClr val="4F46E5"/>
            </a:solidFill>
            <a:prstDash val="solid"/>
          </a:ln>
        </p:spPr>
      </p:sp>
      <p:sp>
        <p:nvSpPr>
          <p:cNvPr id="9" name="Text 5"/>
          <p:cNvSpPr txBox="1"/>
          <p:nvPr/>
        </p:nvSpPr>
        <p:spPr>
          <a:xfrm>
            <a:off x="1913839" y="1645920"/>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Roboto" pitchFamily="34" charset="0"/>
                <a:ea typeface="Roboto" pitchFamily="34" charset="-122"/>
                <a:cs typeface="Roboto" pitchFamily="34" charset="-120"/>
              </a:rPr>
              <a:t>1</a:t>
            </a:r>
            <a:endParaRPr lang="en-US" sz="1100" dirty="0"/>
          </a:p>
        </p:txBody>
      </p:sp>
      <p:sp>
        <p:nvSpPr>
          <p:cNvPr id="10" name="Text 6"/>
          <p:cNvSpPr txBox="1"/>
          <p:nvPr/>
        </p:nvSpPr>
        <p:spPr>
          <a:xfrm>
            <a:off x="2325319" y="1645920"/>
            <a:ext cx="4846320" cy="292608"/>
          </a:xfrm>
          <a:prstGeom prst="rect">
            <a:avLst/>
          </a:prstGeom>
          <a:noFill/>
          <a:ln/>
        </p:spPr>
        <p:txBody>
          <a:bodyPr wrap="square" lIns="0" tIns="0" rIns="0" bIns="0" rtlCol="0" anchor="ctr"/>
          <a:lstStyle/>
          <a:p>
            <a:pPr indent="0" marL="0">
              <a:buNone/>
            </a:pPr>
            <a:r>
              <a:rPr lang="en-US" sz="1250" b="1" dirty="0">
                <a:solidFill>
                  <a:srgbClr val="0F172A"/>
                </a:solidFill>
                <a:latin typeface="Roboto" pitchFamily="34" charset="0"/>
                <a:ea typeface="Roboto" pitchFamily="34" charset="-122"/>
                <a:cs typeface="Roboto" pitchFamily="34" charset="-120"/>
              </a:rPr>
              <a:t>Product checklist</a:t>
            </a:r>
            <a:endParaRPr lang="en-US" sz="1250" dirty="0"/>
          </a:p>
        </p:txBody>
      </p:sp>
      <p:sp>
        <p:nvSpPr>
          <p:cNvPr id="11" name="Shape 7"/>
          <p:cNvSpPr/>
          <p:nvPr/>
        </p:nvSpPr>
        <p:spPr>
          <a:xfrm>
            <a:off x="1913839" y="2011680"/>
            <a:ext cx="2710282" cy="1920240"/>
          </a:xfrm>
          <a:prstGeom prst="roundRect">
            <a:avLst>
              <a:gd name="adj" fmla="val 3333"/>
            </a:avLst>
          </a:prstGeom>
          <a:solidFill>
            <a:srgbClr val="1E293B"/>
          </a:solidFill>
          <a:ln w="12700">
            <a:solidFill>
              <a:srgbClr val="1E293B"/>
            </a:solidFill>
            <a:prstDash val="solid"/>
          </a:ln>
          <a:effectLst>
            <a:outerShdw sx="100000" sy="100000" kx="0" ky="0" algn="bl" rotWithShape="0" blurRad="127000" dist="25400" dir="5400000">
              <a:srgbClr val="0F172A">
                <a:alpha val="12000"/>
              </a:srgbClr>
            </a:outerShdw>
          </a:effectLst>
        </p:spPr>
      </p:sp>
      <p:sp>
        <p:nvSpPr>
          <p:cNvPr id="12" name="Shape 8"/>
          <p:cNvSpPr/>
          <p:nvPr/>
        </p:nvSpPr>
        <p:spPr>
          <a:xfrm>
            <a:off x="2032711" y="2089404"/>
            <a:ext cx="82296" cy="82296"/>
          </a:xfrm>
          <a:prstGeom prst="ellipse">
            <a:avLst/>
          </a:prstGeom>
          <a:solidFill>
            <a:srgbClr val="F87171"/>
          </a:solidFill>
          <a:ln w="12700">
            <a:solidFill>
              <a:srgbClr val="F87171"/>
            </a:solidFill>
            <a:prstDash val="solid"/>
          </a:ln>
        </p:spPr>
      </p:sp>
      <p:sp>
        <p:nvSpPr>
          <p:cNvPr id="13" name="Shape 9"/>
          <p:cNvSpPr/>
          <p:nvPr/>
        </p:nvSpPr>
        <p:spPr>
          <a:xfrm>
            <a:off x="2169871" y="2089404"/>
            <a:ext cx="82296" cy="82296"/>
          </a:xfrm>
          <a:prstGeom prst="ellipse">
            <a:avLst/>
          </a:prstGeom>
          <a:solidFill>
            <a:srgbClr val="FBBF24"/>
          </a:solidFill>
          <a:ln w="12700">
            <a:solidFill>
              <a:srgbClr val="FBBF24"/>
            </a:solidFill>
            <a:prstDash val="solid"/>
          </a:ln>
        </p:spPr>
      </p:sp>
      <p:sp>
        <p:nvSpPr>
          <p:cNvPr id="14" name="Shape 10"/>
          <p:cNvSpPr/>
          <p:nvPr/>
        </p:nvSpPr>
        <p:spPr>
          <a:xfrm>
            <a:off x="2307031" y="2089404"/>
            <a:ext cx="82296" cy="82296"/>
          </a:xfrm>
          <a:prstGeom prst="ellipse">
            <a:avLst/>
          </a:prstGeom>
          <a:solidFill>
            <a:srgbClr val="34D399"/>
          </a:solidFill>
          <a:ln w="12700">
            <a:solidFill>
              <a:srgbClr val="34D399"/>
            </a:solidFill>
            <a:prstDash val="solid"/>
          </a:ln>
        </p:spPr>
      </p:sp>
      <p:pic>
        <p:nvPicPr>
          <p:cNvPr id="15" name="Image 1" descr="C:\Users\shrey\AppData\Local\Temp\claude\D--novacinternship-finsight\ef4ecb45-e580-4bc0-9be4-060aa240a5b2\scratchpad\deck\img\wizard_required.png">    </p:cNvPr>
          <p:cNvPicPr>
            <a:picLocks noChangeAspect="1"/>
          </p:cNvPicPr>
          <p:nvPr/>
        </p:nvPicPr>
        <p:blipFill>
          <a:blip r:embed="rId2"/>
          <a:stretch>
            <a:fillRect/>
          </a:stretch>
        </p:blipFill>
        <p:spPr>
          <a:xfrm>
            <a:off x="1959559" y="2249424"/>
            <a:ext cx="2618842" cy="1636776"/>
          </a:xfrm>
          <a:prstGeom prst="rect">
            <a:avLst/>
          </a:prstGeom>
        </p:spPr>
      </p:pic>
      <p:sp>
        <p:nvSpPr>
          <p:cNvPr id="16" name="Shape 11"/>
          <p:cNvSpPr/>
          <p:nvPr/>
        </p:nvSpPr>
        <p:spPr>
          <a:xfrm>
            <a:off x="7091041" y="1645920"/>
            <a:ext cx="292608" cy="292608"/>
          </a:xfrm>
          <a:prstGeom prst="roundRect">
            <a:avLst>
              <a:gd name="adj" fmla="val 50000"/>
            </a:avLst>
          </a:prstGeom>
          <a:solidFill>
            <a:srgbClr val="4F46E5"/>
          </a:solidFill>
          <a:ln w="12700">
            <a:solidFill>
              <a:srgbClr val="4F46E5"/>
            </a:solidFill>
            <a:prstDash val="solid"/>
          </a:ln>
        </p:spPr>
      </p:sp>
      <p:sp>
        <p:nvSpPr>
          <p:cNvPr id="17" name="Text 12"/>
          <p:cNvSpPr txBox="1"/>
          <p:nvPr/>
        </p:nvSpPr>
        <p:spPr>
          <a:xfrm>
            <a:off x="7091041" y="1645920"/>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Roboto" pitchFamily="34" charset="0"/>
                <a:ea typeface="Roboto" pitchFamily="34" charset="-122"/>
                <a:cs typeface="Roboto" pitchFamily="34" charset="-120"/>
              </a:rPr>
              <a:t>2</a:t>
            </a:r>
            <a:endParaRPr lang="en-US" sz="1100" dirty="0"/>
          </a:p>
        </p:txBody>
      </p:sp>
      <p:sp>
        <p:nvSpPr>
          <p:cNvPr id="18" name="Text 13"/>
          <p:cNvSpPr txBox="1"/>
          <p:nvPr/>
        </p:nvSpPr>
        <p:spPr>
          <a:xfrm>
            <a:off x="7502521" y="1645920"/>
            <a:ext cx="4846320" cy="292608"/>
          </a:xfrm>
          <a:prstGeom prst="rect">
            <a:avLst/>
          </a:prstGeom>
          <a:noFill/>
          <a:ln/>
        </p:spPr>
        <p:txBody>
          <a:bodyPr wrap="square" lIns="0" tIns="0" rIns="0" bIns="0" rtlCol="0" anchor="ctr"/>
          <a:lstStyle/>
          <a:p>
            <a:pPr indent="0" marL="0">
              <a:buNone/>
            </a:pPr>
            <a:r>
              <a:rPr lang="en-US" sz="1250" b="1" dirty="0">
                <a:solidFill>
                  <a:srgbClr val="0F172A"/>
                </a:solidFill>
                <a:latin typeface="Roboto" pitchFamily="34" charset="0"/>
                <a:ea typeface="Roboto" pitchFamily="34" charset="-122"/>
                <a:cs typeface="Roboto" pitchFamily="34" charset="-120"/>
              </a:rPr>
              <a:t>Fields read by the intake crew</a:t>
            </a:r>
            <a:endParaRPr lang="en-US" sz="1250" dirty="0"/>
          </a:p>
        </p:txBody>
      </p:sp>
      <p:sp>
        <p:nvSpPr>
          <p:cNvPr id="19" name="Shape 14"/>
          <p:cNvSpPr/>
          <p:nvPr/>
        </p:nvSpPr>
        <p:spPr>
          <a:xfrm>
            <a:off x="7091041" y="2011680"/>
            <a:ext cx="3602998" cy="1920240"/>
          </a:xfrm>
          <a:prstGeom prst="roundRect">
            <a:avLst>
              <a:gd name="adj" fmla="val 3333"/>
            </a:avLst>
          </a:prstGeom>
          <a:solidFill>
            <a:srgbClr val="1E293B"/>
          </a:solidFill>
          <a:ln w="12700">
            <a:solidFill>
              <a:srgbClr val="1E293B"/>
            </a:solidFill>
            <a:prstDash val="solid"/>
          </a:ln>
          <a:effectLst>
            <a:outerShdw sx="100000" sy="100000" kx="0" ky="0" algn="bl" rotWithShape="0" blurRad="127000" dist="25400" dir="5400000">
              <a:srgbClr val="0F172A">
                <a:alpha val="12000"/>
              </a:srgbClr>
            </a:outerShdw>
          </a:effectLst>
        </p:spPr>
      </p:sp>
      <p:sp>
        <p:nvSpPr>
          <p:cNvPr id="20" name="Shape 15"/>
          <p:cNvSpPr/>
          <p:nvPr/>
        </p:nvSpPr>
        <p:spPr>
          <a:xfrm>
            <a:off x="7209913" y="2089404"/>
            <a:ext cx="82296" cy="82296"/>
          </a:xfrm>
          <a:prstGeom prst="ellipse">
            <a:avLst/>
          </a:prstGeom>
          <a:solidFill>
            <a:srgbClr val="F87171"/>
          </a:solidFill>
          <a:ln w="12700">
            <a:solidFill>
              <a:srgbClr val="F87171"/>
            </a:solidFill>
            <a:prstDash val="solid"/>
          </a:ln>
        </p:spPr>
      </p:sp>
      <p:sp>
        <p:nvSpPr>
          <p:cNvPr id="21" name="Shape 16"/>
          <p:cNvSpPr/>
          <p:nvPr/>
        </p:nvSpPr>
        <p:spPr>
          <a:xfrm>
            <a:off x="7347073" y="2089404"/>
            <a:ext cx="82296" cy="82296"/>
          </a:xfrm>
          <a:prstGeom prst="ellipse">
            <a:avLst/>
          </a:prstGeom>
          <a:solidFill>
            <a:srgbClr val="FBBF24"/>
          </a:solidFill>
          <a:ln w="12700">
            <a:solidFill>
              <a:srgbClr val="FBBF24"/>
            </a:solidFill>
            <a:prstDash val="solid"/>
          </a:ln>
        </p:spPr>
      </p:sp>
      <p:sp>
        <p:nvSpPr>
          <p:cNvPr id="22" name="Shape 17"/>
          <p:cNvSpPr/>
          <p:nvPr/>
        </p:nvSpPr>
        <p:spPr>
          <a:xfrm>
            <a:off x="7484233" y="2089404"/>
            <a:ext cx="82296" cy="82296"/>
          </a:xfrm>
          <a:prstGeom prst="ellipse">
            <a:avLst/>
          </a:prstGeom>
          <a:solidFill>
            <a:srgbClr val="34D399"/>
          </a:solidFill>
          <a:ln w="12700">
            <a:solidFill>
              <a:srgbClr val="34D399"/>
            </a:solidFill>
            <a:prstDash val="solid"/>
          </a:ln>
        </p:spPr>
      </p:sp>
      <p:pic>
        <p:nvPicPr>
          <p:cNvPr id="23" name="Image 2" descr="C:\Users\shrey\AppData\Local\Temp\claude\D--novacinternship-finsight\ef4ecb45-e580-4bc0-9be4-060aa240a5b2\scratchpad\deck\img\wizard_extract.png">    </p:cNvPr>
          <p:cNvPicPr>
            <a:picLocks noChangeAspect="1"/>
          </p:cNvPicPr>
          <p:nvPr/>
        </p:nvPicPr>
        <p:blipFill>
          <a:blip r:embed="rId3"/>
          <a:stretch>
            <a:fillRect/>
          </a:stretch>
        </p:blipFill>
        <p:spPr>
          <a:xfrm>
            <a:off x="7136761" y="2249424"/>
            <a:ext cx="3511558" cy="1636776"/>
          </a:xfrm>
          <a:prstGeom prst="rect">
            <a:avLst/>
          </a:prstGeom>
        </p:spPr>
      </p:pic>
      <p:sp>
        <p:nvSpPr>
          <p:cNvPr id="24" name="Shape 18"/>
          <p:cNvSpPr/>
          <p:nvPr/>
        </p:nvSpPr>
        <p:spPr>
          <a:xfrm>
            <a:off x="899761" y="4023360"/>
            <a:ext cx="292608" cy="292608"/>
          </a:xfrm>
          <a:prstGeom prst="roundRect">
            <a:avLst>
              <a:gd name="adj" fmla="val 50000"/>
            </a:avLst>
          </a:prstGeom>
          <a:solidFill>
            <a:srgbClr val="4F46E5"/>
          </a:solidFill>
          <a:ln w="12700">
            <a:solidFill>
              <a:srgbClr val="4F46E5"/>
            </a:solidFill>
            <a:prstDash val="solid"/>
          </a:ln>
        </p:spPr>
      </p:sp>
      <p:sp>
        <p:nvSpPr>
          <p:cNvPr id="25" name="Text 19"/>
          <p:cNvSpPr txBox="1"/>
          <p:nvPr/>
        </p:nvSpPr>
        <p:spPr>
          <a:xfrm>
            <a:off x="899761" y="4023360"/>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Roboto" pitchFamily="34" charset="0"/>
                <a:ea typeface="Roboto" pitchFamily="34" charset="-122"/>
                <a:cs typeface="Roboto" pitchFamily="34" charset="-120"/>
              </a:rPr>
              <a:t>3</a:t>
            </a:r>
            <a:endParaRPr lang="en-US" sz="1100" dirty="0"/>
          </a:p>
        </p:txBody>
      </p:sp>
      <p:sp>
        <p:nvSpPr>
          <p:cNvPr id="26" name="Text 20"/>
          <p:cNvSpPr txBox="1"/>
          <p:nvPr/>
        </p:nvSpPr>
        <p:spPr>
          <a:xfrm>
            <a:off x="1311241" y="4023360"/>
            <a:ext cx="4846320" cy="292608"/>
          </a:xfrm>
          <a:prstGeom prst="rect">
            <a:avLst/>
          </a:prstGeom>
          <a:noFill/>
          <a:ln/>
        </p:spPr>
        <p:txBody>
          <a:bodyPr wrap="square" lIns="0" tIns="0" rIns="0" bIns="0" rtlCol="0" anchor="ctr"/>
          <a:lstStyle/>
          <a:p>
            <a:pPr indent="0" marL="0">
              <a:buNone/>
            </a:pPr>
            <a:r>
              <a:rPr lang="en-US" sz="1250" b="1" dirty="0">
                <a:solidFill>
                  <a:srgbClr val="0F172A"/>
                </a:solidFill>
                <a:latin typeface="Roboto" pitchFamily="34" charset="0"/>
                <a:ea typeface="Roboto" pitchFamily="34" charset="-122"/>
                <a:cs typeface="Roboto" pitchFamily="34" charset="-120"/>
              </a:rPr>
              <a:t>Integrity: plain-language findings</a:t>
            </a:r>
            <a:endParaRPr lang="en-US" sz="1250" dirty="0"/>
          </a:p>
        </p:txBody>
      </p:sp>
      <p:sp>
        <p:nvSpPr>
          <p:cNvPr id="27" name="Shape 21"/>
          <p:cNvSpPr/>
          <p:nvPr/>
        </p:nvSpPr>
        <p:spPr>
          <a:xfrm>
            <a:off x="899761" y="4389120"/>
            <a:ext cx="4738438" cy="1920240"/>
          </a:xfrm>
          <a:prstGeom prst="roundRect">
            <a:avLst>
              <a:gd name="adj" fmla="val 3333"/>
            </a:avLst>
          </a:prstGeom>
          <a:solidFill>
            <a:srgbClr val="1E293B"/>
          </a:solidFill>
          <a:ln w="12700">
            <a:solidFill>
              <a:srgbClr val="1E293B"/>
            </a:solidFill>
            <a:prstDash val="solid"/>
          </a:ln>
          <a:effectLst>
            <a:outerShdw sx="100000" sy="100000" kx="0" ky="0" algn="bl" rotWithShape="0" blurRad="127000" dist="25400" dir="5400000">
              <a:srgbClr val="0F172A">
                <a:alpha val="12000"/>
              </a:srgbClr>
            </a:outerShdw>
          </a:effectLst>
        </p:spPr>
      </p:sp>
      <p:sp>
        <p:nvSpPr>
          <p:cNvPr id="28" name="Shape 22"/>
          <p:cNvSpPr/>
          <p:nvPr/>
        </p:nvSpPr>
        <p:spPr>
          <a:xfrm>
            <a:off x="1018633" y="4466844"/>
            <a:ext cx="82296" cy="82296"/>
          </a:xfrm>
          <a:prstGeom prst="ellipse">
            <a:avLst/>
          </a:prstGeom>
          <a:solidFill>
            <a:srgbClr val="F87171"/>
          </a:solidFill>
          <a:ln w="12700">
            <a:solidFill>
              <a:srgbClr val="F87171"/>
            </a:solidFill>
            <a:prstDash val="solid"/>
          </a:ln>
        </p:spPr>
      </p:sp>
      <p:sp>
        <p:nvSpPr>
          <p:cNvPr id="29" name="Shape 23"/>
          <p:cNvSpPr/>
          <p:nvPr/>
        </p:nvSpPr>
        <p:spPr>
          <a:xfrm>
            <a:off x="1155793" y="4466844"/>
            <a:ext cx="82296" cy="82296"/>
          </a:xfrm>
          <a:prstGeom prst="ellipse">
            <a:avLst/>
          </a:prstGeom>
          <a:solidFill>
            <a:srgbClr val="FBBF24"/>
          </a:solidFill>
          <a:ln w="12700">
            <a:solidFill>
              <a:srgbClr val="FBBF24"/>
            </a:solidFill>
            <a:prstDash val="solid"/>
          </a:ln>
        </p:spPr>
      </p:sp>
      <p:sp>
        <p:nvSpPr>
          <p:cNvPr id="30" name="Shape 24"/>
          <p:cNvSpPr/>
          <p:nvPr/>
        </p:nvSpPr>
        <p:spPr>
          <a:xfrm>
            <a:off x="1292953" y="4466844"/>
            <a:ext cx="82296" cy="82296"/>
          </a:xfrm>
          <a:prstGeom prst="ellipse">
            <a:avLst/>
          </a:prstGeom>
          <a:solidFill>
            <a:srgbClr val="34D399"/>
          </a:solidFill>
          <a:ln w="12700">
            <a:solidFill>
              <a:srgbClr val="34D399"/>
            </a:solidFill>
            <a:prstDash val="solid"/>
          </a:ln>
        </p:spPr>
      </p:sp>
      <p:pic>
        <p:nvPicPr>
          <p:cNvPr id="31" name="Image 3" descr="C:\Users\shrey\AppData\Local\Temp\claude\D--novacinternship-finsight\ef4ecb45-e580-4bc0-9be4-060aa240a5b2\scratchpad\deck\img\integrity_pan.png">    </p:cNvPr>
          <p:cNvPicPr>
            <a:picLocks noChangeAspect="1"/>
          </p:cNvPicPr>
          <p:nvPr/>
        </p:nvPicPr>
        <p:blipFill>
          <a:blip r:embed="rId4"/>
          <a:stretch>
            <a:fillRect/>
          </a:stretch>
        </p:blipFill>
        <p:spPr>
          <a:xfrm>
            <a:off x="945481" y="4626864"/>
            <a:ext cx="4646998" cy="1636776"/>
          </a:xfrm>
          <a:prstGeom prst="rect">
            <a:avLst/>
          </a:prstGeom>
        </p:spPr>
      </p:pic>
      <p:sp>
        <p:nvSpPr>
          <p:cNvPr id="32" name="Shape 25"/>
          <p:cNvSpPr/>
          <p:nvPr/>
        </p:nvSpPr>
        <p:spPr>
          <a:xfrm>
            <a:off x="6366856" y="4023360"/>
            <a:ext cx="292608" cy="292608"/>
          </a:xfrm>
          <a:prstGeom prst="roundRect">
            <a:avLst>
              <a:gd name="adj" fmla="val 50000"/>
            </a:avLst>
          </a:prstGeom>
          <a:solidFill>
            <a:srgbClr val="4F46E5"/>
          </a:solidFill>
          <a:ln w="12700">
            <a:solidFill>
              <a:srgbClr val="4F46E5"/>
            </a:solidFill>
            <a:prstDash val="solid"/>
          </a:ln>
        </p:spPr>
      </p:sp>
      <p:sp>
        <p:nvSpPr>
          <p:cNvPr id="33" name="Text 26"/>
          <p:cNvSpPr txBox="1"/>
          <p:nvPr/>
        </p:nvSpPr>
        <p:spPr>
          <a:xfrm>
            <a:off x="6366856" y="4023360"/>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Roboto" pitchFamily="34" charset="0"/>
                <a:ea typeface="Roboto" pitchFamily="34" charset="-122"/>
                <a:cs typeface="Roboto" pitchFamily="34" charset="-120"/>
              </a:rPr>
              <a:t>4</a:t>
            </a:r>
            <a:endParaRPr lang="en-US" sz="1100" dirty="0"/>
          </a:p>
        </p:txBody>
      </p:sp>
      <p:sp>
        <p:nvSpPr>
          <p:cNvPr id="34" name="Text 27"/>
          <p:cNvSpPr txBox="1"/>
          <p:nvPr/>
        </p:nvSpPr>
        <p:spPr>
          <a:xfrm>
            <a:off x="6778336" y="4023360"/>
            <a:ext cx="4846320" cy="292608"/>
          </a:xfrm>
          <a:prstGeom prst="rect">
            <a:avLst/>
          </a:prstGeom>
          <a:noFill/>
          <a:ln/>
        </p:spPr>
        <p:txBody>
          <a:bodyPr wrap="square" lIns="0" tIns="0" rIns="0" bIns="0" rtlCol="0" anchor="ctr"/>
          <a:lstStyle/>
          <a:p>
            <a:pPr indent="0" marL="0">
              <a:buNone/>
            </a:pPr>
            <a:r>
              <a:rPr lang="en-US" sz="1250" b="1" dirty="0">
                <a:solidFill>
                  <a:srgbClr val="0F172A"/>
                </a:solidFill>
                <a:latin typeface="Roboto" pitchFamily="34" charset="0"/>
                <a:ea typeface="Roboto" pitchFamily="34" charset="-122"/>
                <a:cs typeface="Roboto" pitchFamily="34" charset="-120"/>
              </a:rPr>
              <a:t>Fraud &amp; policy assessment</a:t>
            </a:r>
            <a:endParaRPr lang="en-US" sz="1250" dirty="0"/>
          </a:p>
        </p:txBody>
      </p:sp>
      <p:sp>
        <p:nvSpPr>
          <p:cNvPr id="35" name="Shape 28"/>
          <p:cNvSpPr/>
          <p:nvPr/>
        </p:nvSpPr>
        <p:spPr>
          <a:xfrm>
            <a:off x="6366856" y="4389120"/>
            <a:ext cx="5051367" cy="1920240"/>
          </a:xfrm>
          <a:prstGeom prst="roundRect">
            <a:avLst>
              <a:gd name="adj" fmla="val 3333"/>
            </a:avLst>
          </a:prstGeom>
          <a:solidFill>
            <a:srgbClr val="1E293B"/>
          </a:solidFill>
          <a:ln w="12700">
            <a:solidFill>
              <a:srgbClr val="1E293B"/>
            </a:solidFill>
            <a:prstDash val="solid"/>
          </a:ln>
          <a:effectLst>
            <a:outerShdw sx="100000" sy="100000" kx="0" ky="0" algn="bl" rotWithShape="0" blurRad="127000" dist="25400" dir="5400000">
              <a:srgbClr val="0F172A">
                <a:alpha val="12000"/>
              </a:srgbClr>
            </a:outerShdw>
          </a:effectLst>
        </p:spPr>
      </p:sp>
      <p:sp>
        <p:nvSpPr>
          <p:cNvPr id="36" name="Shape 29"/>
          <p:cNvSpPr/>
          <p:nvPr/>
        </p:nvSpPr>
        <p:spPr>
          <a:xfrm>
            <a:off x="6485728" y="4466844"/>
            <a:ext cx="82296" cy="82296"/>
          </a:xfrm>
          <a:prstGeom prst="ellipse">
            <a:avLst/>
          </a:prstGeom>
          <a:solidFill>
            <a:srgbClr val="F87171"/>
          </a:solidFill>
          <a:ln w="12700">
            <a:solidFill>
              <a:srgbClr val="F87171"/>
            </a:solidFill>
            <a:prstDash val="solid"/>
          </a:ln>
        </p:spPr>
      </p:sp>
      <p:sp>
        <p:nvSpPr>
          <p:cNvPr id="37" name="Shape 30"/>
          <p:cNvSpPr/>
          <p:nvPr/>
        </p:nvSpPr>
        <p:spPr>
          <a:xfrm>
            <a:off x="6622888" y="4466844"/>
            <a:ext cx="82296" cy="82296"/>
          </a:xfrm>
          <a:prstGeom prst="ellipse">
            <a:avLst/>
          </a:prstGeom>
          <a:solidFill>
            <a:srgbClr val="FBBF24"/>
          </a:solidFill>
          <a:ln w="12700">
            <a:solidFill>
              <a:srgbClr val="FBBF24"/>
            </a:solidFill>
            <a:prstDash val="solid"/>
          </a:ln>
        </p:spPr>
      </p:sp>
      <p:sp>
        <p:nvSpPr>
          <p:cNvPr id="38" name="Shape 31"/>
          <p:cNvSpPr/>
          <p:nvPr/>
        </p:nvSpPr>
        <p:spPr>
          <a:xfrm>
            <a:off x="6760048" y="4466844"/>
            <a:ext cx="82296" cy="82296"/>
          </a:xfrm>
          <a:prstGeom prst="ellipse">
            <a:avLst/>
          </a:prstGeom>
          <a:solidFill>
            <a:srgbClr val="34D399"/>
          </a:solidFill>
          <a:ln w="12700">
            <a:solidFill>
              <a:srgbClr val="34D399"/>
            </a:solidFill>
            <a:prstDash val="solid"/>
          </a:ln>
        </p:spPr>
      </p:sp>
      <p:pic>
        <p:nvPicPr>
          <p:cNvPr id="39" name="Image 4" descr="C:\Users\shrey\AppData\Local\Temp\claude\D--novacinternship-finsight\ef4ecb45-e580-4bc0-9be4-060aa240a5b2\scratchpad\deck\img\assessment_top.png">    </p:cNvPr>
          <p:cNvPicPr>
            <a:picLocks noChangeAspect="1"/>
          </p:cNvPicPr>
          <p:nvPr/>
        </p:nvPicPr>
        <p:blipFill>
          <a:blip r:embed="rId5"/>
          <a:stretch>
            <a:fillRect/>
          </a:stretch>
        </p:blipFill>
        <p:spPr>
          <a:xfrm>
            <a:off x="6412576" y="4626864"/>
            <a:ext cx="4959927" cy="1636776"/>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1417320"/>
            <a:ext cx="3657600" cy="1188720"/>
          </a:xfrm>
          <a:prstGeom prst="rect">
            <a:avLst/>
          </a:prstGeom>
          <a:noFill/>
          <a:ln/>
        </p:spPr>
        <p:txBody>
          <a:bodyPr wrap="square" lIns="0" tIns="0" rIns="0" bIns="0" rtlCol="0" anchor="ctr"/>
          <a:lstStyle/>
          <a:p>
            <a:pPr indent="0" marL="0">
              <a:buNone/>
            </a:pPr>
            <a:r>
              <a:rPr lang="en-US" sz="8800" b="1" dirty="0">
                <a:solidFill>
                  <a:srgbClr val="818CF8"/>
                </a:solidFill>
                <a:latin typeface="Roboto" pitchFamily="34" charset="0"/>
                <a:ea typeface="Roboto" pitchFamily="34" charset="-122"/>
                <a:cs typeface="Roboto" pitchFamily="34" charset="-120"/>
              </a:rPr>
              <a:t>04</a:t>
            </a:r>
            <a:endParaRPr lang="en-US" sz="8800" dirty="0"/>
          </a:p>
        </p:txBody>
      </p:sp>
      <p:sp>
        <p:nvSpPr>
          <p:cNvPr id="3" name="Text 1"/>
          <p:cNvSpPr txBox="1"/>
          <p:nvPr/>
        </p:nvSpPr>
        <p:spPr>
          <a:xfrm>
            <a:off x="548640" y="2697480"/>
            <a:ext cx="7772400" cy="822960"/>
          </a:xfrm>
          <a:prstGeom prst="rect">
            <a:avLst/>
          </a:prstGeom>
          <a:noFill/>
          <a:ln/>
        </p:spPr>
        <p:txBody>
          <a:bodyPr wrap="square" lIns="0" tIns="0" rIns="0" bIns="0" rtlCol="0" anchor="ctr"/>
          <a:lstStyle/>
          <a:p>
            <a:pPr indent="0" marL="0">
              <a:buNone/>
            </a:pPr>
            <a:r>
              <a:rPr lang="en-US" sz="4000" b="1" dirty="0">
                <a:solidFill>
                  <a:srgbClr val="FFFFFF"/>
                </a:solidFill>
                <a:latin typeface="Roboto" pitchFamily="34" charset="0"/>
                <a:ea typeface="Roboto" pitchFamily="34" charset="-122"/>
                <a:cs typeface="Roboto" pitchFamily="34" charset="-120"/>
              </a:rPr>
              <a:t>Trust &amp; control</a:t>
            </a:r>
            <a:endParaRPr lang="en-US" sz="4000" dirty="0"/>
          </a:p>
        </p:txBody>
      </p:sp>
      <p:sp>
        <p:nvSpPr>
          <p:cNvPr id="4" name="Text 2"/>
          <p:cNvSpPr txBox="1"/>
          <p:nvPr/>
        </p:nvSpPr>
        <p:spPr>
          <a:xfrm>
            <a:off x="548640" y="3520440"/>
            <a:ext cx="7132320" cy="822960"/>
          </a:xfrm>
          <a:prstGeom prst="rect">
            <a:avLst/>
          </a:prstGeom>
          <a:noFill/>
          <a:ln/>
        </p:spPr>
        <p:txBody>
          <a:bodyPr wrap="square" lIns="0" tIns="0" rIns="0" bIns="0" rtlCol="0" anchor="t"/>
          <a:lstStyle/>
          <a:p>
            <a:pPr indent="0" marL="0">
              <a:buNone/>
            </a:pPr>
            <a:r>
              <a:rPr lang="en-US" sz="1700" dirty="0">
                <a:solidFill>
                  <a:srgbClr val="CBD5E1"/>
                </a:solidFill>
                <a:latin typeface="Roboto" pitchFamily="34" charset="0"/>
                <a:ea typeface="Roboto" pitchFamily="34" charset="-122"/>
                <a:cs typeface="Roboto" pitchFamily="34" charset="-120"/>
              </a:rPr>
              <a:t>One gateway to every model, guardrails that are tested, and a trace of every step in SQL Server.</a:t>
            </a:r>
            <a:endParaRPr lang="en-US" sz="1700" dirty="0"/>
          </a:p>
        </p:txBody>
      </p:sp>
      <p:sp>
        <p:nvSpPr>
          <p:cNvPr id="5" name="Text 3"/>
          <p:cNvSpPr txBox="1"/>
          <p:nvPr/>
        </p:nvSpPr>
        <p:spPr>
          <a:xfrm>
            <a:off x="548640" y="4754880"/>
            <a:ext cx="3657600" cy="274320"/>
          </a:xfrm>
          <a:prstGeom prst="rect">
            <a:avLst/>
          </a:prstGeom>
          <a:noFill/>
          <a:ln/>
        </p:spPr>
        <p:txBody>
          <a:bodyPr wrap="square" lIns="0" tIns="0" rIns="0" bIns="0" rtlCol="0" anchor="ctr"/>
          <a:lstStyle/>
          <a:p>
            <a:pPr indent="0" marL="0">
              <a:buNone/>
            </a:pPr>
            <a:r>
              <a:rPr lang="en-US" sz="1050" b="1" spc="200" kern="0" dirty="0">
                <a:solidFill>
                  <a:srgbClr val="94A3B8"/>
                </a:solidFill>
                <a:latin typeface="Roboto" pitchFamily="34" charset="0"/>
                <a:ea typeface="Roboto" pitchFamily="34" charset="-122"/>
                <a:cs typeface="Roboto" pitchFamily="34" charset="-120"/>
              </a:rPr>
              <a:t>IN THIS SECTION</a:t>
            </a:r>
            <a:endParaRPr lang="en-US" sz="1050" dirty="0"/>
          </a:p>
        </p:txBody>
      </p:sp>
      <p:sp>
        <p:nvSpPr>
          <p:cNvPr id="6" name="Shape 4"/>
          <p:cNvSpPr/>
          <p:nvPr/>
        </p:nvSpPr>
        <p:spPr>
          <a:xfrm>
            <a:off x="548640" y="5102352"/>
            <a:ext cx="1060704" cy="384048"/>
          </a:xfrm>
          <a:prstGeom prst="roundRect">
            <a:avLst>
              <a:gd name="adj" fmla="val 50000"/>
            </a:avLst>
          </a:prstGeom>
          <a:solidFill>
            <a:srgbClr val="1E293B"/>
          </a:solidFill>
          <a:ln w="12700">
            <a:solidFill>
              <a:srgbClr val="334155"/>
            </a:solidFill>
            <a:prstDash val="solid"/>
          </a:ln>
        </p:spPr>
      </p:sp>
      <p:sp>
        <p:nvSpPr>
          <p:cNvPr id="7" name="Text 5"/>
          <p:cNvSpPr txBox="1"/>
          <p:nvPr/>
        </p:nvSpPr>
        <p:spPr>
          <a:xfrm>
            <a:off x="548640" y="5102352"/>
            <a:ext cx="1060704" cy="384048"/>
          </a:xfrm>
          <a:prstGeom prst="rect">
            <a:avLst/>
          </a:prstGeom>
          <a:noFill/>
          <a:ln/>
        </p:spPr>
        <p:txBody>
          <a:bodyPr wrap="square" lIns="0" tIns="0" rIns="0" bIns="0" rtlCol="0" anchor="ctr"/>
          <a:lstStyle/>
          <a:p>
            <a:pPr algn="ctr" indent="0" marL="0">
              <a:buNone/>
            </a:pPr>
            <a:r>
              <a:rPr lang="en-US" sz="1200" dirty="0">
                <a:solidFill>
                  <a:srgbClr val="E2E8F0"/>
                </a:solidFill>
                <a:latin typeface="Roboto" pitchFamily="34" charset="0"/>
                <a:ea typeface="Roboto" pitchFamily="34" charset="-122"/>
                <a:cs typeface="Roboto" pitchFamily="34" charset="-120"/>
              </a:rPr>
              <a:t>LLM gateway</a:t>
            </a:r>
            <a:endParaRPr lang="en-US" sz="1200" dirty="0"/>
          </a:p>
        </p:txBody>
      </p:sp>
      <p:sp>
        <p:nvSpPr>
          <p:cNvPr id="8" name="Shape 6"/>
          <p:cNvSpPr/>
          <p:nvPr/>
        </p:nvSpPr>
        <p:spPr>
          <a:xfrm>
            <a:off x="1737360" y="5102352"/>
            <a:ext cx="987552" cy="384048"/>
          </a:xfrm>
          <a:prstGeom prst="roundRect">
            <a:avLst>
              <a:gd name="adj" fmla="val 50000"/>
            </a:avLst>
          </a:prstGeom>
          <a:solidFill>
            <a:srgbClr val="1E293B"/>
          </a:solidFill>
          <a:ln w="12700">
            <a:solidFill>
              <a:srgbClr val="334155"/>
            </a:solidFill>
            <a:prstDash val="solid"/>
          </a:ln>
        </p:spPr>
      </p:sp>
      <p:sp>
        <p:nvSpPr>
          <p:cNvPr id="9" name="Text 7"/>
          <p:cNvSpPr txBox="1"/>
          <p:nvPr/>
        </p:nvSpPr>
        <p:spPr>
          <a:xfrm>
            <a:off x="1737360" y="5102352"/>
            <a:ext cx="987552" cy="384048"/>
          </a:xfrm>
          <a:prstGeom prst="rect">
            <a:avLst/>
          </a:prstGeom>
          <a:noFill/>
          <a:ln/>
        </p:spPr>
        <p:txBody>
          <a:bodyPr wrap="square" lIns="0" tIns="0" rIns="0" bIns="0" rtlCol="0" anchor="ctr"/>
          <a:lstStyle/>
          <a:p>
            <a:pPr algn="ctr" indent="0" marL="0">
              <a:buNone/>
            </a:pPr>
            <a:r>
              <a:rPr lang="en-US" sz="1200" dirty="0">
                <a:solidFill>
                  <a:srgbClr val="E2E8F0"/>
                </a:solidFill>
                <a:latin typeface="Roboto" pitchFamily="34" charset="0"/>
                <a:ea typeface="Roboto" pitchFamily="34" charset="-122"/>
                <a:cs typeface="Roboto" pitchFamily="34" charset="-120"/>
              </a:rPr>
              <a:t>Guardrails</a:t>
            </a:r>
            <a:endParaRPr lang="en-US" sz="1200" dirty="0"/>
          </a:p>
        </p:txBody>
      </p:sp>
      <p:sp>
        <p:nvSpPr>
          <p:cNvPr id="10" name="Shape 8"/>
          <p:cNvSpPr/>
          <p:nvPr/>
        </p:nvSpPr>
        <p:spPr>
          <a:xfrm>
            <a:off x="2852928" y="5102352"/>
            <a:ext cx="768096" cy="384048"/>
          </a:xfrm>
          <a:prstGeom prst="roundRect">
            <a:avLst>
              <a:gd name="adj" fmla="val 50000"/>
            </a:avLst>
          </a:prstGeom>
          <a:solidFill>
            <a:srgbClr val="1E293B"/>
          </a:solidFill>
          <a:ln w="12700">
            <a:solidFill>
              <a:srgbClr val="334155"/>
            </a:solidFill>
            <a:prstDash val="solid"/>
          </a:ln>
        </p:spPr>
      </p:sp>
      <p:sp>
        <p:nvSpPr>
          <p:cNvPr id="11" name="Text 9"/>
          <p:cNvSpPr txBox="1"/>
          <p:nvPr/>
        </p:nvSpPr>
        <p:spPr>
          <a:xfrm>
            <a:off x="2852928" y="5102352"/>
            <a:ext cx="768096" cy="384048"/>
          </a:xfrm>
          <a:prstGeom prst="rect">
            <a:avLst/>
          </a:prstGeom>
          <a:noFill/>
          <a:ln/>
        </p:spPr>
        <p:txBody>
          <a:bodyPr wrap="square" lIns="0" tIns="0" rIns="0" bIns="0" rtlCol="0" anchor="ctr"/>
          <a:lstStyle/>
          <a:p>
            <a:pPr algn="ctr" indent="0" marL="0">
              <a:buNone/>
            </a:pPr>
            <a:r>
              <a:rPr lang="en-US" sz="1200" dirty="0">
                <a:solidFill>
                  <a:srgbClr val="E2E8F0"/>
                </a:solidFill>
                <a:latin typeface="Roboto" pitchFamily="34" charset="0"/>
                <a:ea typeface="Roboto" pitchFamily="34" charset="-122"/>
                <a:cs typeface="Roboto" pitchFamily="34" charset="-120"/>
              </a:rPr>
              <a:t>Tracing</a:t>
            </a:r>
            <a:endParaRPr lang="en-US" sz="1200" dirty="0"/>
          </a:p>
        </p:txBody>
      </p:sp>
      <p:sp>
        <p:nvSpPr>
          <p:cNvPr id="12" name="Shape 10"/>
          <p:cNvSpPr/>
          <p:nvPr/>
        </p:nvSpPr>
        <p:spPr>
          <a:xfrm>
            <a:off x="3749040" y="5102352"/>
            <a:ext cx="987552" cy="384048"/>
          </a:xfrm>
          <a:prstGeom prst="roundRect">
            <a:avLst>
              <a:gd name="adj" fmla="val 50000"/>
            </a:avLst>
          </a:prstGeom>
          <a:solidFill>
            <a:srgbClr val="1E293B"/>
          </a:solidFill>
          <a:ln w="12700">
            <a:solidFill>
              <a:srgbClr val="334155"/>
            </a:solidFill>
            <a:prstDash val="solid"/>
          </a:ln>
        </p:spPr>
      </p:sp>
      <p:sp>
        <p:nvSpPr>
          <p:cNvPr id="13" name="Text 11"/>
          <p:cNvSpPr txBox="1"/>
          <p:nvPr/>
        </p:nvSpPr>
        <p:spPr>
          <a:xfrm>
            <a:off x="3749040" y="5102352"/>
            <a:ext cx="987552" cy="384048"/>
          </a:xfrm>
          <a:prstGeom prst="rect">
            <a:avLst/>
          </a:prstGeom>
          <a:noFill/>
          <a:ln/>
        </p:spPr>
        <p:txBody>
          <a:bodyPr wrap="square" lIns="0" tIns="0" rIns="0" bIns="0" rtlCol="0" anchor="ctr"/>
          <a:lstStyle/>
          <a:p>
            <a:pPr algn="ctr" indent="0" marL="0">
              <a:buNone/>
            </a:pPr>
            <a:r>
              <a:rPr lang="en-US" sz="1200" dirty="0">
                <a:solidFill>
                  <a:srgbClr val="E2E8F0"/>
                </a:solidFill>
                <a:latin typeface="Roboto" pitchFamily="34" charset="0"/>
                <a:ea typeface="Roboto" pitchFamily="34" charset="-122"/>
                <a:cs typeface="Roboto" pitchFamily="34" charset="-120"/>
              </a:rPr>
              <a:t>Data model</a:t>
            </a:r>
            <a:endParaRPr lang="en-US" sz="1200" dirty="0"/>
          </a:p>
        </p:txBody>
      </p:sp>
      <p:sp>
        <p:nvSpPr>
          <p:cNvPr id="14" name="Shape 12"/>
          <p:cNvSpPr/>
          <p:nvPr/>
        </p:nvSpPr>
        <p:spPr>
          <a:xfrm>
            <a:off x="8549640" y="1600200"/>
            <a:ext cx="3108960" cy="3108960"/>
          </a:xfrm>
          <a:prstGeom prst="ellipse">
            <a:avLst/>
          </a:prstGeom>
          <a:solidFill>
            <a:srgbClr val="1E293B"/>
          </a:solidFill>
          <a:ln w="12700">
            <a:solidFill>
              <a:srgbClr val="334155"/>
            </a:solidFill>
            <a:prstDash val="solid"/>
          </a:ln>
        </p:spPr>
      </p:sp>
      <p:pic>
        <p:nvPicPr>
          <p:cNvPr id="15" name="Image 0" descr="preencoded.png">    </p:cNvPr>
          <p:cNvPicPr>
            <a:picLocks noChangeAspect="1"/>
          </p:cNvPicPr>
          <p:nvPr/>
        </p:nvPicPr>
        <p:blipFill>
          <a:blip r:embed="rId1"/>
          <a:stretch>
            <a:fillRect/>
          </a:stretch>
        </p:blipFill>
        <p:spPr>
          <a:xfrm>
            <a:off x="9326880" y="2377440"/>
            <a:ext cx="1554480" cy="1554480"/>
          </a:xfrm>
          <a:prstGeom prst="rect">
            <a:avLst/>
          </a:prstGeom>
        </p:spPr>
      </p:pic>
      <p:pic>
        <p:nvPicPr>
          <p:cNvPr id="16" name="Image 1" descr="C:\Users\shrey\AppData\Local\Temp\claude\D--novacinternship-finsight\ef4ecb45-e580-4bc0-9be4-060aa240a5b2\scratchpad\deck\img\logo_mark_light.png">    </p:cNvPr>
          <p:cNvPicPr>
            <a:picLocks noChangeAspect="1"/>
          </p:cNvPicPr>
          <p:nvPr/>
        </p:nvPicPr>
        <p:blipFill>
          <a:blip r:embed="rId2"/>
          <a:stretch>
            <a:fillRect/>
          </a:stretch>
        </p:blipFill>
        <p:spPr>
          <a:xfrm>
            <a:off x="548640" y="502920"/>
            <a:ext cx="354509" cy="457200"/>
          </a:xfrm>
          <a:prstGeom prst="rect">
            <a:avLst/>
          </a:prstGeom>
        </p:spPr>
      </p:pic>
      <p:pic>
        <p:nvPicPr>
          <p:cNvPr id="17" name="Image 2" descr="C:\Users\shrey\AppData\Local\Temp\claude\D--novacinternship-finsight\ef4ecb45-e580-4bc0-9be4-060aa240a5b2\scratchpad\deck\img\logo_lockup_light.png">    </p:cNvPr>
          <p:cNvPicPr>
            <a:picLocks noChangeAspect="1"/>
          </p:cNvPicPr>
          <p:nvPr/>
        </p:nvPicPr>
        <p:blipFill>
          <a:blip r:embed="rId3"/>
          <a:stretch>
            <a:fillRect/>
          </a:stretch>
        </p:blipFill>
        <p:spPr>
          <a:xfrm>
            <a:off x="10360152" y="6464808"/>
            <a:ext cx="843991" cy="237744"/>
          </a:xfrm>
          <a:prstGeom prst="rect">
            <a:avLst/>
          </a:prstGeom>
        </p:spPr>
      </p:pic>
      <p:sp>
        <p:nvSpPr>
          <p:cNvPr id="18" name="Text 13"/>
          <p:cNvSpPr txBox="1"/>
          <p:nvPr/>
        </p:nvSpPr>
        <p:spPr>
          <a:xfrm>
            <a:off x="11277295" y="6473952"/>
            <a:ext cx="365760" cy="228600"/>
          </a:xfrm>
          <a:prstGeom prst="rect">
            <a:avLst/>
          </a:prstGeom>
          <a:noFill/>
          <a:ln/>
        </p:spPr>
        <p:txBody>
          <a:bodyPr wrap="square" lIns="0" tIns="0" rIns="0" bIns="0" rtlCol="0" anchor="ctr"/>
          <a:lstStyle/>
          <a:p>
            <a:pPr algn="r" indent="0" marL="0">
              <a:buNone/>
            </a:pPr>
            <a:r>
              <a:rPr lang="en-US" sz="900" dirty="0">
                <a:solidFill>
                  <a:srgbClr val="64748B"/>
                </a:solidFill>
                <a:latin typeface="Roboto" pitchFamily="34" charset="0"/>
                <a:ea typeface="Roboto" pitchFamily="34" charset="-122"/>
                <a:cs typeface="Roboto" pitchFamily="34" charset="-120"/>
              </a:rPr>
              <a:t>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8229600" cy="256032"/>
          </a:xfrm>
          <a:prstGeom prst="rect">
            <a:avLst/>
          </a:prstGeom>
          <a:noFill/>
          <a:ln/>
        </p:spPr>
        <p:txBody>
          <a:bodyPr wrap="square" lIns="0" tIns="0" rIns="0" bIns="0" rtlCol="0" anchor="ctr"/>
          <a:lstStyle/>
          <a:p>
            <a:pPr indent="0" marL="0">
              <a:buNone/>
            </a:pPr>
            <a:r>
              <a:rPr lang="en-US" sz="1100" b="1" spc="200" kern="0" dirty="0">
                <a:solidFill>
                  <a:srgbClr val="4F46E5"/>
                </a:solidFill>
                <a:latin typeface="Roboto" pitchFamily="34" charset="0"/>
                <a:ea typeface="Roboto" pitchFamily="34" charset="-122"/>
                <a:cs typeface="Roboto" pitchFamily="34" charset="-120"/>
              </a:rPr>
              <a:t>TRUST &amp; CONTROL</a:t>
            </a:r>
            <a:endParaRPr lang="en-US" sz="1100" dirty="0"/>
          </a:p>
        </p:txBody>
      </p:sp>
      <p:sp>
        <p:nvSpPr>
          <p:cNvPr id="3" name="Text 1"/>
          <p:cNvSpPr txBox="1"/>
          <p:nvPr/>
        </p:nvSpPr>
        <p:spPr>
          <a:xfrm>
            <a:off x="548640" y="585216"/>
            <a:ext cx="11094415" cy="566928"/>
          </a:xfrm>
          <a:prstGeom prst="rect">
            <a:avLst/>
          </a:prstGeom>
          <a:noFill/>
          <a:ln/>
        </p:spPr>
        <p:txBody>
          <a:bodyPr wrap="square" lIns="0" tIns="0" rIns="0" bIns="0" rtlCol="0" anchor="ctr"/>
          <a:lstStyle/>
          <a:p>
            <a:pPr indent="0" marL="0">
              <a:buNone/>
            </a:pPr>
            <a:r>
              <a:rPr lang="en-US" sz="2800" b="1" dirty="0">
                <a:solidFill>
                  <a:srgbClr val="0F172A"/>
                </a:solidFill>
                <a:latin typeface="Roboto" pitchFamily="34" charset="0"/>
                <a:ea typeface="Roboto" pitchFamily="34" charset="-122"/>
                <a:cs typeface="Roboto" pitchFamily="34" charset="-120"/>
              </a:rPr>
              <a:t>One gateway for every model call</a:t>
            </a:r>
            <a:endParaRPr lang="en-US" sz="2800" dirty="0"/>
          </a:p>
        </p:txBody>
      </p:sp>
      <p:sp>
        <p:nvSpPr>
          <p:cNvPr id="4" name="Text 2"/>
          <p:cNvSpPr txBox="1"/>
          <p:nvPr/>
        </p:nvSpPr>
        <p:spPr>
          <a:xfrm>
            <a:off x="548640" y="1152144"/>
            <a:ext cx="11094415" cy="365760"/>
          </a:xfrm>
          <a:prstGeom prst="rect">
            <a:avLst/>
          </a:prstGeom>
          <a:noFill/>
          <a:ln/>
        </p:spPr>
        <p:txBody>
          <a:bodyPr wrap="square" lIns="0" tIns="0" rIns="0" bIns="0" rtlCol="0" anchor="ctr"/>
          <a:lstStyle/>
          <a:p>
            <a:pPr indent="0" marL="0">
              <a:buNone/>
            </a:pPr>
            <a:r>
              <a:rPr lang="en-US" sz="1400" dirty="0">
                <a:solidFill>
                  <a:srgbClr val="64748B"/>
                </a:solidFill>
                <a:latin typeface="Roboto" pitchFamily="34" charset="0"/>
                <a:ea typeface="Roboto" pitchFamily="34" charset="-122"/>
                <a:cs typeface="Roboto" pitchFamily="34" charset="-120"/>
              </a:rPr>
              <a:t>The Head Manager picks the model per agent, per lane or by default. The gateway enforces privacy and queues the calls.</a:t>
            </a:r>
            <a:endParaRPr lang="en-US" sz="1400" dirty="0"/>
          </a:p>
        </p:txBody>
      </p:sp>
      <p:pic>
        <p:nvPicPr>
          <p:cNvPr id="5" name="Image 0" descr="C:\Users\shrey\AppData\Local\Temp\claude\D--novacinternship-finsight\ef4ecb45-e580-4bc0-9be4-060aa240a5b2\scratchpad\deck\img\logo_lockup.png">    </p:cNvPr>
          <p:cNvPicPr>
            <a:picLocks noChangeAspect="1"/>
          </p:cNvPicPr>
          <p:nvPr/>
        </p:nvPicPr>
        <p:blipFill>
          <a:blip r:embed="rId1"/>
          <a:stretch>
            <a:fillRect/>
          </a:stretch>
        </p:blipFill>
        <p:spPr>
          <a:xfrm>
            <a:off x="10360152" y="6464808"/>
            <a:ext cx="843991" cy="237744"/>
          </a:xfrm>
          <a:prstGeom prst="rect">
            <a:avLst/>
          </a:prstGeom>
        </p:spPr>
      </p:pic>
      <p:sp>
        <p:nvSpPr>
          <p:cNvPr id="6" name="Text 3"/>
          <p:cNvSpPr txBox="1"/>
          <p:nvPr/>
        </p:nvSpPr>
        <p:spPr>
          <a:xfrm>
            <a:off x="11277295" y="6473952"/>
            <a:ext cx="365760" cy="228600"/>
          </a:xfrm>
          <a:prstGeom prst="rect">
            <a:avLst/>
          </a:prstGeom>
          <a:noFill/>
          <a:ln/>
        </p:spPr>
        <p:txBody>
          <a:bodyPr wrap="square" lIns="0" tIns="0" rIns="0" bIns="0" rtlCol="0" anchor="ctr"/>
          <a:lstStyle/>
          <a:p>
            <a:pPr algn="r" indent="0" marL="0">
              <a:buNone/>
            </a:pPr>
            <a:r>
              <a:rPr lang="en-US" sz="900" dirty="0">
                <a:solidFill>
                  <a:srgbClr val="94A3B8"/>
                </a:solidFill>
                <a:latin typeface="Roboto" pitchFamily="34" charset="0"/>
                <a:ea typeface="Roboto" pitchFamily="34" charset="-122"/>
                <a:cs typeface="Roboto" pitchFamily="34" charset="-120"/>
              </a:rPr>
              <a:t>29</a:t>
            </a:r>
            <a:endParaRPr lang="en-US" sz="900" dirty="0"/>
          </a:p>
        </p:txBody>
      </p:sp>
      <p:sp>
        <p:nvSpPr>
          <p:cNvPr id="8" name="Shape 4"/>
          <p:cNvSpPr/>
          <p:nvPr/>
        </p:nvSpPr>
        <p:spPr>
          <a:xfrm>
            <a:off x="548640" y="1783080"/>
            <a:ext cx="5029200" cy="731520"/>
          </a:xfrm>
          <a:prstGeom prst="roundRect">
            <a:avLst>
              <a:gd name="adj" fmla="val 10000"/>
            </a:avLst>
          </a:prstGeom>
          <a:solidFill>
            <a:srgbClr val="F8FAFC"/>
          </a:solidFill>
          <a:ln w="12700">
            <a:solidFill>
              <a:srgbClr val="E2E8F0"/>
            </a:solidFill>
            <a:prstDash val="solid"/>
          </a:ln>
        </p:spPr>
      </p:sp>
      <p:sp>
        <p:nvSpPr>
          <p:cNvPr id="9" name="Text 5"/>
          <p:cNvSpPr txBox="1"/>
          <p:nvPr/>
        </p:nvSpPr>
        <p:spPr>
          <a:xfrm>
            <a:off x="621792" y="1801368"/>
            <a:ext cx="4882896" cy="694944"/>
          </a:xfrm>
          <a:prstGeom prst="rect">
            <a:avLst/>
          </a:prstGeom>
          <a:noFill/>
          <a:ln/>
        </p:spPr>
        <p:txBody>
          <a:bodyPr wrap="square" lIns="0" tIns="0" rIns="0" bIns="0" rtlCol="0" anchor="ctr"/>
          <a:lstStyle/>
          <a:p>
            <a:pPr algn="ctr" indent="0" marL="0">
              <a:spcAft>
                <a:spcPts val="200"/>
              </a:spcAft>
              <a:buNone/>
            </a:pPr>
            <a:r>
              <a:rPr lang="en-US" sz="1200" b="1" dirty="0">
                <a:solidFill>
                  <a:srgbClr val="0F172A"/>
                </a:solidFill>
                <a:latin typeface="Roboto" pitchFamily="34" charset="0"/>
                <a:ea typeface="Roboto" pitchFamily="34" charset="-122"/>
                <a:cs typeface="Roboto" pitchFamily="34" charset="-120"/>
              </a:rPr>
              <a:t>Agent asks for a model</a:t>
            </a:r>
            <a:endParaRPr lang="en-US" sz="1200" dirty="0"/>
          </a:p>
          <a:p>
            <a:pPr algn="ctr" indent="0" marL="0">
              <a:spcAft>
                <a:spcPts val="200"/>
              </a:spcAft>
              <a:buNone/>
            </a:pPr>
            <a:r>
              <a:rPr lang="en-US" sz="950" dirty="0">
                <a:solidFill>
                  <a:srgbClr val="64748B"/>
                </a:solidFill>
                <a:latin typeface="Roboto" pitchFamily="34" charset="0"/>
                <a:ea typeface="Roboto" pitchFamily="34" charset="-122"/>
                <a:cs typeface="Roboto" pitchFamily="34" charset="-120"/>
              </a:rPr>
              <a:t>gateway.chat(agent_id, …)</a:t>
            </a:r>
            <a:endParaRPr lang="en-US" sz="1200" dirty="0"/>
          </a:p>
        </p:txBody>
      </p:sp>
      <p:sp>
        <p:nvSpPr>
          <p:cNvPr id="10" name="Shape 6"/>
          <p:cNvSpPr/>
          <p:nvPr/>
        </p:nvSpPr>
        <p:spPr>
          <a:xfrm>
            <a:off x="3063240" y="2532888"/>
            <a:ext cx="0" cy="146304"/>
          </a:xfrm>
          <a:prstGeom prst="line">
            <a:avLst/>
          </a:prstGeom>
          <a:noFill/>
          <a:ln w="19050">
            <a:solidFill>
              <a:srgbClr val="94A3B8"/>
            </a:solidFill>
            <a:prstDash val="solid"/>
            <a:tailEnd type="triangle"/>
          </a:ln>
        </p:spPr>
      </p:sp>
      <p:sp>
        <p:nvSpPr>
          <p:cNvPr id="11" name="Shape 7"/>
          <p:cNvSpPr/>
          <p:nvPr/>
        </p:nvSpPr>
        <p:spPr>
          <a:xfrm>
            <a:off x="548640" y="2697480"/>
            <a:ext cx="5029200" cy="731520"/>
          </a:xfrm>
          <a:prstGeom prst="roundRect">
            <a:avLst>
              <a:gd name="adj" fmla="val 10000"/>
            </a:avLst>
          </a:prstGeom>
          <a:solidFill>
            <a:srgbClr val="FEF3C7"/>
          </a:solidFill>
          <a:ln w="12700">
            <a:solidFill>
              <a:srgbClr val="FCD34D"/>
            </a:solidFill>
            <a:prstDash val="solid"/>
          </a:ln>
        </p:spPr>
      </p:sp>
      <p:sp>
        <p:nvSpPr>
          <p:cNvPr id="12" name="Text 8"/>
          <p:cNvSpPr txBox="1"/>
          <p:nvPr/>
        </p:nvSpPr>
        <p:spPr>
          <a:xfrm>
            <a:off x="621792" y="2715768"/>
            <a:ext cx="4882896" cy="694944"/>
          </a:xfrm>
          <a:prstGeom prst="rect">
            <a:avLst/>
          </a:prstGeom>
          <a:noFill/>
          <a:ln/>
        </p:spPr>
        <p:txBody>
          <a:bodyPr wrap="square" lIns="0" tIns="0" rIns="0" bIns="0" rtlCol="0" anchor="ctr"/>
          <a:lstStyle/>
          <a:p>
            <a:pPr algn="ctr" indent="0" marL="0">
              <a:spcAft>
                <a:spcPts val="200"/>
              </a:spcAft>
              <a:buNone/>
            </a:pPr>
            <a:r>
              <a:rPr lang="en-US" sz="1200" b="1" dirty="0">
                <a:solidFill>
                  <a:srgbClr val="92400E"/>
                </a:solidFill>
                <a:latin typeface="Roboto" pitchFamily="34" charset="0"/>
                <a:ea typeface="Roboto" pitchFamily="34" charset="-122"/>
                <a:cs typeface="Roboto" pitchFamily="34" charset="-120"/>
              </a:rPr>
              <a:t>1 · Resolve the model</a:t>
            </a:r>
            <a:endParaRPr lang="en-US" sz="1200" dirty="0"/>
          </a:p>
          <a:p>
            <a:pPr algn="ctr" indent="0" marL="0">
              <a:spcAft>
                <a:spcPts val="200"/>
              </a:spcAft>
              <a:buNone/>
            </a:pPr>
            <a:r>
              <a:rPr lang="en-US" sz="950" dirty="0">
                <a:solidFill>
                  <a:srgbClr val="64748B"/>
                </a:solidFill>
                <a:latin typeface="Roboto" pitchFamily="34" charset="0"/>
                <a:ea typeface="Roboto" pitchFamily="34" charset="-122"/>
                <a:cs typeface="Roboto" pitchFamily="34" charset="-120"/>
              </a:rPr>
              <a:t>agent override → vision / text lane → default · snapshot per run</a:t>
            </a:r>
            <a:endParaRPr lang="en-US" sz="1200" dirty="0"/>
          </a:p>
        </p:txBody>
      </p:sp>
      <p:sp>
        <p:nvSpPr>
          <p:cNvPr id="13" name="Shape 9"/>
          <p:cNvSpPr/>
          <p:nvPr/>
        </p:nvSpPr>
        <p:spPr>
          <a:xfrm>
            <a:off x="3063240" y="3447288"/>
            <a:ext cx="0" cy="146304"/>
          </a:xfrm>
          <a:prstGeom prst="line">
            <a:avLst/>
          </a:prstGeom>
          <a:noFill/>
          <a:ln w="19050">
            <a:solidFill>
              <a:srgbClr val="94A3B8"/>
            </a:solidFill>
            <a:prstDash val="solid"/>
            <a:tailEnd type="triangle"/>
          </a:ln>
        </p:spPr>
      </p:sp>
      <p:sp>
        <p:nvSpPr>
          <p:cNvPr id="14" name="Shape 10"/>
          <p:cNvSpPr/>
          <p:nvPr/>
        </p:nvSpPr>
        <p:spPr>
          <a:xfrm>
            <a:off x="548640" y="3611880"/>
            <a:ext cx="5029200" cy="731520"/>
          </a:xfrm>
          <a:prstGeom prst="roundRect">
            <a:avLst>
              <a:gd name="adj" fmla="val 10000"/>
            </a:avLst>
          </a:prstGeom>
          <a:solidFill>
            <a:srgbClr val="FEF3C7"/>
          </a:solidFill>
          <a:ln w="12700">
            <a:solidFill>
              <a:srgbClr val="FCD34D"/>
            </a:solidFill>
            <a:prstDash val="solid"/>
          </a:ln>
        </p:spPr>
      </p:sp>
      <p:sp>
        <p:nvSpPr>
          <p:cNvPr id="15" name="Text 11"/>
          <p:cNvSpPr txBox="1"/>
          <p:nvPr/>
        </p:nvSpPr>
        <p:spPr>
          <a:xfrm>
            <a:off x="621792" y="3630168"/>
            <a:ext cx="4882896" cy="694944"/>
          </a:xfrm>
          <a:prstGeom prst="rect">
            <a:avLst/>
          </a:prstGeom>
          <a:noFill/>
          <a:ln/>
        </p:spPr>
        <p:txBody>
          <a:bodyPr wrap="square" lIns="0" tIns="0" rIns="0" bIns="0" rtlCol="0" anchor="ctr"/>
          <a:lstStyle/>
          <a:p>
            <a:pPr algn="ctr" indent="0" marL="0">
              <a:spcAft>
                <a:spcPts val="200"/>
              </a:spcAft>
              <a:buNone/>
            </a:pPr>
            <a:r>
              <a:rPr lang="en-US" sz="1200" b="1" dirty="0">
                <a:solidFill>
                  <a:srgbClr val="92400E"/>
                </a:solidFill>
                <a:latin typeface="Roboto" pitchFamily="34" charset="0"/>
                <a:ea typeface="Roboto" pitchFamily="34" charset="-122"/>
                <a:cs typeface="Roboto" pitchFamily="34" charset="-120"/>
              </a:rPr>
              <a:t>2 · Privacy guard</a:t>
            </a:r>
            <a:endParaRPr lang="en-US" sz="1200" dirty="0"/>
          </a:p>
          <a:p>
            <a:pPr algn="ctr" indent="0" marL="0">
              <a:spcAft>
                <a:spcPts val="200"/>
              </a:spcAft>
              <a:buNone/>
            </a:pPr>
            <a:r>
              <a:rPr lang="en-US" sz="950" dirty="0">
                <a:solidFill>
                  <a:srgbClr val="64748B"/>
                </a:solidFill>
                <a:latin typeface="Roboto" pitchFamily="34" charset="0"/>
                <a:ea typeface="Roboto" pitchFamily="34" charset="-122"/>
                <a:cs typeface="Roboto" pitchFamily="34" charset="-120"/>
              </a:rPr>
              <a:t>FORBID_HOSTED switch · Head acknowledgement · pseudonymised text for hosted</a:t>
            </a:r>
            <a:endParaRPr lang="en-US" sz="1200" dirty="0"/>
          </a:p>
        </p:txBody>
      </p:sp>
      <p:sp>
        <p:nvSpPr>
          <p:cNvPr id="16" name="Shape 12"/>
          <p:cNvSpPr/>
          <p:nvPr/>
        </p:nvSpPr>
        <p:spPr>
          <a:xfrm>
            <a:off x="3063240" y="4361688"/>
            <a:ext cx="0" cy="146304"/>
          </a:xfrm>
          <a:prstGeom prst="line">
            <a:avLst/>
          </a:prstGeom>
          <a:noFill/>
          <a:ln w="19050">
            <a:solidFill>
              <a:srgbClr val="94A3B8"/>
            </a:solidFill>
            <a:prstDash val="solid"/>
            <a:tailEnd type="triangle"/>
          </a:ln>
        </p:spPr>
      </p:sp>
      <p:sp>
        <p:nvSpPr>
          <p:cNvPr id="17" name="Shape 13"/>
          <p:cNvSpPr/>
          <p:nvPr/>
        </p:nvSpPr>
        <p:spPr>
          <a:xfrm>
            <a:off x="548640" y="4526280"/>
            <a:ext cx="5029200" cy="731520"/>
          </a:xfrm>
          <a:prstGeom prst="roundRect">
            <a:avLst>
              <a:gd name="adj" fmla="val 10000"/>
            </a:avLst>
          </a:prstGeom>
          <a:solidFill>
            <a:srgbClr val="FEF3C7"/>
          </a:solidFill>
          <a:ln w="12700">
            <a:solidFill>
              <a:srgbClr val="FCD34D"/>
            </a:solidFill>
            <a:prstDash val="solid"/>
          </a:ln>
        </p:spPr>
      </p:sp>
      <p:sp>
        <p:nvSpPr>
          <p:cNvPr id="18" name="Text 14"/>
          <p:cNvSpPr txBox="1"/>
          <p:nvPr/>
        </p:nvSpPr>
        <p:spPr>
          <a:xfrm>
            <a:off x="621792" y="4544568"/>
            <a:ext cx="4882896" cy="694944"/>
          </a:xfrm>
          <a:prstGeom prst="rect">
            <a:avLst/>
          </a:prstGeom>
          <a:noFill/>
          <a:ln/>
        </p:spPr>
        <p:txBody>
          <a:bodyPr wrap="square" lIns="0" tIns="0" rIns="0" bIns="0" rtlCol="0" anchor="ctr"/>
          <a:lstStyle/>
          <a:p>
            <a:pPr algn="ctr" indent="0" marL="0">
              <a:spcAft>
                <a:spcPts val="200"/>
              </a:spcAft>
              <a:buNone/>
            </a:pPr>
            <a:r>
              <a:rPr lang="en-US" sz="1200" b="1" dirty="0">
                <a:solidFill>
                  <a:srgbClr val="92400E"/>
                </a:solidFill>
                <a:latin typeface="Roboto" pitchFamily="34" charset="0"/>
                <a:ea typeface="Roboto" pitchFamily="34" charset="-122"/>
                <a:cs typeface="Roboto" pitchFamily="34" charset="-120"/>
              </a:rPr>
              <a:t>3 · LLM gate</a:t>
            </a:r>
            <a:endParaRPr lang="en-US" sz="1200" dirty="0"/>
          </a:p>
          <a:p>
            <a:pPr algn="ctr" indent="0" marL="0">
              <a:spcAft>
                <a:spcPts val="200"/>
              </a:spcAft>
              <a:buNone/>
            </a:pPr>
            <a:r>
              <a:rPr lang="en-US" sz="950" dirty="0">
                <a:solidFill>
                  <a:srgbClr val="64748B"/>
                </a:solidFill>
                <a:latin typeface="Roboto" pitchFamily="34" charset="0"/>
                <a:ea typeface="Roboto" pitchFamily="34" charset="-122"/>
                <a:cs typeface="Roboto" pitchFamily="34" charset="-120"/>
              </a:rPr>
              <a:t>one slot per provider · priority queue · 180 s max wait</a:t>
            </a:r>
            <a:endParaRPr lang="en-US" sz="1200" dirty="0"/>
          </a:p>
        </p:txBody>
      </p:sp>
      <p:sp>
        <p:nvSpPr>
          <p:cNvPr id="19" name="Shape 15"/>
          <p:cNvSpPr/>
          <p:nvPr/>
        </p:nvSpPr>
        <p:spPr>
          <a:xfrm>
            <a:off x="3063240" y="5276088"/>
            <a:ext cx="0" cy="146304"/>
          </a:xfrm>
          <a:prstGeom prst="line">
            <a:avLst/>
          </a:prstGeom>
          <a:noFill/>
          <a:ln w="19050">
            <a:solidFill>
              <a:srgbClr val="94A3B8"/>
            </a:solidFill>
            <a:prstDash val="solid"/>
            <a:tailEnd type="triangle"/>
          </a:ln>
        </p:spPr>
      </p:sp>
      <p:sp>
        <p:nvSpPr>
          <p:cNvPr id="20" name="Shape 16"/>
          <p:cNvSpPr/>
          <p:nvPr/>
        </p:nvSpPr>
        <p:spPr>
          <a:xfrm flipH="1">
            <a:off x="1783080" y="5276088"/>
            <a:ext cx="1280160" cy="210312"/>
          </a:xfrm>
          <a:prstGeom prst="line">
            <a:avLst/>
          </a:prstGeom>
          <a:noFill/>
          <a:ln w="19050">
            <a:solidFill>
              <a:srgbClr val="94A3B8"/>
            </a:solidFill>
            <a:prstDash val="solid"/>
            <a:tailEnd type="triangle"/>
          </a:ln>
        </p:spPr>
      </p:sp>
      <p:sp>
        <p:nvSpPr>
          <p:cNvPr id="21" name="Shape 17"/>
          <p:cNvSpPr/>
          <p:nvPr/>
        </p:nvSpPr>
        <p:spPr>
          <a:xfrm>
            <a:off x="3063240" y="5276088"/>
            <a:ext cx="1280160" cy="210312"/>
          </a:xfrm>
          <a:prstGeom prst="line">
            <a:avLst/>
          </a:prstGeom>
          <a:noFill/>
          <a:ln w="19050">
            <a:solidFill>
              <a:srgbClr val="94A3B8"/>
            </a:solidFill>
            <a:prstDash val="solid"/>
            <a:tailEnd type="triangle"/>
          </a:ln>
        </p:spPr>
      </p:sp>
      <p:sp>
        <p:nvSpPr>
          <p:cNvPr id="22" name="Shape 18"/>
          <p:cNvSpPr/>
          <p:nvPr/>
        </p:nvSpPr>
        <p:spPr>
          <a:xfrm>
            <a:off x="548640" y="5504688"/>
            <a:ext cx="2423160" cy="822960"/>
          </a:xfrm>
          <a:prstGeom prst="roundRect">
            <a:avLst>
              <a:gd name="adj" fmla="val 8889"/>
            </a:avLst>
          </a:prstGeom>
          <a:solidFill>
            <a:srgbClr val="DCFCE7"/>
          </a:solidFill>
          <a:ln w="12700">
            <a:solidFill>
              <a:srgbClr val="86EFAC"/>
            </a:solidFill>
            <a:prstDash val="solid"/>
          </a:ln>
        </p:spPr>
      </p:sp>
      <p:sp>
        <p:nvSpPr>
          <p:cNvPr id="23" name="Text 19"/>
          <p:cNvSpPr txBox="1"/>
          <p:nvPr/>
        </p:nvSpPr>
        <p:spPr>
          <a:xfrm>
            <a:off x="621792" y="5522976"/>
            <a:ext cx="2276856" cy="786384"/>
          </a:xfrm>
          <a:prstGeom prst="rect">
            <a:avLst/>
          </a:prstGeom>
          <a:noFill/>
          <a:ln/>
        </p:spPr>
        <p:txBody>
          <a:bodyPr wrap="square" lIns="0" tIns="0" rIns="0" bIns="0" rtlCol="0" anchor="ctr"/>
          <a:lstStyle/>
          <a:p>
            <a:pPr algn="ctr" indent="0" marL="0">
              <a:spcAft>
                <a:spcPts val="200"/>
              </a:spcAft>
              <a:buNone/>
            </a:pPr>
            <a:r>
              <a:rPr lang="en-US" sz="1200" b="1" dirty="0">
                <a:solidFill>
                  <a:srgbClr val="166534"/>
                </a:solidFill>
                <a:latin typeface="Roboto" pitchFamily="34" charset="0"/>
                <a:ea typeface="Roboto" pitchFamily="34" charset="-122"/>
                <a:cs typeface="Roboto" pitchFamily="34" charset="-120"/>
              </a:rPr>
              <a:t>Ollama (local)</a:t>
            </a:r>
            <a:endParaRPr lang="en-US" sz="1200" dirty="0"/>
          </a:p>
          <a:p>
            <a:pPr algn="ctr" indent="0" marL="0">
              <a:spcAft>
                <a:spcPts val="200"/>
              </a:spcAft>
              <a:buNone/>
            </a:pPr>
            <a:r>
              <a:rPr lang="en-US" sz="900" dirty="0">
                <a:solidFill>
                  <a:srgbClr val="64748B"/>
                </a:solidFill>
                <a:latin typeface="Roboto" pitchFamily="34" charset="0"/>
                <a:ea typeface="Roboto" pitchFamily="34" charset="-122"/>
                <a:cs typeface="Roboto" pitchFamily="34" charset="-120"/>
              </a:rPr>
              <a:t>127.0.0.1 · pooled · images fitted to context</a:t>
            </a:r>
            <a:endParaRPr lang="en-US" sz="1200" dirty="0"/>
          </a:p>
        </p:txBody>
      </p:sp>
      <p:sp>
        <p:nvSpPr>
          <p:cNvPr id="24" name="Shape 20"/>
          <p:cNvSpPr/>
          <p:nvPr/>
        </p:nvSpPr>
        <p:spPr>
          <a:xfrm>
            <a:off x="3154680" y="5504688"/>
            <a:ext cx="2423160" cy="822960"/>
          </a:xfrm>
          <a:prstGeom prst="roundRect">
            <a:avLst>
              <a:gd name="adj" fmla="val 8889"/>
            </a:avLst>
          </a:prstGeom>
          <a:solidFill>
            <a:srgbClr val="F8FAFC"/>
          </a:solidFill>
          <a:ln w="12700">
            <a:solidFill>
              <a:srgbClr val="E2E8F0"/>
            </a:solidFill>
            <a:prstDash val="solid"/>
          </a:ln>
        </p:spPr>
      </p:sp>
      <p:sp>
        <p:nvSpPr>
          <p:cNvPr id="25" name="Text 21"/>
          <p:cNvSpPr txBox="1"/>
          <p:nvPr/>
        </p:nvSpPr>
        <p:spPr>
          <a:xfrm>
            <a:off x="3227832" y="5522976"/>
            <a:ext cx="2276856" cy="786384"/>
          </a:xfrm>
          <a:prstGeom prst="rect">
            <a:avLst/>
          </a:prstGeom>
          <a:noFill/>
          <a:ln/>
        </p:spPr>
        <p:txBody>
          <a:bodyPr wrap="square" lIns="0" tIns="0" rIns="0" bIns="0" rtlCol="0" anchor="ctr"/>
          <a:lstStyle/>
          <a:p>
            <a:pPr algn="ctr" indent="0" marL="0">
              <a:spcAft>
                <a:spcPts val="200"/>
              </a:spcAft>
              <a:buNone/>
            </a:pPr>
            <a:r>
              <a:rPr lang="en-US" sz="1200" b="1" dirty="0">
                <a:solidFill>
                  <a:srgbClr val="64748B"/>
                </a:solidFill>
                <a:latin typeface="Roboto" pitchFamily="34" charset="0"/>
                <a:ea typeface="Roboto" pitchFamily="34" charset="-122"/>
                <a:cs typeface="Roboto" pitchFamily="34" charset="-120"/>
              </a:rPr>
              <a:t>Anthropic Claude</a:t>
            </a:r>
            <a:endParaRPr lang="en-US" sz="1200" dirty="0"/>
          </a:p>
          <a:p>
            <a:pPr algn="ctr" indent="0" marL="0">
              <a:spcAft>
                <a:spcPts val="200"/>
              </a:spcAft>
              <a:buNone/>
            </a:pPr>
            <a:r>
              <a:rPr lang="en-US" sz="900" dirty="0">
                <a:solidFill>
                  <a:srgbClr val="64748B"/>
                </a:solidFill>
                <a:latin typeface="Roboto" pitchFamily="34" charset="0"/>
                <a:ea typeface="Roboto" pitchFamily="34" charset="-122"/>
                <a:cs typeface="Roboto" pitchFamily="34" charset="-120"/>
              </a:rPr>
              <a:t>optional · not configured today</a:t>
            </a:r>
            <a:endParaRPr lang="en-US" sz="1200" dirty="0"/>
          </a:p>
        </p:txBody>
      </p:sp>
      <p:sp>
        <p:nvSpPr>
          <p:cNvPr id="26" name="Shape 22"/>
          <p:cNvSpPr/>
          <p:nvPr/>
        </p:nvSpPr>
        <p:spPr>
          <a:xfrm>
            <a:off x="5897880" y="1783080"/>
            <a:ext cx="5742432" cy="3702314"/>
          </a:xfrm>
          <a:prstGeom prst="roundRect">
            <a:avLst>
              <a:gd name="adj" fmla="val 1729"/>
            </a:avLst>
          </a:prstGeom>
          <a:solidFill>
            <a:srgbClr val="1E293B"/>
          </a:solidFill>
          <a:ln w="12700">
            <a:solidFill>
              <a:srgbClr val="1E293B"/>
            </a:solidFill>
            <a:prstDash val="solid"/>
          </a:ln>
          <a:effectLst>
            <a:outerShdw sx="100000" sy="100000" kx="0" ky="0" algn="bl" rotWithShape="0" blurRad="127000" dist="25400" dir="5400000">
              <a:srgbClr val="0F172A">
                <a:alpha val="12000"/>
              </a:srgbClr>
            </a:outerShdw>
          </a:effectLst>
        </p:spPr>
      </p:sp>
      <p:sp>
        <p:nvSpPr>
          <p:cNvPr id="27" name="Shape 23"/>
          <p:cNvSpPr/>
          <p:nvPr/>
        </p:nvSpPr>
        <p:spPr>
          <a:xfrm>
            <a:off x="6016752" y="1860804"/>
            <a:ext cx="82296" cy="82296"/>
          </a:xfrm>
          <a:prstGeom prst="ellipse">
            <a:avLst/>
          </a:prstGeom>
          <a:solidFill>
            <a:srgbClr val="F87171"/>
          </a:solidFill>
          <a:ln w="12700">
            <a:solidFill>
              <a:srgbClr val="F87171"/>
            </a:solidFill>
            <a:prstDash val="solid"/>
          </a:ln>
        </p:spPr>
      </p:sp>
      <p:sp>
        <p:nvSpPr>
          <p:cNvPr id="28" name="Shape 24"/>
          <p:cNvSpPr/>
          <p:nvPr/>
        </p:nvSpPr>
        <p:spPr>
          <a:xfrm>
            <a:off x="6153912" y="1860804"/>
            <a:ext cx="82296" cy="82296"/>
          </a:xfrm>
          <a:prstGeom prst="ellipse">
            <a:avLst/>
          </a:prstGeom>
          <a:solidFill>
            <a:srgbClr val="FBBF24"/>
          </a:solidFill>
          <a:ln w="12700">
            <a:solidFill>
              <a:srgbClr val="FBBF24"/>
            </a:solidFill>
            <a:prstDash val="solid"/>
          </a:ln>
        </p:spPr>
      </p:sp>
      <p:sp>
        <p:nvSpPr>
          <p:cNvPr id="29" name="Shape 25"/>
          <p:cNvSpPr/>
          <p:nvPr/>
        </p:nvSpPr>
        <p:spPr>
          <a:xfrm>
            <a:off x="6291072" y="1860804"/>
            <a:ext cx="82296" cy="82296"/>
          </a:xfrm>
          <a:prstGeom prst="ellipse">
            <a:avLst/>
          </a:prstGeom>
          <a:solidFill>
            <a:srgbClr val="34D399"/>
          </a:solidFill>
          <a:ln w="12700">
            <a:solidFill>
              <a:srgbClr val="34D399"/>
            </a:solidFill>
            <a:prstDash val="solid"/>
          </a:ln>
        </p:spPr>
      </p:sp>
      <p:pic>
        <p:nvPicPr>
          <p:cNvPr id="30" name="Image 1" descr="C:\Users\shrey\AppData\Local\Temp\claude\D--novacinternship-finsight\ef4ecb45-e580-4bc0-9be4-060aa240a5b2\scratchpad\deck\img\settings_ai.png">    </p:cNvPr>
          <p:cNvPicPr>
            <a:picLocks noChangeAspect="1"/>
          </p:cNvPicPr>
          <p:nvPr/>
        </p:nvPicPr>
        <p:blipFill>
          <a:blip r:embed="rId2"/>
          <a:stretch>
            <a:fillRect/>
          </a:stretch>
        </p:blipFill>
        <p:spPr>
          <a:xfrm>
            <a:off x="5943600" y="2020824"/>
            <a:ext cx="5650992" cy="3418850"/>
          </a:xfrm>
          <a:prstGeom prst="rect">
            <a:avLst/>
          </a:prstGeom>
        </p:spPr>
      </p:pic>
      <p:sp>
        <p:nvSpPr>
          <p:cNvPr id="31" name="Text 26"/>
          <p:cNvSpPr txBox="1"/>
          <p:nvPr/>
        </p:nvSpPr>
        <p:spPr>
          <a:xfrm>
            <a:off x="5897880" y="5595122"/>
            <a:ext cx="5742432" cy="274320"/>
          </a:xfrm>
          <a:prstGeom prst="rect">
            <a:avLst/>
          </a:prstGeom>
          <a:noFill/>
          <a:ln/>
        </p:spPr>
        <p:txBody>
          <a:bodyPr wrap="square" lIns="0" tIns="0" rIns="0" bIns="0" rtlCol="0" anchor="ctr"/>
          <a:lstStyle/>
          <a:p>
            <a:pPr indent="0" marL="0">
              <a:buNone/>
            </a:pPr>
            <a:r>
              <a:rPr lang="en-US" sz="1050" i="1" dirty="0">
                <a:solidFill>
                  <a:srgbClr val="64748B"/>
                </a:solidFill>
                <a:latin typeface="Roboto" pitchFamily="34" charset="0"/>
                <a:ea typeface="Roboto" pitchFamily="34" charset="-122"/>
                <a:cs typeface="Roboto" pitchFamily="34" charset="-120"/>
              </a:rPr>
              <a:t>System Settings › AI Models (Head only): default, lanes and a per-agent override table.</a:t>
            </a:r>
            <a:endParaRPr lang="en-US" sz="10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8229600" cy="256032"/>
          </a:xfrm>
          <a:prstGeom prst="rect">
            <a:avLst/>
          </a:prstGeom>
          <a:noFill/>
          <a:ln/>
        </p:spPr>
        <p:txBody>
          <a:bodyPr wrap="square" lIns="0" tIns="0" rIns="0" bIns="0" rtlCol="0" anchor="ctr"/>
          <a:lstStyle/>
          <a:p>
            <a:pPr indent="0" marL="0">
              <a:buNone/>
            </a:pPr>
            <a:r>
              <a:rPr lang="en-US" sz="1100" b="1" spc="200" kern="0" dirty="0">
                <a:solidFill>
                  <a:srgbClr val="4F46E5"/>
                </a:solidFill>
                <a:latin typeface="Roboto" pitchFamily="34" charset="0"/>
                <a:ea typeface="Roboto" pitchFamily="34" charset="-122"/>
                <a:cs typeface="Roboto" pitchFamily="34" charset="-120"/>
              </a:rPr>
              <a:t>TRUST &amp; CONTROL</a:t>
            </a:r>
            <a:endParaRPr lang="en-US" sz="1100" dirty="0"/>
          </a:p>
        </p:txBody>
      </p:sp>
      <p:sp>
        <p:nvSpPr>
          <p:cNvPr id="3" name="Text 1"/>
          <p:cNvSpPr txBox="1"/>
          <p:nvPr/>
        </p:nvSpPr>
        <p:spPr>
          <a:xfrm>
            <a:off x="548640" y="585216"/>
            <a:ext cx="11094415" cy="566928"/>
          </a:xfrm>
          <a:prstGeom prst="rect">
            <a:avLst/>
          </a:prstGeom>
          <a:noFill/>
          <a:ln/>
        </p:spPr>
        <p:txBody>
          <a:bodyPr wrap="square" lIns="0" tIns="0" rIns="0" bIns="0" rtlCol="0" anchor="ctr"/>
          <a:lstStyle/>
          <a:p>
            <a:pPr indent="0" marL="0">
              <a:buNone/>
            </a:pPr>
            <a:r>
              <a:rPr lang="en-US" sz="2800" b="1" dirty="0">
                <a:solidFill>
                  <a:srgbClr val="0F172A"/>
                </a:solidFill>
                <a:latin typeface="Roboto" pitchFamily="34" charset="0"/>
                <a:ea typeface="Roboto" pitchFamily="34" charset="-122"/>
                <a:cs typeface="Roboto" pitchFamily="34" charset="-120"/>
              </a:rPr>
              <a:t>Guardrails — each one pinned by a test</a:t>
            </a:r>
            <a:endParaRPr lang="en-US" sz="2800" dirty="0"/>
          </a:p>
        </p:txBody>
      </p:sp>
      <p:sp>
        <p:nvSpPr>
          <p:cNvPr id="4" name="Text 2"/>
          <p:cNvSpPr txBox="1"/>
          <p:nvPr/>
        </p:nvSpPr>
        <p:spPr>
          <a:xfrm>
            <a:off x="548640" y="1152144"/>
            <a:ext cx="11094415" cy="365760"/>
          </a:xfrm>
          <a:prstGeom prst="rect">
            <a:avLst/>
          </a:prstGeom>
          <a:noFill/>
          <a:ln/>
        </p:spPr>
        <p:txBody>
          <a:bodyPr wrap="square" lIns="0" tIns="0" rIns="0" bIns="0" rtlCol="0" anchor="ctr"/>
          <a:lstStyle/>
          <a:p>
            <a:pPr indent="0" marL="0">
              <a:buNone/>
            </a:pPr>
            <a:r>
              <a:rPr lang="en-US" sz="1400" dirty="0">
                <a:solidFill>
                  <a:srgbClr val="64748B"/>
                </a:solidFill>
                <a:latin typeface="Roboto" pitchFamily="34" charset="0"/>
                <a:ea typeface="Roboto" pitchFamily="34" charset="-122"/>
                <a:cs typeface="Roboto" pitchFamily="34" charset="-120"/>
              </a:rPr>
              <a:t>The promises the design makes, and how each was verified.</a:t>
            </a:r>
            <a:endParaRPr lang="en-US" sz="1400" dirty="0"/>
          </a:p>
        </p:txBody>
      </p:sp>
      <p:pic>
        <p:nvPicPr>
          <p:cNvPr id="5" name="Image 0" descr="C:\Users\shrey\AppData\Local\Temp\claude\D--novacinternship-finsight\ef4ecb45-e580-4bc0-9be4-060aa240a5b2\scratchpad\deck\img\logo_lockup.png">    </p:cNvPr>
          <p:cNvPicPr>
            <a:picLocks noChangeAspect="1"/>
          </p:cNvPicPr>
          <p:nvPr/>
        </p:nvPicPr>
        <p:blipFill>
          <a:blip r:embed="rId1"/>
          <a:stretch>
            <a:fillRect/>
          </a:stretch>
        </p:blipFill>
        <p:spPr>
          <a:xfrm>
            <a:off x="10360152" y="6464808"/>
            <a:ext cx="843991" cy="237744"/>
          </a:xfrm>
          <a:prstGeom prst="rect">
            <a:avLst/>
          </a:prstGeom>
        </p:spPr>
      </p:pic>
      <p:sp>
        <p:nvSpPr>
          <p:cNvPr id="6" name="Text 3"/>
          <p:cNvSpPr txBox="1"/>
          <p:nvPr/>
        </p:nvSpPr>
        <p:spPr>
          <a:xfrm>
            <a:off x="11277295" y="6473952"/>
            <a:ext cx="365760" cy="228600"/>
          </a:xfrm>
          <a:prstGeom prst="rect">
            <a:avLst/>
          </a:prstGeom>
          <a:noFill/>
          <a:ln/>
        </p:spPr>
        <p:txBody>
          <a:bodyPr wrap="square" lIns="0" tIns="0" rIns="0" bIns="0" rtlCol="0" anchor="ctr"/>
          <a:lstStyle/>
          <a:p>
            <a:pPr algn="r" indent="0" marL="0">
              <a:buNone/>
            </a:pPr>
            <a:r>
              <a:rPr lang="en-US" sz="900" dirty="0">
                <a:solidFill>
                  <a:srgbClr val="94A3B8"/>
                </a:solidFill>
                <a:latin typeface="Roboto" pitchFamily="34" charset="0"/>
                <a:ea typeface="Roboto" pitchFamily="34" charset="-122"/>
                <a:cs typeface="Roboto" pitchFamily="34" charset="-120"/>
              </a:rPr>
              <a:t>30</a:t>
            </a:r>
            <a:endParaRPr lang="en-US" sz="900" dirty="0"/>
          </a:p>
        </p:txBody>
      </p:sp>
      <p:sp>
        <p:nvSpPr>
          <p:cNvPr id="8" name="Shape 4"/>
          <p:cNvSpPr/>
          <p:nvPr/>
        </p:nvSpPr>
        <p:spPr>
          <a:xfrm>
            <a:off x="548640" y="1783080"/>
            <a:ext cx="2103120" cy="2103120"/>
          </a:xfrm>
          <a:prstGeom prst="roundRect">
            <a:avLst>
              <a:gd name="adj" fmla="val 4348"/>
            </a:avLst>
          </a:prstGeom>
          <a:solidFill>
            <a:srgbClr val="F8FAFC"/>
          </a:solidFill>
          <a:ln w="12700">
            <a:solidFill>
              <a:srgbClr val="E2E8F0"/>
            </a:solidFill>
            <a:prstDash val="solid"/>
          </a:ln>
        </p:spPr>
      </p:sp>
      <p:sp>
        <p:nvSpPr>
          <p:cNvPr id="9" name="Shape 5"/>
          <p:cNvSpPr/>
          <p:nvPr/>
        </p:nvSpPr>
        <p:spPr>
          <a:xfrm>
            <a:off x="731520" y="1965960"/>
            <a:ext cx="502920" cy="502920"/>
          </a:xfrm>
          <a:prstGeom prst="ellipse">
            <a:avLst/>
          </a:prstGeom>
          <a:solidFill>
            <a:srgbClr val="EEF2FF"/>
          </a:solidFill>
          <a:ln w="12700">
            <a:solidFill>
              <a:srgbClr val="EEF2FF"/>
            </a:solidFill>
            <a:prstDash val="solid"/>
          </a:ln>
        </p:spPr>
      </p:sp>
      <p:pic>
        <p:nvPicPr>
          <p:cNvPr id="10" name="Image 1" descr="preencoded.png">    </p:cNvPr>
          <p:cNvPicPr>
            <a:picLocks noChangeAspect="1"/>
          </p:cNvPicPr>
          <p:nvPr/>
        </p:nvPicPr>
        <p:blipFill>
          <a:blip r:embed="rId2"/>
          <a:stretch>
            <a:fillRect/>
          </a:stretch>
        </p:blipFill>
        <p:spPr>
          <a:xfrm>
            <a:off x="842162" y="2076602"/>
            <a:ext cx="281635" cy="281635"/>
          </a:xfrm>
          <a:prstGeom prst="rect">
            <a:avLst/>
          </a:prstGeom>
        </p:spPr>
      </p:pic>
      <p:sp>
        <p:nvSpPr>
          <p:cNvPr id="11" name="Text 6"/>
          <p:cNvSpPr txBox="1"/>
          <p:nvPr/>
        </p:nvSpPr>
        <p:spPr>
          <a:xfrm>
            <a:off x="731520" y="2560320"/>
            <a:ext cx="1783080" cy="457200"/>
          </a:xfrm>
          <a:prstGeom prst="rect">
            <a:avLst/>
          </a:prstGeom>
          <a:noFill/>
          <a:ln/>
        </p:spPr>
        <p:txBody>
          <a:bodyPr wrap="square" lIns="0" tIns="0" rIns="0" bIns="0" rtlCol="0" anchor="t"/>
          <a:lstStyle/>
          <a:p>
            <a:pPr indent="0" marL="0">
              <a:buNone/>
            </a:pPr>
            <a:r>
              <a:rPr lang="en-US" sz="1250" b="1" dirty="0">
                <a:solidFill>
                  <a:srgbClr val="0F172A"/>
                </a:solidFill>
                <a:latin typeface="Roboto" pitchFamily="34" charset="0"/>
                <a:ea typeface="Roboto" pitchFamily="34" charset="-122"/>
                <a:cs typeface="Roboto" pitchFamily="34" charset="-120"/>
              </a:rPr>
              <a:t>LLM never sets a score</a:t>
            </a:r>
            <a:endParaRPr lang="en-US" sz="1250" dirty="0"/>
          </a:p>
        </p:txBody>
      </p:sp>
      <p:sp>
        <p:nvSpPr>
          <p:cNvPr id="12" name="Text 7"/>
          <p:cNvSpPr txBox="1"/>
          <p:nvPr/>
        </p:nvSpPr>
        <p:spPr>
          <a:xfrm>
            <a:off x="731520" y="2971800"/>
            <a:ext cx="1783080" cy="548640"/>
          </a:xfrm>
          <a:prstGeom prst="rect">
            <a:avLst/>
          </a:prstGeom>
          <a:noFill/>
          <a:ln/>
        </p:spPr>
        <p:txBody>
          <a:bodyPr wrap="square" lIns="0" tIns="0" rIns="0" bIns="0" rtlCol="0" anchor="t"/>
          <a:lstStyle/>
          <a:p>
            <a:pPr indent="0" marL="0">
              <a:buNone/>
            </a:pPr>
            <a:r>
              <a:rPr lang="en-US" sz="1000" dirty="0">
                <a:solidFill>
                  <a:srgbClr val="64748B"/>
                </a:solidFill>
                <a:latin typeface="Roboto" pitchFamily="34" charset="0"/>
                <a:ea typeface="Roboto" pitchFamily="34" charset="-122"/>
                <a:cs typeface="Roboto" pitchFamily="34" charset="-120"/>
              </a:rPr>
              <a:t>Scores, tiers and verdicts come from tools only.</a:t>
            </a:r>
            <a:endParaRPr lang="en-US" sz="1000" dirty="0"/>
          </a:p>
        </p:txBody>
      </p:sp>
      <p:pic>
        <p:nvPicPr>
          <p:cNvPr id="13" name="Image 2" descr="preencoded.png">    </p:cNvPr>
          <p:cNvPicPr>
            <a:picLocks noChangeAspect="1"/>
          </p:cNvPicPr>
          <p:nvPr/>
        </p:nvPicPr>
        <p:blipFill>
          <a:blip r:embed="rId3"/>
          <a:stretch>
            <a:fillRect/>
          </a:stretch>
        </p:blipFill>
        <p:spPr>
          <a:xfrm>
            <a:off x="731520" y="3557016"/>
            <a:ext cx="182880" cy="182880"/>
          </a:xfrm>
          <a:prstGeom prst="rect">
            <a:avLst/>
          </a:prstGeom>
        </p:spPr>
      </p:pic>
      <p:sp>
        <p:nvSpPr>
          <p:cNvPr id="14" name="Text 8"/>
          <p:cNvSpPr txBox="1"/>
          <p:nvPr/>
        </p:nvSpPr>
        <p:spPr>
          <a:xfrm>
            <a:off x="969264" y="3520440"/>
            <a:ext cx="1645920" cy="274320"/>
          </a:xfrm>
          <a:prstGeom prst="rect">
            <a:avLst/>
          </a:prstGeom>
          <a:noFill/>
          <a:ln/>
        </p:spPr>
        <p:txBody>
          <a:bodyPr wrap="square" lIns="0" tIns="0" rIns="0" bIns="0" rtlCol="0" anchor="ctr"/>
          <a:lstStyle/>
          <a:p>
            <a:pPr indent="0" marL="0">
              <a:buNone/>
            </a:pPr>
            <a:r>
              <a:rPr lang="en-US" sz="950" b="1" dirty="0">
                <a:solidFill>
                  <a:srgbClr val="16A34A"/>
                </a:solidFill>
                <a:latin typeface="Roboto" pitchFamily="34" charset="0"/>
                <a:ea typeface="Roboto" pitchFamily="34" charset="-122"/>
                <a:cs typeface="Roboto" pitchFamily="34" charset="-120"/>
              </a:rPr>
              <a:t>tier unchanged 60 / 60</a:t>
            </a:r>
            <a:endParaRPr lang="en-US" sz="950" dirty="0"/>
          </a:p>
        </p:txBody>
      </p:sp>
      <p:sp>
        <p:nvSpPr>
          <p:cNvPr id="15" name="Shape 9"/>
          <p:cNvSpPr/>
          <p:nvPr/>
        </p:nvSpPr>
        <p:spPr>
          <a:xfrm>
            <a:off x="2798064" y="1783080"/>
            <a:ext cx="2103120" cy="2103120"/>
          </a:xfrm>
          <a:prstGeom prst="roundRect">
            <a:avLst>
              <a:gd name="adj" fmla="val 4348"/>
            </a:avLst>
          </a:prstGeom>
          <a:solidFill>
            <a:srgbClr val="F8FAFC"/>
          </a:solidFill>
          <a:ln w="12700">
            <a:solidFill>
              <a:srgbClr val="E2E8F0"/>
            </a:solidFill>
            <a:prstDash val="solid"/>
          </a:ln>
        </p:spPr>
      </p:sp>
      <p:sp>
        <p:nvSpPr>
          <p:cNvPr id="16" name="Shape 10"/>
          <p:cNvSpPr/>
          <p:nvPr/>
        </p:nvSpPr>
        <p:spPr>
          <a:xfrm>
            <a:off x="2980944" y="1965960"/>
            <a:ext cx="502920" cy="502920"/>
          </a:xfrm>
          <a:prstGeom prst="ellipse">
            <a:avLst/>
          </a:prstGeom>
          <a:solidFill>
            <a:srgbClr val="EEF2FF"/>
          </a:solidFill>
          <a:ln w="12700">
            <a:solidFill>
              <a:srgbClr val="EEF2FF"/>
            </a:solidFill>
            <a:prstDash val="solid"/>
          </a:ln>
        </p:spPr>
      </p:sp>
      <p:pic>
        <p:nvPicPr>
          <p:cNvPr id="17" name="Image 3" descr="preencoded.png">    </p:cNvPr>
          <p:cNvPicPr>
            <a:picLocks noChangeAspect="1"/>
          </p:cNvPicPr>
          <p:nvPr/>
        </p:nvPicPr>
        <p:blipFill>
          <a:blip r:embed="rId4"/>
          <a:stretch>
            <a:fillRect/>
          </a:stretch>
        </p:blipFill>
        <p:spPr>
          <a:xfrm>
            <a:off x="3091586" y="2076602"/>
            <a:ext cx="281635" cy="281635"/>
          </a:xfrm>
          <a:prstGeom prst="rect">
            <a:avLst/>
          </a:prstGeom>
        </p:spPr>
      </p:pic>
      <p:sp>
        <p:nvSpPr>
          <p:cNvPr id="18" name="Text 11"/>
          <p:cNvSpPr txBox="1"/>
          <p:nvPr/>
        </p:nvSpPr>
        <p:spPr>
          <a:xfrm>
            <a:off x="2980944" y="2560320"/>
            <a:ext cx="1783080" cy="457200"/>
          </a:xfrm>
          <a:prstGeom prst="rect">
            <a:avLst/>
          </a:prstGeom>
          <a:noFill/>
          <a:ln/>
        </p:spPr>
        <p:txBody>
          <a:bodyPr wrap="square" lIns="0" tIns="0" rIns="0" bIns="0" rtlCol="0" anchor="t"/>
          <a:lstStyle/>
          <a:p>
            <a:pPr indent="0" marL="0">
              <a:buNone/>
            </a:pPr>
            <a:r>
              <a:rPr lang="en-US" sz="1250" b="1" dirty="0">
                <a:solidFill>
                  <a:srgbClr val="0F172A"/>
                </a:solidFill>
                <a:latin typeface="Roboto" pitchFamily="34" charset="0"/>
                <a:ea typeface="Roboto" pitchFamily="34" charset="-122"/>
                <a:cs typeface="Roboto" pitchFamily="34" charset="-120"/>
              </a:rPr>
              <a:t>Grounding gate</a:t>
            </a:r>
            <a:endParaRPr lang="en-US" sz="1250" dirty="0"/>
          </a:p>
        </p:txBody>
      </p:sp>
      <p:sp>
        <p:nvSpPr>
          <p:cNvPr id="19" name="Text 12"/>
          <p:cNvSpPr txBox="1"/>
          <p:nvPr/>
        </p:nvSpPr>
        <p:spPr>
          <a:xfrm>
            <a:off x="2980944" y="2971800"/>
            <a:ext cx="1783080" cy="548640"/>
          </a:xfrm>
          <a:prstGeom prst="rect">
            <a:avLst/>
          </a:prstGeom>
          <a:noFill/>
          <a:ln/>
        </p:spPr>
        <p:txBody>
          <a:bodyPr wrap="square" lIns="0" tIns="0" rIns="0" bIns="0" rtlCol="0" anchor="t"/>
          <a:lstStyle/>
          <a:p>
            <a:pPr indent="0" marL="0">
              <a:buNone/>
            </a:pPr>
            <a:r>
              <a:rPr lang="en-US" sz="1000" dirty="0">
                <a:solidFill>
                  <a:srgbClr val="64748B"/>
                </a:solidFill>
                <a:latin typeface="Roboto" pitchFamily="34" charset="0"/>
                <a:ea typeface="Roboto" pitchFamily="34" charset="-122"/>
                <a:cs typeface="Roboto" pitchFamily="34" charset="-120"/>
              </a:rPr>
              <a:t>Every number ≥ 10 in model text must be in the evidence.</a:t>
            </a:r>
            <a:endParaRPr lang="en-US" sz="1000" dirty="0"/>
          </a:p>
        </p:txBody>
      </p:sp>
      <p:pic>
        <p:nvPicPr>
          <p:cNvPr id="20" name="Image 4" descr="preencoded.png">    </p:cNvPr>
          <p:cNvPicPr>
            <a:picLocks noChangeAspect="1"/>
          </p:cNvPicPr>
          <p:nvPr/>
        </p:nvPicPr>
        <p:blipFill>
          <a:blip r:embed="rId5"/>
          <a:stretch>
            <a:fillRect/>
          </a:stretch>
        </p:blipFill>
        <p:spPr>
          <a:xfrm>
            <a:off x="2980944" y="3557016"/>
            <a:ext cx="182880" cy="182880"/>
          </a:xfrm>
          <a:prstGeom prst="rect">
            <a:avLst/>
          </a:prstGeom>
        </p:spPr>
      </p:pic>
      <p:sp>
        <p:nvSpPr>
          <p:cNvPr id="21" name="Text 13"/>
          <p:cNvSpPr txBox="1"/>
          <p:nvPr/>
        </p:nvSpPr>
        <p:spPr>
          <a:xfrm>
            <a:off x="3218688" y="3520440"/>
            <a:ext cx="1645920" cy="274320"/>
          </a:xfrm>
          <a:prstGeom prst="rect">
            <a:avLst/>
          </a:prstGeom>
          <a:noFill/>
          <a:ln/>
        </p:spPr>
        <p:txBody>
          <a:bodyPr wrap="square" lIns="0" tIns="0" rIns="0" bIns="0" rtlCol="0" anchor="ctr"/>
          <a:lstStyle/>
          <a:p>
            <a:pPr indent="0" marL="0">
              <a:buNone/>
            </a:pPr>
            <a:r>
              <a:rPr lang="en-US" sz="950" b="1" dirty="0">
                <a:solidFill>
                  <a:srgbClr val="16A34A"/>
                </a:solidFill>
                <a:latin typeface="Roboto" pitchFamily="34" charset="0"/>
                <a:ea typeface="Roboto" pitchFamily="34" charset="-122"/>
                <a:cs typeface="Roboto" pitchFamily="34" charset="-120"/>
              </a:rPr>
              <a:t>ungrounded text dropped</a:t>
            </a:r>
            <a:endParaRPr lang="en-US" sz="950" dirty="0"/>
          </a:p>
        </p:txBody>
      </p:sp>
      <p:sp>
        <p:nvSpPr>
          <p:cNvPr id="22" name="Shape 14"/>
          <p:cNvSpPr/>
          <p:nvPr/>
        </p:nvSpPr>
        <p:spPr>
          <a:xfrm>
            <a:off x="5047488" y="1783080"/>
            <a:ext cx="2103120" cy="2103120"/>
          </a:xfrm>
          <a:prstGeom prst="roundRect">
            <a:avLst>
              <a:gd name="adj" fmla="val 4348"/>
            </a:avLst>
          </a:prstGeom>
          <a:solidFill>
            <a:srgbClr val="F8FAFC"/>
          </a:solidFill>
          <a:ln w="12700">
            <a:solidFill>
              <a:srgbClr val="E2E8F0"/>
            </a:solidFill>
            <a:prstDash val="solid"/>
          </a:ln>
        </p:spPr>
      </p:sp>
      <p:sp>
        <p:nvSpPr>
          <p:cNvPr id="23" name="Shape 15"/>
          <p:cNvSpPr/>
          <p:nvPr/>
        </p:nvSpPr>
        <p:spPr>
          <a:xfrm>
            <a:off x="5230368" y="1965960"/>
            <a:ext cx="502920" cy="502920"/>
          </a:xfrm>
          <a:prstGeom prst="ellipse">
            <a:avLst/>
          </a:prstGeom>
          <a:solidFill>
            <a:srgbClr val="EEF2FF"/>
          </a:solidFill>
          <a:ln w="12700">
            <a:solidFill>
              <a:srgbClr val="EEF2FF"/>
            </a:solidFill>
            <a:prstDash val="solid"/>
          </a:ln>
        </p:spPr>
      </p:sp>
      <p:pic>
        <p:nvPicPr>
          <p:cNvPr id="24" name="Image 5" descr="preencoded.png">    </p:cNvPr>
          <p:cNvPicPr>
            <a:picLocks noChangeAspect="1"/>
          </p:cNvPicPr>
          <p:nvPr/>
        </p:nvPicPr>
        <p:blipFill>
          <a:blip r:embed="rId6"/>
          <a:stretch>
            <a:fillRect/>
          </a:stretch>
        </p:blipFill>
        <p:spPr>
          <a:xfrm>
            <a:off x="5341010" y="2076602"/>
            <a:ext cx="281635" cy="281635"/>
          </a:xfrm>
          <a:prstGeom prst="rect">
            <a:avLst/>
          </a:prstGeom>
        </p:spPr>
      </p:pic>
      <p:sp>
        <p:nvSpPr>
          <p:cNvPr id="25" name="Text 16"/>
          <p:cNvSpPr txBox="1"/>
          <p:nvPr/>
        </p:nvSpPr>
        <p:spPr>
          <a:xfrm>
            <a:off x="5230368" y="2560320"/>
            <a:ext cx="1783080" cy="457200"/>
          </a:xfrm>
          <a:prstGeom prst="rect">
            <a:avLst/>
          </a:prstGeom>
          <a:noFill/>
          <a:ln/>
        </p:spPr>
        <p:txBody>
          <a:bodyPr wrap="square" lIns="0" tIns="0" rIns="0" bIns="0" rtlCol="0" anchor="t"/>
          <a:lstStyle/>
          <a:p>
            <a:pPr indent="0" marL="0">
              <a:buNone/>
            </a:pPr>
            <a:r>
              <a:rPr lang="en-US" sz="1250" b="1" dirty="0">
                <a:solidFill>
                  <a:srgbClr val="0F172A"/>
                </a:solidFill>
                <a:latin typeface="Roboto" pitchFamily="34" charset="0"/>
                <a:ea typeface="Roboto" pitchFamily="34" charset="-122"/>
                <a:cs typeface="Roboto" pitchFamily="34" charset="-120"/>
              </a:rPr>
              <a:t>Tighten-only supervisor</a:t>
            </a:r>
            <a:endParaRPr lang="en-US" sz="1250" dirty="0"/>
          </a:p>
        </p:txBody>
      </p:sp>
      <p:sp>
        <p:nvSpPr>
          <p:cNvPr id="26" name="Text 17"/>
          <p:cNvSpPr txBox="1"/>
          <p:nvPr/>
        </p:nvSpPr>
        <p:spPr>
          <a:xfrm>
            <a:off x="5230368" y="2971800"/>
            <a:ext cx="1783080" cy="548640"/>
          </a:xfrm>
          <a:prstGeom prst="rect">
            <a:avLst/>
          </a:prstGeom>
          <a:noFill/>
          <a:ln/>
        </p:spPr>
        <p:txBody>
          <a:bodyPr wrap="square" lIns="0" tIns="0" rIns="0" bIns="0" rtlCol="0" anchor="t"/>
          <a:lstStyle/>
          <a:p>
            <a:pPr indent="0" marL="0">
              <a:buNone/>
            </a:pPr>
            <a:r>
              <a:rPr lang="en-US" sz="1000" dirty="0">
                <a:solidFill>
                  <a:srgbClr val="64748B"/>
                </a:solidFill>
                <a:latin typeface="Roboto" pitchFamily="34" charset="0"/>
                <a:ea typeface="Roboto" pitchFamily="34" charset="-122"/>
                <a:cs typeface="Roboto" pitchFamily="34" charset="-120"/>
              </a:rPr>
              <a:t>May make the next step stricter, never looser.</a:t>
            </a:r>
            <a:endParaRPr lang="en-US" sz="1000" dirty="0"/>
          </a:p>
        </p:txBody>
      </p:sp>
      <p:pic>
        <p:nvPicPr>
          <p:cNvPr id="27" name="Image 6" descr="preencoded.png">    </p:cNvPr>
          <p:cNvPicPr>
            <a:picLocks noChangeAspect="1"/>
          </p:cNvPicPr>
          <p:nvPr/>
        </p:nvPicPr>
        <p:blipFill>
          <a:blip r:embed="rId7"/>
          <a:stretch>
            <a:fillRect/>
          </a:stretch>
        </p:blipFill>
        <p:spPr>
          <a:xfrm>
            <a:off x="5230368" y="3557016"/>
            <a:ext cx="182880" cy="182880"/>
          </a:xfrm>
          <a:prstGeom prst="rect">
            <a:avLst/>
          </a:prstGeom>
        </p:spPr>
      </p:pic>
      <p:sp>
        <p:nvSpPr>
          <p:cNvPr id="28" name="Text 18"/>
          <p:cNvSpPr txBox="1"/>
          <p:nvPr/>
        </p:nvSpPr>
        <p:spPr>
          <a:xfrm>
            <a:off x="5468112" y="3520440"/>
            <a:ext cx="1645920" cy="274320"/>
          </a:xfrm>
          <a:prstGeom prst="rect">
            <a:avLst/>
          </a:prstGeom>
          <a:noFill/>
          <a:ln/>
        </p:spPr>
        <p:txBody>
          <a:bodyPr wrap="square" lIns="0" tIns="0" rIns="0" bIns="0" rtlCol="0" anchor="ctr"/>
          <a:lstStyle/>
          <a:p>
            <a:pPr indent="0" marL="0">
              <a:buNone/>
            </a:pPr>
            <a:r>
              <a:rPr lang="en-US" sz="950" b="1" dirty="0">
                <a:solidFill>
                  <a:srgbClr val="16A34A"/>
                </a:solidFill>
                <a:latin typeface="Roboto" pitchFamily="34" charset="0"/>
                <a:ea typeface="Roboto" pitchFamily="34" charset="-122"/>
                <a:cs typeface="Roboto" pitchFamily="34" charset="-120"/>
              </a:rPr>
              <a:t>1 loosening attempt blocked</a:t>
            </a:r>
            <a:endParaRPr lang="en-US" sz="950" dirty="0"/>
          </a:p>
        </p:txBody>
      </p:sp>
      <p:sp>
        <p:nvSpPr>
          <p:cNvPr id="29" name="Shape 19"/>
          <p:cNvSpPr/>
          <p:nvPr/>
        </p:nvSpPr>
        <p:spPr>
          <a:xfrm>
            <a:off x="7296912" y="1783080"/>
            <a:ext cx="2103120" cy="2103120"/>
          </a:xfrm>
          <a:prstGeom prst="roundRect">
            <a:avLst>
              <a:gd name="adj" fmla="val 4348"/>
            </a:avLst>
          </a:prstGeom>
          <a:solidFill>
            <a:srgbClr val="F8FAFC"/>
          </a:solidFill>
          <a:ln w="12700">
            <a:solidFill>
              <a:srgbClr val="E2E8F0"/>
            </a:solidFill>
            <a:prstDash val="solid"/>
          </a:ln>
        </p:spPr>
      </p:sp>
      <p:sp>
        <p:nvSpPr>
          <p:cNvPr id="30" name="Shape 20"/>
          <p:cNvSpPr/>
          <p:nvPr/>
        </p:nvSpPr>
        <p:spPr>
          <a:xfrm>
            <a:off x="7479792" y="1965960"/>
            <a:ext cx="502920" cy="502920"/>
          </a:xfrm>
          <a:prstGeom prst="ellipse">
            <a:avLst/>
          </a:prstGeom>
          <a:solidFill>
            <a:srgbClr val="EEF2FF"/>
          </a:solidFill>
          <a:ln w="12700">
            <a:solidFill>
              <a:srgbClr val="EEF2FF"/>
            </a:solidFill>
            <a:prstDash val="solid"/>
          </a:ln>
        </p:spPr>
      </p:sp>
      <p:pic>
        <p:nvPicPr>
          <p:cNvPr id="31" name="Image 7" descr="preencoded.png">    </p:cNvPr>
          <p:cNvPicPr>
            <a:picLocks noChangeAspect="1"/>
          </p:cNvPicPr>
          <p:nvPr/>
        </p:nvPicPr>
        <p:blipFill>
          <a:blip r:embed="rId8"/>
          <a:stretch>
            <a:fillRect/>
          </a:stretch>
        </p:blipFill>
        <p:spPr>
          <a:xfrm>
            <a:off x="7590434" y="2076602"/>
            <a:ext cx="281635" cy="281635"/>
          </a:xfrm>
          <a:prstGeom prst="rect">
            <a:avLst/>
          </a:prstGeom>
        </p:spPr>
      </p:pic>
      <p:sp>
        <p:nvSpPr>
          <p:cNvPr id="32" name="Text 21"/>
          <p:cNvSpPr txBox="1"/>
          <p:nvPr/>
        </p:nvSpPr>
        <p:spPr>
          <a:xfrm>
            <a:off x="7479792" y="2560320"/>
            <a:ext cx="1783080" cy="457200"/>
          </a:xfrm>
          <a:prstGeom prst="rect">
            <a:avLst/>
          </a:prstGeom>
          <a:noFill/>
          <a:ln/>
        </p:spPr>
        <p:txBody>
          <a:bodyPr wrap="square" lIns="0" tIns="0" rIns="0" bIns="0" rtlCol="0" anchor="t"/>
          <a:lstStyle/>
          <a:p>
            <a:pPr indent="0" marL="0">
              <a:buNone/>
            </a:pPr>
            <a:r>
              <a:rPr lang="en-US" sz="1250" b="1" dirty="0">
                <a:solidFill>
                  <a:srgbClr val="0F172A"/>
                </a:solidFill>
                <a:latin typeface="Roboto" pitchFamily="34" charset="0"/>
                <a:ea typeface="Roboto" pitchFamily="34" charset="-122"/>
                <a:cs typeface="Roboto" pitchFamily="34" charset="-120"/>
              </a:rPr>
              <a:t>Nothing auto-rejects</a:t>
            </a:r>
            <a:endParaRPr lang="en-US" sz="1250" dirty="0"/>
          </a:p>
        </p:txBody>
      </p:sp>
      <p:sp>
        <p:nvSpPr>
          <p:cNvPr id="33" name="Text 22"/>
          <p:cNvSpPr txBox="1"/>
          <p:nvPr/>
        </p:nvSpPr>
        <p:spPr>
          <a:xfrm>
            <a:off x="7479792" y="2971800"/>
            <a:ext cx="1783080" cy="548640"/>
          </a:xfrm>
          <a:prstGeom prst="rect">
            <a:avLst/>
          </a:prstGeom>
          <a:noFill/>
          <a:ln/>
        </p:spPr>
        <p:txBody>
          <a:bodyPr wrap="square" lIns="0" tIns="0" rIns="0" bIns="0" rtlCol="0" anchor="t"/>
          <a:lstStyle/>
          <a:p>
            <a:pPr indent="0" marL="0">
              <a:buNone/>
            </a:pPr>
            <a:r>
              <a:rPr lang="en-US" sz="1000" dirty="0">
                <a:solidFill>
                  <a:srgbClr val="64748B"/>
                </a:solidFill>
                <a:latin typeface="Roboto" pitchFamily="34" charset="0"/>
                <a:ea typeface="Roboto" pitchFamily="34" charset="-122"/>
                <a:cs typeface="Roboto" pitchFamily="34" charset="-120"/>
              </a:rPr>
              <a:t>Advisory routes only; above ₹5 lakh needs the Head.</a:t>
            </a:r>
            <a:endParaRPr lang="en-US" sz="1000" dirty="0"/>
          </a:p>
        </p:txBody>
      </p:sp>
      <p:pic>
        <p:nvPicPr>
          <p:cNvPr id="34" name="Image 8" descr="preencoded.png">    </p:cNvPr>
          <p:cNvPicPr>
            <a:picLocks noChangeAspect="1"/>
          </p:cNvPicPr>
          <p:nvPr/>
        </p:nvPicPr>
        <p:blipFill>
          <a:blip r:embed="rId9"/>
          <a:stretch>
            <a:fillRect/>
          </a:stretch>
        </p:blipFill>
        <p:spPr>
          <a:xfrm>
            <a:off x="7479792" y="3557016"/>
            <a:ext cx="182880" cy="182880"/>
          </a:xfrm>
          <a:prstGeom prst="rect">
            <a:avLst/>
          </a:prstGeom>
        </p:spPr>
      </p:pic>
      <p:sp>
        <p:nvSpPr>
          <p:cNvPr id="35" name="Text 23"/>
          <p:cNvSpPr txBox="1"/>
          <p:nvPr/>
        </p:nvSpPr>
        <p:spPr>
          <a:xfrm>
            <a:off x="7717536" y="3520440"/>
            <a:ext cx="1645920" cy="274320"/>
          </a:xfrm>
          <a:prstGeom prst="rect">
            <a:avLst/>
          </a:prstGeom>
          <a:noFill/>
          <a:ln/>
        </p:spPr>
        <p:txBody>
          <a:bodyPr wrap="square" lIns="0" tIns="0" rIns="0" bIns="0" rtlCol="0" anchor="ctr"/>
          <a:lstStyle/>
          <a:p>
            <a:pPr indent="0" marL="0">
              <a:buNone/>
            </a:pPr>
            <a:r>
              <a:rPr lang="en-US" sz="950" b="1" dirty="0">
                <a:solidFill>
                  <a:srgbClr val="16A34A"/>
                </a:solidFill>
                <a:latin typeface="Roboto" pitchFamily="34" charset="0"/>
                <a:ea typeface="Roboto" pitchFamily="34" charset="-122"/>
                <a:cs typeface="Roboto" pitchFamily="34" charset="-120"/>
              </a:rPr>
              <a:t>router guard test</a:t>
            </a:r>
            <a:endParaRPr lang="en-US" sz="950" dirty="0"/>
          </a:p>
        </p:txBody>
      </p:sp>
      <p:sp>
        <p:nvSpPr>
          <p:cNvPr id="36" name="Shape 24"/>
          <p:cNvSpPr/>
          <p:nvPr/>
        </p:nvSpPr>
        <p:spPr>
          <a:xfrm>
            <a:off x="9546336" y="1783080"/>
            <a:ext cx="2103120" cy="2103120"/>
          </a:xfrm>
          <a:prstGeom prst="roundRect">
            <a:avLst>
              <a:gd name="adj" fmla="val 4348"/>
            </a:avLst>
          </a:prstGeom>
          <a:solidFill>
            <a:srgbClr val="F8FAFC"/>
          </a:solidFill>
          <a:ln w="12700">
            <a:solidFill>
              <a:srgbClr val="E2E8F0"/>
            </a:solidFill>
            <a:prstDash val="solid"/>
          </a:ln>
        </p:spPr>
      </p:sp>
      <p:sp>
        <p:nvSpPr>
          <p:cNvPr id="37" name="Shape 25"/>
          <p:cNvSpPr/>
          <p:nvPr/>
        </p:nvSpPr>
        <p:spPr>
          <a:xfrm>
            <a:off x="9729216" y="1965960"/>
            <a:ext cx="502920" cy="502920"/>
          </a:xfrm>
          <a:prstGeom prst="ellipse">
            <a:avLst/>
          </a:prstGeom>
          <a:solidFill>
            <a:srgbClr val="EEF2FF"/>
          </a:solidFill>
          <a:ln w="12700">
            <a:solidFill>
              <a:srgbClr val="EEF2FF"/>
            </a:solidFill>
            <a:prstDash val="solid"/>
          </a:ln>
        </p:spPr>
      </p:sp>
      <p:pic>
        <p:nvPicPr>
          <p:cNvPr id="38" name="Image 9" descr="preencoded.png">    </p:cNvPr>
          <p:cNvPicPr>
            <a:picLocks noChangeAspect="1"/>
          </p:cNvPicPr>
          <p:nvPr/>
        </p:nvPicPr>
        <p:blipFill>
          <a:blip r:embed="rId10"/>
          <a:stretch>
            <a:fillRect/>
          </a:stretch>
        </p:blipFill>
        <p:spPr>
          <a:xfrm>
            <a:off x="9839858" y="2076602"/>
            <a:ext cx="281635" cy="281635"/>
          </a:xfrm>
          <a:prstGeom prst="rect">
            <a:avLst/>
          </a:prstGeom>
        </p:spPr>
      </p:pic>
      <p:sp>
        <p:nvSpPr>
          <p:cNvPr id="39" name="Text 26"/>
          <p:cNvSpPr txBox="1"/>
          <p:nvPr/>
        </p:nvSpPr>
        <p:spPr>
          <a:xfrm>
            <a:off x="9729216" y="2560320"/>
            <a:ext cx="1783080" cy="457200"/>
          </a:xfrm>
          <a:prstGeom prst="rect">
            <a:avLst/>
          </a:prstGeom>
          <a:noFill/>
          <a:ln/>
        </p:spPr>
        <p:txBody>
          <a:bodyPr wrap="square" lIns="0" tIns="0" rIns="0" bIns="0" rtlCol="0" anchor="t"/>
          <a:lstStyle/>
          <a:p>
            <a:pPr indent="0" marL="0">
              <a:buNone/>
            </a:pPr>
            <a:r>
              <a:rPr lang="en-US" sz="1250" b="1" dirty="0">
                <a:solidFill>
                  <a:srgbClr val="0F172A"/>
                </a:solidFill>
                <a:latin typeface="Roboto" pitchFamily="34" charset="0"/>
                <a:ea typeface="Roboto" pitchFamily="34" charset="-122"/>
                <a:cs typeface="Roboto" pitchFamily="34" charset="-120"/>
              </a:rPr>
              <a:t>No side-effect tools</a:t>
            </a:r>
            <a:endParaRPr lang="en-US" sz="1250" dirty="0"/>
          </a:p>
        </p:txBody>
      </p:sp>
      <p:sp>
        <p:nvSpPr>
          <p:cNvPr id="40" name="Text 27"/>
          <p:cNvSpPr txBox="1"/>
          <p:nvPr/>
        </p:nvSpPr>
        <p:spPr>
          <a:xfrm>
            <a:off x="9729216" y="2971800"/>
            <a:ext cx="1783080" cy="548640"/>
          </a:xfrm>
          <a:prstGeom prst="rect">
            <a:avLst/>
          </a:prstGeom>
          <a:noFill/>
          <a:ln/>
        </p:spPr>
        <p:txBody>
          <a:bodyPr wrap="square" lIns="0" tIns="0" rIns="0" bIns="0" rtlCol="0" anchor="t"/>
          <a:lstStyle/>
          <a:p>
            <a:pPr indent="0" marL="0">
              <a:buNone/>
            </a:pPr>
            <a:r>
              <a:rPr lang="en-US" sz="1000" dirty="0">
                <a:solidFill>
                  <a:srgbClr val="64748B"/>
                </a:solidFill>
                <a:latin typeface="Roboto" pitchFamily="34" charset="0"/>
                <a:ea typeface="Roboto" pitchFamily="34" charset="-122"/>
                <a:cs typeface="Roboto" pitchFamily="34" charset="-120"/>
              </a:rPr>
              <a:t>No agent can approve, reject, file, accept or send.</a:t>
            </a:r>
            <a:endParaRPr lang="en-US" sz="1000" dirty="0"/>
          </a:p>
        </p:txBody>
      </p:sp>
      <p:pic>
        <p:nvPicPr>
          <p:cNvPr id="41" name="Image 10" descr="preencoded.png">    </p:cNvPr>
          <p:cNvPicPr>
            <a:picLocks noChangeAspect="1"/>
          </p:cNvPicPr>
          <p:nvPr/>
        </p:nvPicPr>
        <p:blipFill>
          <a:blip r:embed="rId11"/>
          <a:stretch>
            <a:fillRect/>
          </a:stretch>
        </p:blipFill>
        <p:spPr>
          <a:xfrm>
            <a:off x="9729216" y="3557016"/>
            <a:ext cx="182880" cy="182880"/>
          </a:xfrm>
          <a:prstGeom prst="rect">
            <a:avLst/>
          </a:prstGeom>
        </p:spPr>
      </p:pic>
      <p:sp>
        <p:nvSpPr>
          <p:cNvPr id="42" name="Text 28"/>
          <p:cNvSpPr txBox="1"/>
          <p:nvPr/>
        </p:nvSpPr>
        <p:spPr>
          <a:xfrm>
            <a:off x="9966960" y="3520440"/>
            <a:ext cx="1645920" cy="274320"/>
          </a:xfrm>
          <a:prstGeom prst="rect">
            <a:avLst/>
          </a:prstGeom>
          <a:noFill/>
          <a:ln/>
        </p:spPr>
        <p:txBody>
          <a:bodyPr wrap="square" lIns="0" tIns="0" rIns="0" bIns="0" rtlCol="0" anchor="ctr"/>
          <a:lstStyle/>
          <a:p>
            <a:pPr indent="0" marL="0">
              <a:buNone/>
            </a:pPr>
            <a:r>
              <a:rPr lang="en-US" sz="950" b="1" dirty="0">
                <a:solidFill>
                  <a:srgbClr val="16A34A"/>
                </a:solidFill>
                <a:latin typeface="Roboto" pitchFamily="34" charset="0"/>
                <a:ea typeface="Roboto" pitchFamily="34" charset="-122"/>
                <a:cs typeface="Roboto" pitchFamily="34" charset="-120"/>
              </a:rPr>
              <a:t>checked on all 29</a:t>
            </a:r>
            <a:endParaRPr lang="en-US" sz="950" dirty="0"/>
          </a:p>
        </p:txBody>
      </p:sp>
      <p:sp>
        <p:nvSpPr>
          <p:cNvPr id="43" name="Shape 29"/>
          <p:cNvSpPr/>
          <p:nvPr/>
        </p:nvSpPr>
        <p:spPr>
          <a:xfrm>
            <a:off x="548640" y="4069080"/>
            <a:ext cx="2103120" cy="2103120"/>
          </a:xfrm>
          <a:prstGeom prst="roundRect">
            <a:avLst>
              <a:gd name="adj" fmla="val 4348"/>
            </a:avLst>
          </a:prstGeom>
          <a:solidFill>
            <a:srgbClr val="F8FAFC"/>
          </a:solidFill>
          <a:ln w="12700">
            <a:solidFill>
              <a:srgbClr val="E2E8F0"/>
            </a:solidFill>
            <a:prstDash val="solid"/>
          </a:ln>
        </p:spPr>
      </p:sp>
      <p:sp>
        <p:nvSpPr>
          <p:cNvPr id="44" name="Shape 30"/>
          <p:cNvSpPr/>
          <p:nvPr/>
        </p:nvSpPr>
        <p:spPr>
          <a:xfrm>
            <a:off x="731520" y="4251960"/>
            <a:ext cx="502920" cy="502920"/>
          </a:xfrm>
          <a:prstGeom prst="ellipse">
            <a:avLst/>
          </a:prstGeom>
          <a:solidFill>
            <a:srgbClr val="EEF2FF"/>
          </a:solidFill>
          <a:ln w="12700">
            <a:solidFill>
              <a:srgbClr val="EEF2FF"/>
            </a:solidFill>
            <a:prstDash val="solid"/>
          </a:ln>
        </p:spPr>
      </p:sp>
      <p:pic>
        <p:nvPicPr>
          <p:cNvPr id="45" name="Image 11" descr="preencoded.png">    </p:cNvPr>
          <p:cNvPicPr>
            <a:picLocks noChangeAspect="1"/>
          </p:cNvPicPr>
          <p:nvPr/>
        </p:nvPicPr>
        <p:blipFill>
          <a:blip r:embed="rId12"/>
          <a:stretch>
            <a:fillRect/>
          </a:stretch>
        </p:blipFill>
        <p:spPr>
          <a:xfrm>
            <a:off x="842162" y="4362602"/>
            <a:ext cx="281635" cy="281635"/>
          </a:xfrm>
          <a:prstGeom prst="rect">
            <a:avLst/>
          </a:prstGeom>
        </p:spPr>
      </p:pic>
      <p:sp>
        <p:nvSpPr>
          <p:cNvPr id="46" name="Text 31"/>
          <p:cNvSpPr txBox="1"/>
          <p:nvPr/>
        </p:nvSpPr>
        <p:spPr>
          <a:xfrm>
            <a:off x="731520" y="4846320"/>
            <a:ext cx="1783080" cy="457200"/>
          </a:xfrm>
          <a:prstGeom prst="rect">
            <a:avLst/>
          </a:prstGeom>
          <a:noFill/>
          <a:ln/>
        </p:spPr>
        <p:txBody>
          <a:bodyPr wrap="square" lIns="0" tIns="0" rIns="0" bIns="0" rtlCol="0" anchor="t"/>
          <a:lstStyle/>
          <a:p>
            <a:pPr indent="0" marL="0">
              <a:buNone/>
            </a:pPr>
            <a:r>
              <a:rPr lang="en-US" sz="1250" b="1" dirty="0">
                <a:solidFill>
                  <a:srgbClr val="0F172A"/>
                </a:solidFill>
                <a:latin typeface="Roboto" pitchFamily="34" charset="0"/>
                <a:ea typeface="Roboto" pitchFamily="34" charset="-122"/>
                <a:cs typeface="Roboto" pitchFamily="34" charset="-120"/>
              </a:rPr>
              <a:t>LLM budget per path</a:t>
            </a:r>
            <a:endParaRPr lang="en-US" sz="1250" dirty="0"/>
          </a:p>
        </p:txBody>
      </p:sp>
      <p:sp>
        <p:nvSpPr>
          <p:cNvPr id="47" name="Text 32"/>
          <p:cNvSpPr txBox="1"/>
          <p:nvPr/>
        </p:nvSpPr>
        <p:spPr>
          <a:xfrm>
            <a:off x="731520" y="5257800"/>
            <a:ext cx="1783080" cy="548640"/>
          </a:xfrm>
          <a:prstGeom prst="rect">
            <a:avLst/>
          </a:prstGeom>
          <a:noFill/>
          <a:ln/>
        </p:spPr>
        <p:txBody>
          <a:bodyPr wrap="square" lIns="0" tIns="0" rIns="0" bIns="0" rtlCol="0" anchor="t"/>
          <a:lstStyle/>
          <a:p>
            <a:pPr indent="0" marL="0">
              <a:buNone/>
            </a:pPr>
            <a:r>
              <a:rPr lang="en-US" sz="1000" dirty="0">
                <a:solidFill>
                  <a:srgbClr val="64748B"/>
                </a:solidFill>
                <a:latin typeface="Roboto" pitchFamily="34" charset="0"/>
                <a:ea typeface="Roboto" pitchFamily="34" charset="-122"/>
                <a:cs typeface="Roboto" pitchFamily="34" charset="-120"/>
              </a:rPr>
              <a:t>/extract ≤ 1 call; masking, face and assessment 0.</a:t>
            </a:r>
            <a:endParaRPr lang="en-US" sz="1000" dirty="0"/>
          </a:p>
        </p:txBody>
      </p:sp>
      <p:pic>
        <p:nvPicPr>
          <p:cNvPr id="48" name="Image 12" descr="preencoded.png">    </p:cNvPr>
          <p:cNvPicPr>
            <a:picLocks noChangeAspect="1"/>
          </p:cNvPicPr>
          <p:nvPr/>
        </p:nvPicPr>
        <p:blipFill>
          <a:blip r:embed="rId13"/>
          <a:stretch>
            <a:fillRect/>
          </a:stretch>
        </p:blipFill>
        <p:spPr>
          <a:xfrm>
            <a:off x="731520" y="5843016"/>
            <a:ext cx="182880" cy="182880"/>
          </a:xfrm>
          <a:prstGeom prst="rect">
            <a:avLst/>
          </a:prstGeom>
        </p:spPr>
      </p:pic>
      <p:sp>
        <p:nvSpPr>
          <p:cNvPr id="49" name="Text 33"/>
          <p:cNvSpPr txBox="1"/>
          <p:nvPr/>
        </p:nvSpPr>
        <p:spPr>
          <a:xfrm>
            <a:off x="969264" y="5806440"/>
            <a:ext cx="1645920" cy="274320"/>
          </a:xfrm>
          <a:prstGeom prst="rect">
            <a:avLst/>
          </a:prstGeom>
          <a:noFill/>
          <a:ln/>
        </p:spPr>
        <p:txBody>
          <a:bodyPr wrap="square" lIns="0" tIns="0" rIns="0" bIns="0" rtlCol="0" anchor="ctr"/>
          <a:lstStyle/>
          <a:p>
            <a:pPr indent="0" marL="0">
              <a:buNone/>
            </a:pPr>
            <a:r>
              <a:rPr lang="en-US" sz="950" b="1" dirty="0">
                <a:solidFill>
                  <a:srgbClr val="16A34A"/>
                </a:solidFill>
                <a:latin typeface="Roboto" pitchFamily="34" charset="0"/>
                <a:ea typeface="Roboto" pitchFamily="34" charset="-122"/>
                <a:cs typeface="Roboto" pitchFamily="34" charset="-120"/>
              </a:rPr>
              <a:t>call-count test</a:t>
            </a:r>
            <a:endParaRPr lang="en-US" sz="950" dirty="0"/>
          </a:p>
        </p:txBody>
      </p:sp>
      <p:sp>
        <p:nvSpPr>
          <p:cNvPr id="50" name="Shape 34"/>
          <p:cNvSpPr/>
          <p:nvPr/>
        </p:nvSpPr>
        <p:spPr>
          <a:xfrm>
            <a:off x="2798064" y="4069080"/>
            <a:ext cx="2103120" cy="2103120"/>
          </a:xfrm>
          <a:prstGeom prst="roundRect">
            <a:avLst>
              <a:gd name="adj" fmla="val 4348"/>
            </a:avLst>
          </a:prstGeom>
          <a:solidFill>
            <a:srgbClr val="F8FAFC"/>
          </a:solidFill>
          <a:ln w="12700">
            <a:solidFill>
              <a:srgbClr val="E2E8F0"/>
            </a:solidFill>
            <a:prstDash val="solid"/>
          </a:ln>
        </p:spPr>
      </p:sp>
      <p:sp>
        <p:nvSpPr>
          <p:cNvPr id="51" name="Shape 35"/>
          <p:cNvSpPr/>
          <p:nvPr/>
        </p:nvSpPr>
        <p:spPr>
          <a:xfrm>
            <a:off x="2980944" y="4251960"/>
            <a:ext cx="502920" cy="502920"/>
          </a:xfrm>
          <a:prstGeom prst="ellipse">
            <a:avLst/>
          </a:prstGeom>
          <a:solidFill>
            <a:srgbClr val="EEF2FF"/>
          </a:solidFill>
          <a:ln w="12700">
            <a:solidFill>
              <a:srgbClr val="EEF2FF"/>
            </a:solidFill>
            <a:prstDash val="solid"/>
          </a:ln>
        </p:spPr>
      </p:sp>
      <p:pic>
        <p:nvPicPr>
          <p:cNvPr id="52" name="Image 13" descr="preencoded.png">    </p:cNvPr>
          <p:cNvPicPr>
            <a:picLocks noChangeAspect="1"/>
          </p:cNvPicPr>
          <p:nvPr/>
        </p:nvPicPr>
        <p:blipFill>
          <a:blip r:embed="rId14"/>
          <a:stretch>
            <a:fillRect/>
          </a:stretch>
        </p:blipFill>
        <p:spPr>
          <a:xfrm>
            <a:off x="3091586" y="4362602"/>
            <a:ext cx="281635" cy="281635"/>
          </a:xfrm>
          <a:prstGeom prst="rect">
            <a:avLst/>
          </a:prstGeom>
        </p:spPr>
      </p:pic>
      <p:sp>
        <p:nvSpPr>
          <p:cNvPr id="53" name="Text 36"/>
          <p:cNvSpPr txBox="1"/>
          <p:nvPr/>
        </p:nvSpPr>
        <p:spPr>
          <a:xfrm>
            <a:off x="2980944" y="4846320"/>
            <a:ext cx="1783080" cy="457200"/>
          </a:xfrm>
          <a:prstGeom prst="rect">
            <a:avLst/>
          </a:prstGeom>
          <a:noFill/>
          <a:ln/>
        </p:spPr>
        <p:txBody>
          <a:bodyPr wrap="square" lIns="0" tIns="0" rIns="0" bIns="0" rtlCol="0" anchor="t"/>
          <a:lstStyle/>
          <a:p>
            <a:pPr indent="0" marL="0">
              <a:buNone/>
            </a:pPr>
            <a:r>
              <a:rPr lang="en-US" sz="1250" b="1" dirty="0">
                <a:solidFill>
                  <a:srgbClr val="0F172A"/>
                </a:solidFill>
                <a:latin typeface="Roboto" pitchFamily="34" charset="0"/>
                <a:ea typeface="Roboto" pitchFamily="34" charset="-122"/>
                <a:cs typeface="Roboto" pitchFamily="34" charset="-120"/>
              </a:rPr>
              <a:t>Authenticity capped</a:t>
            </a:r>
            <a:endParaRPr lang="en-US" sz="1250" dirty="0"/>
          </a:p>
        </p:txBody>
      </p:sp>
      <p:sp>
        <p:nvSpPr>
          <p:cNvPr id="54" name="Text 37"/>
          <p:cNvSpPr txBox="1"/>
          <p:nvPr/>
        </p:nvSpPr>
        <p:spPr>
          <a:xfrm>
            <a:off x="2980944" y="5257800"/>
            <a:ext cx="1783080" cy="548640"/>
          </a:xfrm>
          <a:prstGeom prst="rect">
            <a:avLst/>
          </a:prstGeom>
          <a:noFill/>
          <a:ln/>
        </p:spPr>
        <p:txBody>
          <a:bodyPr wrap="square" lIns="0" tIns="0" rIns="0" bIns="0" rtlCol="0" anchor="t"/>
          <a:lstStyle/>
          <a:p>
            <a:pPr indent="0" marL="0">
              <a:buNone/>
            </a:pPr>
            <a:r>
              <a:rPr lang="en-US" sz="1000" dirty="0">
                <a:solidFill>
                  <a:srgbClr val="64748B"/>
                </a:solidFill>
                <a:latin typeface="Roboto" pitchFamily="34" charset="0"/>
                <a:ea typeface="Roboto" pitchFamily="34" charset="-122"/>
                <a:cs typeface="Roboto" pitchFamily="34" charset="-120"/>
              </a:rPr>
              <a:t>The fabrication signal is capped at 0.60, never alone.</a:t>
            </a:r>
            <a:endParaRPr lang="en-US" sz="1000" dirty="0"/>
          </a:p>
        </p:txBody>
      </p:sp>
      <p:pic>
        <p:nvPicPr>
          <p:cNvPr id="55" name="Image 14" descr="preencoded.png">    </p:cNvPr>
          <p:cNvPicPr>
            <a:picLocks noChangeAspect="1"/>
          </p:cNvPicPr>
          <p:nvPr/>
        </p:nvPicPr>
        <p:blipFill>
          <a:blip r:embed="rId15"/>
          <a:stretch>
            <a:fillRect/>
          </a:stretch>
        </p:blipFill>
        <p:spPr>
          <a:xfrm>
            <a:off x="2980944" y="5843016"/>
            <a:ext cx="182880" cy="182880"/>
          </a:xfrm>
          <a:prstGeom prst="rect">
            <a:avLst/>
          </a:prstGeom>
        </p:spPr>
      </p:pic>
      <p:sp>
        <p:nvSpPr>
          <p:cNvPr id="56" name="Text 38"/>
          <p:cNvSpPr txBox="1"/>
          <p:nvPr/>
        </p:nvSpPr>
        <p:spPr>
          <a:xfrm>
            <a:off x="3218688" y="5806440"/>
            <a:ext cx="1645920" cy="274320"/>
          </a:xfrm>
          <a:prstGeom prst="rect">
            <a:avLst/>
          </a:prstGeom>
          <a:noFill/>
          <a:ln/>
        </p:spPr>
        <p:txBody>
          <a:bodyPr wrap="square" lIns="0" tIns="0" rIns="0" bIns="0" rtlCol="0" anchor="ctr"/>
          <a:lstStyle/>
          <a:p>
            <a:pPr indent="0" marL="0">
              <a:buNone/>
            </a:pPr>
            <a:r>
              <a:rPr lang="en-US" sz="950" b="1" dirty="0">
                <a:solidFill>
                  <a:srgbClr val="16A34A"/>
                </a:solidFill>
                <a:latin typeface="Roboto" pitchFamily="34" charset="0"/>
                <a:ea typeface="Roboto" pitchFamily="34" charset="-122"/>
                <a:cs typeface="Roboto" pitchFamily="34" charset="-120"/>
              </a:rPr>
              <a:t>cap held on all 418</a:t>
            </a:r>
            <a:endParaRPr lang="en-US" sz="950" dirty="0"/>
          </a:p>
        </p:txBody>
      </p:sp>
      <p:sp>
        <p:nvSpPr>
          <p:cNvPr id="57" name="Shape 39"/>
          <p:cNvSpPr/>
          <p:nvPr/>
        </p:nvSpPr>
        <p:spPr>
          <a:xfrm>
            <a:off x="5047488" y="4069080"/>
            <a:ext cx="2103120" cy="2103120"/>
          </a:xfrm>
          <a:prstGeom prst="roundRect">
            <a:avLst>
              <a:gd name="adj" fmla="val 4348"/>
            </a:avLst>
          </a:prstGeom>
          <a:solidFill>
            <a:srgbClr val="F8FAFC"/>
          </a:solidFill>
          <a:ln w="12700">
            <a:solidFill>
              <a:srgbClr val="E2E8F0"/>
            </a:solidFill>
            <a:prstDash val="solid"/>
          </a:ln>
        </p:spPr>
      </p:sp>
      <p:sp>
        <p:nvSpPr>
          <p:cNvPr id="58" name="Shape 40"/>
          <p:cNvSpPr/>
          <p:nvPr/>
        </p:nvSpPr>
        <p:spPr>
          <a:xfrm>
            <a:off x="5230368" y="4251960"/>
            <a:ext cx="502920" cy="502920"/>
          </a:xfrm>
          <a:prstGeom prst="ellipse">
            <a:avLst/>
          </a:prstGeom>
          <a:solidFill>
            <a:srgbClr val="EEF2FF"/>
          </a:solidFill>
          <a:ln w="12700">
            <a:solidFill>
              <a:srgbClr val="EEF2FF"/>
            </a:solidFill>
            <a:prstDash val="solid"/>
          </a:ln>
        </p:spPr>
      </p:sp>
      <p:pic>
        <p:nvPicPr>
          <p:cNvPr id="59" name="Image 15" descr="preencoded.png">    </p:cNvPr>
          <p:cNvPicPr>
            <a:picLocks noChangeAspect="1"/>
          </p:cNvPicPr>
          <p:nvPr/>
        </p:nvPicPr>
        <p:blipFill>
          <a:blip r:embed="rId16"/>
          <a:stretch>
            <a:fillRect/>
          </a:stretch>
        </p:blipFill>
        <p:spPr>
          <a:xfrm>
            <a:off x="5341010" y="4362602"/>
            <a:ext cx="281635" cy="281635"/>
          </a:xfrm>
          <a:prstGeom prst="rect">
            <a:avLst/>
          </a:prstGeom>
        </p:spPr>
      </p:pic>
      <p:sp>
        <p:nvSpPr>
          <p:cNvPr id="60" name="Text 41"/>
          <p:cNvSpPr txBox="1"/>
          <p:nvPr/>
        </p:nvSpPr>
        <p:spPr>
          <a:xfrm>
            <a:off x="5230368" y="4846320"/>
            <a:ext cx="1783080" cy="457200"/>
          </a:xfrm>
          <a:prstGeom prst="rect">
            <a:avLst/>
          </a:prstGeom>
          <a:noFill/>
          <a:ln/>
        </p:spPr>
        <p:txBody>
          <a:bodyPr wrap="square" lIns="0" tIns="0" rIns="0" bIns="0" rtlCol="0" anchor="t"/>
          <a:lstStyle/>
          <a:p>
            <a:pPr indent="0" marL="0">
              <a:buNone/>
            </a:pPr>
            <a:r>
              <a:rPr lang="en-US" sz="1250" b="1" dirty="0">
                <a:solidFill>
                  <a:srgbClr val="0F172A"/>
                </a:solidFill>
                <a:latin typeface="Roboto" pitchFamily="34" charset="0"/>
                <a:ea typeface="Roboto" pitchFamily="34" charset="-122"/>
                <a:cs typeface="Roboto" pitchFamily="34" charset="-120"/>
              </a:rPr>
              <a:t>Hosted models gated</a:t>
            </a:r>
            <a:endParaRPr lang="en-US" sz="1250" dirty="0"/>
          </a:p>
        </p:txBody>
      </p:sp>
      <p:sp>
        <p:nvSpPr>
          <p:cNvPr id="61" name="Text 42"/>
          <p:cNvSpPr txBox="1"/>
          <p:nvPr/>
        </p:nvSpPr>
        <p:spPr>
          <a:xfrm>
            <a:off x="5230368" y="5257800"/>
            <a:ext cx="1783080" cy="548640"/>
          </a:xfrm>
          <a:prstGeom prst="rect">
            <a:avLst/>
          </a:prstGeom>
          <a:noFill/>
          <a:ln/>
        </p:spPr>
        <p:txBody>
          <a:bodyPr wrap="square" lIns="0" tIns="0" rIns="0" bIns="0" rtlCol="0" anchor="t"/>
          <a:lstStyle/>
          <a:p>
            <a:pPr indent="0" marL="0">
              <a:buNone/>
            </a:pPr>
            <a:r>
              <a:rPr lang="en-US" sz="1000" dirty="0">
                <a:solidFill>
                  <a:srgbClr val="64748B"/>
                </a:solidFill>
                <a:latin typeface="Roboto" pitchFamily="34" charset="0"/>
                <a:ea typeface="Roboto" pitchFamily="34" charset="-122"/>
                <a:cs typeface="Roboto" pitchFamily="34" charset="-120"/>
              </a:rPr>
              <a:t>Head acknowledgement, kill switch, pseudonymised text.</a:t>
            </a:r>
            <a:endParaRPr lang="en-US" sz="1000" dirty="0"/>
          </a:p>
        </p:txBody>
      </p:sp>
      <p:pic>
        <p:nvPicPr>
          <p:cNvPr id="62" name="Image 16" descr="preencoded.png">    </p:cNvPr>
          <p:cNvPicPr>
            <a:picLocks noChangeAspect="1"/>
          </p:cNvPicPr>
          <p:nvPr/>
        </p:nvPicPr>
        <p:blipFill>
          <a:blip r:embed="rId17"/>
          <a:stretch>
            <a:fillRect/>
          </a:stretch>
        </p:blipFill>
        <p:spPr>
          <a:xfrm>
            <a:off x="5230368" y="5843016"/>
            <a:ext cx="182880" cy="182880"/>
          </a:xfrm>
          <a:prstGeom prst="rect">
            <a:avLst/>
          </a:prstGeom>
        </p:spPr>
      </p:pic>
      <p:sp>
        <p:nvSpPr>
          <p:cNvPr id="63" name="Text 43"/>
          <p:cNvSpPr txBox="1"/>
          <p:nvPr/>
        </p:nvSpPr>
        <p:spPr>
          <a:xfrm>
            <a:off x="5468112" y="5806440"/>
            <a:ext cx="1645920" cy="274320"/>
          </a:xfrm>
          <a:prstGeom prst="rect">
            <a:avLst/>
          </a:prstGeom>
          <a:noFill/>
          <a:ln/>
        </p:spPr>
        <p:txBody>
          <a:bodyPr wrap="square" lIns="0" tIns="0" rIns="0" bIns="0" rtlCol="0" anchor="ctr"/>
          <a:lstStyle/>
          <a:p>
            <a:pPr indent="0" marL="0">
              <a:buNone/>
            </a:pPr>
            <a:r>
              <a:rPr lang="en-US" sz="950" b="1" dirty="0">
                <a:solidFill>
                  <a:srgbClr val="16A34A"/>
                </a:solidFill>
                <a:latin typeface="Roboto" pitchFamily="34" charset="0"/>
                <a:ea typeface="Roboto" pitchFamily="34" charset="-122"/>
                <a:cs typeface="Roboto" pitchFamily="34" charset="-120"/>
              </a:rPr>
              <a:t>settings + gateway tests</a:t>
            </a:r>
            <a:endParaRPr lang="en-US" sz="950" dirty="0"/>
          </a:p>
        </p:txBody>
      </p:sp>
      <p:sp>
        <p:nvSpPr>
          <p:cNvPr id="64" name="Shape 44"/>
          <p:cNvSpPr/>
          <p:nvPr/>
        </p:nvSpPr>
        <p:spPr>
          <a:xfrm>
            <a:off x="7296912" y="4069080"/>
            <a:ext cx="2103120" cy="2103120"/>
          </a:xfrm>
          <a:prstGeom prst="roundRect">
            <a:avLst>
              <a:gd name="adj" fmla="val 4348"/>
            </a:avLst>
          </a:prstGeom>
          <a:solidFill>
            <a:srgbClr val="F8FAFC"/>
          </a:solidFill>
          <a:ln w="12700">
            <a:solidFill>
              <a:srgbClr val="E2E8F0"/>
            </a:solidFill>
            <a:prstDash val="solid"/>
          </a:ln>
        </p:spPr>
      </p:sp>
      <p:sp>
        <p:nvSpPr>
          <p:cNvPr id="65" name="Shape 45"/>
          <p:cNvSpPr/>
          <p:nvPr/>
        </p:nvSpPr>
        <p:spPr>
          <a:xfrm>
            <a:off x="7479792" y="4251960"/>
            <a:ext cx="502920" cy="502920"/>
          </a:xfrm>
          <a:prstGeom prst="ellipse">
            <a:avLst/>
          </a:prstGeom>
          <a:solidFill>
            <a:srgbClr val="EEF2FF"/>
          </a:solidFill>
          <a:ln w="12700">
            <a:solidFill>
              <a:srgbClr val="EEF2FF"/>
            </a:solidFill>
            <a:prstDash val="solid"/>
          </a:ln>
        </p:spPr>
      </p:sp>
      <p:pic>
        <p:nvPicPr>
          <p:cNvPr id="66" name="Image 17" descr="preencoded.png">    </p:cNvPr>
          <p:cNvPicPr>
            <a:picLocks noChangeAspect="1"/>
          </p:cNvPicPr>
          <p:nvPr/>
        </p:nvPicPr>
        <p:blipFill>
          <a:blip r:embed="rId18"/>
          <a:stretch>
            <a:fillRect/>
          </a:stretch>
        </p:blipFill>
        <p:spPr>
          <a:xfrm>
            <a:off x="7590434" y="4362602"/>
            <a:ext cx="281635" cy="281635"/>
          </a:xfrm>
          <a:prstGeom prst="rect">
            <a:avLst/>
          </a:prstGeom>
        </p:spPr>
      </p:pic>
      <p:sp>
        <p:nvSpPr>
          <p:cNvPr id="67" name="Text 46"/>
          <p:cNvSpPr txBox="1"/>
          <p:nvPr/>
        </p:nvSpPr>
        <p:spPr>
          <a:xfrm>
            <a:off x="7479792" y="4846320"/>
            <a:ext cx="1783080" cy="457200"/>
          </a:xfrm>
          <a:prstGeom prst="rect">
            <a:avLst/>
          </a:prstGeom>
          <a:noFill/>
          <a:ln/>
        </p:spPr>
        <p:txBody>
          <a:bodyPr wrap="square" lIns="0" tIns="0" rIns="0" bIns="0" rtlCol="0" anchor="t"/>
          <a:lstStyle/>
          <a:p>
            <a:pPr indent="0" marL="0">
              <a:buNone/>
            </a:pPr>
            <a:r>
              <a:rPr lang="en-US" sz="1250" b="1" dirty="0">
                <a:solidFill>
                  <a:srgbClr val="0F172A"/>
                </a:solidFill>
                <a:latin typeface="Roboto" pitchFamily="34" charset="0"/>
                <a:ea typeface="Roboto" pitchFamily="34" charset="-122"/>
                <a:cs typeface="Roboto" pitchFamily="34" charset="-120"/>
              </a:rPr>
              <a:t>Identity keys hashed</a:t>
            </a:r>
            <a:endParaRPr lang="en-US" sz="1250" dirty="0"/>
          </a:p>
        </p:txBody>
      </p:sp>
      <p:sp>
        <p:nvSpPr>
          <p:cNvPr id="68" name="Text 47"/>
          <p:cNvSpPr txBox="1"/>
          <p:nvPr/>
        </p:nvSpPr>
        <p:spPr>
          <a:xfrm>
            <a:off x="7479792" y="5257800"/>
            <a:ext cx="1783080" cy="548640"/>
          </a:xfrm>
          <a:prstGeom prst="rect">
            <a:avLst/>
          </a:prstGeom>
          <a:noFill/>
          <a:ln/>
        </p:spPr>
        <p:txBody>
          <a:bodyPr wrap="square" lIns="0" tIns="0" rIns="0" bIns="0" rtlCol="0" anchor="t"/>
          <a:lstStyle/>
          <a:p>
            <a:pPr indent="0" marL="0">
              <a:buNone/>
            </a:pPr>
            <a:r>
              <a:rPr lang="en-US" sz="1000" dirty="0">
                <a:solidFill>
                  <a:srgbClr val="64748B"/>
                </a:solidFill>
                <a:latin typeface="Roboto" pitchFamily="34" charset="0"/>
                <a:ea typeface="Roboto" pitchFamily="34" charset="-122"/>
                <a:cs typeface="Roboto" pitchFamily="34" charset="-120"/>
              </a:rPr>
              <a:t>Dedupe stores HMAC digests, never raw PAN / Aadhaar.</a:t>
            </a:r>
            <a:endParaRPr lang="en-US" sz="1000" dirty="0"/>
          </a:p>
        </p:txBody>
      </p:sp>
      <p:pic>
        <p:nvPicPr>
          <p:cNvPr id="69" name="Image 18" descr="preencoded.png">    </p:cNvPr>
          <p:cNvPicPr>
            <a:picLocks noChangeAspect="1"/>
          </p:cNvPicPr>
          <p:nvPr/>
        </p:nvPicPr>
        <p:blipFill>
          <a:blip r:embed="rId19"/>
          <a:stretch>
            <a:fillRect/>
          </a:stretch>
        </p:blipFill>
        <p:spPr>
          <a:xfrm>
            <a:off x="7479792" y="5843016"/>
            <a:ext cx="182880" cy="182880"/>
          </a:xfrm>
          <a:prstGeom prst="rect">
            <a:avLst/>
          </a:prstGeom>
        </p:spPr>
      </p:pic>
      <p:sp>
        <p:nvSpPr>
          <p:cNvPr id="70" name="Text 48"/>
          <p:cNvSpPr txBox="1"/>
          <p:nvPr/>
        </p:nvSpPr>
        <p:spPr>
          <a:xfrm>
            <a:off x="7717536" y="5806440"/>
            <a:ext cx="1645920" cy="274320"/>
          </a:xfrm>
          <a:prstGeom prst="rect">
            <a:avLst/>
          </a:prstGeom>
          <a:noFill/>
          <a:ln/>
        </p:spPr>
        <p:txBody>
          <a:bodyPr wrap="square" lIns="0" tIns="0" rIns="0" bIns="0" rtlCol="0" anchor="ctr"/>
          <a:lstStyle/>
          <a:p>
            <a:pPr indent="0" marL="0">
              <a:buNone/>
            </a:pPr>
            <a:r>
              <a:rPr lang="en-US" sz="950" b="1" dirty="0">
                <a:solidFill>
                  <a:srgbClr val="16A34A"/>
                </a:solidFill>
                <a:latin typeface="Roboto" pitchFamily="34" charset="0"/>
                <a:ea typeface="Roboto" pitchFamily="34" charset="-122"/>
                <a:cs typeface="Roboto" pitchFamily="34" charset="-120"/>
              </a:rPr>
              <a:t>holds</a:t>
            </a:r>
            <a:endParaRPr lang="en-US" sz="950" dirty="0"/>
          </a:p>
        </p:txBody>
      </p:sp>
      <p:sp>
        <p:nvSpPr>
          <p:cNvPr id="71" name="Shape 49"/>
          <p:cNvSpPr/>
          <p:nvPr/>
        </p:nvSpPr>
        <p:spPr>
          <a:xfrm>
            <a:off x="9546336" y="4069080"/>
            <a:ext cx="2103120" cy="2103120"/>
          </a:xfrm>
          <a:prstGeom prst="roundRect">
            <a:avLst>
              <a:gd name="adj" fmla="val 4348"/>
            </a:avLst>
          </a:prstGeom>
          <a:solidFill>
            <a:srgbClr val="F8FAFC"/>
          </a:solidFill>
          <a:ln w="12700">
            <a:solidFill>
              <a:srgbClr val="E2E8F0"/>
            </a:solidFill>
            <a:prstDash val="solid"/>
          </a:ln>
        </p:spPr>
      </p:sp>
      <p:sp>
        <p:nvSpPr>
          <p:cNvPr id="72" name="Shape 50"/>
          <p:cNvSpPr/>
          <p:nvPr/>
        </p:nvSpPr>
        <p:spPr>
          <a:xfrm>
            <a:off x="9729216" y="4251960"/>
            <a:ext cx="502920" cy="502920"/>
          </a:xfrm>
          <a:prstGeom prst="ellipse">
            <a:avLst/>
          </a:prstGeom>
          <a:solidFill>
            <a:srgbClr val="EEF2FF"/>
          </a:solidFill>
          <a:ln w="12700">
            <a:solidFill>
              <a:srgbClr val="EEF2FF"/>
            </a:solidFill>
            <a:prstDash val="solid"/>
          </a:ln>
        </p:spPr>
      </p:sp>
      <p:pic>
        <p:nvPicPr>
          <p:cNvPr id="73" name="Image 19" descr="preencoded.png">    </p:cNvPr>
          <p:cNvPicPr>
            <a:picLocks noChangeAspect="1"/>
          </p:cNvPicPr>
          <p:nvPr/>
        </p:nvPicPr>
        <p:blipFill>
          <a:blip r:embed="rId20"/>
          <a:stretch>
            <a:fillRect/>
          </a:stretch>
        </p:blipFill>
        <p:spPr>
          <a:xfrm>
            <a:off x="9839858" y="4362602"/>
            <a:ext cx="281635" cy="281635"/>
          </a:xfrm>
          <a:prstGeom prst="rect">
            <a:avLst/>
          </a:prstGeom>
        </p:spPr>
      </p:pic>
      <p:sp>
        <p:nvSpPr>
          <p:cNvPr id="74" name="Text 51"/>
          <p:cNvSpPr txBox="1"/>
          <p:nvPr/>
        </p:nvSpPr>
        <p:spPr>
          <a:xfrm>
            <a:off x="9729216" y="4846320"/>
            <a:ext cx="1783080" cy="457200"/>
          </a:xfrm>
          <a:prstGeom prst="rect">
            <a:avLst/>
          </a:prstGeom>
          <a:noFill/>
          <a:ln/>
        </p:spPr>
        <p:txBody>
          <a:bodyPr wrap="square" lIns="0" tIns="0" rIns="0" bIns="0" rtlCol="0" anchor="t"/>
          <a:lstStyle/>
          <a:p>
            <a:pPr indent="0" marL="0">
              <a:buNone/>
            </a:pPr>
            <a:r>
              <a:rPr lang="en-US" sz="1250" b="1" dirty="0">
                <a:solidFill>
                  <a:srgbClr val="0F172A"/>
                </a:solidFill>
                <a:latin typeface="Roboto" pitchFamily="34" charset="0"/>
                <a:ea typeface="Roboto" pitchFamily="34" charset="-122"/>
                <a:cs typeface="Roboto" pitchFamily="34" charset="-120"/>
              </a:rPr>
              <a:t>Contracts unchanged</a:t>
            </a:r>
            <a:endParaRPr lang="en-US" sz="1250" dirty="0"/>
          </a:p>
        </p:txBody>
      </p:sp>
      <p:sp>
        <p:nvSpPr>
          <p:cNvPr id="75" name="Text 52"/>
          <p:cNvSpPr txBox="1"/>
          <p:nvPr/>
        </p:nvSpPr>
        <p:spPr>
          <a:xfrm>
            <a:off x="9729216" y="5257800"/>
            <a:ext cx="1783080" cy="548640"/>
          </a:xfrm>
          <a:prstGeom prst="rect">
            <a:avLst/>
          </a:prstGeom>
          <a:noFill/>
          <a:ln/>
        </p:spPr>
        <p:txBody>
          <a:bodyPr wrap="square" lIns="0" tIns="0" rIns="0" bIns="0" rtlCol="0" anchor="t"/>
          <a:lstStyle/>
          <a:p>
            <a:pPr indent="0" marL="0">
              <a:buNone/>
            </a:pPr>
            <a:r>
              <a:rPr lang="en-US" sz="1000" dirty="0">
                <a:solidFill>
                  <a:srgbClr val="64748B"/>
                </a:solidFill>
                <a:latin typeface="Roboto" pitchFamily="34" charset="0"/>
                <a:ea typeface="Roboto" pitchFamily="34" charset="-122"/>
                <a:cs typeface="Roboto" pitchFamily="34" charset="-120"/>
              </a:rPr>
              <a:t>Pre-agent endpoints answer exactly as before.</a:t>
            </a:r>
            <a:endParaRPr lang="en-US" sz="1000" dirty="0"/>
          </a:p>
        </p:txBody>
      </p:sp>
      <p:pic>
        <p:nvPicPr>
          <p:cNvPr id="76" name="Image 20" descr="preencoded.png">    </p:cNvPr>
          <p:cNvPicPr>
            <a:picLocks noChangeAspect="1"/>
          </p:cNvPicPr>
          <p:nvPr/>
        </p:nvPicPr>
        <p:blipFill>
          <a:blip r:embed="rId21"/>
          <a:stretch>
            <a:fillRect/>
          </a:stretch>
        </p:blipFill>
        <p:spPr>
          <a:xfrm>
            <a:off x="9729216" y="5843016"/>
            <a:ext cx="182880" cy="182880"/>
          </a:xfrm>
          <a:prstGeom prst="rect">
            <a:avLst/>
          </a:prstGeom>
        </p:spPr>
      </p:pic>
      <p:sp>
        <p:nvSpPr>
          <p:cNvPr id="77" name="Text 53"/>
          <p:cNvSpPr txBox="1"/>
          <p:nvPr/>
        </p:nvSpPr>
        <p:spPr>
          <a:xfrm>
            <a:off x="9966960" y="5806440"/>
            <a:ext cx="1645920" cy="274320"/>
          </a:xfrm>
          <a:prstGeom prst="rect">
            <a:avLst/>
          </a:prstGeom>
          <a:noFill/>
          <a:ln/>
        </p:spPr>
        <p:txBody>
          <a:bodyPr wrap="square" lIns="0" tIns="0" rIns="0" bIns="0" rtlCol="0" anchor="ctr"/>
          <a:lstStyle/>
          <a:p>
            <a:pPr indent="0" marL="0">
              <a:buNone/>
            </a:pPr>
            <a:r>
              <a:rPr lang="en-US" sz="950" b="1" dirty="0">
                <a:solidFill>
                  <a:srgbClr val="16A34A"/>
                </a:solidFill>
                <a:latin typeface="Roboto" pitchFamily="34" charset="0"/>
                <a:ea typeface="Roboto" pitchFamily="34" charset="-122"/>
                <a:cs typeface="Roboto" pitchFamily="34" charset="-120"/>
              </a:rPr>
              <a:t>24 / 24 contract tests</a:t>
            </a:r>
            <a:endParaRPr lang="en-US" sz="9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8229600" cy="256032"/>
          </a:xfrm>
          <a:prstGeom prst="rect">
            <a:avLst/>
          </a:prstGeom>
          <a:noFill/>
          <a:ln/>
        </p:spPr>
        <p:txBody>
          <a:bodyPr wrap="square" lIns="0" tIns="0" rIns="0" bIns="0" rtlCol="0" anchor="ctr"/>
          <a:lstStyle/>
          <a:p>
            <a:pPr indent="0" marL="0">
              <a:buNone/>
            </a:pPr>
            <a:r>
              <a:rPr lang="en-US" sz="1100" b="1" spc="200" kern="0" dirty="0">
                <a:solidFill>
                  <a:srgbClr val="4F46E5"/>
                </a:solidFill>
                <a:latin typeface="Roboto" pitchFamily="34" charset="0"/>
                <a:ea typeface="Roboto" pitchFamily="34" charset="-122"/>
                <a:cs typeface="Roboto" pitchFamily="34" charset="-120"/>
              </a:rPr>
              <a:t>TRUST &amp; CONTROL</a:t>
            </a:r>
            <a:endParaRPr lang="en-US" sz="1100" dirty="0"/>
          </a:p>
        </p:txBody>
      </p:sp>
      <p:sp>
        <p:nvSpPr>
          <p:cNvPr id="3" name="Text 1"/>
          <p:cNvSpPr txBox="1"/>
          <p:nvPr/>
        </p:nvSpPr>
        <p:spPr>
          <a:xfrm>
            <a:off x="548640" y="585216"/>
            <a:ext cx="11094415" cy="566928"/>
          </a:xfrm>
          <a:prstGeom prst="rect">
            <a:avLst/>
          </a:prstGeom>
          <a:noFill/>
          <a:ln/>
        </p:spPr>
        <p:txBody>
          <a:bodyPr wrap="square" lIns="0" tIns="0" rIns="0" bIns="0" rtlCol="0" anchor="ctr"/>
          <a:lstStyle/>
          <a:p>
            <a:pPr indent="0" marL="0">
              <a:buNone/>
            </a:pPr>
            <a:r>
              <a:rPr lang="en-US" sz="2800" b="1" dirty="0">
                <a:solidFill>
                  <a:srgbClr val="0F172A"/>
                </a:solidFill>
                <a:latin typeface="Roboto" pitchFamily="34" charset="0"/>
                <a:ea typeface="Roboto" pitchFamily="34" charset="-122"/>
                <a:cs typeface="Roboto" pitchFamily="34" charset="-120"/>
              </a:rPr>
              <a:t>Every step is traced — and becomes process-mining data</a:t>
            </a:r>
            <a:endParaRPr lang="en-US" sz="2800" dirty="0"/>
          </a:p>
        </p:txBody>
      </p:sp>
      <p:sp>
        <p:nvSpPr>
          <p:cNvPr id="4" name="Text 2"/>
          <p:cNvSpPr txBox="1"/>
          <p:nvPr/>
        </p:nvSpPr>
        <p:spPr>
          <a:xfrm>
            <a:off x="548640" y="1152144"/>
            <a:ext cx="11094415" cy="365760"/>
          </a:xfrm>
          <a:prstGeom prst="rect">
            <a:avLst/>
          </a:prstGeom>
          <a:noFill/>
          <a:ln/>
        </p:spPr>
        <p:txBody>
          <a:bodyPr wrap="square" lIns="0" tIns="0" rIns="0" bIns="0" rtlCol="0" anchor="ctr"/>
          <a:lstStyle/>
          <a:p>
            <a:pPr indent="0" marL="0">
              <a:buNone/>
            </a:pPr>
            <a:r>
              <a:rPr lang="en-US" sz="1400" dirty="0">
                <a:solidFill>
                  <a:srgbClr val="64748B"/>
                </a:solidFill>
                <a:latin typeface="Roboto" pitchFamily="34" charset="0"/>
                <a:ea typeface="Roboto" pitchFamily="34" charset="-122"/>
                <a:cs typeface="Roboto" pitchFamily="34" charset="-120"/>
              </a:rPr>
              <a:t>Runs and steps go to memory, JSON files and SQL Server. A database outage never fails a request.</a:t>
            </a:r>
            <a:endParaRPr lang="en-US" sz="1400" dirty="0"/>
          </a:p>
        </p:txBody>
      </p:sp>
      <p:pic>
        <p:nvPicPr>
          <p:cNvPr id="5" name="Image 0" descr="C:\Users\shrey\AppData\Local\Temp\claude\D--novacinternship-finsight\ef4ecb45-e580-4bc0-9be4-060aa240a5b2\scratchpad\deck\img\logo_lockup.png">    </p:cNvPr>
          <p:cNvPicPr>
            <a:picLocks noChangeAspect="1"/>
          </p:cNvPicPr>
          <p:nvPr/>
        </p:nvPicPr>
        <p:blipFill>
          <a:blip r:embed="rId1"/>
          <a:stretch>
            <a:fillRect/>
          </a:stretch>
        </p:blipFill>
        <p:spPr>
          <a:xfrm>
            <a:off x="10360152" y="6464808"/>
            <a:ext cx="843991" cy="237744"/>
          </a:xfrm>
          <a:prstGeom prst="rect">
            <a:avLst/>
          </a:prstGeom>
        </p:spPr>
      </p:pic>
      <p:sp>
        <p:nvSpPr>
          <p:cNvPr id="6" name="Text 3"/>
          <p:cNvSpPr txBox="1"/>
          <p:nvPr/>
        </p:nvSpPr>
        <p:spPr>
          <a:xfrm>
            <a:off x="11277295" y="6473952"/>
            <a:ext cx="365760" cy="228600"/>
          </a:xfrm>
          <a:prstGeom prst="rect">
            <a:avLst/>
          </a:prstGeom>
          <a:noFill/>
          <a:ln/>
        </p:spPr>
        <p:txBody>
          <a:bodyPr wrap="square" lIns="0" tIns="0" rIns="0" bIns="0" rtlCol="0" anchor="ctr"/>
          <a:lstStyle/>
          <a:p>
            <a:pPr algn="r" indent="0" marL="0">
              <a:buNone/>
            </a:pPr>
            <a:r>
              <a:rPr lang="en-US" sz="900" dirty="0">
                <a:solidFill>
                  <a:srgbClr val="94A3B8"/>
                </a:solidFill>
                <a:latin typeface="Roboto" pitchFamily="34" charset="0"/>
                <a:ea typeface="Roboto" pitchFamily="34" charset="-122"/>
                <a:cs typeface="Roboto" pitchFamily="34" charset="-120"/>
              </a:rPr>
              <a:t>31</a:t>
            </a:r>
            <a:endParaRPr lang="en-US" sz="900" dirty="0"/>
          </a:p>
        </p:txBody>
      </p:sp>
      <p:sp>
        <p:nvSpPr>
          <p:cNvPr id="8" name="Shape 4"/>
          <p:cNvSpPr/>
          <p:nvPr/>
        </p:nvSpPr>
        <p:spPr>
          <a:xfrm>
            <a:off x="548640" y="1828800"/>
            <a:ext cx="1554480" cy="822960"/>
          </a:xfrm>
          <a:prstGeom prst="roundRect">
            <a:avLst>
              <a:gd name="adj" fmla="val 8889"/>
            </a:avLst>
          </a:prstGeom>
          <a:solidFill>
            <a:srgbClr val="F8FAFC"/>
          </a:solidFill>
          <a:ln w="12700">
            <a:solidFill>
              <a:srgbClr val="E2E8F0"/>
            </a:solidFill>
            <a:prstDash val="solid"/>
          </a:ln>
        </p:spPr>
      </p:sp>
      <p:sp>
        <p:nvSpPr>
          <p:cNvPr id="9" name="Text 5"/>
          <p:cNvSpPr txBox="1"/>
          <p:nvPr/>
        </p:nvSpPr>
        <p:spPr>
          <a:xfrm>
            <a:off x="621792" y="1847088"/>
            <a:ext cx="1408176" cy="786384"/>
          </a:xfrm>
          <a:prstGeom prst="rect">
            <a:avLst/>
          </a:prstGeom>
          <a:noFill/>
          <a:ln/>
        </p:spPr>
        <p:txBody>
          <a:bodyPr wrap="square" lIns="0" tIns="0" rIns="0" bIns="0" rtlCol="0" anchor="ctr"/>
          <a:lstStyle/>
          <a:p>
            <a:pPr algn="ctr" indent="0" marL="0">
              <a:spcAft>
                <a:spcPts val="200"/>
              </a:spcAft>
              <a:buNone/>
            </a:pPr>
            <a:r>
              <a:rPr lang="en-US" sz="1200" b="1" dirty="0">
                <a:solidFill>
                  <a:srgbClr val="0F172A"/>
                </a:solidFill>
                <a:latin typeface="Roboto" pitchFamily="34" charset="0"/>
                <a:ea typeface="Roboto" pitchFamily="34" charset="-122"/>
                <a:cs typeface="Roboto" pitchFamily="34" charset="-120"/>
              </a:rPr>
              <a:t>Agent step</a:t>
            </a:r>
            <a:endParaRPr lang="en-US" sz="1200" dirty="0"/>
          </a:p>
          <a:p>
            <a:pPr algn="ctr" indent="0" marL="0">
              <a:spcAft>
                <a:spcPts val="200"/>
              </a:spcAft>
              <a:buNone/>
            </a:pPr>
            <a:r>
              <a:rPr lang="en-US" sz="1000" dirty="0">
                <a:solidFill>
                  <a:srgbClr val="64748B"/>
                </a:solidFill>
                <a:latin typeface="Roboto" pitchFamily="34" charset="0"/>
                <a:ea typeface="Roboto" pitchFamily="34" charset="-122"/>
                <a:cs typeface="Roboto" pitchFamily="34" charset="-120"/>
              </a:rPr>
              <a:t>run · step · tool call</a:t>
            </a:r>
            <a:endParaRPr lang="en-US" sz="1200" dirty="0"/>
          </a:p>
        </p:txBody>
      </p:sp>
      <p:sp>
        <p:nvSpPr>
          <p:cNvPr id="10" name="Shape 6"/>
          <p:cNvSpPr/>
          <p:nvPr/>
        </p:nvSpPr>
        <p:spPr>
          <a:xfrm>
            <a:off x="2121408" y="2240280"/>
            <a:ext cx="237744" cy="0"/>
          </a:xfrm>
          <a:prstGeom prst="line">
            <a:avLst/>
          </a:prstGeom>
          <a:noFill/>
          <a:ln w="19050">
            <a:solidFill>
              <a:srgbClr val="94A3B8"/>
            </a:solidFill>
            <a:prstDash val="solid"/>
            <a:tailEnd type="triangle"/>
          </a:ln>
        </p:spPr>
      </p:sp>
      <p:sp>
        <p:nvSpPr>
          <p:cNvPr id="11" name="Shape 7"/>
          <p:cNvSpPr/>
          <p:nvPr/>
        </p:nvSpPr>
        <p:spPr>
          <a:xfrm>
            <a:off x="2377440" y="1828800"/>
            <a:ext cx="1371600" cy="822960"/>
          </a:xfrm>
          <a:prstGeom prst="roundRect">
            <a:avLst>
              <a:gd name="adj" fmla="val 8889"/>
            </a:avLst>
          </a:prstGeom>
          <a:solidFill>
            <a:srgbClr val="EEF2FF"/>
          </a:solidFill>
          <a:ln w="12700">
            <a:solidFill>
              <a:srgbClr val="C7D2FE"/>
            </a:solidFill>
            <a:prstDash val="solid"/>
          </a:ln>
        </p:spPr>
      </p:sp>
      <p:sp>
        <p:nvSpPr>
          <p:cNvPr id="12" name="Text 8"/>
          <p:cNvSpPr txBox="1"/>
          <p:nvPr/>
        </p:nvSpPr>
        <p:spPr>
          <a:xfrm>
            <a:off x="2450592" y="1847088"/>
            <a:ext cx="1225296" cy="786384"/>
          </a:xfrm>
          <a:prstGeom prst="rect">
            <a:avLst/>
          </a:prstGeom>
          <a:noFill/>
          <a:ln/>
        </p:spPr>
        <p:txBody>
          <a:bodyPr wrap="square" lIns="0" tIns="0" rIns="0" bIns="0" rtlCol="0" anchor="ctr"/>
          <a:lstStyle/>
          <a:p>
            <a:pPr algn="ctr" indent="0" marL="0">
              <a:spcAft>
                <a:spcPts val="200"/>
              </a:spcAft>
              <a:buNone/>
            </a:pPr>
            <a:r>
              <a:rPr lang="en-US" sz="1200" b="1" dirty="0">
                <a:solidFill>
                  <a:srgbClr val="3730A3"/>
                </a:solidFill>
                <a:latin typeface="Roboto" pitchFamily="34" charset="0"/>
                <a:ea typeface="Roboto" pitchFamily="34" charset="-122"/>
                <a:cs typeface="Roboto" pitchFamily="34" charset="-120"/>
              </a:rPr>
              <a:t>Tracer</a:t>
            </a:r>
            <a:endParaRPr lang="en-US" sz="1200" dirty="0"/>
          </a:p>
          <a:p>
            <a:pPr algn="ctr" indent="0" marL="0">
              <a:spcAft>
                <a:spcPts val="200"/>
              </a:spcAft>
              <a:buNone/>
            </a:pPr>
            <a:r>
              <a:rPr lang="en-US" sz="1000" dirty="0">
                <a:solidFill>
                  <a:srgbClr val="64748B"/>
                </a:solidFill>
                <a:latin typeface="Roboto" pitchFamily="34" charset="0"/>
                <a:ea typeface="Roboto" pitchFamily="34" charset="-122"/>
                <a:cs typeface="Roboto" pitchFamily="34" charset="-120"/>
              </a:rPr>
              <a:t>timing · model · outcome</a:t>
            </a:r>
            <a:endParaRPr lang="en-US" sz="1200" dirty="0"/>
          </a:p>
        </p:txBody>
      </p:sp>
      <p:sp>
        <p:nvSpPr>
          <p:cNvPr id="13" name="Shape 9"/>
          <p:cNvSpPr/>
          <p:nvPr/>
        </p:nvSpPr>
        <p:spPr>
          <a:xfrm flipV="1">
            <a:off x="3767328" y="1920240"/>
            <a:ext cx="283464" cy="320040"/>
          </a:xfrm>
          <a:prstGeom prst="line">
            <a:avLst/>
          </a:prstGeom>
          <a:noFill/>
          <a:ln w="19050">
            <a:solidFill>
              <a:srgbClr val="94A3B8"/>
            </a:solidFill>
            <a:prstDash val="solid"/>
            <a:tailEnd type="triangle"/>
          </a:ln>
        </p:spPr>
      </p:sp>
      <p:sp>
        <p:nvSpPr>
          <p:cNvPr id="14" name="Shape 10"/>
          <p:cNvSpPr/>
          <p:nvPr/>
        </p:nvSpPr>
        <p:spPr>
          <a:xfrm>
            <a:off x="4069080" y="1554480"/>
            <a:ext cx="1874520" cy="731520"/>
          </a:xfrm>
          <a:prstGeom prst="roundRect">
            <a:avLst>
              <a:gd name="adj" fmla="val 10000"/>
            </a:avLst>
          </a:prstGeom>
          <a:solidFill>
            <a:srgbClr val="FFFFFF"/>
          </a:solidFill>
          <a:ln w="12700">
            <a:solidFill>
              <a:srgbClr val="E2E8F0"/>
            </a:solidFill>
            <a:prstDash val="solid"/>
          </a:ln>
        </p:spPr>
      </p:sp>
      <p:sp>
        <p:nvSpPr>
          <p:cNvPr id="15" name="Text 11"/>
          <p:cNvSpPr txBox="1"/>
          <p:nvPr/>
        </p:nvSpPr>
        <p:spPr>
          <a:xfrm>
            <a:off x="4142232" y="1572768"/>
            <a:ext cx="1728216" cy="694944"/>
          </a:xfrm>
          <a:prstGeom prst="rect">
            <a:avLst/>
          </a:prstGeom>
          <a:noFill/>
          <a:ln/>
        </p:spPr>
        <p:txBody>
          <a:bodyPr wrap="square" lIns="0" tIns="0" rIns="0" bIns="0" rtlCol="0" anchor="ctr"/>
          <a:lstStyle/>
          <a:p>
            <a:pPr algn="ctr" indent="0" marL="0">
              <a:spcAft>
                <a:spcPts val="200"/>
              </a:spcAft>
              <a:buNone/>
            </a:pPr>
            <a:r>
              <a:rPr lang="en-US" sz="1100" b="1" dirty="0">
                <a:solidFill>
                  <a:srgbClr val="0F172A"/>
                </a:solidFill>
                <a:latin typeface="Roboto" pitchFamily="34" charset="0"/>
                <a:ea typeface="Roboto" pitchFamily="34" charset="-122"/>
                <a:cs typeface="Roboto" pitchFamily="34" charset="-120"/>
              </a:rPr>
              <a:t>In memory</a:t>
            </a:r>
            <a:endParaRPr lang="en-US" sz="1100" dirty="0"/>
          </a:p>
          <a:p>
            <a:pPr algn="ctr" indent="0" marL="0">
              <a:spcAft>
                <a:spcPts val="200"/>
              </a:spcAft>
              <a:buNone/>
            </a:pPr>
            <a:r>
              <a:rPr lang="en-US" sz="900" dirty="0">
                <a:solidFill>
                  <a:srgbClr val="64748B"/>
                </a:solidFill>
                <a:latin typeface="Roboto" pitchFamily="34" charset="0"/>
                <a:ea typeface="Roboto" pitchFamily="34" charset="-122"/>
                <a:cs typeface="Roboto" pitchFamily="34" charset="-120"/>
              </a:rPr>
              <a:t>/agents/stats → live p50 / p95</a:t>
            </a:r>
            <a:endParaRPr lang="en-US" sz="1100" dirty="0"/>
          </a:p>
        </p:txBody>
      </p:sp>
      <p:sp>
        <p:nvSpPr>
          <p:cNvPr id="16" name="Shape 12"/>
          <p:cNvSpPr/>
          <p:nvPr/>
        </p:nvSpPr>
        <p:spPr>
          <a:xfrm>
            <a:off x="3767328" y="2240280"/>
            <a:ext cx="283464" cy="612648"/>
          </a:xfrm>
          <a:prstGeom prst="line">
            <a:avLst/>
          </a:prstGeom>
          <a:noFill/>
          <a:ln w="19050">
            <a:solidFill>
              <a:srgbClr val="94A3B8"/>
            </a:solidFill>
            <a:prstDash val="solid"/>
            <a:tailEnd type="triangle"/>
          </a:ln>
        </p:spPr>
      </p:sp>
      <p:sp>
        <p:nvSpPr>
          <p:cNvPr id="17" name="Shape 13"/>
          <p:cNvSpPr/>
          <p:nvPr/>
        </p:nvSpPr>
        <p:spPr>
          <a:xfrm>
            <a:off x="4069080" y="2487168"/>
            <a:ext cx="1874520" cy="731520"/>
          </a:xfrm>
          <a:prstGeom prst="roundRect">
            <a:avLst>
              <a:gd name="adj" fmla="val 10000"/>
            </a:avLst>
          </a:prstGeom>
          <a:solidFill>
            <a:srgbClr val="FFFFFF"/>
          </a:solidFill>
          <a:ln w="12700">
            <a:solidFill>
              <a:srgbClr val="E2E8F0"/>
            </a:solidFill>
            <a:prstDash val="solid"/>
          </a:ln>
        </p:spPr>
      </p:sp>
      <p:sp>
        <p:nvSpPr>
          <p:cNvPr id="18" name="Text 14"/>
          <p:cNvSpPr txBox="1"/>
          <p:nvPr/>
        </p:nvSpPr>
        <p:spPr>
          <a:xfrm>
            <a:off x="4142232" y="2505456"/>
            <a:ext cx="1728216" cy="694944"/>
          </a:xfrm>
          <a:prstGeom prst="rect">
            <a:avLst/>
          </a:prstGeom>
          <a:noFill/>
          <a:ln/>
        </p:spPr>
        <p:txBody>
          <a:bodyPr wrap="square" lIns="0" tIns="0" rIns="0" bIns="0" rtlCol="0" anchor="ctr"/>
          <a:lstStyle/>
          <a:p>
            <a:pPr algn="ctr" indent="0" marL="0">
              <a:spcAft>
                <a:spcPts val="200"/>
              </a:spcAft>
              <a:buNone/>
            </a:pPr>
            <a:r>
              <a:rPr lang="en-US" sz="1100" b="1" dirty="0">
                <a:solidFill>
                  <a:srgbClr val="0F172A"/>
                </a:solidFill>
                <a:latin typeface="Roboto" pitchFamily="34" charset="0"/>
                <a:ea typeface="Roboto" pitchFamily="34" charset="-122"/>
                <a:cs typeface="Roboto" pitchFamily="34" charset="-120"/>
              </a:rPr>
              <a:t>JSON files</a:t>
            </a:r>
            <a:endParaRPr lang="en-US" sz="1100" dirty="0"/>
          </a:p>
          <a:p>
            <a:pPr algn="ctr" indent="0" marL="0">
              <a:spcAft>
                <a:spcPts val="200"/>
              </a:spcAft>
              <a:buNone/>
            </a:pPr>
            <a:r>
              <a:rPr lang="en-US" sz="900" dirty="0">
                <a:solidFill>
                  <a:srgbClr val="64748B"/>
                </a:solidFill>
                <a:latin typeface="Roboto" pitchFamily="34" charset="0"/>
                <a:ea typeface="Roboto" pitchFamily="34" charset="-122"/>
                <a:cs typeface="Roboto" pitchFamily="34" charset="-120"/>
              </a:rPr>
              <a:t>storage/agent_traces/</a:t>
            </a:r>
            <a:endParaRPr lang="en-US" sz="1100" dirty="0"/>
          </a:p>
        </p:txBody>
      </p:sp>
      <p:sp>
        <p:nvSpPr>
          <p:cNvPr id="19" name="Shape 15"/>
          <p:cNvSpPr/>
          <p:nvPr/>
        </p:nvSpPr>
        <p:spPr>
          <a:xfrm>
            <a:off x="3767328" y="2240280"/>
            <a:ext cx="283464" cy="1545336"/>
          </a:xfrm>
          <a:prstGeom prst="line">
            <a:avLst/>
          </a:prstGeom>
          <a:noFill/>
          <a:ln w="19050">
            <a:solidFill>
              <a:srgbClr val="94A3B8"/>
            </a:solidFill>
            <a:prstDash val="solid"/>
            <a:tailEnd type="triangle"/>
          </a:ln>
        </p:spPr>
      </p:sp>
      <p:sp>
        <p:nvSpPr>
          <p:cNvPr id="20" name="Shape 16"/>
          <p:cNvSpPr/>
          <p:nvPr/>
        </p:nvSpPr>
        <p:spPr>
          <a:xfrm>
            <a:off x="4069080" y="3419856"/>
            <a:ext cx="1874520" cy="731520"/>
          </a:xfrm>
          <a:prstGeom prst="roundRect">
            <a:avLst>
              <a:gd name="adj" fmla="val 10000"/>
            </a:avLst>
          </a:prstGeom>
          <a:solidFill>
            <a:srgbClr val="FFFFFF"/>
          </a:solidFill>
          <a:ln w="12700">
            <a:solidFill>
              <a:srgbClr val="E2E8F0"/>
            </a:solidFill>
            <a:prstDash val="solid"/>
          </a:ln>
        </p:spPr>
      </p:sp>
      <p:sp>
        <p:nvSpPr>
          <p:cNvPr id="21" name="Text 17"/>
          <p:cNvSpPr txBox="1"/>
          <p:nvPr/>
        </p:nvSpPr>
        <p:spPr>
          <a:xfrm>
            <a:off x="4142232" y="3438144"/>
            <a:ext cx="1728216" cy="694944"/>
          </a:xfrm>
          <a:prstGeom prst="rect">
            <a:avLst/>
          </a:prstGeom>
          <a:noFill/>
          <a:ln/>
        </p:spPr>
        <p:txBody>
          <a:bodyPr wrap="square" lIns="0" tIns="0" rIns="0" bIns="0" rtlCol="0" anchor="ctr"/>
          <a:lstStyle/>
          <a:p>
            <a:pPr algn="ctr" indent="0" marL="0">
              <a:spcAft>
                <a:spcPts val="200"/>
              </a:spcAft>
              <a:buNone/>
            </a:pPr>
            <a:r>
              <a:rPr lang="en-US" sz="1100" b="1" dirty="0">
                <a:solidFill>
                  <a:srgbClr val="0F172A"/>
                </a:solidFill>
                <a:latin typeface="Roboto" pitchFamily="34" charset="0"/>
                <a:ea typeface="Roboto" pitchFamily="34" charset="-122"/>
                <a:cs typeface="Roboto" pitchFamily="34" charset="-120"/>
              </a:rPr>
              <a:t>SQL sink</a:t>
            </a:r>
            <a:endParaRPr lang="en-US" sz="1100" dirty="0"/>
          </a:p>
          <a:p>
            <a:pPr algn="ctr" indent="0" marL="0">
              <a:spcAft>
                <a:spcPts val="200"/>
              </a:spcAft>
              <a:buNone/>
            </a:pPr>
            <a:r>
              <a:rPr lang="en-US" sz="900" dirty="0">
                <a:solidFill>
                  <a:srgbClr val="64748B"/>
                </a:solidFill>
                <a:latin typeface="Roboto" pitchFamily="34" charset="0"/>
                <a:ea typeface="Roboto" pitchFamily="34" charset="-122"/>
                <a:cs typeface="Roboto" pitchFamily="34" charset="-120"/>
              </a:rPr>
              <a:t>agent.run · step · tool_call</a:t>
            </a:r>
            <a:endParaRPr lang="en-US" sz="1100" dirty="0"/>
          </a:p>
        </p:txBody>
      </p:sp>
      <p:sp>
        <p:nvSpPr>
          <p:cNvPr id="22" name="Shape 18"/>
          <p:cNvSpPr/>
          <p:nvPr/>
        </p:nvSpPr>
        <p:spPr>
          <a:xfrm>
            <a:off x="5001768" y="4169664"/>
            <a:ext cx="0" cy="274320"/>
          </a:xfrm>
          <a:prstGeom prst="line">
            <a:avLst/>
          </a:prstGeom>
          <a:noFill/>
          <a:ln w="19050">
            <a:solidFill>
              <a:srgbClr val="94A3B8"/>
            </a:solidFill>
            <a:prstDash val="solid"/>
            <a:tailEnd type="triangle"/>
          </a:ln>
        </p:spPr>
      </p:sp>
      <p:sp>
        <p:nvSpPr>
          <p:cNvPr id="23" name="Shape 19"/>
          <p:cNvSpPr/>
          <p:nvPr/>
        </p:nvSpPr>
        <p:spPr>
          <a:xfrm>
            <a:off x="2377440" y="4462272"/>
            <a:ext cx="3566160" cy="731520"/>
          </a:xfrm>
          <a:prstGeom prst="roundRect">
            <a:avLst>
              <a:gd name="adj" fmla="val 10000"/>
            </a:avLst>
          </a:prstGeom>
          <a:solidFill>
            <a:srgbClr val="F5F3FF"/>
          </a:solidFill>
          <a:ln w="12700">
            <a:solidFill>
              <a:srgbClr val="DDD6FE"/>
            </a:solidFill>
            <a:prstDash val="solid"/>
          </a:ln>
        </p:spPr>
      </p:sp>
      <p:sp>
        <p:nvSpPr>
          <p:cNvPr id="24" name="Text 20"/>
          <p:cNvSpPr txBox="1"/>
          <p:nvPr/>
        </p:nvSpPr>
        <p:spPr>
          <a:xfrm>
            <a:off x="2450592" y="4480560"/>
            <a:ext cx="3419856" cy="694944"/>
          </a:xfrm>
          <a:prstGeom prst="rect">
            <a:avLst/>
          </a:prstGeom>
          <a:noFill/>
          <a:ln/>
        </p:spPr>
        <p:txBody>
          <a:bodyPr wrap="square" lIns="0" tIns="0" rIns="0" bIns="0" rtlCol="0" anchor="ctr"/>
          <a:lstStyle/>
          <a:p>
            <a:pPr algn="ctr" indent="0" marL="0">
              <a:spcAft>
                <a:spcPts val="200"/>
              </a:spcAft>
              <a:buNone/>
            </a:pPr>
            <a:r>
              <a:rPr lang="en-US" sz="1200" b="1" dirty="0">
                <a:solidFill>
                  <a:srgbClr val="7C3AED"/>
                </a:solidFill>
                <a:latin typeface="Roboto" pitchFamily="34" charset="0"/>
                <a:ea typeface="Roboto" pitchFamily="34" charset="-122"/>
                <a:cs typeface="Roboto" pitchFamily="34" charset="-120"/>
              </a:rPr>
              <a:t>pm.usp_log_event → pm.event_log</a:t>
            </a:r>
            <a:endParaRPr lang="en-US" sz="1200" dirty="0"/>
          </a:p>
          <a:p>
            <a:pPr algn="ctr" indent="0" marL="0">
              <a:spcAft>
                <a:spcPts val="200"/>
              </a:spcAft>
              <a:buNone/>
            </a:pPr>
            <a:r>
              <a:rPr lang="en-US" sz="900" dirty="0">
                <a:solidFill>
                  <a:srgbClr val="64748B"/>
                </a:solidFill>
                <a:latin typeface="Roboto" pitchFamily="34" charset="0"/>
                <a:ea typeface="Roboto" pitchFamily="34" charset="-122"/>
                <a:cs typeface="Roboto" pitchFamily="34" charset="-120"/>
              </a:rPr>
              <a:t>spool to disk + replay if SQL Server is down</a:t>
            </a:r>
            <a:endParaRPr lang="en-US" sz="1200" dirty="0"/>
          </a:p>
        </p:txBody>
      </p:sp>
      <p:sp>
        <p:nvSpPr>
          <p:cNvPr id="25" name="Shape 21"/>
          <p:cNvSpPr/>
          <p:nvPr/>
        </p:nvSpPr>
        <p:spPr>
          <a:xfrm>
            <a:off x="4160520" y="5212080"/>
            <a:ext cx="0" cy="228600"/>
          </a:xfrm>
          <a:prstGeom prst="line">
            <a:avLst/>
          </a:prstGeom>
          <a:noFill/>
          <a:ln w="19050">
            <a:solidFill>
              <a:srgbClr val="94A3B8"/>
            </a:solidFill>
            <a:prstDash val="solid"/>
            <a:tailEnd type="triangle"/>
          </a:ln>
        </p:spPr>
      </p:sp>
      <p:sp>
        <p:nvSpPr>
          <p:cNvPr id="26" name="Shape 22"/>
          <p:cNvSpPr/>
          <p:nvPr/>
        </p:nvSpPr>
        <p:spPr>
          <a:xfrm>
            <a:off x="2377440" y="5458968"/>
            <a:ext cx="3566160" cy="822960"/>
          </a:xfrm>
          <a:prstGeom prst="roundRect">
            <a:avLst>
              <a:gd name="adj" fmla="val 8889"/>
            </a:avLst>
          </a:prstGeom>
          <a:solidFill>
            <a:srgbClr val="F5F3FF"/>
          </a:solidFill>
          <a:ln w="12700">
            <a:solidFill>
              <a:srgbClr val="DDD6FE"/>
            </a:solidFill>
            <a:prstDash val="solid"/>
          </a:ln>
        </p:spPr>
      </p:sp>
      <p:sp>
        <p:nvSpPr>
          <p:cNvPr id="27" name="Text 23"/>
          <p:cNvSpPr txBox="1"/>
          <p:nvPr/>
        </p:nvSpPr>
        <p:spPr>
          <a:xfrm>
            <a:off x="2450592" y="5477256"/>
            <a:ext cx="3419856" cy="786384"/>
          </a:xfrm>
          <a:prstGeom prst="rect">
            <a:avLst/>
          </a:prstGeom>
          <a:noFill/>
          <a:ln/>
        </p:spPr>
        <p:txBody>
          <a:bodyPr wrap="square" lIns="0" tIns="0" rIns="0" bIns="0" rtlCol="0" anchor="ctr"/>
          <a:lstStyle/>
          <a:p>
            <a:pPr algn="ctr" indent="0" marL="0">
              <a:spcAft>
                <a:spcPts val="200"/>
              </a:spcAft>
              <a:buNone/>
            </a:pPr>
            <a:r>
              <a:rPr lang="en-US" sz="1200" b="1" dirty="0">
                <a:solidFill>
                  <a:srgbClr val="7C3AED"/>
                </a:solidFill>
                <a:latin typeface="Roboto" pitchFamily="34" charset="0"/>
                <a:ea typeface="Roboto" pitchFamily="34" charset="-122"/>
                <a:cs typeface="Roboto" pitchFamily="34" charset="-120"/>
              </a:rPr>
              <a:t>pm.vw_* views</a:t>
            </a:r>
            <a:endParaRPr lang="en-US" sz="1200" dirty="0"/>
          </a:p>
          <a:p>
            <a:pPr algn="ctr" indent="0" marL="0">
              <a:spcAft>
                <a:spcPts val="200"/>
              </a:spcAft>
              <a:buNone/>
            </a:pPr>
            <a:r>
              <a:rPr lang="en-US" sz="950" dirty="0">
                <a:solidFill>
                  <a:srgbClr val="64748B"/>
                </a:solidFill>
                <a:latin typeface="Roboto" pitchFamily="34" charset="0"/>
                <a:ea typeface="Roboto" pitchFamily="34" charset="-122"/>
                <a:cs typeface="Roboto" pitchFamily="34" charset="-120"/>
              </a:rPr>
              <a:t>→ Process-Mining Analyst · Agent Activity page</a:t>
            </a:r>
            <a:endParaRPr lang="en-US" sz="1200" dirty="0"/>
          </a:p>
        </p:txBody>
      </p:sp>
      <p:sp>
        <p:nvSpPr>
          <p:cNvPr id="28" name="Text 24"/>
          <p:cNvSpPr txBox="1"/>
          <p:nvPr/>
        </p:nvSpPr>
        <p:spPr>
          <a:xfrm>
            <a:off x="548640" y="2971800"/>
            <a:ext cx="1691640" cy="1097280"/>
          </a:xfrm>
          <a:prstGeom prst="rect">
            <a:avLst/>
          </a:prstGeom>
          <a:noFill/>
          <a:ln/>
        </p:spPr>
        <p:txBody>
          <a:bodyPr wrap="square" lIns="0" tIns="0" rIns="0" bIns="0" rtlCol="0" anchor="t"/>
          <a:lstStyle/>
          <a:p>
            <a:pPr indent="0" marL="0">
              <a:buNone/>
            </a:pPr>
            <a:r>
              <a:rPr lang="en-US" sz="950" i="1" dirty="0">
                <a:solidFill>
                  <a:srgbClr val="64748B"/>
                </a:solidFill>
                <a:latin typeface="Roboto" pitchFamily="34" charset="0"/>
                <a:ea typeface="Roboto" pitchFamily="34" charset="-122"/>
                <a:cs typeface="Roboto" pitchFamily="34" charset="-120"/>
              </a:rPr>
              <a:t>Kill switch: AGENTS_ENABLED=false runs the same tools directly, untraced.</a:t>
            </a:r>
            <a:endParaRPr lang="en-US" sz="950" dirty="0"/>
          </a:p>
        </p:txBody>
      </p:sp>
      <p:sp>
        <p:nvSpPr>
          <p:cNvPr id="29" name="Shape 25"/>
          <p:cNvSpPr/>
          <p:nvPr/>
        </p:nvSpPr>
        <p:spPr>
          <a:xfrm>
            <a:off x="6172200" y="1737360"/>
            <a:ext cx="5468112" cy="4118823"/>
          </a:xfrm>
          <a:prstGeom prst="roundRect">
            <a:avLst>
              <a:gd name="adj" fmla="val 1554"/>
            </a:avLst>
          </a:prstGeom>
          <a:solidFill>
            <a:srgbClr val="1E293B"/>
          </a:solidFill>
          <a:ln w="12700">
            <a:solidFill>
              <a:srgbClr val="1E293B"/>
            </a:solidFill>
            <a:prstDash val="solid"/>
          </a:ln>
          <a:effectLst>
            <a:outerShdw sx="100000" sy="100000" kx="0" ky="0" algn="bl" rotWithShape="0" blurRad="127000" dist="25400" dir="5400000">
              <a:srgbClr val="0F172A">
                <a:alpha val="12000"/>
              </a:srgbClr>
            </a:outerShdw>
          </a:effectLst>
        </p:spPr>
      </p:sp>
      <p:sp>
        <p:nvSpPr>
          <p:cNvPr id="30" name="Shape 26"/>
          <p:cNvSpPr/>
          <p:nvPr/>
        </p:nvSpPr>
        <p:spPr>
          <a:xfrm>
            <a:off x="6291072" y="1815084"/>
            <a:ext cx="82296" cy="82296"/>
          </a:xfrm>
          <a:prstGeom prst="ellipse">
            <a:avLst/>
          </a:prstGeom>
          <a:solidFill>
            <a:srgbClr val="F87171"/>
          </a:solidFill>
          <a:ln w="12700">
            <a:solidFill>
              <a:srgbClr val="F87171"/>
            </a:solidFill>
            <a:prstDash val="solid"/>
          </a:ln>
        </p:spPr>
      </p:sp>
      <p:sp>
        <p:nvSpPr>
          <p:cNvPr id="31" name="Shape 27"/>
          <p:cNvSpPr/>
          <p:nvPr/>
        </p:nvSpPr>
        <p:spPr>
          <a:xfrm>
            <a:off x="6428232" y="1815084"/>
            <a:ext cx="82296" cy="82296"/>
          </a:xfrm>
          <a:prstGeom prst="ellipse">
            <a:avLst/>
          </a:prstGeom>
          <a:solidFill>
            <a:srgbClr val="FBBF24"/>
          </a:solidFill>
          <a:ln w="12700">
            <a:solidFill>
              <a:srgbClr val="FBBF24"/>
            </a:solidFill>
            <a:prstDash val="solid"/>
          </a:ln>
        </p:spPr>
      </p:sp>
      <p:sp>
        <p:nvSpPr>
          <p:cNvPr id="32" name="Shape 28"/>
          <p:cNvSpPr/>
          <p:nvPr/>
        </p:nvSpPr>
        <p:spPr>
          <a:xfrm>
            <a:off x="6565392" y="1815084"/>
            <a:ext cx="82296" cy="82296"/>
          </a:xfrm>
          <a:prstGeom prst="ellipse">
            <a:avLst/>
          </a:prstGeom>
          <a:solidFill>
            <a:srgbClr val="34D399"/>
          </a:solidFill>
          <a:ln w="12700">
            <a:solidFill>
              <a:srgbClr val="34D399"/>
            </a:solidFill>
            <a:prstDash val="solid"/>
          </a:ln>
        </p:spPr>
      </p:sp>
      <p:pic>
        <p:nvPicPr>
          <p:cNvPr id="33" name="Image 1" descr="C:\Users\shrey\AppData\Local\Temp\claude\D--novacinternship-finsight\ef4ecb45-e580-4bc0-9be4-060aa240a5b2\scratchpad\deck\img\agents_tab.png">    </p:cNvPr>
          <p:cNvPicPr>
            <a:picLocks noChangeAspect="1"/>
          </p:cNvPicPr>
          <p:nvPr/>
        </p:nvPicPr>
        <p:blipFill>
          <a:blip r:embed="rId2"/>
          <a:stretch>
            <a:fillRect/>
          </a:stretch>
        </p:blipFill>
        <p:spPr>
          <a:xfrm>
            <a:off x="6217920" y="1975104"/>
            <a:ext cx="5376672" cy="3835359"/>
          </a:xfrm>
          <a:prstGeom prst="rect">
            <a:avLst/>
          </a:prstGeom>
        </p:spPr>
      </p:pic>
      <p:sp>
        <p:nvSpPr>
          <p:cNvPr id="34" name="Text 29"/>
          <p:cNvSpPr txBox="1"/>
          <p:nvPr/>
        </p:nvSpPr>
        <p:spPr>
          <a:xfrm>
            <a:off x="6172200" y="5947623"/>
            <a:ext cx="5468112" cy="274320"/>
          </a:xfrm>
          <a:prstGeom prst="rect">
            <a:avLst/>
          </a:prstGeom>
          <a:noFill/>
          <a:ln/>
        </p:spPr>
        <p:txBody>
          <a:bodyPr wrap="square" lIns="0" tIns="0" rIns="0" bIns="0" rtlCol="0" anchor="ctr"/>
          <a:lstStyle/>
          <a:p>
            <a:pPr indent="0" marL="0">
              <a:buNone/>
            </a:pPr>
            <a:r>
              <a:rPr lang="en-US" sz="1050" i="1" dirty="0">
                <a:solidFill>
                  <a:srgbClr val="64748B"/>
                </a:solidFill>
                <a:latin typeface="Roboto" pitchFamily="34" charset="0"/>
                <a:ea typeface="Roboto" pitchFamily="34" charset="-122"/>
                <a:cs typeface="Roboto" pitchFamily="34" charset="-120"/>
              </a:rPr>
              <a:t>Agent Activity › Agents: each agent's kind, model, runs, p50 / p95 and flags.</a:t>
            </a:r>
            <a:endParaRPr lang="en-US" sz="10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8229600" cy="256032"/>
          </a:xfrm>
          <a:prstGeom prst="rect">
            <a:avLst/>
          </a:prstGeom>
          <a:noFill/>
          <a:ln/>
        </p:spPr>
        <p:txBody>
          <a:bodyPr wrap="square" lIns="0" tIns="0" rIns="0" bIns="0" rtlCol="0" anchor="ctr"/>
          <a:lstStyle/>
          <a:p>
            <a:pPr indent="0" marL="0">
              <a:buNone/>
            </a:pPr>
            <a:r>
              <a:rPr lang="en-US" sz="1100" b="1" spc="200" kern="0" dirty="0">
                <a:solidFill>
                  <a:srgbClr val="4F46E5"/>
                </a:solidFill>
                <a:latin typeface="Roboto" pitchFamily="34" charset="0"/>
                <a:ea typeface="Roboto" pitchFamily="34" charset="-122"/>
                <a:cs typeface="Roboto" pitchFamily="34" charset="-120"/>
              </a:rPr>
              <a:t>TRUST &amp; CONTROL</a:t>
            </a:r>
            <a:endParaRPr lang="en-US" sz="1100" dirty="0"/>
          </a:p>
        </p:txBody>
      </p:sp>
      <p:sp>
        <p:nvSpPr>
          <p:cNvPr id="3" name="Text 1"/>
          <p:cNvSpPr txBox="1"/>
          <p:nvPr/>
        </p:nvSpPr>
        <p:spPr>
          <a:xfrm>
            <a:off x="548640" y="585216"/>
            <a:ext cx="11094415" cy="566928"/>
          </a:xfrm>
          <a:prstGeom prst="rect">
            <a:avLst/>
          </a:prstGeom>
          <a:noFill/>
          <a:ln/>
        </p:spPr>
        <p:txBody>
          <a:bodyPr wrap="square" lIns="0" tIns="0" rIns="0" bIns="0" rtlCol="0" anchor="ctr"/>
          <a:lstStyle/>
          <a:p>
            <a:pPr indent="0" marL="0">
              <a:buNone/>
            </a:pPr>
            <a:r>
              <a:rPr lang="en-US" sz="2800" b="1" dirty="0">
                <a:solidFill>
                  <a:srgbClr val="0F172A"/>
                </a:solidFill>
                <a:latin typeface="Roboto" pitchFamily="34" charset="0"/>
                <a:ea typeface="Roboto" pitchFamily="34" charset="-122"/>
                <a:cs typeface="Roboto" pitchFamily="34" charset="-120"/>
              </a:rPr>
              <a:t>The database: SQL Server 'FinSight'</a:t>
            </a:r>
            <a:endParaRPr lang="en-US" sz="2800" dirty="0"/>
          </a:p>
        </p:txBody>
      </p:sp>
      <p:sp>
        <p:nvSpPr>
          <p:cNvPr id="4" name="Text 2"/>
          <p:cNvSpPr txBox="1"/>
          <p:nvPr/>
        </p:nvSpPr>
        <p:spPr>
          <a:xfrm>
            <a:off x="548640" y="1152144"/>
            <a:ext cx="11094415" cy="365760"/>
          </a:xfrm>
          <a:prstGeom prst="rect">
            <a:avLst/>
          </a:prstGeom>
          <a:noFill/>
          <a:ln/>
        </p:spPr>
        <p:txBody>
          <a:bodyPr wrap="square" lIns="0" tIns="0" rIns="0" bIns="0" rtlCol="0" anchor="ctr"/>
          <a:lstStyle/>
          <a:p>
            <a:pPr indent="0" marL="0">
              <a:buNone/>
            </a:pPr>
            <a:r>
              <a:rPr lang="en-US" sz="1400" dirty="0">
                <a:solidFill>
                  <a:srgbClr val="64748B"/>
                </a:solidFill>
                <a:latin typeface="Roboto" pitchFamily="34" charset="0"/>
                <a:ea typeface="Roboto" pitchFamily="34" charset="-122"/>
                <a:cs typeface="Roboto" pitchFamily="34" charset="-120"/>
              </a:rPr>
              <a:t>9 schemas · 82 tables · 17 views. Migrations live in docs/mssql/ — 08-agentic-layer.sql adds the agent tables.</a:t>
            </a:r>
            <a:endParaRPr lang="en-US" sz="1400" dirty="0"/>
          </a:p>
        </p:txBody>
      </p:sp>
      <p:pic>
        <p:nvPicPr>
          <p:cNvPr id="5" name="Image 0" descr="C:\Users\shrey\AppData\Local\Temp\claude\D--novacinternship-finsight\ef4ecb45-e580-4bc0-9be4-060aa240a5b2\scratchpad\deck\img\logo_lockup.png">    </p:cNvPr>
          <p:cNvPicPr>
            <a:picLocks noChangeAspect="1"/>
          </p:cNvPicPr>
          <p:nvPr/>
        </p:nvPicPr>
        <p:blipFill>
          <a:blip r:embed="rId1"/>
          <a:stretch>
            <a:fillRect/>
          </a:stretch>
        </p:blipFill>
        <p:spPr>
          <a:xfrm>
            <a:off x="10360152" y="6464808"/>
            <a:ext cx="843991" cy="237744"/>
          </a:xfrm>
          <a:prstGeom prst="rect">
            <a:avLst/>
          </a:prstGeom>
        </p:spPr>
      </p:pic>
      <p:sp>
        <p:nvSpPr>
          <p:cNvPr id="6" name="Text 3"/>
          <p:cNvSpPr txBox="1"/>
          <p:nvPr/>
        </p:nvSpPr>
        <p:spPr>
          <a:xfrm>
            <a:off x="11277295" y="6473952"/>
            <a:ext cx="365760" cy="228600"/>
          </a:xfrm>
          <a:prstGeom prst="rect">
            <a:avLst/>
          </a:prstGeom>
          <a:noFill/>
          <a:ln/>
        </p:spPr>
        <p:txBody>
          <a:bodyPr wrap="square" lIns="0" tIns="0" rIns="0" bIns="0" rtlCol="0" anchor="ctr"/>
          <a:lstStyle/>
          <a:p>
            <a:pPr algn="r" indent="0" marL="0">
              <a:buNone/>
            </a:pPr>
            <a:r>
              <a:rPr lang="en-US" sz="900" dirty="0">
                <a:solidFill>
                  <a:srgbClr val="94A3B8"/>
                </a:solidFill>
                <a:latin typeface="Roboto" pitchFamily="34" charset="0"/>
                <a:ea typeface="Roboto" pitchFamily="34" charset="-122"/>
                <a:cs typeface="Roboto" pitchFamily="34" charset="-120"/>
              </a:rPr>
              <a:t>32</a:t>
            </a:r>
            <a:endParaRPr lang="en-US" sz="900" dirty="0"/>
          </a:p>
        </p:txBody>
      </p:sp>
      <p:sp>
        <p:nvSpPr>
          <p:cNvPr id="8" name="Shape 4"/>
          <p:cNvSpPr/>
          <p:nvPr/>
        </p:nvSpPr>
        <p:spPr>
          <a:xfrm>
            <a:off x="548640" y="1783080"/>
            <a:ext cx="3566160" cy="1371600"/>
          </a:xfrm>
          <a:prstGeom prst="roundRect">
            <a:avLst>
              <a:gd name="adj" fmla="val 6667"/>
            </a:avLst>
          </a:prstGeom>
          <a:solidFill>
            <a:srgbClr val="F8FAFC"/>
          </a:solidFill>
          <a:ln w="12700">
            <a:solidFill>
              <a:srgbClr val="E2E8F0"/>
            </a:solidFill>
            <a:prstDash val="solid"/>
          </a:ln>
        </p:spPr>
      </p:sp>
      <p:sp>
        <p:nvSpPr>
          <p:cNvPr id="9" name="Text 5"/>
          <p:cNvSpPr txBox="1"/>
          <p:nvPr/>
        </p:nvSpPr>
        <p:spPr>
          <a:xfrm>
            <a:off x="749808" y="1920240"/>
            <a:ext cx="1828800" cy="411480"/>
          </a:xfrm>
          <a:prstGeom prst="rect">
            <a:avLst/>
          </a:prstGeom>
          <a:noFill/>
          <a:ln/>
        </p:spPr>
        <p:txBody>
          <a:bodyPr wrap="square" lIns="0" tIns="0" rIns="0" bIns="0" rtlCol="0" anchor="ctr"/>
          <a:lstStyle/>
          <a:p>
            <a:pPr indent="0" marL="0">
              <a:buNone/>
            </a:pPr>
            <a:r>
              <a:rPr lang="en-US" sz="1800" b="1" dirty="0">
                <a:solidFill>
                  <a:srgbClr val="4F46E5"/>
                </a:solidFill>
                <a:latin typeface="Consolas" pitchFamily="34" charset="0"/>
                <a:ea typeface="Consolas" pitchFamily="34" charset="-122"/>
                <a:cs typeface="Consolas" pitchFamily="34" charset="-120"/>
              </a:rPr>
              <a:t>core</a:t>
            </a:r>
            <a:endParaRPr lang="en-US" sz="1800" dirty="0"/>
          </a:p>
        </p:txBody>
      </p:sp>
      <p:sp>
        <p:nvSpPr>
          <p:cNvPr id="10" name="Shape 6"/>
          <p:cNvSpPr/>
          <p:nvPr/>
        </p:nvSpPr>
        <p:spPr>
          <a:xfrm>
            <a:off x="2926080" y="1965960"/>
            <a:ext cx="1005840" cy="292608"/>
          </a:xfrm>
          <a:prstGeom prst="roundRect">
            <a:avLst>
              <a:gd name="adj" fmla="val 50000"/>
            </a:avLst>
          </a:prstGeom>
          <a:solidFill>
            <a:srgbClr val="FFFFFF"/>
          </a:solidFill>
          <a:ln w="12700">
            <a:solidFill>
              <a:srgbClr val="E2E8F0"/>
            </a:solidFill>
            <a:prstDash val="solid"/>
          </a:ln>
        </p:spPr>
      </p:sp>
      <p:sp>
        <p:nvSpPr>
          <p:cNvPr id="11" name="Text 7"/>
          <p:cNvSpPr txBox="1"/>
          <p:nvPr/>
        </p:nvSpPr>
        <p:spPr>
          <a:xfrm>
            <a:off x="2926080" y="1965960"/>
            <a:ext cx="1005840" cy="292608"/>
          </a:xfrm>
          <a:prstGeom prst="rect">
            <a:avLst/>
          </a:prstGeom>
          <a:noFill/>
          <a:ln/>
        </p:spPr>
        <p:txBody>
          <a:bodyPr wrap="square" lIns="0" tIns="0" rIns="0" bIns="0" rtlCol="0" anchor="ctr"/>
          <a:lstStyle/>
          <a:p>
            <a:pPr algn="ctr" indent="0" marL="0">
              <a:buNone/>
            </a:pPr>
            <a:r>
              <a:rPr lang="en-US" sz="950" b="1" dirty="0">
                <a:solidFill>
                  <a:srgbClr val="4F46E5"/>
                </a:solidFill>
                <a:latin typeface="Roboto" pitchFamily="34" charset="0"/>
                <a:ea typeface="Roboto" pitchFamily="34" charset="-122"/>
                <a:cs typeface="Roboto" pitchFamily="34" charset="-120"/>
              </a:rPr>
              <a:t>9 tables</a:t>
            </a:r>
            <a:endParaRPr lang="en-US" sz="950" dirty="0"/>
          </a:p>
        </p:txBody>
      </p:sp>
      <p:sp>
        <p:nvSpPr>
          <p:cNvPr id="12" name="Text 8"/>
          <p:cNvSpPr txBox="1"/>
          <p:nvPr/>
        </p:nvSpPr>
        <p:spPr>
          <a:xfrm>
            <a:off x="749808" y="2377440"/>
            <a:ext cx="3200400" cy="685800"/>
          </a:xfrm>
          <a:prstGeom prst="rect">
            <a:avLst/>
          </a:prstGeom>
          <a:noFill/>
          <a:ln/>
        </p:spPr>
        <p:txBody>
          <a:bodyPr wrap="square" lIns="0" tIns="0" rIns="0" bIns="0" rtlCol="0" anchor="t"/>
          <a:lstStyle/>
          <a:p>
            <a:pPr indent="0" marL="0">
              <a:buNone/>
            </a:pPr>
            <a:r>
              <a:rPr lang="en-US" sz="1000" dirty="0">
                <a:solidFill>
                  <a:srgbClr val="334155"/>
                </a:solidFill>
                <a:latin typeface="Consolas" pitchFamily="34" charset="0"/>
                <a:ea typeface="Consolas" pitchFamily="34" charset="-122"/>
                <a:cs typeface="Consolas" pitchFamily="34" charset="-120"/>
              </a:rPr>
              <a:t>customers · loan_applications · uploaded_documents · document_extraction_results · loan_offers</a:t>
            </a:r>
            <a:endParaRPr lang="en-US" sz="1000" dirty="0"/>
          </a:p>
        </p:txBody>
      </p:sp>
      <p:sp>
        <p:nvSpPr>
          <p:cNvPr id="13" name="Shape 9"/>
          <p:cNvSpPr/>
          <p:nvPr/>
        </p:nvSpPr>
        <p:spPr>
          <a:xfrm>
            <a:off x="4297680" y="1783080"/>
            <a:ext cx="3566160" cy="1371600"/>
          </a:xfrm>
          <a:prstGeom prst="roundRect">
            <a:avLst>
              <a:gd name="adj" fmla="val 6667"/>
            </a:avLst>
          </a:prstGeom>
          <a:solidFill>
            <a:srgbClr val="F8FAFC"/>
          </a:solidFill>
          <a:ln w="12700">
            <a:solidFill>
              <a:srgbClr val="E2E8F0"/>
            </a:solidFill>
            <a:prstDash val="solid"/>
          </a:ln>
        </p:spPr>
      </p:sp>
      <p:sp>
        <p:nvSpPr>
          <p:cNvPr id="14" name="Text 10"/>
          <p:cNvSpPr txBox="1"/>
          <p:nvPr/>
        </p:nvSpPr>
        <p:spPr>
          <a:xfrm>
            <a:off x="4498848" y="1920240"/>
            <a:ext cx="1828800" cy="411480"/>
          </a:xfrm>
          <a:prstGeom prst="rect">
            <a:avLst/>
          </a:prstGeom>
          <a:noFill/>
          <a:ln/>
        </p:spPr>
        <p:txBody>
          <a:bodyPr wrap="square" lIns="0" tIns="0" rIns="0" bIns="0" rtlCol="0" anchor="ctr"/>
          <a:lstStyle/>
          <a:p>
            <a:pPr indent="0" marL="0">
              <a:buNone/>
            </a:pPr>
            <a:r>
              <a:rPr lang="en-US" sz="1800" b="1" dirty="0">
                <a:solidFill>
                  <a:srgbClr val="E11D48"/>
                </a:solidFill>
                <a:latin typeface="Consolas" pitchFamily="34" charset="0"/>
                <a:ea typeface="Consolas" pitchFamily="34" charset="-122"/>
                <a:cs typeface="Consolas" pitchFamily="34" charset="-120"/>
              </a:rPr>
              <a:t>fraud</a:t>
            </a:r>
            <a:endParaRPr lang="en-US" sz="1800" dirty="0"/>
          </a:p>
        </p:txBody>
      </p:sp>
      <p:sp>
        <p:nvSpPr>
          <p:cNvPr id="15" name="Shape 11"/>
          <p:cNvSpPr/>
          <p:nvPr/>
        </p:nvSpPr>
        <p:spPr>
          <a:xfrm>
            <a:off x="6675120" y="1965960"/>
            <a:ext cx="1005840" cy="292608"/>
          </a:xfrm>
          <a:prstGeom prst="roundRect">
            <a:avLst>
              <a:gd name="adj" fmla="val 50000"/>
            </a:avLst>
          </a:prstGeom>
          <a:solidFill>
            <a:srgbClr val="FFFFFF"/>
          </a:solidFill>
          <a:ln w="12700">
            <a:solidFill>
              <a:srgbClr val="E2E8F0"/>
            </a:solidFill>
            <a:prstDash val="solid"/>
          </a:ln>
        </p:spPr>
      </p:sp>
      <p:sp>
        <p:nvSpPr>
          <p:cNvPr id="16" name="Text 12"/>
          <p:cNvSpPr txBox="1"/>
          <p:nvPr/>
        </p:nvSpPr>
        <p:spPr>
          <a:xfrm>
            <a:off x="6675120" y="1965960"/>
            <a:ext cx="1005840" cy="292608"/>
          </a:xfrm>
          <a:prstGeom prst="rect">
            <a:avLst/>
          </a:prstGeom>
          <a:noFill/>
          <a:ln/>
        </p:spPr>
        <p:txBody>
          <a:bodyPr wrap="square" lIns="0" tIns="0" rIns="0" bIns="0" rtlCol="0" anchor="ctr"/>
          <a:lstStyle/>
          <a:p>
            <a:pPr algn="ctr" indent="0" marL="0">
              <a:buNone/>
            </a:pPr>
            <a:r>
              <a:rPr lang="en-US" sz="950" b="1" dirty="0">
                <a:solidFill>
                  <a:srgbClr val="E11D48"/>
                </a:solidFill>
                <a:latin typeface="Roboto" pitchFamily="34" charset="0"/>
                <a:ea typeface="Roboto" pitchFamily="34" charset="-122"/>
                <a:cs typeface="Roboto" pitchFamily="34" charset="-120"/>
              </a:rPr>
              <a:t>9 tables</a:t>
            </a:r>
            <a:endParaRPr lang="en-US" sz="950" dirty="0"/>
          </a:p>
        </p:txBody>
      </p:sp>
      <p:sp>
        <p:nvSpPr>
          <p:cNvPr id="17" name="Text 13"/>
          <p:cNvSpPr txBox="1"/>
          <p:nvPr/>
        </p:nvSpPr>
        <p:spPr>
          <a:xfrm>
            <a:off x="4498848" y="2377440"/>
            <a:ext cx="3200400" cy="685800"/>
          </a:xfrm>
          <a:prstGeom prst="rect">
            <a:avLst/>
          </a:prstGeom>
          <a:noFill/>
          <a:ln/>
        </p:spPr>
        <p:txBody>
          <a:bodyPr wrap="square" lIns="0" tIns="0" rIns="0" bIns="0" rtlCol="0" anchor="t"/>
          <a:lstStyle/>
          <a:p>
            <a:pPr indent="0" marL="0">
              <a:buNone/>
            </a:pPr>
            <a:r>
              <a:rPr lang="en-US" sz="1000" dirty="0">
                <a:solidFill>
                  <a:srgbClr val="334155"/>
                </a:solidFill>
                <a:latin typeface="Consolas" pitchFamily="34" charset="0"/>
                <a:ea typeface="Consolas" pitchFamily="34" charset="-122"/>
                <a:cs typeface="Consolas" pitchFamily="34" charset="-120"/>
              </a:rPr>
              <a:t>fraud_assessments · fraud_cases · fraud_rings · identity_keys · fraud_weight_sets</a:t>
            </a:r>
            <a:endParaRPr lang="en-US" sz="1000" dirty="0"/>
          </a:p>
        </p:txBody>
      </p:sp>
      <p:sp>
        <p:nvSpPr>
          <p:cNvPr id="18" name="Shape 14"/>
          <p:cNvSpPr/>
          <p:nvPr/>
        </p:nvSpPr>
        <p:spPr>
          <a:xfrm>
            <a:off x="8046720" y="1783080"/>
            <a:ext cx="3566160" cy="1371600"/>
          </a:xfrm>
          <a:prstGeom prst="roundRect">
            <a:avLst>
              <a:gd name="adj" fmla="val 6667"/>
            </a:avLst>
          </a:prstGeom>
          <a:solidFill>
            <a:srgbClr val="F8FAFC"/>
          </a:solidFill>
          <a:ln w="12700">
            <a:solidFill>
              <a:srgbClr val="E2E8F0"/>
            </a:solidFill>
            <a:prstDash val="solid"/>
          </a:ln>
        </p:spPr>
      </p:sp>
      <p:sp>
        <p:nvSpPr>
          <p:cNvPr id="19" name="Text 15"/>
          <p:cNvSpPr txBox="1"/>
          <p:nvPr/>
        </p:nvSpPr>
        <p:spPr>
          <a:xfrm>
            <a:off x="8247888" y="1920240"/>
            <a:ext cx="1828800" cy="411480"/>
          </a:xfrm>
          <a:prstGeom prst="rect">
            <a:avLst/>
          </a:prstGeom>
          <a:noFill/>
          <a:ln/>
        </p:spPr>
        <p:txBody>
          <a:bodyPr wrap="square" lIns="0" tIns="0" rIns="0" bIns="0" rtlCol="0" anchor="ctr"/>
          <a:lstStyle/>
          <a:p>
            <a:pPr indent="0" marL="0">
              <a:buNone/>
            </a:pPr>
            <a:r>
              <a:rPr lang="en-US" sz="1800" b="1" dirty="0">
                <a:solidFill>
                  <a:srgbClr val="059669"/>
                </a:solidFill>
                <a:latin typeface="Consolas" pitchFamily="34" charset="0"/>
                <a:ea typeface="Consolas" pitchFamily="34" charset="-122"/>
                <a:cs typeface="Consolas" pitchFamily="34" charset="-120"/>
              </a:rPr>
              <a:t>comp</a:t>
            </a:r>
            <a:endParaRPr lang="en-US" sz="1800" dirty="0"/>
          </a:p>
        </p:txBody>
      </p:sp>
      <p:sp>
        <p:nvSpPr>
          <p:cNvPr id="20" name="Shape 16"/>
          <p:cNvSpPr/>
          <p:nvPr/>
        </p:nvSpPr>
        <p:spPr>
          <a:xfrm>
            <a:off x="10424160" y="1965960"/>
            <a:ext cx="1005840" cy="292608"/>
          </a:xfrm>
          <a:prstGeom prst="roundRect">
            <a:avLst>
              <a:gd name="adj" fmla="val 50000"/>
            </a:avLst>
          </a:prstGeom>
          <a:solidFill>
            <a:srgbClr val="FFFFFF"/>
          </a:solidFill>
          <a:ln w="12700">
            <a:solidFill>
              <a:srgbClr val="E2E8F0"/>
            </a:solidFill>
            <a:prstDash val="solid"/>
          </a:ln>
        </p:spPr>
      </p:sp>
      <p:sp>
        <p:nvSpPr>
          <p:cNvPr id="21" name="Text 17"/>
          <p:cNvSpPr txBox="1"/>
          <p:nvPr/>
        </p:nvSpPr>
        <p:spPr>
          <a:xfrm>
            <a:off x="10424160" y="1965960"/>
            <a:ext cx="1005840" cy="292608"/>
          </a:xfrm>
          <a:prstGeom prst="rect">
            <a:avLst/>
          </a:prstGeom>
          <a:noFill/>
          <a:ln/>
        </p:spPr>
        <p:txBody>
          <a:bodyPr wrap="square" lIns="0" tIns="0" rIns="0" bIns="0" rtlCol="0" anchor="ctr"/>
          <a:lstStyle/>
          <a:p>
            <a:pPr algn="ctr" indent="0" marL="0">
              <a:buNone/>
            </a:pPr>
            <a:r>
              <a:rPr lang="en-US" sz="950" b="1" dirty="0">
                <a:solidFill>
                  <a:srgbClr val="059669"/>
                </a:solidFill>
                <a:latin typeface="Roboto" pitchFamily="34" charset="0"/>
                <a:ea typeface="Roboto" pitchFamily="34" charset="-122"/>
                <a:cs typeface="Roboto" pitchFamily="34" charset="-120"/>
              </a:rPr>
              <a:t>5 tables</a:t>
            </a:r>
            <a:endParaRPr lang="en-US" sz="950" dirty="0"/>
          </a:p>
        </p:txBody>
      </p:sp>
      <p:sp>
        <p:nvSpPr>
          <p:cNvPr id="22" name="Text 18"/>
          <p:cNvSpPr txBox="1"/>
          <p:nvPr/>
        </p:nvSpPr>
        <p:spPr>
          <a:xfrm>
            <a:off x="8247888" y="2377440"/>
            <a:ext cx="3200400" cy="685800"/>
          </a:xfrm>
          <a:prstGeom prst="rect">
            <a:avLst/>
          </a:prstGeom>
          <a:noFill/>
          <a:ln/>
        </p:spPr>
        <p:txBody>
          <a:bodyPr wrap="square" lIns="0" tIns="0" rIns="0" bIns="0" rtlCol="0" anchor="t"/>
          <a:lstStyle/>
          <a:p>
            <a:pPr indent="0" marL="0">
              <a:buNone/>
            </a:pPr>
            <a:r>
              <a:rPr lang="en-US" sz="1000" dirty="0">
                <a:solidFill>
                  <a:srgbClr val="334155"/>
                </a:solidFill>
                <a:latin typeface="Consolas" pitchFamily="34" charset="0"/>
                <a:ea typeface="Consolas" pitchFamily="34" charset="-122"/>
                <a:cs typeface="Consolas" pitchFamily="34" charset="-120"/>
              </a:rPr>
              <a:t>compliance_documents · document_chunks · rules · rule_candidates · check_results</a:t>
            </a:r>
            <a:endParaRPr lang="en-US" sz="1000" dirty="0"/>
          </a:p>
        </p:txBody>
      </p:sp>
      <p:sp>
        <p:nvSpPr>
          <p:cNvPr id="23" name="Shape 19"/>
          <p:cNvSpPr/>
          <p:nvPr/>
        </p:nvSpPr>
        <p:spPr>
          <a:xfrm>
            <a:off x="548640" y="3319272"/>
            <a:ext cx="3566160" cy="1371600"/>
          </a:xfrm>
          <a:prstGeom prst="roundRect">
            <a:avLst>
              <a:gd name="adj" fmla="val 6667"/>
            </a:avLst>
          </a:prstGeom>
          <a:solidFill>
            <a:srgbClr val="F8FAFC"/>
          </a:solidFill>
          <a:ln w="12700">
            <a:solidFill>
              <a:srgbClr val="E2E8F0"/>
            </a:solidFill>
            <a:prstDash val="solid"/>
          </a:ln>
        </p:spPr>
      </p:sp>
      <p:sp>
        <p:nvSpPr>
          <p:cNvPr id="24" name="Text 20"/>
          <p:cNvSpPr txBox="1"/>
          <p:nvPr/>
        </p:nvSpPr>
        <p:spPr>
          <a:xfrm>
            <a:off x="749808" y="3456432"/>
            <a:ext cx="1828800" cy="411480"/>
          </a:xfrm>
          <a:prstGeom prst="rect">
            <a:avLst/>
          </a:prstGeom>
          <a:noFill/>
          <a:ln/>
        </p:spPr>
        <p:txBody>
          <a:bodyPr wrap="square" lIns="0" tIns="0" rIns="0" bIns="0" rtlCol="0" anchor="ctr"/>
          <a:lstStyle/>
          <a:p>
            <a:pPr indent="0" marL="0">
              <a:buNone/>
            </a:pPr>
            <a:r>
              <a:rPr lang="en-US" sz="1800" b="1" dirty="0">
                <a:solidFill>
                  <a:srgbClr val="D97706"/>
                </a:solidFill>
                <a:latin typeface="Consolas" pitchFamily="34" charset="0"/>
                <a:ea typeface="Consolas" pitchFamily="34" charset="-122"/>
                <a:cs typeface="Consolas" pitchFamily="34" charset="-120"/>
              </a:rPr>
              <a:t>risk</a:t>
            </a:r>
            <a:endParaRPr lang="en-US" sz="1800" dirty="0"/>
          </a:p>
        </p:txBody>
      </p:sp>
      <p:sp>
        <p:nvSpPr>
          <p:cNvPr id="25" name="Shape 21"/>
          <p:cNvSpPr/>
          <p:nvPr/>
        </p:nvSpPr>
        <p:spPr>
          <a:xfrm>
            <a:off x="2926080" y="3502152"/>
            <a:ext cx="1005840" cy="292608"/>
          </a:xfrm>
          <a:prstGeom prst="roundRect">
            <a:avLst>
              <a:gd name="adj" fmla="val 50000"/>
            </a:avLst>
          </a:prstGeom>
          <a:solidFill>
            <a:srgbClr val="FFFFFF"/>
          </a:solidFill>
          <a:ln w="12700">
            <a:solidFill>
              <a:srgbClr val="E2E8F0"/>
            </a:solidFill>
            <a:prstDash val="solid"/>
          </a:ln>
        </p:spPr>
      </p:sp>
      <p:sp>
        <p:nvSpPr>
          <p:cNvPr id="26" name="Text 22"/>
          <p:cNvSpPr txBox="1"/>
          <p:nvPr/>
        </p:nvSpPr>
        <p:spPr>
          <a:xfrm>
            <a:off x="2926080" y="3502152"/>
            <a:ext cx="1005840" cy="292608"/>
          </a:xfrm>
          <a:prstGeom prst="rect">
            <a:avLst/>
          </a:prstGeom>
          <a:noFill/>
          <a:ln/>
        </p:spPr>
        <p:txBody>
          <a:bodyPr wrap="square" lIns="0" tIns="0" rIns="0" bIns="0" rtlCol="0" anchor="ctr"/>
          <a:lstStyle/>
          <a:p>
            <a:pPr algn="ctr" indent="0" marL="0">
              <a:buNone/>
            </a:pPr>
            <a:r>
              <a:rPr lang="en-US" sz="950" b="1" dirty="0">
                <a:solidFill>
                  <a:srgbClr val="D97706"/>
                </a:solidFill>
                <a:latin typeface="Roboto" pitchFamily="34" charset="0"/>
                <a:ea typeface="Roboto" pitchFamily="34" charset="-122"/>
                <a:cs typeface="Roboto" pitchFamily="34" charset="-120"/>
              </a:rPr>
              <a:t>3 tables</a:t>
            </a:r>
            <a:endParaRPr lang="en-US" sz="950" dirty="0"/>
          </a:p>
        </p:txBody>
      </p:sp>
      <p:sp>
        <p:nvSpPr>
          <p:cNvPr id="27" name="Text 23"/>
          <p:cNvSpPr txBox="1"/>
          <p:nvPr/>
        </p:nvSpPr>
        <p:spPr>
          <a:xfrm>
            <a:off x="749808" y="3913632"/>
            <a:ext cx="3200400" cy="685800"/>
          </a:xfrm>
          <a:prstGeom prst="rect">
            <a:avLst/>
          </a:prstGeom>
          <a:noFill/>
          <a:ln/>
        </p:spPr>
        <p:txBody>
          <a:bodyPr wrap="square" lIns="0" tIns="0" rIns="0" bIns="0" rtlCol="0" anchor="t"/>
          <a:lstStyle/>
          <a:p>
            <a:pPr indent="0" marL="0">
              <a:buNone/>
            </a:pPr>
            <a:r>
              <a:rPr lang="en-US" sz="1000" dirty="0">
                <a:solidFill>
                  <a:srgbClr val="334155"/>
                </a:solidFill>
                <a:latin typeface="Consolas" pitchFamily="34" charset="0"/>
                <a:ea typeface="Consolas" pitchFamily="34" charset="-122"/>
                <a:cs typeface="Consolas" pitchFamily="34" charset="-120"/>
              </a:rPr>
              <a:t>risk_assessments · pricing_models · risk_thresholds</a:t>
            </a:r>
            <a:endParaRPr lang="en-US" sz="1000" dirty="0"/>
          </a:p>
        </p:txBody>
      </p:sp>
      <p:sp>
        <p:nvSpPr>
          <p:cNvPr id="28" name="Shape 24"/>
          <p:cNvSpPr/>
          <p:nvPr/>
        </p:nvSpPr>
        <p:spPr>
          <a:xfrm>
            <a:off x="4297680" y="3319272"/>
            <a:ext cx="3566160" cy="1371600"/>
          </a:xfrm>
          <a:prstGeom prst="roundRect">
            <a:avLst>
              <a:gd name="adj" fmla="val 6667"/>
            </a:avLst>
          </a:prstGeom>
          <a:solidFill>
            <a:srgbClr val="F8FAFC"/>
          </a:solidFill>
          <a:ln w="12700">
            <a:solidFill>
              <a:srgbClr val="E2E8F0"/>
            </a:solidFill>
            <a:prstDash val="solid"/>
          </a:ln>
        </p:spPr>
      </p:sp>
      <p:sp>
        <p:nvSpPr>
          <p:cNvPr id="29" name="Text 25"/>
          <p:cNvSpPr txBox="1"/>
          <p:nvPr/>
        </p:nvSpPr>
        <p:spPr>
          <a:xfrm>
            <a:off x="4498848" y="3456432"/>
            <a:ext cx="1828800" cy="411480"/>
          </a:xfrm>
          <a:prstGeom prst="rect">
            <a:avLst/>
          </a:prstGeom>
          <a:noFill/>
          <a:ln/>
        </p:spPr>
        <p:txBody>
          <a:bodyPr wrap="square" lIns="0" tIns="0" rIns="0" bIns="0" rtlCol="0" anchor="ctr"/>
          <a:lstStyle/>
          <a:p>
            <a:pPr indent="0" marL="0">
              <a:buNone/>
            </a:pPr>
            <a:r>
              <a:rPr lang="en-US" sz="1800" b="1" dirty="0">
                <a:solidFill>
                  <a:srgbClr val="BE123C"/>
                </a:solidFill>
                <a:latin typeface="Consolas" pitchFamily="34" charset="0"/>
                <a:ea typeface="Consolas" pitchFamily="34" charset="-122"/>
                <a:cs typeface="Consolas" pitchFamily="34" charset="-120"/>
              </a:rPr>
              <a:t>agent</a:t>
            </a:r>
            <a:endParaRPr lang="en-US" sz="1800" dirty="0"/>
          </a:p>
        </p:txBody>
      </p:sp>
      <p:sp>
        <p:nvSpPr>
          <p:cNvPr id="30" name="Shape 26"/>
          <p:cNvSpPr/>
          <p:nvPr/>
        </p:nvSpPr>
        <p:spPr>
          <a:xfrm>
            <a:off x="6675120" y="3502152"/>
            <a:ext cx="1005840" cy="292608"/>
          </a:xfrm>
          <a:prstGeom prst="roundRect">
            <a:avLst>
              <a:gd name="adj" fmla="val 50000"/>
            </a:avLst>
          </a:prstGeom>
          <a:solidFill>
            <a:srgbClr val="FFFFFF"/>
          </a:solidFill>
          <a:ln w="12700">
            <a:solidFill>
              <a:srgbClr val="E2E8F0"/>
            </a:solidFill>
            <a:prstDash val="solid"/>
          </a:ln>
        </p:spPr>
      </p:sp>
      <p:sp>
        <p:nvSpPr>
          <p:cNvPr id="31" name="Text 27"/>
          <p:cNvSpPr txBox="1"/>
          <p:nvPr/>
        </p:nvSpPr>
        <p:spPr>
          <a:xfrm>
            <a:off x="6675120" y="3502152"/>
            <a:ext cx="1005840" cy="292608"/>
          </a:xfrm>
          <a:prstGeom prst="rect">
            <a:avLst/>
          </a:prstGeom>
          <a:noFill/>
          <a:ln/>
        </p:spPr>
        <p:txBody>
          <a:bodyPr wrap="square" lIns="0" tIns="0" rIns="0" bIns="0" rtlCol="0" anchor="ctr"/>
          <a:lstStyle/>
          <a:p>
            <a:pPr algn="ctr" indent="0" marL="0">
              <a:buNone/>
            </a:pPr>
            <a:r>
              <a:rPr lang="en-US" sz="950" b="1" dirty="0">
                <a:solidFill>
                  <a:srgbClr val="BE123C"/>
                </a:solidFill>
                <a:latin typeface="Roboto" pitchFamily="34" charset="0"/>
                <a:ea typeface="Roboto" pitchFamily="34" charset="-122"/>
                <a:cs typeface="Roboto" pitchFamily="34" charset="-120"/>
              </a:rPr>
              <a:t>4 tables</a:t>
            </a:r>
            <a:endParaRPr lang="en-US" sz="950" dirty="0"/>
          </a:p>
        </p:txBody>
      </p:sp>
      <p:sp>
        <p:nvSpPr>
          <p:cNvPr id="32" name="Text 28"/>
          <p:cNvSpPr txBox="1"/>
          <p:nvPr/>
        </p:nvSpPr>
        <p:spPr>
          <a:xfrm>
            <a:off x="4498848" y="3913632"/>
            <a:ext cx="3200400" cy="685800"/>
          </a:xfrm>
          <a:prstGeom prst="rect">
            <a:avLst/>
          </a:prstGeom>
          <a:noFill/>
          <a:ln/>
        </p:spPr>
        <p:txBody>
          <a:bodyPr wrap="square" lIns="0" tIns="0" rIns="0" bIns="0" rtlCol="0" anchor="t"/>
          <a:lstStyle/>
          <a:p>
            <a:pPr indent="0" marL="0">
              <a:buNone/>
            </a:pPr>
            <a:r>
              <a:rPr lang="en-US" sz="1000" dirty="0">
                <a:solidFill>
                  <a:srgbClr val="334155"/>
                </a:solidFill>
                <a:latin typeface="Consolas" pitchFamily="34" charset="0"/>
                <a:ea typeface="Consolas" pitchFamily="34" charset="-122"/>
                <a:cs typeface="Consolas" pitchFamily="34" charset="-120"/>
              </a:rPr>
              <a:t>run · step · tool_call · llm_setting_audit</a:t>
            </a:r>
            <a:endParaRPr lang="en-US" sz="1000" dirty="0"/>
          </a:p>
        </p:txBody>
      </p:sp>
      <p:sp>
        <p:nvSpPr>
          <p:cNvPr id="33" name="Shape 29"/>
          <p:cNvSpPr/>
          <p:nvPr/>
        </p:nvSpPr>
        <p:spPr>
          <a:xfrm>
            <a:off x="8046720" y="3319272"/>
            <a:ext cx="3566160" cy="1371600"/>
          </a:xfrm>
          <a:prstGeom prst="roundRect">
            <a:avLst>
              <a:gd name="adj" fmla="val 6667"/>
            </a:avLst>
          </a:prstGeom>
          <a:solidFill>
            <a:srgbClr val="F8FAFC"/>
          </a:solidFill>
          <a:ln w="12700">
            <a:solidFill>
              <a:srgbClr val="E2E8F0"/>
            </a:solidFill>
            <a:prstDash val="solid"/>
          </a:ln>
        </p:spPr>
      </p:sp>
      <p:sp>
        <p:nvSpPr>
          <p:cNvPr id="34" name="Text 30"/>
          <p:cNvSpPr txBox="1"/>
          <p:nvPr/>
        </p:nvSpPr>
        <p:spPr>
          <a:xfrm>
            <a:off x="8247888" y="3456432"/>
            <a:ext cx="1828800" cy="411480"/>
          </a:xfrm>
          <a:prstGeom prst="rect">
            <a:avLst/>
          </a:prstGeom>
          <a:noFill/>
          <a:ln/>
        </p:spPr>
        <p:txBody>
          <a:bodyPr wrap="square" lIns="0" tIns="0" rIns="0" bIns="0" rtlCol="0" anchor="ctr"/>
          <a:lstStyle/>
          <a:p>
            <a:pPr indent="0" marL="0">
              <a:buNone/>
            </a:pPr>
            <a:r>
              <a:rPr lang="en-US" sz="1800" b="1" dirty="0">
                <a:solidFill>
                  <a:srgbClr val="7C3AED"/>
                </a:solidFill>
                <a:latin typeface="Consolas" pitchFamily="34" charset="0"/>
                <a:ea typeface="Consolas" pitchFamily="34" charset="-122"/>
                <a:cs typeface="Consolas" pitchFamily="34" charset="-120"/>
              </a:rPr>
              <a:t>pm</a:t>
            </a:r>
            <a:endParaRPr lang="en-US" sz="1800" dirty="0"/>
          </a:p>
        </p:txBody>
      </p:sp>
      <p:sp>
        <p:nvSpPr>
          <p:cNvPr id="35" name="Shape 31"/>
          <p:cNvSpPr/>
          <p:nvPr/>
        </p:nvSpPr>
        <p:spPr>
          <a:xfrm>
            <a:off x="10424160" y="3502152"/>
            <a:ext cx="1005840" cy="292608"/>
          </a:xfrm>
          <a:prstGeom prst="roundRect">
            <a:avLst>
              <a:gd name="adj" fmla="val 50000"/>
            </a:avLst>
          </a:prstGeom>
          <a:solidFill>
            <a:srgbClr val="FFFFFF"/>
          </a:solidFill>
          <a:ln w="12700">
            <a:solidFill>
              <a:srgbClr val="E2E8F0"/>
            </a:solidFill>
            <a:prstDash val="solid"/>
          </a:ln>
        </p:spPr>
      </p:sp>
      <p:sp>
        <p:nvSpPr>
          <p:cNvPr id="36" name="Text 32"/>
          <p:cNvSpPr txBox="1"/>
          <p:nvPr/>
        </p:nvSpPr>
        <p:spPr>
          <a:xfrm>
            <a:off x="10424160" y="3502152"/>
            <a:ext cx="1005840" cy="292608"/>
          </a:xfrm>
          <a:prstGeom prst="rect">
            <a:avLst/>
          </a:prstGeom>
          <a:noFill/>
          <a:ln/>
        </p:spPr>
        <p:txBody>
          <a:bodyPr wrap="square" lIns="0" tIns="0" rIns="0" bIns="0" rtlCol="0" anchor="ctr"/>
          <a:lstStyle/>
          <a:p>
            <a:pPr algn="ctr" indent="0" marL="0">
              <a:buNone/>
            </a:pPr>
            <a:r>
              <a:rPr lang="en-US" sz="950" b="1" dirty="0">
                <a:solidFill>
                  <a:srgbClr val="7C3AED"/>
                </a:solidFill>
                <a:latin typeface="Roboto" pitchFamily="34" charset="0"/>
                <a:ea typeface="Roboto" pitchFamily="34" charset="-122"/>
                <a:cs typeface="Roboto" pitchFamily="34" charset="-120"/>
              </a:rPr>
              <a:t>20 tables</a:t>
            </a:r>
            <a:endParaRPr lang="en-US" sz="950" dirty="0"/>
          </a:p>
        </p:txBody>
      </p:sp>
      <p:sp>
        <p:nvSpPr>
          <p:cNvPr id="37" name="Text 33"/>
          <p:cNvSpPr txBox="1"/>
          <p:nvPr/>
        </p:nvSpPr>
        <p:spPr>
          <a:xfrm>
            <a:off x="8247888" y="3913632"/>
            <a:ext cx="3200400" cy="685800"/>
          </a:xfrm>
          <a:prstGeom prst="rect">
            <a:avLst/>
          </a:prstGeom>
          <a:noFill/>
          <a:ln/>
        </p:spPr>
        <p:txBody>
          <a:bodyPr wrap="square" lIns="0" tIns="0" rIns="0" bIns="0" rtlCol="0" anchor="t"/>
          <a:lstStyle/>
          <a:p>
            <a:pPr indent="0" marL="0">
              <a:buNone/>
            </a:pPr>
            <a:r>
              <a:rPr lang="en-US" sz="1000" dirty="0">
                <a:solidFill>
                  <a:srgbClr val="334155"/>
                </a:solidFill>
                <a:latin typeface="Consolas" pitchFamily="34" charset="0"/>
                <a:ea typeface="Consolas" pitchFamily="34" charset="-122"/>
                <a:cs typeface="Consolas" pitchFamily="34" charset="-120"/>
              </a:rPr>
              <a:t>event_log · activity · case_metrics · case_variant · conformance_result · deviation</a:t>
            </a:r>
            <a:endParaRPr lang="en-US" sz="1000" dirty="0"/>
          </a:p>
        </p:txBody>
      </p:sp>
      <p:sp>
        <p:nvSpPr>
          <p:cNvPr id="38" name="Shape 34"/>
          <p:cNvSpPr/>
          <p:nvPr/>
        </p:nvSpPr>
        <p:spPr>
          <a:xfrm>
            <a:off x="548640" y="4855464"/>
            <a:ext cx="3566160" cy="1371600"/>
          </a:xfrm>
          <a:prstGeom prst="roundRect">
            <a:avLst>
              <a:gd name="adj" fmla="val 6667"/>
            </a:avLst>
          </a:prstGeom>
          <a:solidFill>
            <a:srgbClr val="F8FAFC"/>
          </a:solidFill>
          <a:ln w="12700">
            <a:solidFill>
              <a:srgbClr val="E2E8F0"/>
            </a:solidFill>
            <a:prstDash val="solid"/>
          </a:ln>
        </p:spPr>
      </p:sp>
      <p:sp>
        <p:nvSpPr>
          <p:cNvPr id="39" name="Text 35"/>
          <p:cNvSpPr txBox="1"/>
          <p:nvPr/>
        </p:nvSpPr>
        <p:spPr>
          <a:xfrm>
            <a:off x="749808" y="4992624"/>
            <a:ext cx="1828800" cy="411480"/>
          </a:xfrm>
          <a:prstGeom prst="rect">
            <a:avLst/>
          </a:prstGeom>
          <a:noFill/>
          <a:ln/>
        </p:spPr>
        <p:txBody>
          <a:bodyPr wrap="square" lIns="0" tIns="0" rIns="0" bIns="0" rtlCol="0" anchor="ctr"/>
          <a:lstStyle/>
          <a:p>
            <a:pPr indent="0" marL="0">
              <a:buNone/>
            </a:pPr>
            <a:r>
              <a:rPr lang="en-US" sz="1800" b="1" dirty="0">
                <a:solidFill>
                  <a:srgbClr val="0891B2"/>
                </a:solidFill>
                <a:latin typeface="Consolas" pitchFamily="34" charset="0"/>
                <a:ea typeface="Consolas" pitchFamily="34" charset="-122"/>
                <a:cs typeface="Consolas" pitchFamily="34" charset="-120"/>
              </a:rPr>
              <a:t>ops</a:t>
            </a:r>
            <a:endParaRPr lang="en-US" sz="1800" dirty="0"/>
          </a:p>
        </p:txBody>
      </p:sp>
      <p:sp>
        <p:nvSpPr>
          <p:cNvPr id="40" name="Shape 36"/>
          <p:cNvSpPr/>
          <p:nvPr/>
        </p:nvSpPr>
        <p:spPr>
          <a:xfrm>
            <a:off x="2926080" y="5038344"/>
            <a:ext cx="1005840" cy="292608"/>
          </a:xfrm>
          <a:prstGeom prst="roundRect">
            <a:avLst>
              <a:gd name="adj" fmla="val 50000"/>
            </a:avLst>
          </a:prstGeom>
          <a:solidFill>
            <a:srgbClr val="FFFFFF"/>
          </a:solidFill>
          <a:ln w="12700">
            <a:solidFill>
              <a:srgbClr val="E2E8F0"/>
            </a:solidFill>
            <a:prstDash val="solid"/>
          </a:ln>
        </p:spPr>
      </p:sp>
      <p:sp>
        <p:nvSpPr>
          <p:cNvPr id="41" name="Text 37"/>
          <p:cNvSpPr txBox="1"/>
          <p:nvPr/>
        </p:nvSpPr>
        <p:spPr>
          <a:xfrm>
            <a:off x="2926080" y="5038344"/>
            <a:ext cx="1005840" cy="292608"/>
          </a:xfrm>
          <a:prstGeom prst="rect">
            <a:avLst/>
          </a:prstGeom>
          <a:noFill/>
          <a:ln/>
        </p:spPr>
        <p:txBody>
          <a:bodyPr wrap="square" lIns="0" tIns="0" rIns="0" bIns="0" rtlCol="0" anchor="ctr"/>
          <a:lstStyle/>
          <a:p>
            <a:pPr algn="ctr" indent="0" marL="0">
              <a:buNone/>
            </a:pPr>
            <a:r>
              <a:rPr lang="en-US" sz="950" b="1" dirty="0">
                <a:solidFill>
                  <a:srgbClr val="0891B2"/>
                </a:solidFill>
                <a:latin typeface="Roboto" pitchFamily="34" charset="0"/>
                <a:ea typeface="Roboto" pitchFamily="34" charset="-122"/>
                <a:cs typeface="Roboto" pitchFamily="34" charset="-120"/>
              </a:rPr>
              <a:t>8 tables</a:t>
            </a:r>
            <a:endParaRPr lang="en-US" sz="950" dirty="0"/>
          </a:p>
        </p:txBody>
      </p:sp>
      <p:sp>
        <p:nvSpPr>
          <p:cNvPr id="42" name="Text 38"/>
          <p:cNvSpPr txBox="1"/>
          <p:nvPr/>
        </p:nvSpPr>
        <p:spPr>
          <a:xfrm>
            <a:off x="749808" y="5449824"/>
            <a:ext cx="3200400" cy="685800"/>
          </a:xfrm>
          <a:prstGeom prst="rect">
            <a:avLst/>
          </a:prstGeom>
          <a:noFill/>
          <a:ln/>
        </p:spPr>
        <p:txBody>
          <a:bodyPr wrap="square" lIns="0" tIns="0" rIns="0" bIns="0" rtlCol="0" anchor="t"/>
          <a:lstStyle/>
          <a:p>
            <a:pPr indent="0" marL="0">
              <a:buNone/>
            </a:pPr>
            <a:r>
              <a:rPr lang="en-US" sz="1000" dirty="0">
                <a:solidFill>
                  <a:srgbClr val="334155"/>
                </a:solidFill>
                <a:latin typeface="Consolas" pitchFamily="34" charset="0"/>
                <a:ea typeface="Consolas" pitchFamily="34" charset="-122"/>
                <a:cs typeface="Consolas" pitchFamily="34" charset="-120"/>
              </a:rPr>
              <a:t>users · notifications · notification_templates · loan_products</a:t>
            </a:r>
            <a:endParaRPr lang="en-US" sz="1000" dirty="0"/>
          </a:p>
        </p:txBody>
      </p:sp>
      <p:sp>
        <p:nvSpPr>
          <p:cNvPr id="43" name="Shape 39"/>
          <p:cNvSpPr/>
          <p:nvPr/>
        </p:nvSpPr>
        <p:spPr>
          <a:xfrm>
            <a:off x="4297680" y="4855464"/>
            <a:ext cx="3566160" cy="1371600"/>
          </a:xfrm>
          <a:prstGeom prst="roundRect">
            <a:avLst>
              <a:gd name="adj" fmla="val 6667"/>
            </a:avLst>
          </a:prstGeom>
          <a:solidFill>
            <a:srgbClr val="F8FAFC"/>
          </a:solidFill>
          <a:ln w="12700">
            <a:solidFill>
              <a:srgbClr val="E2E8F0"/>
            </a:solidFill>
            <a:prstDash val="solid"/>
          </a:ln>
        </p:spPr>
      </p:sp>
      <p:sp>
        <p:nvSpPr>
          <p:cNvPr id="44" name="Text 40"/>
          <p:cNvSpPr txBox="1"/>
          <p:nvPr/>
        </p:nvSpPr>
        <p:spPr>
          <a:xfrm>
            <a:off x="4498848" y="4992624"/>
            <a:ext cx="1828800" cy="411480"/>
          </a:xfrm>
          <a:prstGeom prst="rect">
            <a:avLst/>
          </a:prstGeom>
          <a:noFill/>
          <a:ln/>
        </p:spPr>
        <p:txBody>
          <a:bodyPr wrap="square" lIns="0" tIns="0" rIns="0" bIns="0" rtlCol="0" anchor="ctr"/>
          <a:lstStyle/>
          <a:p>
            <a:pPr indent="0" marL="0">
              <a:buNone/>
            </a:pPr>
            <a:r>
              <a:rPr lang="en-US" sz="1800" b="1" dirty="0">
                <a:solidFill>
                  <a:srgbClr val="64748B"/>
                </a:solidFill>
                <a:latin typeface="Consolas" pitchFamily="34" charset="0"/>
                <a:ea typeface="Consolas" pitchFamily="34" charset="-122"/>
                <a:cs typeface="Consolas" pitchFamily="34" charset="-120"/>
              </a:rPr>
              <a:t>audit</a:t>
            </a:r>
            <a:endParaRPr lang="en-US" sz="1800" dirty="0"/>
          </a:p>
        </p:txBody>
      </p:sp>
      <p:sp>
        <p:nvSpPr>
          <p:cNvPr id="45" name="Shape 41"/>
          <p:cNvSpPr/>
          <p:nvPr/>
        </p:nvSpPr>
        <p:spPr>
          <a:xfrm>
            <a:off x="6675120" y="5038344"/>
            <a:ext cx="1005840" cy="292608"/>
          </a:xfrm>
          <a:prstGeom prst="roundRect">
            <a:avLst>
              <a:gd name="adj" fmla="val 50000"/>
            </a:avLst>
          </a:prstGeom>
          <a:solidFill>
            <a:srgbClr val="FFFFFF"/>
          </a:solidFill>
          <a:ln w="12700">
            <a:solidFill>
              <a:srgbClr val="E2E8F0"/>
            </a:solidFill>
            <a:prstDash val="solid"/>
          </a:ln>
        </p:spPr>
      </p:sp>
      <p:sp>
        <p:nvSpPr>
          <p:cNvPr id="46" name="Text 42"/>
          <p:cNvSpPr txBox="1"/>
          <p:nvPr/>
        </p:nvSpPr>
        <p:spPr>
          <a:xfrm>
            <a:off x="6675120" y="5038344"/>
            <a:ext cx="1005840" cy="292608"/>
          </a:xfrm>
          <a:prstGeom prst="rect">
            <a:avLst/>
          </a:prstGeom>
          <a:noFill/>
          <a:ln/>
        </p:spPr>
        <p:txBody>
          <a:bodyPr wrap="square" lIns="0" tIns="0" rIns="0" bIns="0" rtlCol="0" anchor="ctr"/>
          <a:lstStyle/>
          <a:p>
            <a:pPr algn="ctr" indent="0" marL="0">
              <a:buNone/>
            </a:pPr>
            <a:r>
              <a:rPr lang="en-US" sz="950" b="1" dirty="0">
                <a:solidFill>
                  <a:srgbClr val="64748B"/>
                </a:solidFill>
                <a:latin typeface="Roboto" pitchFamily="34" charset="0"/>
                <a:ea typeface="Roboto" pitchFamily="34" charset="-122"/>
                <a:cs typeface="Roboto" pitchFamily="34" charset="-120"/>
              </a:rPr>
              <a:t>3 tables</a:t>
            </a:r>
            <a:endParaRPr lang="en-US" sz="950" dirty="0"/>
          </a:p>
        </p:txBody>
      </p:sp>
      <p:sp>
        <p:nvSpPr>
          <p:cNvPr id="47" name="Text 43"/>
          <p:cNvSpPr txBox="1"/>
          <p:nvPr/>
        </p:nvSpPr>
        <p:spPr>
          <a:xfrm>
            <a:off x="4498848" y="5449824"/>
            <a:ext cx="3200400" cy="685800"/>
          </a:xfrm>
          <a:prstGeom prst="rect">
            <a:avLst/>
          </a:prstGeom>
          <a:noFill/>
          <a:ln/>
        </p:spPr>
        <p:txBody>
          <a:bodyPr wrap="square" lIns="0" tIns="0" rIns="0" bIns="0" rtlCol="0" anchor="t"/>
          <a:lstStyle/>
          <a:p>
            <a:pPr indent="0" marL="0">
              <a:buNone/>
            </a:pPr>
            <a:r>
              <a:rPr lang="en-US" sz="1000" dirty="0">
                <a:solidFill>
                  <a:srgbClr val="334155"/>
                </a:solidFill>
                <a:latin typeface="Consolas" pitchFamily="34" charset="0"/>
                <a:ea typeface="Consolas" pitchFamily="34" charset="-122"/>
                <a:cs typeface="Consolas" pitchFamily="34" charset="-120"/>
              </a:rPr>
              <a:t>audit_log · audit_log_details · business_events</a:t>
            </a:r>
            <a:endParaRPr lang="en-US" sz="1000" dirty="0"/>
          </a:p>
        </p:txBody>
      </p:sp>
      <p:sp>
        <p:nvSpPr>
          <p:cNvPr id="48" name="Shape 44"/>
          <p:cNvSpPr/>
          <p:nvPr/>
        </p:nvSpPr>
        <p:spPr>
          <a:xfrm>
            <a:off x="8046720" y="4855464"/>
            <a:ext cx="3566160" cy="1371600"/>
          </a:xfrm>
          <a:prstGeom prst="roundRect">
            <a:avLst>
              <a:gd name="adj" fmla="val 6667"/>
            </a:avLst>
          </a:prstGeom>
          <a:solidFill>
            <a:srgbClr val="F8FAFC"/>
          </a:solidFill>
          <a:ln w="12700">
            <a:solidFill>
              <a:srgbClr val="E2E8F0"/>
            </a:solidFill>
            <a:prstDash val="solid"/>
          </a:ln>
        </p:spPr>
      </p:sp>
      <p:sp>
        <p:nvSpPr>
          <p:cNvPr id="49" name="Text 45"/>
          <p:cNvSpPr txBox="1"/>
          <p:nvPr/>
        </p:nvSpPr>
        <p:spPr>
          <a:xfrm>
            <a:off x="8247888" y="4992624"/>
            <a:ext cx="1828800" cy="411480"/>
          </a:xfrm>
          <a:prstGeom prst="rect">
            <a:avLst/>
          </a:prstGeom>
          <a:noFill/>
          <a:ln/>
        </p:spPr>
        <p:txBody>
          <a:bodyPr wrap="square" lIns="0" tIns="0" rIns="0" bIns="0" rtlCol="0" anchor="ctr"/>
          <a:lstStyle/>
          <a:p>
            <a:pPr indent="0" marL="0">
              <a:buNone/>
            </a:pPr>
            <a:r>
              <a:rPr lang="en-US" sz="1800" b="1" dirty="0">
                <a:solidFill>
                  <a:srgbClr val="64748B"/>
                </a:solidFill>
                <a:latin typeface="Consolas" pitchFamily="34" charset="0"/>
                <a:ea typeface="Consolas" pitchFamily="34" charset="-122"/>
                <a:cs typeface="Consolas" pitchFamily="34" charset="-120"/>
              </a:rPr>
              <a:t>ref</a:t>
            </a:r>
            <a:endParaRPr lang="en-US" sz="1800" dirty="0"/>
          </a:p>
        </p:txBody>
      </p:sp>
      <p:sp>
        <p:nvSpPr>
          <p:cNvPr id="50" name="Shape 46"/>
          <p:cNvSpPr/>
          <p:nvPr/>
        </p:nvSpPr>
        <p:spPr>
          <a:xfrm>
            <a:off x="10424160" y="5038344"/>
            <a:ext cx="1005840" cy="292608"/>
          </a:xfrm>
          <a:prstGeom prst="roundRect">
            <a:avLst>
              <a:gd name="adj" fmla="val 50000"/>
            </a:avLst>
          </a:prstGeom>
          <a:solidFill>
            <a:srgbClr val="FFFFFF"/>
          </a:solidFill>
          <a:ln w="12700">
            <a:solidFill>
              <a:srgbClr val="E2E8F0"/>
            </a:solidFill>
            <a:prstDash val="solid"/>
          </a:ln>
        </p:spPr>
      </p:sp>
      <p:sp>
        <p:nvSpPr>
          <p:cNvPr id="51" name="Text 47"/>
          <p:cNvSpPr txBox="1"/>
          <p:nvPr/>
        </p:nvSpPr>
        <p:spPr>
          <a:xfrm>
            <a:off x="10424160" y="5038344"/>
            <a:ext cx="1005840" cy="292608"/>
          </a:xfrm>
          <a:prstGeom prst="rect">
            <a:avLst/>
          </a:prstGeom>
          <a:noFill/>
          <a:ln/>
        </p:spPr>
        <p:txBody>
          <a:bodyPr wrap="square" lIns="0" tIns="0" rIns="0" bIns="0" rtlCol="0" anchor="ctr"/>
          <a:lstStyle/>
          <a:p>
            <a:pPr algn="ctr" indent="0" marL="0">
              <a:buNone/>
            </a:pPr>
            <a:r>
              <a:rPr lang="en-US" sz="950" b="1" dirty="0">
                <a:solidFill>
                  <a:srgbClr val="64748B"/>
                </a:solidFill>
                <a:latin typeface="Roboto" pitchFamily="34" charset="0"/>
                <a:ea typeface="Roboto" pitchFamily="34" charset="-122"/>
                <a:cs typeface="Roboto" pitchFamily="34" charset="-120"/>
              </a:rPr>
              <a:t>21 tables</a:t>
            </a:r>
            <a:endParaRPr lang="en-US" sz="950" dirty="0"/>
          </a:p>
        </p:txBody>
      </p:sp>
      <p:sp>
        <p:nvSpPr>
          <p:cNvPr id="52" name="Text 48"/>
          <p:cNvSpPr txBox="1"/>
          <p:nvPr/>
        </p:nvSpPr>
        <p:spPr>
          <a:xfrm>
            <a:off x="8247888" y="5449824"/>
            <a:ext cx="3200400" cy="685800"/>
          </a:xfrm>
          <a:prstGeom prst="rect">
            <a:avLst/>
          </a:prstGeom>
          <a:noFill/>
          <a:ln/>
        </p:spPr>
        <p:txBody>
          <a:bodyPr wrap="square" lIns="0" tIns="0" rIns="0" bIns="0" rtlCol="0" anchor="t"/>
          <a:lstStyle/>
          <a:p>
            <a:pPr indent="0" marL="0">
              <a:buNone/>
            </a:pPr>
            <a:r>
              <a:rPr lang="en-US" sz="1000" dirty="0">
                <a:solidFill>
                  <a:srgbClr val="334155"/>
                </a:solidFill>
                <a:latin typeface="Consolas" pitchFamily="34" charset="0"/>
                <a:ea typeface="Consolas" pitchFamily="34" charset="-122"/>
                <a:cs typeface="Consolas" pitchFamily="34" charset="-120"/>
              </a:rPr>
              <a:t>application_status · lifecycle_transition · document_type · fraud_severity …</a:t>
            </a:r>
            <a:endParaRPr lang="en-US" sz="10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1417320"/>
            <a:ext cx="3657600" cy="1188720"/>
          </a:xfrm>
          <a:prstGeom prst="rect">
            <a:avLst/>
          </a:prstGeom>
          <a:noFill/>
          <a:ln/>
        </p:spPr>
        <p:txBody>
          <a:bodyPr wrap="square" lIns="0" tIns="0" rIns="0" bIns="0" rtlCol="0" anchor="ctr"/>
          <a:lstStyle/>
          <a:p>
            <a:pPr indent="0" marL="0">
              <a:buNone/>
            </a:pPr>
            <a:r>
              <a:rPr lang="en-US" sz="8800" b="1" dirty="0">
                <a:solidFill>
                  <a:srgbClr val="818CF8"/>
                </a:solidFill>
                <a:latin typeface="Roboto" pitchFamily="34" charset="0"/>
                <a:ea typeface="Roboto" pitchFamily="34" charset="-122"/>
                <a:cs typeface="Roboto" pitchFamily="34" charset="-120"/>
              </a:rPr>
              <a:t>05</a:t>
            </a:r>
            <a:endParaRPr lang="en-US" sz="8800" dirty="0"/>
          </a:p>
        </p:txBody>
      </p:sp>
      <p:sp>
        <p:nvSpPr>
          <p:cNvPr id="3" name="Text 1"/>
          <p:cNvSpPr txBox="1"/>
          <p:nvPr/>
        </p:nvSpPr>
        <p:spPr>
          <a:xfrm>
            <a:off x="548640" y="2697480"/>
            <a:ext cx="7772400" cy="822960"/>
          </a:xfrm>
          <a:prstGeom prst="rect">
            <a:avLst/>
          </a:prstGeom>
          <a:noFill/>
          <a:ln/>
        </p:spPr>
        <p:txBody>
          <a:bodyPr wrap="square" lIns="0" tIns="0" rIns="0" bIns="0" rtlCol="0" anchor="ctr"/>
          <a:lstStyle/>
          <a:p>
            <a:pPr indent="0" marL="0">
              <a:buNone/>
            </a:pPr>
            <a:r>
              <a:rPr lang="en-US" sz="4000" b="1" dirty="0">
                <a:solidFill>
                  <a:srgbClr val="FFFFFF"/>
                </a:solidFill>
                <a:latin typeface="Roboto" pitchFamily="34" charset="0"/>
                <a:ea typeface="Roboto" pitchFamily="34" charset="-122"/>
                <a:cs typeface="Roboto" pitchFamily="34" charset="-120"/>
              </a:rPr>
              <a:t>Evaluation</a:t>
            </a:r>
            <a:endParaRPr lang="en-US" sz="4000" dirty="0"/>
          </a:p>
        </p:txBody>
      </p:sp>
      <p:sp>
        <p:nvSpPr>
          <p:cNvPr id="4" name="Text 2"/>
          <p:cNvSpPr txBox="1"/>
          <p:nvPr/>
        </p:nvSpPr>
        <p:spPr>
          <a:xfrm>
            <a:off x="548640" y="3520440"/>
            <a:ext cx="7132320" cy="822960"/>
          </a:xfrm>
          <a:prstGeom prst="rect">
            <a:avLst/>
          </a:prstGeom>
          <a:noFill/>
          <a:ln/>
        </p:spPr>
        <p:txBody>
          <a:bodyPr wrap="square" lIns="0" tIns="0" rIns="0" bIns="0" rtlCol="0" anchor="t"/>
          <a:lstStyle/>
          <a:p>
            <a:pPr indent="0" marL="0">
              <a:buNone/>
            </a:pPr>
            <a:r>
              <a:rPr lang="en-US" sz="1700" dirty="0">
                <a:solidFill>
                  <a:srgbClr val="CBD5E1"/>
                </a:solidFill>
                <a:latin typeface="Roboto" pitchFamily="34" charset="0"/>
                <a:ea typeface="Roboto" pitchFamily="34" charset="-122"/>
                <a:cs typeface="Roboto" pitchFamily="34" charset="-120"/>
              </a:rPr>
              <a:t>Tested twice: when each agent was built, and again on real and public data — against pass marks written down before the run.</a:t>
            </a:r>
            <a:endParaRPr lang="en-US" sz="1700" dirty="0"/>
          </a:p>
        </p:txBody>
      </p:sp>
      <p:sp>
        <p:nvSpPr>
          <p:cNvPr id="5" name="Text 3"/>
          <p:cNvSpPr txBox="1"/>
          <p:nvPr/>
        </p:nvSpPr>
        <p:spPr>
          <a:xfrm>
            <a:off x="548640" y="4754880"/>
            <a:ext cx="3657600" cy="274320"/>
          </a:xfrm>
          <a:prstGeom prst="rect">
            <a:avLst/>
          </a:prstGeom>
          <a:noFill/>
          <a:ln/>
        </p:spPr>
        <p:txBody>
          <a:bodyPr wrap="square" lIns="0" tIns="0" rIns="0" bIns="0" rtlCol="0" anchor="ctr"/>
          <a:lstStyle/>
          <a:p>
            <a:pPr indent="0" marL="0">
              <a:buNone/>
            </a:pPr>
            <a:r>
              <a:rPr lang="en-US" sz="1050" b="1" spc="200" kern="0" dirty="0">
                <a:solidFill>
                  <a:srgbClr val="94A3B8"/>
                </a:solidFill>
                <a:latin typeface="Roboto" pitchFamily="34" charset="0"/>
                <a:ea typeface="Roboto" pitchFamily="34" charset="-122"/>
                <a:cs typeface="Roboto" pitchFamily="34" charset="-120"/>
              </a:rPr>
              <a:t>IN THIS SECTION</a:t>
            </a:r>
            <a:endParaRPr lang="en-US" sz="1050" dirty="0"/>
          </a:p>
        </p:txBody>
      </p:sp>
      <p:sp>
        <p:nvSpPr>
          <p:cNvPr id="6" name="Shape 4"/>
          <p:cNvSpPr/>
          <p:nvPr/>
        </p:nvSpPr>
        <p:spPr>
          <a:xfrm>
            <a:off x="548640" y="5102352"/>
            <a:ext cx="694944" cy="384048"/>
          </a:xfrm>
          <a:prstGeom prst="roundRect">
            <a:avLst>
              <a:gd name="adj" fmla="val 50000"/>
            </a:avLst>
          </a:prstGeom>
          <a:solidFill>
            <a:srgbClr val="1E293B"/>
          </a:solidFill>
          <a:ln w="12700">
            <a:solidFill>
              <a:srgbClr val="334155"/>
            </a:solidFill>
            <a:prstDash val="solid"/>
          </a:ln>
        </p:spPr>
      </p:sp>
      <p:sp>
        <p:nvSpPr>
          <p:cNvPr id="7" name="Text 5"/>
          <p:cNvSpPr txBox="1"/>
          <p:nvPr/>
        </p:nvSpPr>
        <p:spPr>
          <a:xfrm>
            <a:off x="548640" y="5102352"/>
            <a:ext cx="694944" cy="384048"/>
          </a:xfrm>
          <a:prstGeom prst="rect">
            <a:avLst/>
          </a:prstGeom>
          <a:noFill/>
          <a:ln/>
        </p:spPr>
        <p:txBody>
          <a:bodyPr wrap="square" lIns="0" tIns="0" rIns="0" bIns="0" rtlCol="0" anchor="ctr"/>
          <a:lstStyle/>
          <a:p>
            <a:pPr algn="ctr" indent="0" marL="0">
              <a:buNone/>
            </a:pPr>
            <a:r>
              <a:rPr lang="en-US" sz="1200" dirty="0">
                <a:solidFill>
                  <a:srgbClr val="E2E8F0"/>
                </a:solidFill>
                <a:latin typeface="Roboto" pitchFamily="34" charset="0"/>
                <a:ea typeface="Roboto" pitchFamily="34" charset="-122"/>
                <a:cs typeface="Roboto" pitchFamily="34" charset="-120"/>
              </a:rPr>
              <a:t>Method</a:t>
            </a:r>
            <a:endParaRPr lang="en-US" sz="1200" dirty="0"/>
          </a:p>
        </p:txBody>
      </p:sp>
      <p:sp>
        <p:nvSpPr>
          <p:cNvPr id="8" name="Shape 6"/>
          <p:cNvSpPr/>
          <p:nvPr/>
        </p:nvSpPr>
        <p:spPr>
          <a:xfrm>
            <a:off x="1371600" y="5102352"/>
            <a:ext cx="914400" cy="384048"/>
          </a:xfrm>
          <a:prstGeom prst="roundRect">
            <a:avLst>
              <a:gd name="adj" fmla="val 50000"/>
            </a:avLst>
          </a:prstGeom>
          <a:solidFill>
            <a:srgbClr val="1E293B"/>
          </a:solidFill>
          <a:ln w="12700">
            <a:solidFill>
              <a:srgbClr val="334155"/>
            </a:solidFill>
            <a:prstDash val="solid"/>
          </a:ln>
        </p:spPr>
      </p:sp>
      <p:sp>
        <p:nvSpPr>
          <p:cNvPr id="9" name="Text 7"/>
          <p:cNvSpPr txBox="1"/>
          <p:nvPr/>
        </p:nvSpPr>
        <p:spPr>
          <a:xfrm>
            <a:off x="1371600" y="5102352"/>
            <a:ext cx="914400" cy="384048"/>
          </a:xfrm>
          <a:prstGeom prst="rect">
            <a:avLst/>
          </a:prstGeom>
          <a:noFill/>
          <a:ln/>
        </p:spPr>
        <p:txBody>
          <a:bodyPr wrap="square" lIns="0" tIns="0" rIns="0" bIns="0" rtlCol="0" anchor="ctr"/>
          <a:lstStyle/>
          <a:p>
            <a:pPr algn="ctr" indent="0" marL="0">
              <a:buNone/>
            </a:pPr>
            <a:r>
              <a:rPr lang="en-US" sz="1200" dirty="0">
                <a:solidFill>
                  <a:srgbClr val="E2E8F0"/>
                </a:solidFill>
                <a:latin typeface="Roboto" pitchFamily="34" charset="0"/>
                <a:ea typeface="Roboto" pitchFamily="34" charset="-122"/>
                <a:cs typeface="Roboto" pitchFamily="34" charset="-120"/>
              </a:rPr>
              <a:t>Scorecard</a:t>
            </a:r>
            <a:endParaRPr lang="en-US" sz="1200" dirty="0"/>
          </a:p>
        </p:txBody>
      </p:sp>
      <p:sp>
        <p:nvSpPr>
          <p:cNvPr id="10" name="Shape 8"/>
          <p:cNvSpPr/>
          <p:nvPr/>
        </p:nvSpPr>
        <p:spPr>
          <a:xfrm>
            <a:off x="2414016" y="5102352"/>
            <a:ext cx="1865376" cy="384048"/>
          </a:xfrm>
          <a:prstGeom prst="roundRect">
            <a:avLst>
              <a:gd name="adj" fmla="val 50000"/>
            </a:avLst>
          </a:prstGeom>
          <a:solidFill>
            <a:srgbClr val="1E293B"/>
          </a:solidFill>
          <a:ln w="12700">
            <a:solidFill>
              <a:srgbClr val="334155"/>
            </a:solidFill>
            <a:prstDash val="solid"/>
          </a:ln>
        </p:spPr>
      </p:sp>
      <p:sp>
        <p:nvSpPr>
          <p:cNvPr id="11" name="Text 9"/>
          <p:cNvSpPr txBox="1"/>
          <p:nvPr/>
        </p:nvSpPr>
        <p:spPr>
          <a:xfrm>
            <a:off x="2414016" y="5102352"/>
            <a:ext cx="1865376" cy="384048"/>
          </a:xfrm>
          <a:prstGeom prst="rect">
            <a:avLst/>
          </a:prstGeom>
          <a:noFill/>
          <a:ln/>
        </p:spPr>
        <p:txBody>
          <a:bodyPr wrap="square" lIns="0" tIns="0" rIns="0" bIns="0" rtlCol="0" anchor="ctr"/>
          <a:lstStyle/>
          <a:p>
            <a:pPr algn="ctr" indent="0" marL="0">
              <a:buNone/>
            </a:pPr>
            <a:r>
              <a:rPr lang="en-US" sz="1200" dirty="0">
                <a:solidFill>
                  <a:srgbClr val="E2E8F0"/>
                </a:solidFill>
                <a:latin typeface="Roboto" pitchFamily="34" charset="0"/>
                <a:ea typeface="Roboto" pitchFamily="34" charset="-122"/>
                <a:cs typeface="Roboto" pitchFamily="34" charset="-120"/>
              </a:rPr>
              <a:t>What real data changed</a:t>
            </a:r>
            <a:endParaRPr lang="en-US" sz="1200" dirty="0"/>
          </a:p>
        </p:txBody>
      </p:sp>
      <p:sp>
        <p:nvSpPr>
          <p:cNvPr id="12" name="Shape 10"/>
          <p:cNvSpPr/>
          <p:nvPr/>
        </p:nvSpPr>
        <p:spPr>
          <a:xfrm>
            <a:off x="4407408" y="5102352"/>
            <a:ext cx="1865376" cy="384048"/>
          </a:xfrm>
          <a:prstGeom prst="roundRect">
            <a:avLst>
              <a:gd name="adj" fmla="val 50000"/>
            </a:avLst>
          </a:prstGeom>
          <a:solidFill>
            <a:srgbClr val="1E293B"/>
          </a:solidFill>
          <a:ln w="12700">
            <a:solidFill>
              <a:srgbClr val="334155"/>
            </a:solidFill>
            <a:prstDash val="solid"/>
          </a:ln>
        </p:spPr>
      </p:sp>
      <p:sp>
        <p:nvSpPr>
          <p:cNvPr id="13" name="Text 11"/>
          <p:cNvSpPr txBox="1"/>
          <p:nvPr/>
        </p:nvSpPr>
        <p:spPr>
          <a:xfrm>
            <a:off x="4407408" y="5102352"/>
            <a:ext cx="1865376" cy="384048"/>
          </a:xfrm>
          <a:prstGeom prst="rect">
            <a:avLst/>
          </a:prstGeom>
          <a:noFill/>
          <a:ln/>
        </p:spPr>
        <p:txBody>
          <a:bodyPr wrap="square" lIns="0" tIns="0" rIns="0" bIns="0" rtlCol="0" anchor="ctr"/>
          <a:lstStyle/>
          <a:p>
            <a:pPr algn="ctr" indent="0" marL="0">
              <a:buNone/>
            </a:pPr>
            <a:r>
              <a:rPr lang="en-US" sz="1200" dirty="0">
                <a:solidFill>
                  <a:srgbClr val="E2E8F0"/>
                </a:solidFill>
                <a:latin typeface="Roboto" pitchFamily="34" charset="0"/>
                <a:ea typeface="Roboto" pitchFamily="34" charset="-122"/>
                <a:cs typeface="Roboto" pitchFamily="34" charset="-120"/>
              </a:rPr>
              <a:t>Finding real forgeries</a:t>
            </a:r>
            <a:endParaRPr lang="en-US" sz="1200" dirty="0"/>
          </a:p>
        </p:txBody>
      </p:sp>
      <p:sp>
        <p:nvSpPr>
          <p:cNvPr id="14" name="Shape 12"/>
          <p:cNvSpPr/>
          <p:nvPr/>
        </p:nvSpPr>
        <p:spPr>
          <a:xfrm>
            <a:off x="6400800" y="5102352"/>
            <a:ext cx="768096" cy="384048"/>
          </a:xfrm>
          <a:prstGeom prst="roundRect">
            <a:avLst>
              <a:gd name="adj" fmla="val 50000"/>
            </a:avLst>
          </a:prstGeom>
          <a:solidFill>
            <a:srgbClr val="1E293B"/>
          </a:solidFill>
          <a:ln w="12700">
            <a:solidFill>
              <a:srgbClr val="334155"/>
            </a:solidFill>
            <a:prstDash val="solid"/>
          </a:ln>
        </p:spPr>
      </p:sp>
      <p:sp>
        <p:nvSpPr>
          <p:cNvPr id="15" name="Text 13"/>
          <p:cNvSpPr txBox="1"/>
          <p:nvPr/>
        </p:nvSpPr>
        <p:spPr>
          <a:xfrm>
            <a:off x="6400800" y="5102352"/>
            <a:ext cx="768096" cy="384048"/>
          </a:xfrm>
          <a:prstGeom prst="rect">
            <a:avLst/>
          </a:prstGeom>
          <a:noFill/>
          <a:ln/>
        </p:spPr>
        <p:txBody>
          <a:bodyPr wrap="square" lIns="0" tIns="0" rIns="0" bIns="0" rtlCol="0" anchor="ctr"/>
          <a:lstStyle/>
          <a:p>
            <a:pPr algn="ctr" indent="0" marL="0">
              <a:buNone/>
            </a:pPr>
            <a:r>
              <a:rPr lang="en-US" sz="1200" dirty="0">
                <a:solidFill>
                  <a:srgbClr val="E2E8F0"/>
                </a:solidFill>
                <a:latin typeface="Roboto" pitchFamily="34" charset="0"/>
                <a:ea typeface="Roboto" pitchFamily="34" charset="-122"/>
                <a:cs typeface="Roboto" pitchFamily="34" charset="-120"/>
              </a:rPr>
              <a:t>Latency</a:t>
            </a:r>
            <a:endParaRPr lang="en-US" sz="1200" dirty="0"/>
          </a:p>
        </p:txBody>
      </p:sp>
      <p:sp>
        <p:nvSpPr>
          <p:cNvPr id="16" name="Shape 14"/>
          <p:cNvSpPr/>
          <p:nvPr/>
        </p:nvSpPr>
        <p:spPr>
          <a:xfrm>
            <a:off x="548640" y="5614416"/>
            <a:ext cx="1645920" cy="384048"/>
          </a:xfrm>
          <a:prstGeom prst="roundRect">
            <a:avLst>
              <a:gd name="adj" fmla="val 50000"/>
            </a:avLst>
          </a:prstGeom>
          <a:solidFill>
            <a:srgbClr val="1E293B"/>
          </a:solidFill>
          <a:ln w="12700">
            <a:solidFill>
              <a:srgbClr val="334155"/>
            </a:solidFill>
            <a:prstDash val="solid"/>
          </a:ln>
        </p:spPr>
      </p:sp>
      <p:sp>
        <p:nvSpPr>
          <p:cNvPr id="17" name="Text 15"/>
          <p:cNvSpPr txBox="1"/>
          <p:nvPr/>
        </p:nvSpPr>
        <p:spPr>
          <a:xfrm>
            <a:off x="548640" y="5614416"/>
            <a:ext cx="1645920" cy="384048"/>
          </a:xfrm>
          <a:prstGeom prst="rect">
            <a:avLst/>
          </a:prstGeom>
          <a:noFill/>
          <a:ln/>
        </p:spPr>
        <p:txBody>
          <a:bodyPr wrap="square" lIns="0" tIns="0" rIns="0" bIns="0" rtlCol="0" anchor="ctr"/>
          <a:lstStyle/>
          <a:p>
            <a:pPr algn="ctr" indent="0" marL="0">
              <a:buNone/>
            </a:pPr>
            <a:r>
              <a:rPr lang="en-US" sz="1200" dirty="0">
                <a:solidFill>
                  <a:srgbClr val="E2E8F0"/>
                </a:solidFill>
                <a:latin typeface="Roboto" pitchFamily="34" charset="0"/>
                <a:ea typeface="Roboto" pitchFamily="34" charset="-122"/>
                <a:cs typeface="Roboto" pitchFamily="34" charset="-120"/>
              </a:rPr>
              <a:t>Limits &amp; next steps</a:t>
            </a:r>
            <a:endParaRPr lang="en-US" sz="1200" dirty="0"/>
          </a:p>
        </p:txBody>
      </p:sp>
      <p:sp>
        <p:nvSpPr>
          <p:cNvPr id="18" name="Shape 16"/>
          <p:cNvSpPr/>
          <p:nvPr/>
        </p:nvSpPr>
        <p:spPr>
          <a:xfrm>
            <a:off x="8549640" y="1600200"/>
            <a:ext cx="3108960" cy="3108960"/>
          </a:xfrm>
          <a:prstGeom prst="ellipse">
            <a:avLst/>
          </a:prstGeom>
          <a:solidFill>
            <a:srgbClr val="1E293B"/>
          </a:solidFill>
          <a:ln w="12700">
            <a:solidFill>
              <a:srgbClr val="334155"/>
            </a:solidFill>
            <a:prstDash val="solid"/>
          </a:ln>
        </p:spPr>
      </p:sp>
      <p:pic>
        <p:nvPicPr>
          <p:cNvPr id="19" name="Image 0" descr="preencoded.png">    </p:cNvPr>
          <p:cNvPicPr>
            <a:picLocks noChangeAspect="1"/>
          </p:cNvPicPr>
          <p:nvPr/>
        </p:nvPicPr>
        <p:blipFill>
          <a:blip r:embed="rId1"/>
          <a:stretch>
            <a:fillRect/>
          </a:stretch>
        </p:blipFill>
        <p:spPr>
          <a:xfrm>
            <a:off x="9326880" y="2377440"/>
            <a:ext cx="1554480" cy="1554480"/>
          </a:xfrm>
          <a:prstGeom prst="rect">
            <a:avLst/>
          </a:prstGeom>
        </p:spPr>
      </p:pic>
      <p:pic>
        <p:nvPicPr>
          <p:cNvPr id="20" name="Image 1" descr="C:\Users\shrey\AppData\Local\Temp\claude\D--novacinternship-finsight\ef4ecb45-e580-4bc0-9be4-060aa240a5b2\scratchpad\deck\img\logo_mark_light.png">    </p:cNvPr>
          <p:cNvPicPr>
            <a:picLocks noChangeAspect="1"/>
          </p:cNvPicPr>
          <p:nvPr/>
        </p:nvPicPr>
        <p:blipFill>
          <a:blip r:embed="rId2"/>
          <a:stretch>
            <a:fillRect/>
          </a:stretch>
        </p:blipFill>
        <p:spPr>
          <a:xfrm>
            <a:off x="548640" y="502920"/>
            <a:ext cx="354509" cy="457200"/>
          </a:xfrm>
          <a:prstGeom prst="rect">
            <a:avLst/>
          </a:prstGeom>
        </p:spPr>
      </p:pic>
      <p:pic>
        <p:nvPicPr>
          <p:cNvPr id="21" name="Image 2" descr="C:\Users\shrey\AppData\Local\Temp\claude\D--novacinternship-finsight\ef4ecb45-e580-4bc0-9be4-060aa240a5b2\scratchpad\deck\img\logo_lockup_light.png">    </p:cNvPr>
          <p:cNvPicPr>
            <a:picLocks noChangeAspect="1"/>
          </p:cNvPicPr>
          <p:nvPr/>
        </p:nvPicPr>
        <p:blipFill>
          <a:blip r:embed="rId3"/>
          <a:stretch>
            <a:fillRect/>
          </a:stretch>
        </p:blipFill>
        <p:spPr>
          <a:xfrm>
            <a:off x="10360152" y="6464808"/>
            <a:ext cx="843991" cy="237744"/>
          </a:xfrm>
          <a:prstGeom prst="rect">
            <a:avLst/>
          </a:prstGeom>
        </p:spPr>
      </p:pic>
      <p:sp>
        <p:nvSpPr>
          <p:cNvPr id="22" name="Text 17"/>
          <p:cNvSpPr txBox="1"/>
          <p:nvPr/>
        </p:nvSpPr>
        <p:spPr>
          <a:xfrm>
            <a:off x="11277295" y="6473952"/>
            <a:ext cx="365760" cy="228600"/>
          </a:xfrm>
          <a:prstGeom prst="rect">
            <a:avLst/>
          </a:prstGeom>
          <a:noFill/>
          <a:ln/>
        </p:spPr>
        <p:txBody>
          <a:bodyPr wrap="square" lIns="0" tIns="0" rIns="0" bIns="0" rtlCol="0" anchor="ctr"/>
          <a:lstStyle/>
          <a:p>
            <a:pPr algn="r" indent="0" marL="0">
              <a:buNone/>
            </a:pPr>
            <a:r>
              <a:rPr lang="en-US" sz="900" dirty="0">
                <a:solidFill>
                  <a:srgbClr val="64748B"/>
                </a:solidFill>
                <a:latin typeface="Roboto" pitchFamily="34" charset="0"/>
                <a:ea typeface="Roboto" pitchFamily="34" charset="-122"/>
                <a:cs typeface="Roboto" pitchFamily="34" charset="-120"/>
              </a:rPr>
              <a:t>33</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8229600" cy="256032"/>
          </a:xfrm>
          <a:prstGeom prst="rect">
            <a:avLst/>
          </a:prstGeom>
          <a:noFill/>
          <a:ln/>
        </p:spPr>
        <p:txBody>
          <a:bodyPr wrap="square" lIns="0" tIns="0" rIns="0" bIns="0" rtlCol="0" anchor="ctr"/>
          <a:lstStyle/>
          <a:p>
            <a:pPr indent="0" marL="0">
              <a:buNone/>
            </a:pPr>
            <a:r>
              <a:rPr lang="en-US" sz="1100" b="1" spc="200" kern="0" dirty="0">
                <a:solidFill>
                  <a:srgbClr val="4F46E5"/>
                </a:solidFill>
                <a:latin typeface="Roboto" pitchFamily="34" charset="0"/>
                <a:ea typeface="Roboto" pitchFamily="34" charset="-122"/>
                <a:cs typeface="Roboto" pitchFamily="34" charset="-120"/>
              </a:rPr>
              <a:t>EVALUATION</a:t>
            </a:r>
            <a:endParaRPr lang="en-US" sz="1100" dirty="0"/>
          </a:p>
        </p:txBody>
      </p:sp>
      <p:sp>
        <p:nvSpPr>
          <p:cNvPr id="3" name="Text 1"/>
          <p:cNvSpPr txBox="1"/>
          <p:nvPr/>
        </p:nvSpPr>
        <p:spPr>
          <a:xfrm>
            <a:off x="548640" y="585216"/>
            <a:ext cx="11094415" cy="566928"/>
          </a:xfrm>
          <a:prstGeom prst="rect">
            <a:avLst/>
          </a:prstGeom>
          <a:noFill/>
          <a:ln/>
        </p:spPr>
        <p:txBody>
          <a:bodyPr wrap="square" lIns="0" tIns="0" rIns="0" bIns="0" rtlCol="0" anchor="ctr"/>
          <a:lstStyle/>
          <a:p>
            <a:pPr indent="0" marL="0">
              <a:buNone/>
            </a:pPr>
            <a:r>
              <a:rPr lang="en-US" sz="2800" b="1" dirty="0">
                <a:solidFill>
                  <a:srgbClr val="0F172A"/>
                </a:solidFill>
                <a:latin typeface="Roboto" pitchFamily="34" charset="0"/>
                <a:ea typeface="Roboto" pitchFamily="34" charset="-122"/>
                <a:cs typeface="Roboto" pitchFamily="34" charset="-120"/>
              </a:rPr>
              <a:t>How the agents were tested: twice, with the target fixed first</a:t>
            </a:r>
            <a:endParaRPr lang="en-US" sz="2800" dirty="0"/>
          </a:p>
        </p:txBody>
      </p:sp>
      <p:sp>
        <p:nvSpPr>
          <p:cNvPr id="4" name="Text 2"/>
          <p:cNvSpPr txBox="1"/>
          <p:nvPr/>
        </p:nvSpPr>
        <p:spPr>
          <a:xfrm>
            <a:off x="548640" y="1152144"/>
            <a:ext cx="11094415" cy="365760"/>
          </a:xfrm>
          <a:prstGeom prst="rect">
            <a:avLst/>
          </a:prstGeom>
          <a:noFill/>
          <a:ln/>
        </p:spPr>
        <p:txBody>
          <a:bodyPr wrap="square" lIns="0" tIns="0" rIns="0" bIns="0" rtlCol="0" anchor="ctr"/>
          <a:lstStyle/>
          <a:p>
            <a:pPr indent="0" marL="0">
              <a:buNone/>
            </a:pPr>
            <a:r>
              <a:rPr lang="en-US" sz="1400" dirty="0">
                <a:solidFill>
                  <a:srgbClr val="64748B"/>
                </a:solidFill>
                <a:latin typeface="Roboto" pitchFamily="34" charset="0"/>
                <a:ea typeface="Roboto" pitchFamily="34" charset="-122"/>
                <a:cs typeface="Roboto" pitchFamily="34" charset="-120"/>
              </a:rPr>
              <a:t>Round 1 as each agent was built, on synthetic data. Round 2 on real and public data — the scores in this deck.</a:t>
            </a:r>
            <a:endParaRPr lang="en-US" sz="1400" dirty="0"/>
          </a:p>
        </p:txBody>
      </p:sp>
      <p:pic>
        <p:nvPicPr>
          <p:cNvPr id="5" name="Image 0" descr="C:\Users\shrey\AppData\Local\Temp\claude\D--novacinternship-finsight\ef4ecb45-e580-4bc0-9be4-060aa240a5b2\scratchpad\deck\img\logo_lockup.png">    </p:cNvPr>
          <p:cNvPicPr>
            <a:picLocks noChangeAspect="1"/>
          </p:cNvPicPr>
          <p:nvPr/>
        </p:nvPicPr>
        <p:blipFill>
          <a:blip r:embed="rId1"/>
          <a:stretch>
            <a:fillRect/>
          </a:stretch>
        </p:blipFill>
        <p:spPr>
          <a:xfrm>
            <a:off x="10360152" y="6464808"/>
            <a:ext cx="843991" cy="237744"/>
          </a:xfrm>
          <a:prstGeom prst="rect">
            <a:avLst/>
          </a:prstGeom>
        </p:spPr>
      </p:pic>
      <p:sp>
        <p:nvSpPr>
          <p:cNvPr id="6" name="Text 3"/>
          <p:cNvSpPr txBox="1"/>
          <p:nvPr/>
        </p:nvSpPr>
        <p:spPr>
          <a:xfrm>
            <a:off x="11277295" y="6473952"/>
            <a:ext cx="365760" cy="228600"/>
          </a:xfrm>
          <a:prstGeom prst="rect">
            <a:avLst/>
          </a:prstGeom>
          <a:noFill/>
          <a:ln/>
        </p:spPr>
        <p:txBody>
          <a:bodyPr wrap="square" lIns="0" tIns="0" rIns="0" bIns="0" rtlCol="0" anchor="ctr"/>
          <a:lstStyle/>
          <a:p>
            <a:pPr algn="r" indent="0" marL="0">
              <a:buNone/>
            </a:pPr>
            <a:r>
              <a:rPr lang="en-US" sz="900" dirty="0">
                <a:solidFill>
                  <a:srgbClr val="94A3B8"/>
                </a:solidFill>
                <a:latin typeface="Roboto" pitchFamily="34" charset="0"/>
                <a:ea typeface="Roboto" pitchFamily="34" charset="-122"/>
                <a:cs typeface="Roboto" pitchFamily="34" charset="-120"/>
              </a:rPr>
              <a:t>34</a:t>
            </a:r>
            <a:endParaRPr lang="en-US" sz="900" dirty="0"/>
          </a:p>
        </p:txBody>
      </p:sp>
      <p:sp>
        <p:nvSpPr>
          <p:cNvPr id="8" name="Shape 4"/>
          <p:cNvSpPr/>
          <p:nvPr/>
        </p:nvSpPr>
        <p:spPr>
          <a:xfrm>
            <a:off x="548640" y="1783080"/>
            <a:ext cx="2194560" cy="777240"/>
          </a:xfrm>
          <a:prstGeom prst="chevron">
            <a:avLst/>
          </a:prstGeom>
          <a:solidFill>
            <a:srgbClr val="E0E7FF"/>
          </a:solidFill>
          <a:ln w="12700">
            <a:solidFill>
              <a:srgbClr val="C7D2FE"/>
            </a:solidFill>
            <a:prstDash val="solid"/>
          </a:ln>
        </p:spPr>
      </p:sp>
      <p:sp>
        <p:nvSpPr>
          <p:cNvPr id="9" name="Text 5"/>
          <p:cNvSpPr txBox="1"/>
          <p:nvPr/>
        </p:nvSpPr>
        <p:spPr>
          <a:xfrm>
            <a:off x="868680" y="1783080"/>
            <a:ext cx="1645920" cy="777240"/>
          </a:xfrm>
          <a:prstGeom prst="rect">
            <a:avLst/>
          </a:prstGeom>
          <a:noFill/>
          <a:ln/>
        </p:spPr>
        <p:txBody>
          <a:bodyPr wrap="square" lIns="0" tIns="0" rIns="0" bIns="0" rtlCol="0" anchor="ctr"/>
          <a:lstStyle/>
          <a:p>
            <a:pPr algn="ctr" indent="0" marL="0">
              <a:buNone/>
            </a:pPr>
            <a:r>
              <a:rPr lang="en-US" sz="1150" b="1" dirty="0">
                <a:solidFill>
                  <a:srgbClr val="3730A3"/>
                </a:solidFill>
                <a:latin typeface="Roboto" pitchFamily="34" charset="0"/>
                <a:ea typeface="Roboto" pitchFamily="34" charset="-122"/>
                <a:cs typeface="Roboto" pitchFamily="34" charset="-120"/>
              </a:rPr>
              <a:t>Fix the target</a:t>
            </a:r>
            <a:endParaRPr lang="en-US" sz="1150" dirty="0"/>
          </a:p>
          <a:p>
            <a:pPr algn="ctr" indent="0" marL="0">
              <a:buNone/>
            </a:pPr>
            <a:r>
              <a:rPr lang="en-US" sz="900" dirty="0">
                <a:solidFill>
                  <a:srgbClr val="64748B"/>
                </a:solidFill>
                <a:latin typeface="Roboto" pitchFamily="34" charset="0"/>
                <a:ea typeface="Roboto" pitchFamily="34" charset="-122"/>
                <a:cs typeface="Roboto" pitchFamily="34" charset="-120"/>
              </a:rPr>
              <a:t>targets_real.yaml</a:t>
            </a:r>
            <a:endParaRPr lang="en-US" sz="1150" dirty="0"/>
          </a:p>
        </p:txBody>
      </p:sp>
      <p:sp>
        <p:nvSpPr>
          <p:cNvPr id="10" name="Shape 6"/>
          <p:cNvSpPr/>
          <p:nvPr/>
        </p:nvSpPr>
        <p:spPr>
          <a:xfrm>
            <a:off x="2770632" y="1783080"/>
            <a:ext cx="2194560" cy="777240"/>
          </a:xfrm>
          <a:prstGeom prst="chevron">
            <a:avLst/>
          </a:prstGeom>
          <a:solidFill>
            <a:srgbClr val="EEF2FF"/>
          </a:solidFill>
          <a:ln w="12700">
            <a:solidFill>
              <a:srgbClr val="C7D2FE"/>
            </a:solidFill>
            <a:prstDash val="solid"/>
          </a:ln>
        </p:spPr>
      </p:sp>
      <p:sp>
        <p:nvSpPr>
          <p:cNvPr id="11" name="Text 7"/>
          <p:cNvSpPr txBox="1"/>
          <p:nvPr/>
        </p:nvSpPr>
        <p:spPr>
          <a:xfrm>
            <a:off x="3090672" y="1783080"/>
            <a:ext cx="1645920" cy="777240"/>
          </a:xfrm>
          <a:prstGeom prst="rect">
            <a:avLst/>
          </a:prstGeom>
          <a:noFill/>
          <a:ln/>
        </p:spPr>
        <p:txBody>
          <a:bodyPr wrap="square" lIns="0" tIns="0" rIns="0" bIns="0" rtlCol="0" anchor="ctr"/>
          <a:lstStyle/>
          <a:p>
            <a:pPr algn="ctr" indent="0" marL="0">
              <a:buNone/>
            </a:pPr>
            <a:r>
              <a:rPr lang="en-US" sz="1150" b="1" dirty="0">
                <a:solidFill>
                  <a:srgbClr val="3730A3"/>
                </a:solidFill>
                <a:latin typeface="Roboto" pitchFamily="34" charset="0"/>
                <a:ea typeface="Roboto" pitchFamily="34" charset="-122"/>
                <a:cs typeface="Roboto" pitchFamily="34" charset="-120"/>
              </a:rPr>
              <a:t>Split the data</a:t>
            </a:r>
            <a:endParaRPr lang="en-US" sz="1150" dirty="0"/>
          </a:p>
          <a:p>
            <a:pPr algn="ctr" indent="0" marL="0">
              <a:buNone/>
            </a:pPr>
            <a:r>
              <a:rPr lang="en-US" sz="900" dirty="0">
                <a:solidFill>
                  <a:srgbClr val="64748B"/>
                </a:solidFill>
                <a:latin typeface="Roboto" pitchFamily="34" charset="0"/>
                <a:ea typeface="Roboto" pitchFamily="34" charset="-122"/>
                <a:cs typeface="Roboto" pitchFamily="34" charset="-120"/>
              </a:rPr>
              <a:t>30% dev · 70% test</a:t>
            </a:r>
            <a:endParaRPr lang="en-US" sz="1150" dirty="0"/>
          </a:p>
        </p:txBody>
      </p:sp>
      <p:sp>
        <p:nvSpPr>
          <p:cNvPr id="12" name="Shape 8"/>
          <p:cNvSpPr/>
          <p:nvPr/>
        </p:nvSpPr>
        <p:spPr>
          <a:xfrm>
            <a:off x="4992624" y="1783080"/>
            <a:ext cx="2194560" cy="777240"/>
          </a:xfrm>
          <a:prstGeom prst="chevron">
            <a:avLst/>
          </a:prstGeom>
          <a:solidFill>
            <a:srgbClr val="E0E7FF"/>
          </a:solidFill>
          <a:ln w="12700">
            <a:solidFill>
              <a:srgbClr val="C7D2FE"/>
            </a:solidFill>
            <a:prstDash val="solid"/>
          </a:ln>
        </p:spPr>
      </p:sp>
      <p:sp>
        <p:nvSpPr>
          <p:cNvPr id="13" name="Text 9"/>
          <p:cNvSpPr txBox="1"/>
          <p:nvPr/>
        </p:nvSpPr>
        <p:spPr>
          <a:xfrm>
            <a:off x="5312664" y="1783080"/>
            <a:ext cx="1645920" cy="777240"/>
          </a:xfrm>
          <a:prstGeom prst="rect">
            <a:avLst/>
          </a:prstGeom>
          <a:noFill/>
          <a:ln/>
        </p:spPr>
        <p:txBody>
          <a:bodyPr wrap="square" lIns="0" tIns="0" rIns="0" bIns="0" rtlCol="0" anchor="ctr"/>
          <a:lstStyle/>
          <a:p>
            <a:pPr algn="ctr" indent="0" marL="0">
              <a:buNone/>
            </a:pPr>
            <a:r>
              <a:rPr lang="en-US" sz="1150" b="1" dirty="0">
                <a:solidFill>
                  <a:srgbClr val="3730A3"/>
                </a:solidFill>
                <a:latin typeface="Roboto" pitchFamily="34" charset="0"/>
                <a:ea typeface="Roboto" pitchFamily="34" charset="-122"/>
                <a:cs typeface="Roboto" pitchFamily="34" charset="-120"/>
              </a:rPr>
              <a:t>Run the app's own path</a:t>
            </a:r>
            <a:endParaRPr lang="en-US" sz="1150" dirty="0"/>
          </a:p>
          <a:p>
            <a:pPr algn="ctr" indent="0" marL="0">
              <a:buNone/>
            </a:pPr>
            <a:r>
              <a:rPr lang="en-US" sz="900" dirty="0">
                <a:solidFill>
                  <a:srgbClr val="64748B"/>
                </a:solidFill>
                <a:latin typeface="Roboto" pitchFamily="34" charset="0"/>
                <a:ea typeface="Roboto" pitchFamily="34" charset="-122"/>
                <a:cs typeface="Roboto" pitchFamily="34" charset="-120"/>
              </a:rPr>
              <a:t>what an upload triggers</a:t>
            </a:r>
            <a:endParaRPr lang="en-US" sz="1150" dirty="0"/>
          </a:p>
        </p:txBody>
      </p:sp>
      <p:sp>
        <p:nvSpPr>
          <p:cNvPr id="14" name="Shape 10"/>
          <p:cNvSpPr/>
          <p:nvPr/>
        </p:nvSpPr>
        <p:spPr>
          <a:xfrm>
            <a:off x="7214616" y="1783080"/>
            <a:ext cx="2194560" cy="777240"/>
          </a:xfrm>
          <a:prstGeom prst="chevron">
            <a:avLst/>
          </a:prstGeom>
          <a:solidFill>
            <a:srgbClr val="EEF2FF"/>
          </a:solidFill>
          <a:ln w="12700">
            <a:solidFill>
              <a:srgbClr val="C7D2FE"/>
            </a:solidFill>
            <a:prstDash val="solid"/>
          </a:ln>
        </p:spPr>
      </p:sp>
      <p:sp>
        <p:nvSpPr>
          <p:cNvPr id="15" name="Text 11"/>
          <p:cNvSpPr txBox="1"/>
          <p:nvPr/>
        </p:nvSpPr>
        <p:spPr>
          <a:xfrm>
            <a:off x="7534656" y="1783080"/>
            <a:ext cx="1645920" cy="777240"/>
          </a:xfrm>
          <a:prstGeom prst="rect">
            <a:avLst/>
          </a:prstGeom>
          <a:noFill/>
          <a:ln/>
        </p:spPr>
        <p:txBody>
          <a:bodyPr wrap="square" lIns="0" tIns="0" rIns="0" bIns="0" rtlCol="0" anchor="ctr"/>
          <a:lstStyle/>
          <a:p>
            <a:pPr algn="ctr" indent="0" marL="0">
              <a:buNone/>
            </a:pPr>
            <a:r>
              <a:rPr lang="en-US" sz="1150" b="1" dirty="0">
                <a:solidFill>
                  <a:srgbClr val="3730A3"/>
                </a:solidFill>
                <a:latin typeface="Roboto" pitchFamily="34" charset="0"/>
                <a:ea typeface="Roboto" pitchFamily="34" charset="-122"/>
                <a:cs typeface="Roboto" pitchFamily="34" charset="-120"/>
              </a:rPr>
              <a:t>Fix on dev only</a:t>
            </a:r>
            <a:endParaRPr lang="en-US" sz="1150" dirty="0"/>
          </a:p>
          <a:p>
            <a:pPr algn="ctr" indent="0" marL="0">
              <a:buNone/>
            </a:pPr>
            <a:r>
              <a:rPr lang="en-US" sz="900" dirty="0">
                <a:solidFill>
                  <a:srgbClr val="64748B"/>
                </a:solidFill>
                <a:latin typeface="Roboto" pitchFamily="34" charset="0"/>
                <a:ea typeface="Roboto" pitchFamily="34" charset="-122"/>
                <a:cs typeface="Roboto" pitchFamily="34" charset="-120"/>
              </a:rPr>
              <a:t>13 agents changed</a:t>
            </a:r>
            <a:endParaRPr lang="en-US" sz="1150" dirty="0"/>
          </a:p>
        </p:txBody>
      </p:sp>
      <p:sp>
        <p:nvSpPr>
          <p:cNvPr id="16" name="Shape 12"/>
          <p:cNvSpPr/>
          <p:nvPr/>
        </p:nvSpPr>
        <p:spPr>
          <a:xfrm>
            <a:off x="9436608" y="1783080"/>
            <a:ext cx="2194560" cy="777240"/>
          </a:xfrm>
          <a:prstGeom prst="chevron">
            <a:avLst/>
          </a:prstGeom>
          <a:solidFill>
            <a:srgbClr val="E0E7FF"/>
          </a:solidFill>
          <a:ln w="12700">
            <a:solidFill>
              <a:srgbClr val="C7D2FE"/>
            </a:solidFill>
            <a:prstDash val="solid"/>
          </a:ln>
        </p:spPr>
      </p:sp>
      <p:sp>
        <p:nvSpPr>
          <p:cNvPr id="17" name="Text 13"/>
          <p:cNvSpPr txBox="1"/>
          <p:nvPr/>
        </p:nvSpPr>
        <p:spPr>
          <a:xfrm>
            <a:off x="9756648" y="1783080"/>
            <a:ext cx="1645920" cy="777240"/>
          </a:xfrm>
          <a:prstGeom prst="rect">
            <a:avLst/>
          </a:prstGeom>
          <a:noFill/>
          <a:ln/>
        </p:spPr>
        <p:txBody>
          <a:bodyPr wrap="square" lIns="0" tIns="0" rIns="0" bIns="0" rtlCol="0" anchor="ctr"/>
          <a:lstStyle/>
          <a:p>
            <a:pPr algn="ctr" indent="0" marL="0">
              <a:buNone/>
            </a:pPr>
            <a:r>
              <a:rPr lang="en-US" sz="1150" b="1" dirty="0">
                <a:solidFill>
                  <a:srgbClr val="3730A3"/>
                </a:solidFill>
                <a:latin typeface="Roboto" pitchFamily="34" charset="0"/>
                <a:ea typeface="Roboto" pitchFamily="34" charset="-122"/>
                <a:cs typeface="Roboto" pitchFamily="34" charset="-120"/>
              </a:rPr>
              <a:t>Score test once</a:t>
            </a:r>
            <a:endParaRPr lang="en-US" sz="1150" dirty="0"/>
          </a:p>
          <a:p>
            <a:pPr algn="ctr" indent="0" marL="0">
              <a:buNone/>
            </a:pPr>
            <a:r>
              <a:rPr lang="en-US" sz="900" dirty="0">
                <a:solidFill>
                  <a:srgbClr val="64748B"/>
                </a:solidFill>
                <a:latin typeface="Roboto" pitchFamily="34" charset="0"/>
                <a:ea typeface="Roboto" pitchFamily="34" charset="-122"/>
                <a:cs typeface="Roboto" pitchFamily="34" charset="-120"/>
              </a:rPr>
              <a:t>95% confidence interval</a:t>
            </a:r>
            <a:endParaRPr lang="en-US" sz="1150" dirty="0"/>
          </a:p>
        </p:txBody>
      </p:sp>
      <p:sp>
        <p:nvSpPr>
          <p:cNvPr id="18" name="Text 14"/>
          <p:cNvSpPr txBox="1"/>
          <p:nvPr/>
        </p:nvSpPr>
        <p:spPr>
          <a:xfrm>
            <a:off x="548640" y="2743200"/>
            <a:ext cx="3657600" cy="256032"/>
          </a:xfrm>
          <a:prstGeom prst="rect">
            <a:avLst/>
          </a:prstGeom>
          <a:noFill/>
          <a:ln/>
        </p:spPr>
        <p:txBody>
          <a:bodyPr wrap="square" lIns="0" tIns="0" rIns="0" bIns="0" rtlCol="0" anchor="ctr"/>
          <a:lstStyle/>
          <a:p>
            <a:pPr indent="0" marL="0">
              <a:buNone/>
            </a:pPr>
            <a:r>
              <a:rPr lang="en-US" sz="1050" b="1" spc="200" kern="0" dirty="0">
                <a:solidFill>
                  <a:srgbClr val="64748B"/>
                </a:solidFill>
                <a:latin typeface="Roboto" pitchFamily="34" charset="0"/>
                <a:ea typeface="Roboto" pitchFamily="34" charset="-122"/>
                <a:cs typeface="Roboto" pitchFamily="34" charset="-120"/>
              </a:rPr>
              <a:t>RULES OF THE TEST</a:t>
            </a:r>
            <a:endParaRPr lang="en-US" sz="1050" dirty="0"/>
          </a:p>
        </p:txBody>
      </p:sp>
      <p:sp>
        <p:nvSpPr>
          <p:cNvPr id="19" name="Shape 15"/>
          <p:cNvSpPr/>
          <p:nvPr/>
        </p:nvSpPr>
        <p:spPr>
          <a:xfrm>
            <a:off x="548640" y="3044952"/>
            <a:ext cx="1530096" cy="329184"/>
          </a:xfrm>
          <a:prstGeom prst="roundRect">
            <a:avLst>
              <a:gd name="adj" fmla="val 50000"/>
            </a:avLst>
          </a:prstGeom>
          <a:solidFill>
            <a:srgbClr val="EEF2FF"/>
          </a:solidFill>
          <a:ln w="12700">
            <a:solidFill>
              <a:srgbClr val="EEF2FF"/>
            </a:solidFill>
            <a:prstDash val="solid"/>
          </a:ln>
        </p:spPr>
      </p:sp>
      <p:sp>
        <p:nvSpPr>
          <p:cNvPr id="20" name="Text 16"/>
          <p:cNvSpPr txBox="1"/>
          <p:nvPr/>
        </p:nvSpPr>
        <p:spPr>
          <a:xfrm>
            <a:off x="548640" y="3044952"/>
            <a:ext cx="1530096" cy="329184"/>
          </a:xfrm>
          <a:prstGeom prst="rect">
            <a:avLst/>
          </a:prstGeom>
          <a:noFill/>
          <a:ln/>
        </p:spPr>
        <p:txBody>
          <a:bodyPr wrap="square" lIns="0" tIns="0" rIns="0" bIns="0" rtlCol="0" anchor="ctr"/>
          <a:lstStyle/>
          <a:p>
            <a:pPr algn="ctr" indent="0" marL="0">
              <a:buNone/>
            </a:pPr>
            <a:r>
              <a:rPr lang="en-US" sz="1100" b="1" dirty="0">
                <a:solidFill>
                  <a:srgbClr val="3730A3"/>
                </a:solidFill>
                <a:latin typeface="Roboto" pitchFamily="34" charset="0"/>
                <a:ea typeface="Roboto" pitchFamily="34" charset="-122"/>
                <a:cs typeface="Roboto" pitchFamily="34" charset="-120"/>
              </a:rPr>
              <a:t>Strong = target met</a:t>
            </a:r>
            <a:endParaRPr lang="en-US" sz="1100" dirty="0"/>
          </a:p>
        </p:txBody>
      </p:sp>
      <p:sp>
        <p:nvSpPr>
          <p:cNvPr id="21" name="Shape 17"/>
          <p:cNvSpPr/>
          <p:nvPr/>
        </p:nvSpPr>
        <p:spPr>
          <a:xfrm>
            <a:off x="2170176" y="3044952"/>
            <a:ext cx="1798320" cy="329184"/>
          </a:xfrm>
          <a:prstGeom prst="roundRect">
            <a:avLst>
              <a:gd name="adj" fmla="val 50000"/>
            </a:avLst>
          </a:prstGeom>
          <a:solidFill>
            <a:srgbClr val="EEF2FF"/>
          </a:solidFill>
          <a:ln w="12700">
            <a:solidFill>
              <a:srgbClr val="EEF2FF"/>
            </a:solidFill>
            <a:prstDash val="solid"/>
          </a:ln>
        </p:spPr>
      </p:sp>
      <p:sp>
        <p:nvSpPr>
          <p:cNvPr id="22" name="Text 18"/>
          <p:cNvSpPr txBox="1"/>
          <p:nvPr/>
        </p:nvSpPr>
        <p:spPr>
          <a:xfrm>
            <a:off x="2170176" y="3044952"/>
            <a:ext cx="1798320" cy="329184"/>
          </a:xfrm>
          <a:prstGeom prst="rect">
            <a:avLst/>
          </a:prstGeom>
          <a:noFill/>
          <a:ln/>
        </p:spPr>
        <p:txBody>
          <a:bodyPr wrap="square" lIns="0" tIns="0" rIns="0" bIns="0" rtlCol="0" anchor="ctr"/>
          <a:lstStyle/>
          <a:p>
            <a:pPr algn="ctr" indent="0" marL="0">
              <a:buNone/>
            </a:pPr>
            <a:r>
              <a:rPr lang="en-US" sz="1100" b="1" dirty="0">
                <a:solidFill>
                  <a:srgbClr val="3730A3"/>
                </a:solidFill>
                <a:latin typeface="Roboto" pitchFamily="34" charset="0"/>
                <a:ea typeface="Roboto" pitchFamily="34" charset="-122"/>
                <a:cs typeface="Roboto" pitchFamily="34" charset="-120"/>
              </a:rPr>
              <a:t>Acceptable = within 10%</a:t>
            </a:r>
            <a:endParaRPr lang="en-US" sz="1100" dirty="0"/>
          </a:p>
        </p:txBody>
      </p:sp>
      <p:sp>
        <p:nvSpPr>
          <p:cNvPr id="23" name="Shape 19"/>
          <p:cNvSpPr/>
          <p:nvPr/>
        </p:nvSpPr>
        <p:spPr>
          <a:xfrm>
            <a:off x="4059936" y="3044952"/>
            <a:ext cx="1060704" cy="329184"/>
          </a:xfrm>
          <a:prstGeom prst="roundRect">
            <a:avLst>
              <a:gd name="adj" fmla="val 50000"/>
            </a:avLst>
          </a:prstGeom>
          <a:solidFill>
            <a:srgbClr val="EEF2FF"/>
          </a:solidFill>
          <a:ln w="12700">
            <a:solidFill>
              <a:srgbClr val="EEF2FF"/>
            </a:solidFill>
            <a:prstDash val="solid"/>
          </a:ln>
        </p:spPr>
      </p:sp>
      <p:sp>
        <p:nvSpPr>
          <p:cNvPr id="24" name="Text 20"/>
          <p:cNvSpPr txBox="1"/>
          <p:nvPr/>
        </p:nvSpPr>
        <p:spPr>
          <a:xfrm>
            <a:off x="4059936" y="3044952"/>
            <a:ext cx="1060704" cy="329184"/>
          </a:xfrm>
          <a:prstGeom prst="rect">
            <a:avLst/>
          </a:prstGeom>
          <a:noFill/>
          <a:ln/>
        </p:spPr>
        <p:txBody>
          <a:bodyPr wrap="square" lIns="0" tIns="0" rIns="0" bIns="0" rtlCol="0" anchor="ctr"/>
          <a:lstStyle/>
          <a:p>
            <a:pPr algn="ctr" indent="0" marL="0">
              <a:buNone/>
            </a:pPr>
            <a:r>
              <a:rPr lang="en-US" sz="1100" b="1" dirty="0">
                <a:solidFill>
                  <a:srgbClr val="3730A3"/>
                </a:solidFill>
                <a:latin typeface="Roboto" pitchFamily="34" charset="0"/>
                <a:ea typeface="Roboto" pitchFamily="34" charset="-122"/>
                <a:cs typeface="Roboto" pitchFamily="34" charset="-120"/>
              </a:rPr>
              <a:t>Weak = below</a:t>
            </a:r>
            <a:endParaRPr lang="en-US" sz="1100" dirty="0"/>
          </a:p>
        </p:txBody>
      </p:sp>
      <p:sp>
        <p:nvSpPr>
          <p:cNvPr id="25" name="Shape 21"/>
          <p:cNvSpPr/>
          <p:nvPr/>
        </p:nvSpPr>
        <p:spPr>
          <a:xfrm>
            <a:off x="5212080" y="3044952"/>
            <a:ext cx="2066544" cy="329184"/>
          </a:xfrm>
          <a:prstGeom prst="roundRect">
            <a:avLst>
              <a:gd name="adj" fmla="val 50000"/>
            </a:avLst>
          </a:prstGeom>
          <a:solidFill>
            <a:srgbClr val="EEF2FF"/>
          </a:solidFill>
          <a:ln w="12700">
            <a:solidFill>
              <a:srgbClr val="EEF2FF"/>
            </a:solidFill>
            <a:prstDash val="solid"/>
          </a:ln>
        </p:spPr>
      </p:sp>
      <p:sp>
        <p:nvSpPr>
          <p:cNvPr id="26" name="Text 22"/>
          <p:cNvSpPr txBox="1"/>
          <p:nvPr/>
        </p:nvSpPr>
        <p:spPr>
          <a:xfrm>
            <a:off x="5212080" y="3044952"/>
            <a:ext cx="2066544" cy="329184"/>
          </a:xfrm>
          <a:prstGeom prst="rect">
            <a:avLst/>
          </a:prstGeom>
          <a:noFill/>
          <a:ln/>
        </p:spPr>
        <p:txBody>
          <a:bodyPr wrap="square" lIns="0" tIns="0" rIns="0" bIns="0" rtlCol="0" anchor="ctr"/>
          <a:lstStyle/>
          <a:p>
            <a:pPr algn="ctr" indent="0" marL="0">
              <a:buNone/>
            </a:pPr>
            <a:r>
              <a:rPr lang="en-US" sz="1100" b="1" dirty="0">
                <a:solidFill>
                  <a:srgbClr val="3730A3"/>
                </a:solidFill>
                <a:latin typeface="Roboto" pitchFamily="34" charset="0"/>
                <a:ea typeface="Roboto" pitchFamily="34" charset="-122"/>
                <a:cs typeface="Roboto" pitchFamily="34" charset="-120"/>
              </a:rPr>
              <a:t>every model call on this PC</a:t>
            </a:r>
            <a:endParaRPr lang="en-US" sz="1100" dirty="0"/>
          </a:p>
        </p:txBody>
      </p:sp>
      <p:sp>
        <p:nvSpPr>
          <p:cNvPr id="27" name="Shape 23"/>
          <p:cNvSpPr/>
          <p:nvPr/>
        </p:nvSpPr>
        <p:spPr>
          <a:xfrm>
            <a:off x="7370064" y="3044952"/>
            <a:ext cx="2267712" cy="329184"/>
          </a:xfrm>
          <a:prstGeom prst="roundRect">
            <a:avLst>
              <a:gd name="adj" fmla="val 50000"/>
            </a:avLst>
          </a:prstGeom>
          <a:solidFill>
            <a:srgbClr val="EEF2FF"/>
          </a:solidFill>
          <a:ln w="12700">
            <a:solidFill>
              <a:srgbClr val="EEF2FF"/>
            </a:solidFill>
            <a:prstDash val="solid"/>
          </a:ln>
        </p:spPr>
      </p:sp>
      <p:sp>
        <p:nvSpPr>
          <p:cNvPr id="28" name="Text 24"/>
          <p:cNvSpPr txBox="1"/>
          <p:nvPr/>
        </p:nvSpPr>
        <p:spPr>
          <a:xfrm>
            <a:off x="7370064" y="3044952"/>
            <a:ext cx="2267712" cy="329184"/>
          </a:xfrm>
          <a:prstGeom prst="rect">
            <a:avLst/>
          </a:prstGeom>
          <a:noFill/>
          <a:ln/>
        </p:spPr>
        <p:txBody>
          <a:bodyPr wrap="square" lIns="0" tIns="0" rIns="0" bIns="0" rtlCol="0" anchor="ctr"/>
          <a:lstStyle/>
          <a:p>
            <a:pPr algn="ctr" indent="0" marL="0">
              <a:buNone/>
            </a:pPr>
            <a:r>
              <a:rPr lang="en-US" sz="1100" b="1" dirty="0">
                <a:solidFill>
                  <a:srgbClr val="3730A3"/>
                </a:solidFill>
                <a:latin typeface="Roboto" pitchFamily="34" charset="0"/>
                <a:ea typeface="Roboto" pitchFamily="34" charset="-122"/>
                <a:cs typeface="Roboto" pitchFamily="34" charset="-120"/>
              </a:rPr>
              <a:t>no real PAN or Aadhaar numbers</a:t>
            </a:r>
            <a:endParaRPr lang="en-US" sz="1100" dirty="0"/>
          </a:p>
        </p:txBody>
      </p:sp>
      <p:sp>
        <p:nvSpPr>
          <p:cNvPr id="29" name="Shape 25"/>
          <p:cNvSpPr/>
          <p:nvPr/>
        </p:nvSpPr>
        <p:spPr>
          <a:xfrm>
            <a:off x="9729216" y="3044952"/>
            <a:ext cx="1731264" cy="329184"/>
          </a:xfrm>
          <a:prstGeom prst="roundRect">
            <a:avLst>
              <a:gd name="adj" fmla="val 50000"/>
            </a:avLst>
          </a:prstGeom>
          <a:solidFill>
            <a:srgbClr val="EEF2FF"/>
          </a:solidFill>
          <a:ln w="12700">
            <a:solidFill>
              <a:srgbClr val="EEF2FF"/>
            </a:solidFill>
            <a:prstDash val="solid"/>
          </a:ln>
        </p:spPr>
      </p:sp>
      <p:sp>
        <p:nvSpPr>
          <p:cNvPr id="30" name="Text 26"/>
          <p:cNvSpPr txBox="1"/>
          <p:nvPr/>
        </p:nvSpPr>
        <p:spPr>
          <a:xfrm>
            <a:off x="9729216" y="3044952"/>
            <a:ext cx="1731264" cy="329184"/>
          </a:xfrm>
          <a:prstGeom prst="rect">
            <a:avLst/>
          </a:prstGeom>
          <a:noFill/>
          <a:ln/>
        </p:spPr>
        <p:txBody>
          <a:bodyPr wrap="square" lIns="0" tIns="0" rIns="0" bIns="0" rtlCol="0" anchor="ctr"/>
          <a:lstStyle/>
          <a:p>
            <a:pPr algn="ctr" indent="0" marL="0">
              <a:buNone/>
            </a:pPr>
            <a:r>
              <a:rPr lang="en-US" sz="1100" b="1" dirty="0">
                <a:solidFill>
                  <a:srgbClr val="3730A3"/>
                </a:solidFill>
                <a:latin typeface="Roboto" pitchFamily="34" charset="0"/>
                <a:ea typeface="Roboto" pitchFamily="34" charset="-122"/>
                <a:cs typeface="Roboto" pitchFamily="34" charset="-120"/>
              </a:rPr>
              <a:t>aggregate results only</a:t>
            </a:r>
            <a:endParaRPr lang="en-US" sz="1100" dirty="0"/>
          </a:p>
        </p:txBody>
      </p:sp>
      <p:sp>
        <p:nvSpPr>
          <p:cNvPr id="31" name="Text 27"/>
          <p:cNvSpPr txBox="1"/>
          <p:nvPr/>
        </p:nvSpPr>
        <p:spPr>
          <a:xfrm>
            <a:off x="548640" y="3611880"/>
            <a:ext cx="3657600" cy="256032"/>
          </a:xfrm>
          <a:prstGeom prst="rect">
            <a:avLst/>
          </a:prstGeom>
          <a:noFill/>
          <a:ln/>
        </p:spPr>
        <p:txBody>
          <a:bodyPr wrap="square" lIns="0" tIns="0" rIns="0" bIns="0" rtlCol="0" anchor="ctr"/>
          <a:lstStyle/>
          <a:p>
            <a:pPr indent="0" marL="0">
              <a:buNone/>
            </a:pPr>
            <a:r>
              <a:rPr lang="en-US" sz="1050" b="1" spc="200" kern="0" dirty="0">
                <a:solidFill>
                  <a:srgbClr val="64748B"/>
                </a:solidFill>
                <a:latin typeface="Roboto" pitchFamily="34" charset="0"/>
                <a:ea typeface="Roboto" pitchFamily="34" charset="-122"/>
                <a:cs typeface="Roboto" pitchFamily="34" charset="-120"/>
              </a:rPr>
              <a:t>REAL AND PUBLIC DATA</a:t>
            </a:r>
            <a:endParaRPr lang="en-US" sz="1050" dirty="0"/>
          </a:p>
        </p:txBody>
      </p:sp>
      <p:sp>
        <p:nvSpPr>
          <p:cNvPr id="32" name="Shape 28"/>
          <p:cNvSpPr/>
          <p:nvPr/>
        </p:nvSpPr>
        <p:spPr>
          <a:xfrm>
            <a:off x="548640" y="3931920"/>
            <a:ext cx="3566160" cy="1078992"/>
          </a:xfrm>
          <a:prstGeom prst="roundRect">
            <a:avLst>
              <a:gd name="adj" fmla="val 8475"/>
            </a:avLst>
          </a:prstGeom>
          <a:solidFill>
            <a:srgbClr val="F8FAFC"/>
          </a:solidFill>
          <a:ln w="12700">
            <a:solidFill>
              <a:srgbClr val="E2E8F0"/>
            </a:solidFill>
            <a:prstDash val="solid"/>
          </a:ln>
        </p:spPr>
      </p:sp>
      <p:sp>
        <p:nvSpPr>
          <p:cNvPr id="33" name="Shape 29"/>
          <p:cNvSpPr/>
          <p:nvPr/>
        </p:nvSpPr>
        <p:spPr>
          <a:xfrm>
            <a:off x="713232" y="4114800"/>
            <a:ext cx="457200" cy="457200"/>
          </a:xfrm>
          <a:prstGeom prst="ellipse">
            <a:avLst/>
          </a:prstGeom>
          <a:solidFill>
            <a:srgbClr val="EEF2FF"/>
          </a:solidFill>
          <a:ln w="12700">
            <a:solidFill>
              <a:srgbClr val="EEF2FF"/>
            </a:solidFill>
            <a:prstDash val="solid"/>
          </a:ln>
        </p:spPr>
      </p:sp>
      <p:pic>
        <p:nvPicPr>
          <p:cNvPr id="34" name="Image 1" descr="preencoded.png">    </p:cNvPr>
          <p:cNvPicPr>
            <a:picLocks noChangeAspect="1"/>
          </p:cNvPicPr>
          <p:nvPr/>
        </p:nvPicPr>
        <p:blipFill>
          <a:blip r:embed="rId2"/>
          <a:stretch>
            <a:fillRect/>
          </a:stretch>
        </p:blipFill>
        <p:spPr>
          <a:xfrm>
            <a:off x="813816" y="4215384"/>
            <a:ext cx="256032" cy="256032"/>
          </a:xfrm>
          <a:prstGeom prst="rect">
            <a:avLst/>
          </a:prstGeom>
        </p:spPr>
      </p:pic>
      <p:sp>
        <p:nvSpPr>
          <p:cNvPr id="35" name="Text 30"/>
          <p:cNvSpPr txBox="1"/>
          <p:nvPr/>
        </p:nvSpPr>
        <p:spPr>
          <a:xfrm>
            <a:off x="1298448" y="3986784"/>
            <a:ext cx="2724912" cy="969264"/>
          </a:xfrm>
          <a:prstGeom prst="rect">
            <a:avLst/>
          </a:prstGeom>
          <a:noFill/>
          <a:ln/>
        </p:spPr>
        <p:txBody>
          <a:bodyPr wrap="square" lIns="0" tIns="0" rIns="0" bIns="0" rtlCol="0" anchor="ctr"/>
          <a:lstStyle/>
          <a:p>
            <a:pPr indent="0" marL="0">
              <a:spcAft>
                <a:spcPts val="200"/>
              </a:spcAft>
              <a:buNone/>
            </a:pPr>
            <a:r>
              <a:rPr lang="en-US" sz="1200" b="1" dirty="0">
                <a:solidFill>
                  <a:srgbClr val="0F172A"/>
                </a:solidFill>
                <a:latin typeface="Roboto" pitchFamily="34" charset="0"/>
                <a:ea typeface="Roboto" pitchFamily="34" charset="-122"/>
                <a:cs typeface="Roboto" pitchFamily="34" charset="-120"/>
              </a:rPr>
              <a:t>Forged documents</a:t>
            </a:r>
            <a:endParaRPr lang="en-US" sz="1200" dirty="0"/>
          </a:p>
          <a:p>
            <a:pPr indent="0" marL="0">
              <a:spcAft>
                <a:spcPts val="200"/>
              </a:spcAft>
              <a:buNone/>
            </a:pPr>
            <a:r>
              <a:rPr lang="en-US" sz="950" dirty="0">
                <a:solidFill>
                  <a:srgbClr val="64748B"/>
                </a:solidFill>
                <a:latin typeface="Roboto" pitchFamily="34" charset="0"/>
                <a:ea typeface="Roboto" pitchFamily="34" charset="-122"/>
                <a:cs typeface="Roboto" pitchFamily="34" charset="-120"/>
              </a:rPr>
              <a:t>Find it again!: 988 real receipts, 163 forged by people. SIDTD: ID images with replaced or repainted fields.</a:t>
            </a:r>
            <a:endParaRPr lang="en-US" sz="1200" dirty="0"/>
          </a:p>
        </p:txBody>
      </p:sp>
      <p:sp>
        <p:nvSpPr>
          <p:cNvPr id="36" name="Shape 31"/>
          <p:cNvSpPr/>
          <p:nvPr/>
        </p:nvSpPr>
        <p:spPr>
          <a:xfrm>
            <a:off x="4297680" y="3931920"/>
            <a:ext cx="3566160" cy="1078992"/>
          </a:xfrm>
          <a:prstGeom prst="roundRect">
            <a:avLst>
              <a:gd name="adj" fmla="val 8475"/>
            </a:avLst>
          </a:prstGeom>
          <a:solidFill>
            <a:srgbClr val="F8FAFC"/>
          </a:solidFill>
          <a:ln w="12700">
            <a:solidFill>
              <a:srgbClr val="E2E8F0"/>
            </a:solidFill>
            <a:prstDash val="solid"/>
          </a:ln>
        </p:spPr>
      </p:sp>
      <p:sp>
        <p:nvSpPr>
          <p:cNvPr id="37" name="Shape 32"/>
          <p:cNvSpPr/>
          <p:nvPr/>
        </p:nvSpPr>
        <p:spPr>
          <a:xfrm>
            <a:off x="4462272" y="4114800"/>
            <a:ext cx="457200" cy="457200"/>
          </a:xfrm>
          <a:prstGeom prst="ellipse">
            <a:avLst/>
          </a:prstGeom>
          <a:solidFill>
            <a:srgbClr val="EEF2FF"/>
          </a:solidFill>
          <a:ln w="12700">
            <a:solidFill>
              <a:srgbClr val="EEF2FF"/>
            </a:solidFill>
            <a:prstDash val="solid"/>
          </a:ln>
        </p:spPr>
      </p:sp>
      <p:pic>
        <p:nvPicPr>
          <p:cNvPr id="38" name="Image 2" descr="preencoded.png">    </p:cNvPr>
          <p:cNvPicPr>
            <a:picLocks noChangeAspect="1"/>
          </p:cNvPicPr>
          <p:nvPr/>
        </p:nvPicPr>
        <p:blipFill>
          <a:blip r:embed="rId3"/>
          <a:stretch>
            <a:fillRect/>
          </a:stretch>
        </p:blipFill>
        <p:spPr>
          <a:xfrm>
            <a:off x="4562856" y="4215384"/>
            <a:ext cx="256032" cy="256032"/>
          </a:xfrm>
          <a:prstGeom prst="rect">
            <a:avLst/>
          </a:prstGeom>
        </p:spPr>
      </p:pic>
      <p:sp>
        <p:nvSpPr>
          <p:cNvPr id="39" name="Text 33"/>
          <p:cNvSpPr txBox="1"/>
          <p:nvPr/>
        </p:nvSpPr>
        <p:spPr>
          <a:xfrm>
            <a:off x="5047488" y="3986784"/>
            <a:ext cx="2724912" cy="969264"/>
          </a:xfrm>
          <a:prstGeom prst="rect">
            <a:avLst/>
          </a:prstGeom>
          <a:noFill/>
          <a:ln/>
        </p:spPr>
        <p:txBody>
          <a:bodyPr wrap="square" lIns="0" tIns="0" rIns="0" bIns="0" rtlCol="0" anchor="ctr"/>
          <a:lstStyle/>
          <a:p>
            <a:pPr indent="0" marL="0">
              <a:spcAft>
                <a:spcPts val="200"/>
              </a:spcAft>
              <a:buNone/>
            </a:pPr>
            <a:r>
              <a:rPr lang="en-US" sz="1200" b="1" dirty="0">
                <a:solidFill>
                  <a:srgbClr val="0F172A"/>
                </a:solidFill>
                <a:latin typeface="Roboto" pitchFamily="34" charset="0"/>
                <a:ea typeface="Roboto" pitchFamily="34" charset="-122"/>
                <a:cs typeface="Roboto" pitchFamily="34" charset="-120"/>
              </a:rPr>
              <a:t>Photos and scans</a:t>
            </a:r>
            <a:endParaRPr lang="en-US" sz="1200" dirty="0"/>
          </a:p>
          <a:p>
            <a:pPr indent="0" marL="0">
              <a:spcAft>
                <a:spcPts val="200"/>
              </a:spcAft>
              <a:buNone/>
            </a:pPr>
            <a:r>
              <a:rPr lang="en-US" sz="950" dirty="0">
                <a:solidFill>
                  <a:srgbClr val="64748B"/>
                </a:solidFill>
                <a:latin typeface="Roboto" pitchFamily="34" charset="0"/>
                <a:ea typeface="Roboto" pitchFamily="34" charset="-122"/>
                <a:cs typeface="Roboto" pitchFamily="34" charset="-120"/>
              </a:rPr>
              <a:t>MIDV-500 phone frames of ID cards; SROIE, FUNSD and RVL-CDIP real scanned pages.</a:t>
            </a:r>
            <a:endParaRPr lang="en-US" sz="1200" dirty="0"/>
          </a:p>
        </p:txBody>
      </p:sp>
      <p:sp>
        <p:nvSpPr>
          <p:cNvPr id="40" name="Shape 34"/>
          <p:cNvSpPr/>
          <p:nvPr/>
        </p:nvSpPr>
        <p:spPr>
          <a:xfrm>
            <a:off x="8046720" y="3931920"/>
            <a:ext cx="3566160" cy="1078992"/>
          </a:xfrm>
          <a:prstGeom prst="roundRect">
            <a:avLst>
              <a:gd name="adj" fmla="val 8475"/>
            </a:avLst>
          </a:prstGeom>
          <a:solidFill>
            <a:srgbClr val="F8FAFC"/>
          </a:solidFill>
          <a:ln w="12700">
            <a:solidFill>
              <a:srgbClr val="E2E8F0"/>
            </a:solidFill>
            <a:prstDash val="solid"/>
          </a:ln>
        </p:spPr>
      </p:sp>
      <p:sp>
        <p:nvSpPr>
          <p:cNvPr id="41" name="Shape 35"/>
          <p:cNvSpPr/>
          <p:nvPr/>
        </p:nvSpPr>
        <p:spPr>
          <a:xfrm>
            <a:off x="8211312" y="4114800"/>
            <a:ext cx="457200" cy="457200"/>
          </a:xfrm>
          <a:prstGeom prst="ellipse">
            <a:avLst/>
          </a:prstGeom>
          <a:solidFill>
            <a:srgbClr val="EEF2FF"/>
          </a:solidFill>
          <a:ln w="12700">
            <a:solidFill>
              <a:srgbClr val="EEF2FF"/>
            </a:solidFill>
            <a:prstDash val="solid"/>
          </a:ln>
        </p:spPr>
      </p:sp>
      <p:pic>
        <p:nvPicPr>
          <p:cNvPr id="42" name="Image 3" descr="preencoded.png">    </p:cNvPr>
          <p:cNvPicPr>
            <a:picLocks noChangeAspect="1"/>
          </p:cNvPicPr>
          <p:nvPr/>
        </p:nvPicPr>
        <p:blipFill>
          <a:blip r:embed="rId4"/>
          <a:stretch>
            <a:fillRect/>
          </a:stretch>
        </p:blipFill>
        <p:spPr>
          <a:xfrm>
            <a:off x="8311896" y="4215384"/>
            <a:ext cx="256032" cy="256032"/>
          </a:xfrm>
          <a:prstGeom prst="rect">
            <a:avLst/>
          </a:prstGeom>
        </p:spPr>
      </p:pic>
      <p:sp>
        <p:nvSpPr>
          <p:cNvPr id="43" name="Text 36"/>
          <p:cNvSpPr txBox="1"/>
          <p:nvPr/>
        </p:nvSpPr>
        <p:spPr>
          <a:xfrm>
            <a:off x="8796528" y="3986784"/>
            <a:ext cx="2724912" cy="969264"/>
          </a:xfrm>
          <a:prstGeom prst="rect">
            <a:avLst/>
          </a:prstGeom>
          <a:noFill/>
          <a:ln/>
        </p:spPr>
        <p:txBody>
          <a:bodyPr wrap="square" lIns="0" tIns="0" rIns="0" bIns="0" rtlCol="0" anchor="ctr"/>
          <a:lstStyle/>
          <a:p>
            <a:pPr indent="0" marL="0">
              <a:spcAft>
                <a:spcPts val="200"/>
              </a:spcAft>
              <a:buNone/>
            </a:pPr>
            <a:r>
              <a:rPr lang="en-US" sz="1200" b="1" dirty="0">
                <a:solidFill>
                  <a:srgbClr val="0F172A"/>
                </a:solidFill>
                <a:latin typeface="Roboto" pitchFamily="34" charset="0"/>
                <a:ea typeface="Roboto" pitchFamily="34" charset="-122"/>
                <a:cs typeface="Roboto" pitchFamily="34" charset="-120"/>
              </a:rPr>
              <a:t>Faces and liveness</a:t>
            </a:r>
            <a:endParaRPr lang="en-US" sz="1200" dirty="0"/>
          </a:p>
          <a:p>
            <a:pPr indent="0" marL="0">
              <a:spcAft>
                <a:spcPts val="200"/>
              </a:spcAft>
              <a:buNone/>
            </a:pPr>
            <a:r>
              <a:rPr lang="en-US" sz="950" dirty="0">
                <a:solidFill>
                  <a:srgbClr val="64748B"/>
                </a:solidFill>
                <a:latin typeface="Roboto" pitchFamily="34" charset="0"/>
                <a:ea typeface="Roboto" pitchFamily="34" charset="-122"/>
                <a:cs typeface="Roboto" pitchFamily="34" charset="-120"/>
              </a:rPr>
              <a:t>AgeDB-30, CALFW, CPLFW and LFW pair protocols; NUAA and CelebA-Spoof printed-photo attacks.</a:t>
            </a:r>
            <a:endParaRPr lang="en-US" sz="1200" dirty="0"/>
          </a:p>
        </p:txBody>
      </p:sp>
      <p:sp>
        <p:nvSpPr>
          <p:cNvPr id="44" name="Shape 37"/>
          <p:cNvSpPr/>
          <p:nvPr/>
        </p:nvSpPr>
        <p:spPr>
          <a:xfrm>
            <a:off x="548640" y="5138928"/>
            <a:ext cx="3566160" cy="1078992"/>
          </a:xfrm>
          <a:prstGeom prst="roundRect">
            <a:avLst>
              <a:gd name="adj" fmla="val 8475"/>
            </a:avLst>
          </a:prstGeom>
          <a:solidFill>
            <a:srgbClr val="F8FAFC"/>
          </a:solidFill>
          <a:ln w="12700">
            <a:solidFill>
              <a:srgbClr val="E2E8F0"/>
            </a:solidFill>
            <a:prstDash val="solid"/>
          </a:ln>
        </p:spPr>
      </p:sp>
      <p:sp>
        <p:nvSpPr>
          <p:cNvPr id="45" name="Shape 38"/>
          <p:cNvSpPr/>
          <p:nvPr/>
        </p:nvSpPr>
        <p:spPr>
          <a:xfrm>
            <a:off x="713232" y="5321808"/>
            <a:ext cx="457200" cy="457200"/>
          </a:xfrm>
          <a:prstGeom prst="ellipse">
            <a:avLst/>
          </a:prstGeom>
          <a:solidFill>
            <a:srgbClr val="EEF2FF"/>
          </a:solidFill>
          <a:ln w="12700">
            <a:solidFill>
              <a:srgbClr val="EEF2FF"/>
            </a:solidFill>
            <a:prstDash val="solid"/>
          </a:ln>
        </p:spPr>
      </p:sp>
      <p:pic>
        <p:nvPicPr>
          <p:cNvPr id="46" name="Image 4" descr="preencoded.png">    </p:cNvPr>
          <p:cNvPicPr>
            <a:picLocks noChangeAspect="1"/>
          </p:cNvPicPr>
          <p:nvPr/>
        </p:nvPicPr>
        <p:blipFill>
          <a:blip r:embed="rId5"/>
          <a:stretch>
            <a:fillRect/>
          </a:stretch>
        </p:blipFill>
        <p:spPr>
          <a:xfrm>
            <a:off x="813816" y="5422392"/>
            <a:ext cx="256032" cy="256032"/>
          </a:xfrm>
          <a:prstGeom prst="rect">
            <a:avLst/>
          </a:prstGeom>
        </p:spPr>
      </p:pic>
      <p:sp>
        <p:nvSpPr>
          <p:cNvPr id="47" name="Text 39"/>
          <p:cNvSpPr txBox="1"/>
          <p:nvPr/>
        </p:nvSpPr>
        <p:spPr>
          <a:xfrm>
            <a:off x="1298448" y="5193792"/>
            <a:ext cx="2724912" cy="969264"/>
          </a:xfrm>
          <a:prstGeom prst="rect">
            <a:avLst/>
          </a:prstGeom>
          <a:noFill/>
          <a:ln/>
        </p:spPr>
        <p:txBody>
          <a:bodyPr wrap="square" lIns="0" tIns="0" rIns="0" bIns="0" rtlCol="0" anchor="ctr"/>
          <a:lstStyle/>
          <a:p>
            <a:pPr indent="0" marL="0">
              <a:spcAft>
                <a:spcPts val="200"/>
              </a:spcAft>
              <a:buNone/>
            </a:pPr>
            <a:r>
              <a:rPr lang="en-US" sz="1200" b="1" dirty="0">
                <a:solidFill>
                  <a:srgbClr val="0F172A"/>
                </a:solidFill>
                <a:latin typeface="Roboto" pitchFamily="34" charset="0"/>
                <a:ea typeface="Roboto" pitchFamily="34" charset="-122"/>
                <a:cs typeface="Roboto" pitchFamily="34" charset="-120"/>
              </a:rPr>
              <a:t>Loans and accounts</a:t>
            </a:r>
            <a:endParaRPr lang="en-US" sz="1200" dirty="0"/>
          </a:p>
          <a:p>
            <a:pPr indent="0" marL="0">
              <a:spcAft>
                <a:spcPts val="200"/>
              </a:spcAft>
              <a:buNone/>
            </a:pPr>
            <a:r>
              <a:rPr lang="en-US" sz="950" dirty="0">
                <a:solidFill>
                  <a:srgbClr val="64748B"/>
                </a:solidFill>
                <a:latin typeface="Roboto" pitchFamily="34" charset="0"/>
                <a:ea typeface="Roboto" pitchFamily="34" charset="-122"/>
                <a:cs typeface="Roboto" pitchFamily="34" charset="-120"/>
              </a:rPr>
              <a:t>233,000 Indian two-wheeler loans with real defaults (L&amp;T); 4,500 real bank accounts (Berka).</a:t>
            </a:r>
            <a:endParaRPr lang="en-US" sz="1200" dirty="0"/>
          </a:p>
        </p:txBody>
      </p:sp>
      <p:sp>
        <p:nvSpPr>
          <p:cNvPr id="48" name="Shape 40"/>
          <p:cNvSpPr/>
          <p:nvPr/>
        </p:nvSpPr>
        <p:spPr>
          <a:xfrm>
            <a:off x="4297680" y="5138928"/>
            <a:ext cx="3566160" cy="1078992"/>
          </a:xfrm>
          <a:prstGeom prst="roundRect">
            <a:avLst>
              <a:gd name="adj" fmla="val 8475"/>
            </a:avLst>
          </a:prstGeom>
          <a:solidFill>
            <a:srgbClr val="F8FAFC"/>
          </a:solidFill>
          <a:ln w="12700">
            <a:solidFill>
              <a:srgbClr val="E2E8F0"/>
            </a:solidFill>
            <a:prstDash val="solid"/>
          </a:ln>
        </p:spPr>
      </p:sp>
      <p:sp>
        <p:nvSpPr>
          <p:cNvPr id="49" name="Shape 41"/>
          <p:cNvSpPr/>
          <p:nvPr/>
        </p:nvSpPr>
        <p:spPr>
          <a:xfrm>
            <a:off x="4462272" y="5321808"/>
            <a:ext cx="457200" cy="457200"/>
          </a:xfrm>
          <a:prstGeom prst="ellipse">
            <a:avLst/>
          </a:prstGeom>
          <a:solidFill>
            <a:srgbClr val="EEF2FF"/>
          </a:solidFill>
          <a:ln w="12700">
            <a:solidFill>
              <a:srgbClr val="EEF2FF"/>
            </a:solidFill>
            <a:prstDash val="solid"/>
          </a:ln>
        </p:spPr>
      </p:sp>
      <p:pic>
        <p:nvPicPr>
          <p:cNvPr id="50" name="Image 5" descr="preencoded.png">    </p:cNvPr>
          <p:cNvPicPr>
            <a:picLocks noChangeAspect="1"/>
          </p:cNvPicPr>
          <p:nvPr/>
        </p:nvPicPr>
        <p:blipFill>
          <a:blip r:embed="rId6"/>
          <a:stretch>
            <a:fillRect/>
          </a:stretch>
        </p:blipFill>
        <p:spPr>
          <a:xfrm>
            <a:off x="4562856" y="5422392"/>
            <a:ext cx="256032" cy="256032"/>
          </a:xfrm>
          <a:prstGeom prst="rect">
            <a:avLst/>
          </a:prstGeom>
        </p:spPr>
      </p:pic>
      <p:sp>
        <p:nvSpPr>
          <p:cNvPr id="51" name="Text 42"/>
          <p:cNvSpPr txBox="1"/>
          <p:nvPr/>
        </p:nvSpPr>
        <p:spPr>
          <a:xfrm>
            <a:off x="5047488" y="5193792"/>
            <a:ext cx="2724912" cy="969264"/>
          </a:xfrm>
          <a:prstGeom prst="rect">
            <a:avLst/>
          </a:prstGeom>
          <a:noFill/>
          <a:ln/>
        </p:spPr>
        <p:txBody>
          <a:bodyPr wrap="square" lIns="0" tIns="0" rIns="0" bIns="0" rtlCol="0" anchor="ctr"/>
          <a:lstStyle/>
          <a:p>
            <a:pPr indent="0" marL="0">
              <a:spcAft>
                <a:spcPts val="200"/>
              </a:spcAft>
              <a:buNone/>
            </a:pPr>
            <a:r>
              <a:rPr lang="en-US" sz="1200" b="1" dirty="0">
                <a:solidFill>
                  <a:srgbClr val="0F172A"/>
                </a:solidFill>
                <a:latin typeface="Roboto" pitchFamily="34" charset="0"/>
                <a:ea typeface="Roboto" pitchFamily="34" charset="-122"/>
                <a:cs typeface="Roboto" pitchFamily="34" charset="-120"/>
              </a:rPr>
              <a:t>Regulations and process</a:t>
            </a:r>
            <a:endParaRPr lang="en-US" sz="1200" dirty="0"/>
          </a:p>
          <a:p>
            <a:pPr indent="0" marL="0">
              <a:spcAft>
                <a:spcPts val="200"/>
              </a:spcAft>
              <a:buNone/>
            </a:pPr>
            <a:r>
              <a:rPr lang="en-US" sz="950" dirty="0">
                <a:solidFill>
                  <a:srgbClr val="64748B"/>
                </a:solidFill>
                <a:latin typeface="Roboto" pitchFamily="34" charset="0"/>
                <a:ea typeface="Roboto" pitchFamily="34" charset="-122"/>
                <a:cs typeface="Roboto" pitchFamily="34" charset="-120"/>
              </a:rPr>
              <a:t>ObliQA: 40 real regulations with gold answers. BPI 2017: a real bank's loan event log.</a:t>
            </a:r>
            <a:endParaRPr lang="en-US" sz="1200" dirty="0"/>
          </a:p>
        </p:txBody>
      </p:sp>
      <p:sp>
        <p:nvSpPr>
          <p:cNvPr id="52" name="Shape 43"/>
          <p:cNvSpPr/>
          <p:nvPr/>
        </p:nvSpPr>
        <p:spPr>
          <a:xfrm>
            <a:off x="8046720" y="5138928"/>
            <a:ext cx="3566160" cy="1078992"/>
          </a:xfrm>
          <a:prstGeom prst="roundRect">
            <a:avLst>
              <a:gd name="adj" fmla="val 8475"/>
            </a:avLst>
          </a:prstGeom>
          <a:solidFill>
            <a:srgbClr val="F8FAFC"/>
          </a:solidFill>
          <a:ln w="12700">
            <a:solidFill>
              <a:srgbClr val="E2E8F0"/>
            </a:solidFill>
            <a:prstDash val="solid"/>
          </a:ln>
        </p:spPr>
      </p:sp>
      <p:sp>
        <p:nvSpPr>
          <p:cNvPr id="53" name="Shape 44"/>
          <p:cNvSpPr/>
          <p:nvPr/>
        </p:nvSpPr>
        <p:spPr>
          <a:xfrm>
            <a:off x="8211312" y="5321808"/>
            <a:ext cx="457200" cy="457200"/>
          </a:xfrm>
          <a:prstGeom prst="ellipse">
            <a:avLst/>
          </a:prstGeom>
          <a:solidFill>
            <a:srgbClr val="EEF2FF"/>
          </a:solidFill>
          <a:ln w="12700">
            <a:solidFill>
              <a:srgbClr val="EEF2FF"/>
            </a:solidFill>
            <a:prstDash val="solid"/>
          </a:ln>
        </p:spPr>
      </p:sp>
      <p:pic>
        <p:nvPicPr>
          <p:cNvPr id="54" name="Image 6" descr="preencoded.png">    </p:cNvPr>
          <p:cNvPicPr>
            <a:picLocks noChangeAspect="1"/>
          </p:cNvPicPr>
          <p:nvPr/>
        </p:nvPicPr>
        <p:blipFill>
          <a:blip r:embed="rId7"/>
          <a:stretch>
            <a:fillRect/>
          </a:stretch>
        </p:blipFill>
        <p:spPr>
          <a:xfrm>
            <a:off x="8311896" y="5422392"/>
            <a:ext cx="256032" cy="256032"/>
          </a:xfrm>
          <a:prstGeom prst="rect">
            <a:avLst/>
          </a:prstGeom>
        </p:spPr>
      </p:pic>
      <p:sp>
        <p:nvSpPr>
          <p:cNvPr id="55" name="Text 45"/>
          <p:cNvSpPr txBox="1"/>
          <p:nvPr/>
        </p:nvSpPr>
        <p:spPr>
          <a:xfrm>
            <a:off x="8796528" y="5193792"/>
            <a:ext cx="2724912" cy="969264"/>
          </a:xfrm>
          <a:prstGeom prst="rect">
            <a:avLst/>
          </a:prstGeom>
          <a:noFill/>
          <a:ln/>
        </p:spPr>
        <p:txBody>
          <a:bodyPr wrap="square" lIns="0" tIns="0" rIns="0" bIns="0" rtlCol="0" anchor="ctr"/>
          <a:lstStyle/>
          <a:p>
            <a:pPr indent="0" marL="0">
              <a:spcAft>
                <a:spcPts val="200"/>
              </a:spcAft>
              <a:buNone/>
            </a:pPr>
            <a:r>
              <a:rPr lang="en-US" sz="1200" b="1" dirty="0">
                <a:solidFill>
                  <a:srgbClr val="0F172A"/>
                </a:solidFill>
                <a:latin typeface="Roboto" pitchFamily="34" charset="0"/>
                <a:ea typeface="Roboto" pitchFamily="34" charset="-122"/>
                <a:cs typeface="Roboto" pitchFamily="34" charset="-120"/>
              </a:rPr>
              <a:t>Indian IDs and statements</a:t>
            </a:r>
            <a:endParaRPr lang="en-US" sz="1200" dirty="0"/>
          </a:p>
          <a:p>
            <a:pPr indent="0" marL="0">
              <a:spcAft>
                <a:spcPts val="200"/>
              </a:spcAft>
              <a:buNone/>
            </a:pPr>
            <a:r>
              <a:rPr lang="en-US" sz="950" dirty="0">
                <a:solidFill>
                  <a:srgbClr val="64748B"/>
                </a:solidFill>
                <a:latin typeface="Roboto" pitchFamily="34" charset="0"/>
                <a:ea typeface="Roboto" pitchFamily="34" charset="-122"/>
                <a:cs typeface="Roboto" pitchFamily="34" charset="-120"/>
              </a:rPr>
              <a:t>Labelled synthetic PAN / Aadhaar cards and statements in real bank layouts — no lawful public set of real ones exists.</a:t>
            </a:r>
            <a:endParaRPr lang="en-US" sz="12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8229600" cy="256032"/>
          </a:xfrm>
          <a:prstGeom prst="rect">
            <a:avLst/>
          </a:prstGeom>
          <a:noFill/>
          <a:ln/>
        </p:spPr>
        <p:txBody>
          <a:bodyPr wrap="square" lIns="0" tIns="0" rIns="0" bIns="0" rtlCol="0" anchor="ctr"/>
          <a:lstStyle/>
          <a:p>
            <a:pPr indent="0" marL="0">
              <a:buNone/>
            </a:pPr>
            <a:r>
              <a:rPr lang="en-US" sz="1100" b="1" spc="200" kern="0" dirty="0">
                <a:solidFill>
                  <a:srgbClr val="4F46E5"/>
                </a:solidFill>
                <a:latin typeface="Roboto" pitchFamily="34" charset="0"/>
                <a:ea typeface="Roboto" pitchFamily="34" charset="-122"/>
                <a:cs typeface="Roboto" pitchFamily="34" charset="-120"/>
              </a:rPr>
              <a:t>EVALUATION</a:t>
            </a:r>
            <a:endParaRPr lang="en-US" sz="1100" dirty="0"/>
          </a:p>
        </p:txBody>
      </p:sp>
      <p:sp>
        <p:nvSpPr>
          <p:cNvPr id="3" name="Text 1"/>
          <p:cNvSpPr txBox="1"/>
          <p:nvPr/>
        </p:nvSpPr>
        <p:spPr>
          <a:xfrm>
            <a:off x="548640" y="585216"/>
            <a:ext cx="11094415" cy="566928"/>
          </a:xfrm>
          <a:prstGeom prst="rect">
            <a:avLst/>
          </a:prstGeom>
          <a:noFill/>
          <a:ln/>
        </p:spPr>
        <p:txBody>
          <a:bodyPr wrap="square" lIns="0" tIns="0" rIns="0" bIns="0" rtlCol="0" anchor="ctr"/>
          <a:lstStyle/>
          <a:p>
            <a:pPr indent="0" marL="0">
              <a:buNone/>
            </a:pPr>
            <a:r>
              <a:rPr lang="en-US" sz="2800" b="1" dirty="0">
                <a:solidFill>
                  <a:srgbClr val="0F172A"/>
                </a:solidFill>
                <a:latin typeface="Roboto" pitchFamily="34" charset="0"/>
                <a:ea typeface="Roboto" pitchFamily="34" charset="-122"/>
                <a:cs typeface="Roboto" pitchFamily="34" charset="-120"/>
              </a:rPr>
              <a:t>Scorecard on real data: 25 of 29 agents meet their target</a:t>
            </a:r>
            <a:endParaRPr lang="en-US" sz="2800" dirty="0"/>
          </a:p>
        </p:txBody>
      </p:sp>
      <p:pic>
        <p:nvPicPr>
          <p:cNvPr id="4" name="Image 0" descr="C:\Users\shrey\AppData\Local\Temp\claude\D--novacinternship-finsight\ef4ecb45-e580-4bc0-9be4-060aa240a5b2\scratchpad\deck\img\logo_lockup.png">    </p:cNvPr>
          <p:cNvPicPr>
            <a:picLocks noChangeAspect="1"/>
          </p:cNvPicPr>
          <p:nvPr/>
        </p:nvPicPr>
        <p:blipFill>
          <a:blip r:embed="rId1"/>
          <a:stretch>
            <a:fillRect/>
          </a:stretch>
        </p:blipFill>
        <p:spPr>
          <a:xfrm>
            <a:off x="10360152" y="6464808"/>
            <a:ext cx="843991" cy="237744"/>
          </a:xfrm>
          <a:prstGeom prst="rect">
            <a:avLst/>
          </a:prstGeom>
        </p:spPr>
      </p:pic>
      <p:sp>
        <p:nvSpPr>
          <p:cNvPr id="5" name="Text 2"/>
          <p:cNvSpPr txBox="1"/>
          <p:nvPr/>
        </p:nvSpPr>
        <p:spPr>
          <a:xfrm>
            <a:off x="11277295" y="6473952"/>
            <a:ext cx="365760" cy="228600"/>
          </a:xfrm>
          <a:prstGeom prst="rect">
            <a:avLst/>
          </a:prstGeom>
          <a:noFill/>
          <a:ln/>
        </p:spPr>
        <p:txBody>
          <a:bodyPr wrap="square" lIns="0" tIns="0" rIns="0" bIns="0" rtlCol="0" anchor="ctr"/>
          <a:lstStyle/>
          <a:p>
            <a:pPr algn="r" indent="0" marL="0">
              <a:buNone/>
            </a:pPr>
            <a:r>
              <a:rPr lang="en-US" sz="900" dirty="0">
                <a:solidFill>
                  <a:srgbClr val="94A3B8"/>
                </a:solidFill>
                <a:latin typeface="Roboto" pitchFamily="34" charset="0"/>
                <a:ea typeface="Roboto" pitchFamily="34" charset="-122"/>
                <a:cs typeface="Roboto" pitchFamily="34" charset="-120"/>
              </a:rPr>
              <a:t>35</a:t>
            </a:r>
            <a:endParaRPr lang="en-US" sz="900" dirty="0"/>
          </a:p>
        </p:txBody>
      </p:sp>
      <p:graphicFrame>
        <p:nvGraphicFramePr>
          <p:cNvPr id="7" name="Chart 0" descr=""/>
          <p:cNvGraphicFramePr/>
          <p:nvPr/>
        </p:nvGraphicFramePr>
        <p:xfrm>
          <a:off x="457200" y="1325880"/>
          <a:ext cx="3474720" cy="3108960"/>
        </p:xfrm>
        <a:graphic xmlns:a="http://schemas.openxmlformats.org/drawingml/2006/main">
          <a:graphicData uri="http://schemas.openxmlformats.org/drawingml/2006/chart">
            <c:chart xmlns:c="http://schemas.openxmlformats.org/drawingml/2006/chart" r:id="rId2"/>
          </a:graphicData>
        </a:graphic>
      </p:graphicFrame>
      <p:sp>
        <p:nvSpPr>
          <p:cNvPr id="8" name="Text 3"/>
          <p:cNvSpPr txBox="1"/>
          <p:nvPr/>
        </p:nvSpPr>
        <p:spPr>
          <a:xfrm>
            <a:off x="1234440" y="2423160"/>
            <a:ext cx="1828800" cy="914400"/>
          </a:xfrm>
          <a:prstGeom prst="rect">
            <a:avLst/>
          </a:prstGeom>
          <a:noFill/>
          <a:ln/>
        </p:spPr>
        <p:txBody>
          <a:bodyPr wrap="square" lIns="0" tIns="0" rIns="0" bIns="0" rtlCol="0" anchor="ctr"/>
          <a:lstStyle/>
          <a:p>
            <a:pPr algn="ctr" indent="0" marL="0">
              <a:buNone/>
            </a:pPr>
            <a:r>
              <a:rPr lang="en-US" sz="3400" b="1" dirty="0">
                <a:solidFill>
                  <a:srgbClr val="0F172A"/>
                </a:solidFill>
                <a:latin typeface="Roboto" pitchFamily="34" charset="0"/>
                <a:ea typeface="Roboto" pitchFamily="34" charset="-122"/>
                <a:cs typeface="Roboto" pitchFamily="34" charset="-120"/>
              </a:rPr>
              <a:t>29</a:t>
            </a:r>
            <a:endParaRPr lang="en-US" sz="3400" dirty="0"/>
          </a:p>
          <a:p>
            <a:pPr algn="ctr" indent="0" marL="0">
              <a:buNone/>
            </a:pPr>
            <a:r>
              <a:rPr lang="en-US" sz="1100" dirty="0">
                <a:solidFill>
                  <a:srgbClr val="64748B"/>
                </a:solidFill>
                <a:latin typeface="Roboto" pitchFamily="34" charset="0"/>
                <a:ea typeface="Roboto" pitchFamily="34" charset="-122"/>
                <a:cs typeface="Roboto" pitchFamily="34" charset="-120"/>
              </a:rPr>
              <a:t>agents</a:t>
            </a:r>
            <a:endParaRPr lang="en-US" sz="3400" dirty="0"/>
          </a:p>
        </p:txBody>
      </p:sp>
      <p:sp>
        <p:nvSpPr>
          <p:cNvPr id="9" name="Shape 4"/>
          <p:cNvSpPr/>
          <p:nvPr/>
        </p:nvSpPr>
        <p:spPr>
          <a:xfrm>
            <a:off x="548640" y="4526280"/>
            <a:ext cx="3108960" cy="457200"/>
          </a:xfrm>
          <a:prstGeom prst="roundRect">
            <a:avLst>
              <a:gd name="adj" fmla="val 16000"/>
            </a:avLst>
          </a:prstGeom>
          <a:solidFill>
            <a:srgbClr val="F8FAFC"/>
          </a:solidFill>
          <a:ln w="12700">
            <a:solidFill>
              <a:srgbClr val="E2E8F0"/>
            </a:solidFill>
            <a:prstDash val="solid"/>
          </a:ln>
        </p:spPr>
      </p:sp>
      <p:sp>
        <p:nvSpPr>
          <p:cNvPr id="10" name="Text 5"/>
          <p:cNvSpPr txBox="1"/>
          <p:nvPr/>
        </p:nvSpPr>
        <p:spPr>
          <a:xfrm>
            <a:off x="685800" y="4526280"/>
            <a:ext cx="548640" cy="457200"/>
          </a:xfrm>
          <a:prstGeom prst="rect">
            <a:avLst/>
          </a:prstGeom>
          <a:noFill/>
          <a:ln/>
        </p:spPr>
        <p:txBody>
          <a:bodyPr wrap="square" lIns="0" tIns="0" rIns="0" bIns="0" rtlCol="0" anchor="ctr"/>
          <a:lstStyle/>
          <a:p>
            <a:pPr indent="0" marL="0">
              <a:buNone/>
            </a:pPr>
            <a:r>
              <a:rPr lang="en-US" sz="1800" b="1" dirty="0">
                <a:solidFill>
                  <a:srgbClr val="16A34A"/>
                </a:solidFill>
                <a:latin typeface="Roboto" pitchFamily="34" charset="0"/>
                <a:ea typeface="Roboto" pitchFamily="34" charset="-122"/>
                <a:cs typeface="Roboto" pitchFamily="34" charset="-120"/>
              </a:rPr>
              <a:t>25</a:t>
            </a:r>
            <a:endParaRPr lang="en-US" sz="1800" dirty="0"/>
          </a:p>
        </p:txBody>
      </p:sp>
      <p:sp>
        <p:nvSpPr>
          <p:cNvPr id="11" name="Text 6"/>
          <p:cNvSpPr txBox="1"/>
          <p:nvPr/>
        </p:nvSpPr>
        <p:spPr>
          <a:xfrm>
            <a:off x="1280160" y="4526280"/>
            <a:ext cx="2286000" cy="457200"/>
          </a:xfrm>
          <a:prstGeom prst="rect">
            <a:avLst/>
          </a:prstGeom>
          <a:noFill/>
          <a:ln/>
        </p:spPr>
        <p:txBody>
          <a:bodyPr wrap="square" lIns="0" tIns="0" rIns="0" bIns="0" rtlCol="0" anchor="ctr"/>
          <a:lstStyle/>
          <a:p>
            <a:pPr indent="0" marL="0">
              <a:buNone/>
            </a:pPr>
            <a:r>
              <a:rPr lang="en-US" sz="1200" dirty="0">
                <a:solidFill>
                  <a:srgbClr val="0F172A"/>
                </a:solidFill>
                <a:latin typeface="Roboto" pitchFamily="34" charset="0"/>
                <a:ea typeface="Roboto" pitchFamily="34" charset="-122"/>
                <a:cs typeface="Roboto" pitchFamily="34" charset="-120"/>
              </a:rPr>
              <a:t>Strong — target met</a:t>
            </a:r>
            <a:endParaRPr lang="en-US" sz="1200" dirty="0"/>
          </a:p>
        </p:txBody>
      </p:sp>
      <p:sp>
        <p:nvSpPr>
          <p:cNvPr id="12" name="Shape 7"/>
          <p:cNvSpPr/>
          <p:nvPr/>
        </p:nvSpPr>
        <p:spPr>
          <a:xfrm>
            <a:off x="548640" y="5074920"/>
            <a:ext cx="3108960" cy="457200"/>
          </a:xfrm>
          <a:prstGeom prst="roundRect">
            <a:avLst>
              <a:gd name="adj" fmla="val 16000"/>
            </a:avLst>
          </a:prstGeom>
          <a:solidFill>
            <a:srgbClr val="F8FAFC"/>
          </a:solidFill>
          <a:ln w="12700">
            <a:solidFill>
              <a:srgbClr val="E2E8F0"/>
            </a:solidFill>
            <a:prstDash val="solid"/>
          </a:ln>
        </p:spPr>
      </p:sp>
      <p:sp>
        <p:nvSpPr>
          <p:cNvPr id="13" name="Text 8"/>
          <p:cNvSpPr txBox="1"/>
          <p:nvPr/>
        </p:nvSpPr>
        <p:spPr>
          <a:xfrm>
            <a:off x="685800" y="5074920"/>
            <a:ext cx="548640" cy="457200"/>
          </a:xfrm>
          <a:prstGeom prst="rect">
            <a:avLst/>
          </a:prstGeom>
          <a:noFill/>
          <a:ln/>
        </p:spPr>
        <p:txBody>
          <a:bodyPr wrap="square" lIns="0" tIns="0" rIns="0" bIns="0" rtlCol="0" anchor="ctr"/>
          <a:lstStyle/>
          <a:p>
            <a:pPr indent="0" marL="0">
              <a:buNone/>
            </a:pPr>
            <a:r>
              <a:rPr lang="en-US" sz="1800" b="1" dirty="0">
                <a:solidFill>
                  <a:srgbClr val="D97706"/>
                </a:solidFill>
                <a:latin typeface="Roboto" pitchFamily="34" charset="0"/>
                <a:ea typeface="Roboto" pitchFamily="34" charset="-122"/>
                <a:cs typeface="Roboto" pitchFamily="34" charset="-120"/>
              </a:rPr>
              <a:t>2</a:t>
            </a:r>
            <a:endParaRPr lang="en-US" sz="1800" dirty="0"/>
          </a:p>
        </p:txBody>
      </p:sp>
      <p:sp>
        <p:nvSpPr>
          <p:cNvPr id="14" name="Text 9"/>
          <p:cNvSpPr txBox="1"/>
          <p:nvPr/>
        </p:nvSpPr>
        <p:spPr>
          <a:xfrm>
            <a:off x="1280160" y="5074920"/>
            <a:ext cx="2286000" cy="457200"/>
          </a:xfrm>
          <a:prstGeom prst="rect">
            <a:avLst/>
          </a:prstGeom>
          <a:noFill/>
          <a:ln/>
        </p:spPr>
        <p:txBody>
          <a:bodyPr wrap="square" lIns="0" tIns="0" rIns="0" bIns="0" rtlCol="0" anchor="ctr"/>
          <a:lstStyle/>
          <a:p>
            <a:pPr indent="0" marL="0">
              <a:buNone/>
            </a:pPr>
            <a:r>
              <a:rPr lang="en-US" sz="1200" dirty="0">
                <a:solidFill>
                  <a:srgbClr val="0F172A"/>
                </a:solidFill>
                <a:latin typeface="Roboto" pitchFamily="34" charset="0"/>
                <a:ea typeface="Roboto" pitchFamily="34" charset="-122"/>
                <a:cs typeface="Roboto" pitchFamily="34" charset="-120"/>
              </a:rPr>
              <a:t>Acceptable — within 10%</a:t>
            </a:r>
            <a:endParaRPr lang="en-US" sz="1200" dirty="0"/>
          </a:p>
        </p:txBody>
      </p:sp>
      <p:sp>
        <p:nvSpPr>
          <p:cNvPr id="15" name="Shape 10"/>
          <p:cNvSpPr/>
          <p:nvPr/>
        </p:nvSpPr>
        <p:spPr>
          <a:xfrm>
            <a:off x="548640" y="5623560"/>
            <a:ext cx="3108960" cy="457200"/>
          </a:xfrm>
          <a:prstGeom prst="roundRect">
            <a:avLst>
              <a:gd name="adj" fmla="val 16000"/>
            </a:avLst>
          </a:prstGeom>
          <a:solidFill>
            <a:srgbClr val="F8FAFC"/>
          </a:solidFill>
          <a:ln w="12700">
            <a:solidFill>
              <a:srgbClr val="E2E8F0"/>
            </a:solidFill>
            <a:prstDash val="solid"/>
          </a:ln>
        </p:spPr>
      </p:sp>
      <p:sp>
        <p:nvSpPr>
          <p:cNvPr id="16" name="Text 11"/>
          <p:cNvSpPr txBox="1"/>
          <p:nvPr/>
        </p:nvSpPr>
        <p:spPr>
          <a:xfrm>
            <a:off x="685800" y="5623560"/>
            <a:ext cx="548640" cy="457200"/>
          </a:xfrm>
          <a:prstGeom prst="rect">
            <a:avLst/>
          </a:prstGeom>
          <a:noFill/>
          <a:ln/>
        </p:spPr>
        <p:txBody>
          <a:bodyPr wrap="square" lIns="0" tIns="0" rIns="0" bIns="0" rtlCol="0" anchor="ctr"/>
          <a:lstStyle/>
          <a:p>
            <a:pPr indent="0" marL="0">
              <a:buNone/>
            </a:pPr>
            <a:r>
              <a:rPr lang="en-US" sz="1800" b="1" dirty="0">
                <a:solidFill>
                  <a:srgbClr val="DC2626"/>
                </a:solidFill>
                <a:latin typeface="Roboto" pitchFamily="34" charset="0"/>
                <a:ea typeface="Roboto" pitchFamily="34" charset="-122"/>
                <a:cs typeface="Roboto" pitchFamily="34" charset="-120"/>
              </a:rPr>
              <a:t>2</a:t>
            </a:r>
            <a:endParaRPr lang="en-US" sz="1800" dirty="0"/>
          </a:p>
        </p:txBody>
      </p:sp>
      <p:sp>
        <p:nvSpPr>
          <p:cNvPr id="17" name="Text 12"/>
          <p:cNvSpPr txBox="1"/>
          <p:nvPr/>
        </p:nvSpPr>
        <p:spPr>
          <a:xfrm>
            <a:off x="1280160" y="5623560"/>
            <a:ext cx="2286000" cy="457200"/>
          </a:xfrm>
          <a:prstGeom prst="rect">
            <a:avLst/>
          </a:prstGeom>
          <a:noFill/>
          <a:ln/>
        </p:spPr>
        <p:txBody>
          <a:bodyPr wrap="square" lIns="0" tIns="0" rIns="0" bIns="0" rtlCol="0" anchor="ctr"/>
          <a:lstStyle/>
          <a:p>
            <a:pPr indent="0" marL="0">
              <a:buNone/>
            </a:pPr>
            <a:r>
              <a:rPr lang="en-US" sz="1200" dirty="0">
                <a:solidFill>
                  <a:srgbClr val="0F172A"/>
                </a:solidFill>
                <a:latin typeface="Roboto" pitchFamily="34" charset="0"/>
                <a:ea typeface="Roboto" pitchFamily="34" charset="-122"/>
                <a:cs typeface="Roboto" pitchFamily="34" charset="-120"/>
              </a:rPr>
              <a:t>Weak — below</a:t>
            </a:r>
            <a:endParaRPr lang="en-US" sz="1200" dirty="0"/>
          </a:p>
        </p:txBody>
      </p:sp>
      <p:sp>
        <p:nvSpPr>
          <p:cNvPr id="18" name="Text 13"/>
          <p:cNvSpPr txBox="1"/>
          <p:nvPr/>
        </p:nvSpPr>
        <p:spPr>
          <a:xfrm>
            <a:off x="548640" y="6199632"/>
            <a:ext cx="3108960" cy="228600"/>
          </a:xfrm>
          <a:prstGeom prst="rect">
            <a:avLst/>
          </a:prstGeom>
          <a:noFill/>
          <a:ln/>
        </p:spPr>
        <p:txBody>
          <a:bodyPr wrap="square" lIns="0" tIns="0" rIns="0" bIns="0" rtlCol="0" anchor="ctr"/>
          <a:lstStyle/>
          <a:p>
            <a:pPr indent="0" marL="0">
              <a:buNone/>
            </a:pPr>
            <a:r>
              <a:rPr lang="en-US" sz="900" i="1" dirty="0">
                <a:solidFill>
                  <a:srgbClr val="64748B"/>
                </a:solidFill>
                <a:latin typeface="Roboto" pitchFamily="34" charset="0"/>
                <a:ea typeface="Roboto" pitchFamily="34" charset="-122"/>
                <a:cs typeface="Roboto" pitchFamily="34" charset="-120"/>
              </a:rPr>
              <a:t>Held-out test splits · 95% intervals in report 08</a:t>
            </a:r>
            <a:endParaRPr lang="en-US" sz="900" dirty="0"/>
          </a:p>
        </p:txBody>
      </p:sp>
      <p:sp>
        <p:nvSpPr>
          <p:cNvPr id="19" name="Shape 14"/>
          <p:cNvSpPr/>
          <p:nvPr/>
        </p:nvSpPr>
        <p:spPr>
          <a:xfrm>
            <a:off x="3931920" y="1371600"/>
            <a:ext cx="1463040" cy="768096"/>
          </a:xfrm>
          <a:prstGeom prst="roundRect">
            <a:avLst>
              <a:gd name="adj" fmla="val 8333"/>
            </a:avLst>
          </a:prstGeom>
          <a:solidFill>
            <a:srgbClr val="FEF2F2"/>
          </a:solidFill>
          <a:ln w="12700">
            <a:solidFill>
              <a:srgbClr val="FECACA"/>
            </a:solidFill>
            <a:prstDash val="solid"/>
          </a:ln>
        </p:spPr>
      </p:sp>
      <p:sp>
        <p:nvSpPr>
          <p:cNvPr id="20" name="Text 15"/>
          <p:cNvSpPr txBox="1"/>
          <p:nvPr/>
        </p:nvSpPr>
        <p:spPr>
          <a:xfrm>
            <a:off x="4005072" y="1389888"/>
            <a:ext cx="1353312" cy="731520"/>
          </a:xfrm>
          <a:prstGeom prst="rect">
            <a:avLst/>
          </a:prstGeom>
          <a:noFill/>
          <a:ln/>
        </p:spPr>
        <p:txBody>
          <a:bodyPr wrap="square" lIns="0" tIns="0" rIns="0" bIns="0" rtlCol="0" anchor="ctr"/>
          <a:lstStyle/>
          <a:p>
            <a:pPr indent="0" marL="0">
              <a:buNone/>
            </a:pPr>
            <a:r>
              <a:rPr lang="en-US" sz="850" b="1" dirty="0">
                <a:solidFill>
                  <a:srgbClr val="0F172A"/>
                </a:solidFill>
                <a:latin typeface="Roboto" pitchFamily="34" charset="0"/>
                <a:ea typeface="Roboto" pitchFamily="34" charset="-122"/>
                <a:cs typeface="Roboto" pitchFamily="34" charset="-120"/>
              </a:rPr>
              <a:t>1  Preprocessing</a:t>
            </a:r>
            <a:endParaRPr lang="en-US" sz="850" dirty="0"/>
          </a:p>
          <a:p>
            <a:pPr indent="0" marL="0">
              <a:buNone/>
            </a:pPr>
            <a:r>
              <a:rPr lang="en-US" sz="1300" b="1" dirty="0">
                <a:solidFill>
                  <a:srgbClr val="DC2626"/>
                </a:solidFill>
                <a:latin typeface="Roboto" pitchFamily="34" charset="0"/>
                <a:ea typeface="Roboto" pitchFamily="34" charset="-122"/>
                <a:cs typeface="Roboto" pitchFamily="34" charset="-120"/>
              </a:rPr>
              <a:t>69.1%</a:t>
            </a:r>
            <a:endParaRPr lang="en-US" sz="850" dirty="0"/>
          </a:p>
          <a:p>
            <a:pPr indent="0" marL="0">
              <a:buNone/>
            </a:pPr>
            <a:r>
              <a:rPr lang="en-US" sz="800" dirty="0">
                <a:solidFill>
                  <a:srgbClr val="64748B"/>
                </a:solidFill>
                <a:latin typeface="Roboto" pitchFamily="34" charset="0"/>
                <a:ea typeface="Roboto" pitchFamily="34" charset="-122"/>
                <a:cs typeface="Roboto" pitchFamily="34" charset="-120"/>
              </a:rPr>
              <a:t>target ≥ 80%</a:t>
            </a:r>
            <a:endParaRPr lang="en-US" sz="850" dirty="0"/>
          </a:p>
        </p:txBody>
      </p:sp>
      <p:sp>
        <p:nvSpPr>
          <p:cNvPr id="21" name="Shape 16"/>
          <p:cNvSpPr/>
          <p:nvPr/>
        </p:nvSpPr>
        <p:spPr>
          <a:xfrm>
            <a:off x="5468112" y="1371600"/>
            <a:ext cx="1463040" cy="768096"/>
          </a:xfrm>
          <a:prstGeom prst="roundRect">
            <a:avLst>
              <a:gd name="adj" fmla="val 8333"/>
            </a:avLst>
          </a:prstGeom>
          <a:solidFill>
            <a:srgbClr val="F0FDF4"/>
          </a:solidFill>
          <a:ln w="12700">
            <a:solidFill>
              <a:srgbClr val="BBF7D0"/>
            </a:solidFill>
            <a:prstDash val="solid"/>
          </a:ln>
        </p:spPr>
      </p:sp>
      <p:sp>
        <p:nvSpPr>
          <p:cNvPr id="22" name="Text 17"/>
          <p:cNvSpPr txBox="1"/>
          <p:nvPr/>
        </p:nvSpPr>
        <p:spPr>
          <a:xfrm>
            <a:off x="5541264" y="1389888"/>
            <a:ext cx="1353312" cy="731520"/>
          </a:xfrm>
          <a:prstGeom prst="rect">
            <a:avLst/>
          </a:prstGeom>
          <a:noFill/>
          <a:ln/>
        </p:spPr>
        <p:txBody>
          <a:bodyPr wrap="square" lIns="0" tIns="0" rIns="0" bIns="0" rtlCol="0" anchor="ctr"/>
          <a:lstStyle/>
          <a:p>
            <a:pPr indent="0" marL="0">
              <a:buNone/>
            </a:pPr>
            <a:r>
              <a:rPr lang="en-US" sz="850" b="1" dirty="0">
                <a:solidFill>
                  <a:srgbClr val="0F172A"/>
                </a:solidFill>
                <a:latin typeface="Roboto" pitchFamily="34" charset="0"/>
                <a:ea typeface="Roboto" pitchFamily="34" charset="-122"/>
                <a:cs typeface="Roboto" pitchFamily="34" charset="-120"/>
              </a:rPr>
              <a:t>2  Extraction</a:t>
            </a:r>
            <a:endParaRPr lang="en-US" sz="850" dirty="0"/>
          </a:p>
          <a:p>
            <a:pPr indent="0" marL="0">
              <a:buNone/>
            </a:pPr>
            <a:r>
              <a:rPr lang="en-US" sz="1300" b="1" dirty="0">
                <a:solidFill>
                  <a:srgbClr val="16A34A"/>
                </a:solidFill>
                <a:latin typeface="Roboto" pitchFamily="34" charset="0"/>
                <a:ea typeface="Roboto" pitchFamily="34" charset="-122"/>
                <a:cs typeface="Roboto" pitchFamily="34" charset="-120"/>
              </a:rPr>
              <a:t>94.4%</a:t>
            </a:r>
            <a:endParaRPr lang="en-US" sz="850" dirty="0"/>
          </a:p>
          <a:p>
            <a:pPr indent="0" marL="0">
              <a:buNone/>
            </a:pPr>
            <a:r>
              <a:rPr lang="en-US" sz="800" dirty="0">
                <a:solidFill>
                  <a:srgbClr val="64748B"/>
                </a:solidFill>
                <a:latin typeface="Roboto" pitchFamily="34" charset="0"/>
                <a:ea typeface="Roboto" pitchFamily="34" charset="-122"/>
                <a:cs typeface="Roboto" pitchFamily="34" charset="-120"/>
              </a:rPr>
              <a:t>target ≥ 90%</a:t>
            </a:r>
            <a:endParaRPr lang="en-US" sz="850" dirty="0"/>
          </a:p>
        </p:txBody>
      </p:sp>
      <p:sp>
        <p:nvSpPr>
          <p:cNvPr id="23" name="Shape 18"/>
          <p:cNvSpPr/>
          <p:nvPr/>
        </p:nvSpPr>
        <p:spPr>
          <a:xfrm>
            <a:off x="7004304" y="1371600"/>
            <a:ext cx="1463040" cy="768096"/>
          </a:xfrm>
          <a:prstGeom prst="roundRect">
            <a:avLst>
              <a:gd name="adj" fmla="val 8333"/>
            </a:avLst>
          </a:prstGeom>
          <a:solidFill>
            <a:srgbClr val="F0FDF4"/>
          </a:solidFill>
          <a:ln w="12700">
            <a:solidFill>
              <a:srgbClr val="BBF7D0"/>
            </a:solidFill>
            <a:prstDash val="solid"/>
          </a:ln>
        </p:spPr>
      </p:sp>
      <p:sp>
        <p:nvSpPr>
          <p:cNvPr id="24" name="Text 19"/>
          <p:cNvSpPr txBox="1"/>
          <p:nvPr/>
        </p:nvSpPr>
        <p:spPr>
          <a:xfrm>
            <a:off x="7077456" y="1389888"/>
            <a:ext cx="1353312" cy="731520"/>
          </a:xfrm>
          <a:prstGeom prst="rect">
            <a:avLst/>
          </a:prstGeom>
          <a:noFill/>
          <a:ln/>
        </p:spPr>
        <p:txBody>
          <a:bodyPr wrap="square" lIns="0" tIns="0" rIns="0" bIns="0" rtlCol="0" anchor="ctr"/>
          <a:lstStyle/>
          <a:p>
            <a:pPr indent="0" marL="0">
              <a:buNone/>
            </a:pPr>
            <a:r>
              <a:rPr lang="en-US" sz="850" b="1" dirty="0">
                <a:solidFill>
                  <a:srgbClr val="0F172A"/>
                </a:solidFill>
                <a:latin typeface="Roboto" pitchFamily="34" charset="0"/>
                <a:ea typeface="Roboto" pitchFamily="34" charset="-122"/>
                <a:cs typeface="Roboto" pitchFamily="34" charset="-120"/>
              </a:rPr>
              <a:t>3  Validation</a:t>
            </a:r>
            <a:endParaRPr lang="en-US" sz="850" dirty="0"/>
          </a:p>
          <a:p>
            <a:pPr indent="0" marL="0">
              <a:buNone/>
            </a:pPr>
            <a:r>
              <a:rPr lang="en-US" sz="1300" b="1" dirty="0">
                <a:solidFill>
                  <a:srgbClr val="16A34A"/>
                </a:solidFill>
                <a:latin typeface="Roboto" pitchFamily="34" charset="0"/>
                <a:ea typeface="Roboto" pitchFamily="34" charset="-122"/>
                <a:cs typeface="Roboto" pitchFamily="34" charset="-120"/>
              </a:rPr>
              <a:t>100%</a:t>
            </a:r>
            <a:endParaRPr lang="en-US" sz="850" dirty="0"/>
          </a:p>
          <a:p>
            <a:pPr indent="0" marL="0">
              <a:buNone/>
            </a:pPr>
            <a:r>
              <a:rPr lang="en-US" sz="800" dirty="0">
                <a:solidFill>
                  <a:srgbClr val="64748B"/>
                </a:solidFill>
                <a:latin typeface="Roboto" pitchFamily="34" charset="0"/>
                <a:ea typeface="Roboto" pitchFamily="34" charset="-122"/>
                <a:cs typeface="Roboto" pitchFamily="34" charset="-120"/>
              </a:rPr>
              <a:t>target 100%</a:t>
            </a:r>
            <a:endParaRPr lang="en-US" sz="850" dirty="0"/>
          </a:p>
        </p:txBody>
      </p:sp>
      <p:sp>
        <p:nvSpPr>
          <p:cNvPr id="25" name="Shape 20"/>
          <p:cNvSpPr/>
          <p:nvPr/>
        </p:nvSpPr>
        <p:spPr>
          <a:xfrm>
            <a:off x="8540496" y="1371600"/>
            <a:ext cx="1463040" cy="768096"/>
          </a:xfrm>
          <a:prstGeom prst="roundRect">
            <a:avLst>
              <a:gd name="adj" fmla="val 8333"/>
            </a:avLst>
          </a:prstGeom>
          <a:solidFill>
            <a:srgbClr val="F0FDF4"/>
          </a:solidFill>
          <a:ln w="12700">
            <a:solidFill>
              <a:srgbClr val="BBF7D0"/>
            </a:solidFill>
            <a:prstDash val="solid"/>
          </a:ln>
        </p:spPr>
      </p:sp>
      <p:sp>
        <p:nvSpPr>
          <p:cNvPr id="26" name="Text 21"/>
          <p:cNvSpPr txBox="1"/>
          <p:nvPr/>
        </p:nvSpPr>
        <p:spPr>
          <a:xfrm>
            <a:off x="8613648" y="1389888"/>
            <a:ext cx="1353312" cy="731520"/>
          </a:xfrm>
          <a:prstGeom prst="rect">
            <a:avLst/>
          </a:prstGeom>
          <a:noFill/>
          <a:ln/>
        </p:spPr>
        <p:txBody>
          <a:bodyPr wrap="square" lIns="0" tIns="0" rIns="0" bIns="0" rtlCol="0" anchor="ctr"/>
          <a:lstStyle/>
          <a:p>
            <a:pPr indent="0" marL="0">
              <a:buNone/>
            </a:pPr>
            <a:r>
              <a:rPr lang="en-US" sz="850" b="1" dirty="0">
                <a:solidFill>
                  <a:srgbClr val="0F172A"/>
                </a:solidFill>
                <a:latin typeface="Roboto" pitchFamily="34" charset="0"/>
                <a:ea typeface="Roboto" pitchFamily="34" charset="-122"/>
                <a:cs typeface="Roboto" pitchFamily="34" charset="-120"/>
              </a:rPr>
              <a:t>4  Document Identity</a:t>
            </a:r>
            <a:endParaRPr lang="en-US" sz="850" dirty="0"/>
          </a:p>
          <a:p>
            <a:pPr indent="0" marL="0">
              <a:buNone/>
            </a:pPr>
            <a:r>
              <a:rPr lang="en-US" sz="1300" b="1" dirty="0">
                <a:solidFill>
                  <a:srgbClr val="16A34A"/>
                </a:solidFill>
                <a:latin typeface="Roboto" pitchFamily="34" charset="0"/>
                <a:ea typeface="Roboto" pitchFamily="34" charset="-122"/>
                <a:cs typeface="Roboto" pitchFamily="34" charset="-120"/>
              </a:rPr>
              <a:t>94.4%</a:t>
            </a:r>
            <a:endParaRPr lang="en-US" sz="850" dirty="0"/>
          </a:p>
          <a:p>
            <a:pPr indent="0" marL="0">
              <a:buNone/>
            </a:pPr>
            <a:r>
              <a:rPr lang="en-US" sz="800" dirty="0">
                <a:solidFill>
                  <a:srgbClr val="64748B"/>
                </a:solidFill>
                <a:latin typeface="Roboto" pitchFamily="34" charset="0"/>
                <a:ea typeface="Roboto" pitchFamily="34" charset="-122"/>
                <a:cs typeface="Roboto" pitchFamily="34" charset="-120"/>
              </a:rPr>
              <a:t>target ≥ 90%</a:t>
            </a:r>
            <a:endParaRPr lang="en-US" sz="850" dirty="0"/>
          </a:p>
        </p:txBody>
      </p:sp>
      <p:sp>
        <p:nvSpPr>
          <p:cNvPr id="27" name="Shape 22"/>
          <p:cNvSpPr/>
          <p:nvPr/>
        </p:nvSpPr>
        <p:spPr>
          <a:xfrm>
            <a:off x="10076688" y="1371600"/>
            <a:ext cx="1463040" cy="768096"/>
          </a:xfrm>
          <a:prstGeom prst="roundRect">
            <a:avLst>
              <a:gd name="adj" fmla="val 8333"/>
            </a:avLst>
          </a:prstGeom>
          <a:solidFill>
            <a:srgbClr val="FFFBEB"/>
          </a:solidFill>
          <a:ln w="12700">
            <a:solidFill>
              <a:srgbClr val="FDE68A"/>
            </a:solidFill>
            <a:prstDash val="solid"/>
          </a:ln>
        </p:spPr>
      </p:sp>
      <p:sp>
        <p:nvSpPr>
          <p:cNvPr id="28" name="Text 23"/>
          <p:cNvSpPr txBox="1"/>
          <p:nvPr/>
        </p:nvSpPr>
        <p:spPr>
          <a:xfrm>
            <a:off x="10149840" y="1389888"/>
            <a:ext cx="1353312" cy="731520"/>
          </a:xfrm>
          <a:prstGeom prst="rect">
            <a:avLst/>
          </a:prstGeom>
          <a:noFill/>
          <a:ln/>
        </p:spPr>
        <p:txBody>
          <a:bodyPr wrap="square" lIns="0" tIns="0" rIns="0" bIns="0" rtlCol="0" anchor="ctr"/>
          <a:lstStyle/>
          <a:p>
            <a:pPr indent="0" marL="0">
              <a:buNone/>
            </a:pPr>
            <a:r>
              <a:rPr lang="en-US" sz="850" b="1" dirty="0">
                <a:solidFill>
                  <a:srgbClr val="0F172A"/>
                </a:solidFill>
                <a:latin typeface="Roboto" pitchFamily="34" charset="0"/>
                <a:ea typeface="Roboto" pitchFamily="34" charset="-122"/>
                <a:cs typeface="Roboto" pitchFamily="34" charset="-120"/>
              </a:rPr>
              <a:t>5  PII Masking</a:t>
            </a:r>
            <a:endParaRPr lang="en-US" sz="850" dirty="0"/>
          </a:p>
          <a:p>
            <a:pPr indent="0" marL="0">
              <a:buNone/>
            </a:pPr>
            <a:r>
              <a:rPr lang="en-US" sz="1300" b="1" dirty="0">
                <a:solidFill>
                  <a:srgbClr val="D97706"/>
                </a:solidFill>
                <a:latin typeface="Roboto" pitchFamily="34" charset="0"/>
                <a:ea typeface="Roboto" pitchFamily="34" charset="-122"/>
                <a:cs typeface="Roboto" pitchFamily="34" charset="-120"/>
              </a:rPr>
              <a:t>98.4%</a:t>
            </a:r>
            <a:endParaRPr lang="en-US" sz="850" dirty="0"/>
          </a:p>
          <a:p>
            <a:pPr indent="0" marL="0">
              <a:buNone/>
            </a:pPr>
            <a:r>
              <a:rPr lang="en-US" sz="800" dirty="0">
                <a:solidFill>
                  <a:srgbClr val="64748B"/>
                </a:solidFill>
                <a:latin typeface="Roboto" pitchFamily="34" charset="0"/>
                <a:ea typeface="Roboto" pitchFamily="34" charset="-122"/>
                <a:cs typeface="Roboto" pitchFamily="34" charset="-120"/>
              </a:rPr>
              <a:t>target 100%</a:t>
            </a:r>
            <a:endParaRPr lang="en-US" sz="850" dirty="0"/>
          </a:p>
        </p:txBody>
      </p:sp>
      <p:sp>
        <p:nvSpPr>
          <p:cNvPr id="29" name="Shape 24"/>
          <p:cNvSpPr/>
          <p:nvPr/>
        </p:nvSpPr>
        <p:spPr>
          <a:xfrm>
            <a:off x="3931920" y="2212848"/>
            <a:ext cx="1463040" cy="768096"/>
          </a:xfrm>
          <a:prstGeom prst="roundRect">
            <a:avLst>
              <a:gd name="adj" fmla="val 8333"/>
            </a:avLst>
          </a:prstGeom>
          <a:solidFill>
            <a:srgbClr val="F0FDF4"/>
          </a:solidFill>
          <a:ln w="12700">
            <a:solidFill>
              <a:srgbClr val="BBF7D0"/>
            </a:solidFill>
            <a:prstDash val="solid"/>
          </a:ln>
        </p:spPr>
      </p:sp>
      <p:sp>
        <p:nvSpPr>
          <p:cNvPr id="30" name="Text 25"/>
          <p:cNvSpPr txBox="1"/>
          <p:nvPr/>
        </p:nvSpPr>
        <p:spPr>
          <a:xfrm>
            <a:off x="4005072" y="2231136"/>
            <a:ext cx="1353312" cy="731520"/>
          </a:xfrm>
          <a:prstGeom prst="rect">
            <a:avLst/>
          </a:prstGeom>
          <a:noFill/>
          <a:ln/>
        </p:spPr>
        <p:txBody>
          <a:bodyPr wrap="square" lIns="0" tIns="0" rIns="0" bIns="0" rtlCol="0" anchor="ctr"/>
          <a:lstStyle/>
          <a:p>
            <a:pPr indent="0" marL="0">
              <a:buNone/>
            </a:pPr>
            <a:r>
              <a:rPr lang="en-US" sz="850" b="1" dirty="0">
                <a:solidFill>
                  <a:srgbClr val="0F172A"/>
                </a:solidFill>
                <a:latin typeface="Roboto" pitchFamily="34" charset="0"/>
                <a:ea typeface="Roboto" pitchFamily="34" charset="-122"/>
                <a:cs typeface="Roboto" pitchFamily="34" charset="-120"/>
              </a:rPr>
              <a:t>6  Face Verification</a:t>
            </a:r>
            <a:endParaRPr lang="en-US" sz="850" dirty="0"/>
          </a:p>
          <a:p>
            <a:pPr indent="0" marL="0">
              <a:buNone/>
            </a:pPr>
            <a:r>
              <a:rPr lang="en-US" sz="1300" b="1" dirty="0">
                <a:solidFill>
                  <a:srgbClr val="16A34A"/>
                </a:solidFill>
                <a:latin typeface="Roboto" pitchFamily="34" charset="0"/>
                <a:ea typeface="Roboto" pitchFamily="34" charset="-122"/>
                <a:cs typeface="Roboto" pitchFamily="34" charset="-120"/>
              </a:rPr>
              <a:t>95.9%</a:t>
            </a:r>
            <a:endParaRPr lang="en-US" sz="850" dirty="0"/>
          </a:p>
          <a:p>
            <a:pPr indent="0" marL="0">
              <a:buNone/>
            </a:pPr>
            <a:r>
              <a:rPr lang="en-US" sz="800" dirty="0">
                <a:solidFill>
                  <a:srgbClr val="64748B"/>
                </a:solidFill>
                <a:latin typeface="Roboto" pitchFamily="34" charset="0"/>
                <a:ea typeface="Roboto" pitchFamily="34" charset="-122"/>
                <a:cs typeface="Roboto" pitchFamily="34" charset="-120"/>
              </a:rPr>
              <a:t>target ≥ 90%</a:t>
            </a:r>
            <a:endParaRPr lang="en-US" sz="850" dirty="0"/>
          </a:p>
        </p:txBody>
      </p:sp>
      <p:sp>
        <p:nvSpPr>
          <p:cNvPr id="31" name="Shape 26"/>
          <p:cNvSpPr/>
          <p:nvPr/>
        </p:nvSpPr>
        <p:spPr>
          <a:xfrm>
            <a:off x="5468112" y="2212848"/>
            <a:ext cx="1463040" cy="768096"/>
          </a:xfrm>
          <a:prstGeom prst="roundRect">
            <a:avLst>
              <a:gd name="adj" fmla="val 8333"/>
            </a:avLst>
          </a:prstGeom>
          <a:solidFill>
            <a:srgbClr val="F0FDF4"/>
          </a:solidFill>
          <a:ln w="12700">
            <a:solidFill>
              <a:srgbClr val="BBF7D0"/>
            </a:solidFill>
            <a:prstDash val="solid"/>
          </a:ln>
        </p:spPr>
      </p:sp>
      <p:sp>
        <p:nvSpPr>
          <p:cNvPr id="32" name="Text 27"/>
          <p:cNvSpPr txBox="1"/>
          <p:nvPr/>
        </p:nvSpPr>
        <p:spPr>
          <a:xfrm>
            <a:off x="5541264" y="2231136"/>
            <a:ext cx="1353312" cy="731520"/>
          </a:xfrm>
          <a:prstGeom prst="rect">
            <a:avLst/>
          </a:prstGeom>
          <a:noFill/>
          <a:ln/>
        </p:spPr>
        <p:txBody>
          <a:bodyPr wrap="square" lIns="0" tIns="0" rIns="0" bIns="0" rtlCol="0" anchor="ctr"/>
          <a:lstStyle/>
          <a:p>
            <a:pPr indent="0" marL="0">
              <a:buNone/>
            </a:pPr>
            <a:r>
              <a:rPr lang="en-US" sz="850" b="1" dirty="0">
                <a:solidFill>
                  <a:srgbClr val="0F172A"/>
                </a:solidFill>
                <a:latin typeface="Roboto" pitchFamily="34" charset="0"/>
                <a:ea typeface="Roboto" pitchFamily="34" charset="-122"/>
                <a:cs typeface="Roboto" pitchFamily="34" charset="-120"/>
              </a:rPr>
              <a:t>7  Tampering Forensics</a:t>
            </a:r>
            <a:endParaRPr lang="en-US" sz="850" dirty="0"/>
          </a:p>
          <a:p>
            <a:pPr indent="0" marL="0">
              <a:buNone/>
            </a:pPr>
            <a:r>
              <a:rPr lang="en-US" sz="1300" b="1" dirty="0">
                <a:solidFill>
                  <a:srgbClr val="16A34A"/>
                </a:solidFill>
                <a:latin typeface="Roboto" pitchFamily="34" charset="0"/>
                <a:ea typeface="Roboto" pitchFamily="34" charset="-122"/>
                <a:cs typeface="Roboto" pitchFamily="34" charset="-120"/>
              </a:rPr>
              <a:t>88.9%</a:t>
            </a:r>
            <a:endParaRPr lang="en-US" sz="850" dirty="0"/>
          </a:p>
          <a:p>
            <a:pPr indent="0" marL="0">
              <a:buNone/>
            </a:pPr>
            <a:r>
              <a:rPr lang="en-US" sz="800" dirty="0">
                <a:solidFill>
                  <a:srgbClr val="64748B"/>
                </a:solidFill>
                <a:latin typeface="Roboto" pitchFamily="34" charset="0"/>
                <a:ea typeface="Roboto" pitchFamily="34" charset="-122"/>
                <a:cs typeface="Roboto" pitchFamily="34" charset="-120"/>
              </a:rPr>
              <a:t>target ≥ 85%</a:t>
            </a:r>
            <a:endParaRPr lang="en-US" sz="850" dirty="0"/>
          </a:p>
        </p:txBody>
      </p:sp>
      <p:sp>
        <p:nvSpPr>
          <p:cNvPr id="33" name="Shape 28"/>
          <p:cNvSpPr/>
          <p:nvPr/>
        </p:nvSpPr>
        <p:spPr>
          <a:xfrm>
            <a:off x="7004304" y="2212848"/>
            <a:ext cx="1463040" cy="768096"/>
          </a:xfrm>
          <a:prstGeom prst="roundRect">
            <a:avLst>
              <a:gd name="adj" fmla="val 8333"/>
            </a:avLst>
          </a:prstGeom>
          <a:solidFill>
            <a:srgbClr val="FEF2F2"/>
          </a:solidFill>
          <a:ln w="12700">
            <a:solidFill>
              <a:srgbClr val="FECACA"/>
            </a:solidFill>
            <a:prstDash val="solid"/>
          </a:ln>
        </p:spPr>
      </p:sp>
      <p:sp>
        <p:nvSpPr>
          <p:cNvPr id="34" name="Text 29"/>
          <p:cNvSpPr txBox="1"/>
          <p:nvPr/>
        </p:nvSpPr>
        <p:spPr>
          <a:xfrm>
            <a:off x="7077456" y="2231136"/>
            <a:ext cx="1353312" cy="731520"/>
          </a:xfrm>
          <a:prstGeom prst="rect">
            <a:avLst/>
          </a:prstGeom>
          <a:noFill/>
          <a:ln/>
        </p:spPr>
        <p:txBody>
          <a:bodyPr wrap="square" lIns="0" tIns="0" rIns="0" bIns="0" rtlCol="0" anchor="ctr"/>
          <a:lstStyle/>
          <a:p>
            <a:pPr indent="0" marL="0">
              <a:buNone/>
            </a:pPr>
            <a:r>
              <a:rPr lang="en-US" sz="850" b="1" dirty="0">
                <a:solidFill>
                  <a:srgbClr val="0F172A"/>
                </a:solidFill>
                <a:latin typeface="Roboto" pitchFamily="34" charset="0"/>
                <a:ea typeface="Roboto" pitchFamily="34" charset="-122"/>
                <a:cs typeface="Roboto" pitchFamily="34" charset="-120"/>
              </a:rPr>
              <a:t>8  Authenticity</a:t>
            </a:r>
            <a:endParaRPr lang="en-US" sz="850" dirty="0"/>
          </a:p>
          <a:p>
            <a:pPr indent="0" marL="0">
              <a:buNone/>
            </a:pPr>
            <a:r>
              <a:rPr lang="en-US" sz="1300" b="1" dirty="0">
                <a:solidFill>
                  <a:srgbClr val="DC2626"/>
                </a:solidFill>
                <a:latin typeface="Roboto" pitchFamily="34" charset="0"/>
                <a:ea typeface="Roboto" pitchFamily="34" charset="-122"/>
                <a:cs typeface="Roboto" pitchFamily="34" charset="-120"/>
              </a:rPr>
              <a:t>11.2%</a:t>
            </a:r>
            <a:endParaRPr lang="en-US" sz="850" dirty="0"/>
          </a:p>
          <a:p>
            <a:pPr indent="0" marL="0">
              <a:buNone/>
            </a:pPr>
            <a:r>
              <a:rPr lang="en-US" sz="800" dirty="0">
                <a:solidFill>
                  <a:srgbClr val="64748B"/>
                </a:solidFill>
                <a:latin typeface="Roboto" pitchFamily="34" charset="0"/>
                <a:ea typeface="Roboto" pitchFamily="34" charset="-122"/>
                <a:cs typeface="Roboto" pitchFamily="34" charset="-120"/>
              </a:rPr>
              <a:t>target ≥ 70%</a:t>
            </a:r>
            <a:endParaRPr lang="en-US" sz="850" dirty="0"/>
          </a:p>
        </p:txBody>
      </p:sp>
      <p:sp>
        <p:nvSpPr>
          <p:cNvPr id="35" name="Shape 30"/>
          <p:cNvSpPr/>
          <p:nvPr/>
        </p:nvSpPr>
        <p:spPr>
          <a:xfrm>
            <a:off x="8540496" y="2212848"/>
            <a:ext cx="1463040" cy="768096"/>
          </a:xfrm>
          <a:prstGeom prst="roundRect">
            <a:avLst>
              <a:gd name="adj" fmla="val 8333"/>
            </a:avLst>
          </a:prstGeom>
          <a:solidFill>
            <a:srgbClr val="F0FDF4"/>
          </a:solidFill>
          <a:ln w="12700">
            <a:solidFill>
              <a:srgbClr val="BBF7D0"/>
            </a:solidFill>
            <a:prstDash val="solid"/>
          </a:ln>
        </p:spPr>
      </p:sp>
      <p:sp>
        <p:nvSpPr>
          <p:cNvPr id="36" name="Text 31"/>
          <p:cNvSpPr txBox="1"/>
          <p:nvPr/>
        </p:nvSpPr>
        <p:spPr>
          <a:xfrm>
            <a:off x="8613648" y="2231136"/>
            <a:ext cx="1353312" cy="731520"/>
          </a:xfrm>
          <a:prstGeom prst="rect">
            <a:avLst/>
          </a:prstGeom>
          <a:noFill/>
          <a:ln/>
        </p:spPr>
        <p:txBody>
          <a:bodyPr wrap="square" lIns="0" tIns="0" rIns="0" bIns="0" rtlCol="0" anchor="ctr"/>
          <a:lstStyle/>
          <a:p>
            <a:pPr indent="0" marL="0">
              <a:buNone/>
            </a:pPr>
            <a:r>
              <a:rPr lang="en-US" sz="850" b="1" dirty="0">
                <a:solidFill>
                  <a:srgbClr val="0F172A"/>
                </a:solidFill>
                <a:latin typeface="Roboto" pitchFamily="34" charset="0"/>
                <a:ea typeface="Roboto" pitchFamily="34" charset="-122"/>
                <a:cs typeface="Roboto" pitchFamily="34" charset="-120"/>
              </a:rPr>
              <a:t>9  Tamper Explainer</a:t>
            </a:r>
            <a:endParaRPr lang="en-US" sz="850" dirty="0"/>
          </a:p>
          <a:p>
            <a:pPr indent="0" marL="0">
              <a:buNone/>
            </a:pPr>
            <a:r>
              <a:rPr lang="en-US" sz="1300" b="1" dirty="0">
                <a:solidFill>
                  <a:srgbClr val="16A34A"/>
                </a:solidFill>
                <a:latin typeface="Roboto" pitchFamily="34" charset="0"/>
                <a:ea typeface="Roboto" pitchFamily="34" charset="-122"/>
                <a:cs typeface="Roboto" pitchFamily="34" charset="-120"/>
              </a:rPr>
              <a:t>98.3%</a:t>
            </a:r>
            <a:endParaRPr lang="en-US" sz="850" dirty="0"/>
          </a:p>
          <a:p>
            <a:pPr indent="0" marL="0">
              <a:buNone/>
            </a:pPr>
            <a:r>
              <a:rPr lang="en-US" sz="800" dirty="0">
                <a:solidFill>
                  <a:srgbClr val="64748B"/>
                </a:solidFill>
                <a:latin typeface="Roboto" pitchFamily="34" charset="0"/>
                <a:ea typeface="Roboto" pitchFamily="34" charset="-122"/>
                <a:cs typeface="Roboto" pitchFamily="34" charset="-120"/>
              </a:rPr>
              <a:t>target ≥ 95%</a:t>
            </a:r>
            <a:endParaRPr lang="en-US" sz="850" dirty="0"/>
          </a:p>
        </p:txBody>
      </p:sp>
      <p:sp>
        <p:nvSpPr>
          <p:cNvPr id="37" name="Shape 32"/>
          <p:cNvSpPr/>
          <p:nvPr/>
        </p:nvSpPr>
        <p:spPr>
          <a:xfrm>
            <a:off x="10076688" y="2212848"/>
            <a:ext cx="1463040" cy="768096"/>
          </a:xfrm>
          <a:prstGeom prst="roundRect">
            <a:avLst>
              <a:gd name="adj" fmla="val 8333"/>
            </a:avLst>
          </a:prstGeom>
          <a:solidFill>
            <a:srgbClr val="FFFBEB"/>
          </a:solidFill>
          <a:ln w="12700">
            <a:solidFill>
              <a:srgbClr val="FDE68A"/>
            </a:solidFill>
            <a:prstDash val="solid"/>
          </a:ln>
        </p:spPr>
      </p:sp>
      <p:sp>
        <p:nvSpPr>
          <p:cNvPr id="38" name="Text 33"/>
          <p:cNvSpPr txBox="1"/>
          <p:nvPr/>
        </p:nvSpPr>
        <p:spPr>
          <a:xfrm>
            <a:off x="10149840" y="2231136"/>
            <a:ext cx="1353312" cy="731520"/>
          </a:xfrm>
          <a:prstGeom prst="rect">
            <a:avLst/>
          </a:prstGeom>
          <a:noFill/>
          <a:ln/>
        </p:spPr>
        <p:txBody>
          <a:bodyPr wrap="square" lIns="0" tIns="0" rIns="0" bIns="0" rtlCol="0" anchor="ctr"/>
          <a:lstStyle/>
          <a:p>
            <a:pPr indent="0" marL="0">
              <a:buNone/>
            </a:pPr>
            <a:r>
              <a:rPr lang="en-US" sz="850" b="1" dirty="0">
                <a:solidFill>
                  <a:srgbClr val="0F172A"/>
                </a:solidFill>
                <a:latin typeface="Roboto" pitchFamily="34" charset="0"/>
                <a:ea typeface="Roboto" pitchFamily="34" charset="-122"/>
                <a:cs typeface="Roboto" pitchFamily="34" charset="-120"/>
              </a:rPr>
              <a:t>10  Tamper Locator</a:t>
            </a:r>
            <a:endParaRPr lang="en-US" sz="850" dirty="0"/>
          </a:p>
          <a:p>
            <a:pPr indent="0" marL="0">
              <a:buNone/>
            </a:pPr>
            <a:r>
              <a:rPr lang="en-US" sz="1300" b="1" dirty="0">
                <a:solidFill>
                  <a:srgbClr val="D97706"/>
                </a:solidFill>
                <a:latin typeface="Roboto" pitchFamily="34" charset="0"/>
                <a:ea typeface="Roboto" pitchFamily="34" charset="-122"/>
                <a:cs typeface="Roboto" pitchFamily="34" charset="-120"/>
              </a:rPr>
              <a:t>74.6%</a:t>
            </a:r>
            <a:endParaRPr lang="en-US" sz="850" dirty="0"/>
          </a:p>
          <a:p>
            <a:pPr indent="0" marL="0">
              <a:buNone/>
            </a:pPr>
            <a:r>
              <a:rPr lang="en-US" sz="800" dirty="0">
                <a:solidFill>
                  <a:srgbClr val="64748B"/>
                </a:solidFill>
                <a:latin typeface="Roboto" pitchFamily="34" charset="0"/>
                <a:ea typeface="Roboto" pitchFamily="34" charset="-122"/>
                <a:cs typeface="Roboto" pitchFamily="34" charset="-120"/>
              </a:rPr>
              <a:t>target ≥ 80%</a:t>
            </a:r>
            <a:endParaRPr lang="en-US" sz="850" dirty="0"/>
          </a:p>
        </p:txBody>
      </p:sp>
      <p:sp>
        <p:nvSpPr>
          <p:cNvPr id="39" name="Shape 34"/>
          <p:cNvSpPr/>
          <p:nvPr/>
        </p:nvSpPr>
        <p:spPr>
          <a:xfrm>
            <a:off x="3931920" y="3054096"/>
            <a:ext cx="1463040" cy="768096"/>
          </a:xfrm>
          <a:prstGeom prst="roundRect">
            <a:avLst>
              <a:gd name="adj" fmla="val 8333"/>
            </a:avLst>
          </a:prstGeom>
          <a:solidFill>
            <a:srgbClr val="F0FDF4"/>
          </a:solidFill>
          <a:ln w="12700">
            <a:solidFill>
              <a:srgbClr val="BBF7D0"/>
            </a:solidFill>
            <a:prstDash val="solid"/>
          </a:ln>
        </p:spPr>
      </p:sp>
      <p:sp>
        <p:nvSpPr>
          <p:cNvPr id="40" name="Text 35"/>
          <p:cNvSpPr txBox="1"/>
          <p:nvPr/>
        </p:nvSpPr>
        <p:spPr>
          <a:xfrm>
            <a:off x="4005072" y="3072384"/>
            <a:ext cx="1353312" cy="731520"/>
          </a:xfrm>
          <a:prstGeom prst="rect">
            <a:avLst/>
          </a:prstGeom>
          <a:noFill/>
          <a:ln/>
        </p:spPr>
        <p:txBody>
          <a:bodyPr wrap="square" lIns="0" tIns="0" rIns="0" bIns="0" rtlCol="0" anchor="ctr"/>
          <a:lstStyle/>
          <a:p>
            <a:pPr indent="0" marL="0">
              <a:buNone/>
            </a:pPr>
            <a:r>
              <a:rPr lang="en-US" sz="850" b="1" dirty="0">
                <a:solidFill>
                  <a:srgbClr val="0F172A"/>
                </a:solidFill>
                <a:latin typeface="Roboto" pitchFamily="34" charset="0"/>
                <a:ea typeface="Roboto" pitchFamily="34" charset="-122"/>
                <a:cs typeface="Roboto" pitchFamily="34" charset="-120"/>
              </a:rPr>
              <a:t>11  Cross-Doc Verification</a:t>
            </a:r>
            <a:endParaRPr lang="en-US" sz="850" dirty="0"/>
          </a:p>
          <a:p>
            <a:pPr indent="0" marL="0">
              <a:buNone/>
            </a:pPr>
            <a:r>
              <a:rPr lang="en-US" sz="1300" b="1" dirty="0">
                <a:solidFill>
                  <a:srgbClr val="16A34A"/>
                </a:solidFill>
                <a:latin typeface="Roboto" pitchFamily="34" charset="0"/>
                <a:ea typeface="Roboto" pitchFamily="34" charset="-122"/>
                <a:cs typeface="Roboto" pitchFamily="34" charset="-120"/>
              </a:rPr>
              <a:t>100%</a:t>
            </a:r>
            <a:endParaRPr lang="en-US" sz="850" dirty="0"/>
          </a:p>
          <a:p>
            <a:pPr indent="0" marL="0">
              <a:buNone/>
            </a:pPr>
            <a:r>
              <a:rPr lang="en-US" sz="800" dirty="0">
                <a:solidFill>
                  <a:srgbClr val="64748B"/>
                </a:solidFill>
                <a:latin typeface="Roboto" pitchFamily="34" charset="0"/>
                <a:ea typeface="Roboto" pitchFamily="34" charset="-122"/>
                <a:cs typeface="Roboto" pitchFamily="34" charset="-120"/>
              </a:rPr>
              <a:t>target ≥ 95%</a:t>
            </a:r>
            <a:endParaRPr lang="en-US" sz="850" dirty="0"/>
          </a:p>
        </p:txBody>
      </p:sp>
      <p:sp>
        <p:nvSpPr>
          <p:cNvPr id="41" name="Shape 36"/>
          <p:cNvSpPr/>
          <p:nvPr/>
        </p:nvSpPr>
        <p:spPr>
          <a:xfrm>
            <a:off x="5468112" y="3054096"/>
            <a:ext cx="1463040" cy="768096"/>
          </a:xfrm>
          <a:prstGeom prst="roundRect">
            <a:avLst>
              <a:gd name="adj" fmla="val 8333"/>
            </a:avLst>
          </a:prstGeom>
          <a:solidFill>
            <a:srgbClr val="F0FDF4"/>
          </a:solidFill>
          <a:ln w="12700">
            <a:solidFill>
              <a:srgbClr val="BBF7D0"/>
            </a:solidFill>
            <a:prstDash val="solid"/>
          </a:ln>
        </p:spPr>
      </p:sp>
      <p:sp>
        <p:nvSpPr>
          <p:cNvPr id="42" name="Text 37"/>
          <p:cNvSpPr txBox="1"/>
          <p:nvPr/>
        </p:nvSpPr>
        <p:spPr>
          <a:xfrm>
            <a:off x="5541264" y="3072384"/>
            <a:ext cx="1353312" cy="731520"/>
          </a:xfrm>
          <a:prstGeom prst="rect">
            <a:avLst/>
          </a:prstGeom>
          <a:noFill/>
          <a:ln/>
        </p:spPr>
        <p:txBody>
          <a:bodyPr wrap="square" lIns="0" tIns="0" rIns="0" bIns="0" rtlCol="0" anchor="ctr"/>
          <a:lstStyle/>
          <a:p>
            <a:pPr indent="0" marL="0">
              <a:buNone/>
            </a:pPr>
            <a:r>
              <a:rPr lang="en-US" sz="850" b="1" dirty="0">
                <a:solidFill>
                  <a:srgbClr val="0F172A"/>
                </a:solidFill>
                <a:latin typeface="Roboto" pitchFamily="34" charset="0"/>
                <a:ea typeface="Roboto" pitchFamily="34" charset="-122"/>
                <a:cs typeface="Roboto" pitchFamily="34" charset="-120"/>
              </a:rPr>
              <a:t>12  Dedupe</a:t>
            </a:r>
            <a:endParaRPr lang="en-US" sz="850" dirty="0"/>
          </a:p>
          <a:p>
            <a:pPr indent="0" marL="0">
              <a:buNone/>
            </a:pPr>
            <a:r>
              <a:rPr lang="en-US" sz="1300" b="1" dirty="0">
                <a:solidFill>
                  <a:srgbClr val="16A34A"/>
                </a:solidFill>
                <a:latin typeface="Roboto" pitchFamily="34" charset="0"/>
                <a:ea typeface="Roboto" pitchFamily="34" charset="-122"/>
                <a:cs typeface="Roboto" pitchFamily="34" charset="-120"/>
              </a:rPr>
              <a:t>96.3%</a:t>
            </a:r>
            <a:endParaRPr lang="en-US" sz="850" dirty="0"/>
          </a:p>
          <a:p>
            <a:pPr indent="0" marL="0">
              <a:buNone/>
            </a:pPr>
            <a:r>
              <a:rPr lang="en-US" sz="800" dirty="0">
                <a:solidFill>
                  <a:srgbClr val="64748B"/>
                </a:solidFill>
                <a:latin typeface="Roboto" pitchFamily="34" charset="0"/>
                <a:ea typeface="Roboto" pitchFamily="34" charset="-122"/>
                <a:cs typeface="Roboto" pitchFamily="34" charset="-120"/>
              </a:rPr>
              <a:t>target ≥ 95%</a:t>
            </a:r>
            <a:endParaRPr lang="en-US" sz="850" dirty="0"/>
          </a:p>
        </p:txBody>
      </p:sp>
      <p:sp>
        <p:nvSpPr>
          <p:cNvPr id="43" name="Shape 38"/>
          <p:cNvSpPr/>
          <p:nvPr/>
        </p:nvSpPr>
        <p:spPr>
          <a:xfrm>
            <a:off x="7004304" y="3054096"/>
            <a:ext cx="1463040" cy="768096"/>
          </a:xfrm>
          <a:prstGeom prst="roundRect">
            <a:avLst>
              <a:gd name="adj" fmla="val 8333"/>
            </a:avLst>
          </a:prstGeom>
          <a:solidFill>
            <a:srgbClr val="F0FDF4"/>
          </a:solidFill>
          <a:ln w="12700">
            <a:solidFill>
              <a:srgbClr val="BBF7D0"/>
            </a:solidFill>
            <a:prstDash val="solid"/>
          </a:ln>
        </p:spPr>
      </p:sp>
      <p:sp>
        <p:nvSpPr>
          <p:cNvPr id="44" name="Text 39"/>
          <p:cNvSpPr txBox="1"/>
          <p:nvPr/>
        </p:nvSpPr>
        <p:spPr>
          <a:xfrm>
            <a:off x="7077456" y="3072384"/>
            <a:ext cx="1353312" cy="731520"/>
          </a:xfrm>
          <a:prstGeom prst="rect">
            <a:avLst/>
          </a:prstGeom>
          <a:noFill/>
          <a:ln/>
        </p:spPr>
        <p:txBody>
          <a:bodyPr wrap="square" lIns="0" tIns="0" rIns="0" bIns="0" rtlCol="0" anchor="ctr"/>
          <a:lstStyle/>
          <a:p>
            <a:pPr indent="0" marL="0">
              <a:buNone/>
            </a:pPr>
            <a:r>
              <a:rPr lang="en-US" sz="850" b="1" dirty="0">
                <a:solidFill>
                  <a:srgbClr val="0F172A"/>
                </a:solidFill>
                <a:latin typeface="Roboto" pitchFamily="34" charset="0"/>
                <a:ea typeface="Roboto" pitchFamily="34" charset="-122"/>
                <a:cs typeface="Roboto" pitchFamily="34" charset="-120"/>
              </a:rPr>
              <a:t>13  Fraud Fusion</a:t>
            </a:r>
            <a:endParaRPr lang="en-US" sz="850" dirty="0"/>
          </a:p>
          <a:p>
            <a:pPr indent="0" marL="0">
              <a:buNone/>
            </a:pPr>
            <a:r>
              <a:rPr lang="en-US" sz="1300" b="1" dirty="0">
                <a:solidFill>
                  <a:srgbClr val="16A34A"/>
                </a:solidFill>
                <a:latin typeface="Roboto" pitchFamily="34" charset="0"/>
                <a:ea typeface="Roboto" pitchFamily="34" charset="-122"/>
                <a:cs typeface="Roboto" pitchFamily="34" charset="-120"/>
              </a:rPr>
              <a:t>96.7%</a:t>
            </a:r>
            <a:endParaRPr lang="en-US" sz="850" dirty="0"/>
          </a:p>
          <a:p>
            <a:pPr indent="0" marL="0">
              <a:buNone/>
            </a:pPr>
            <a:r>
              <a:rPr lang="en-US" sz="800" dirty="0">
                <a:solidFill>
                  <a:srgbClr val="64748B"/>
                </a:solidFill>
                <a:latin typeface="Roboto" pitchFamily="34" charset="0"/>
                <a:ea typeface="Roboto" pitchFamily="34" charset="-122"/>
                <a:cs typeface="Roboto" pitchFamily="34" charset="-120"/>
              </a:rPr>
              <a:t>target ≥ 85%</a:t>
            </a:r>
            <a:endParaRPr lang="en-US" sz="850" dirty="0"/>
          </a:p>
        </p:txBody>
      </p:sp>
      <p:sp>
        <p:nvSpPr>
          <p:cNvPr id="45" name="Shape 40"/>
          <p:cNvSpPr/>
          <p:nvPr/>
        </p:nvSpPr>
        <p:spPr>
          <a:xfrm>
            <a:off x="8540496" y="3054096"/>
            <a:ext cx="1463040" cy="768096"/>
          </a:xfrm>
          <a:prstGeom prst="roundRect">
            <a:avLst>
              <a:gd name="adj" fmla="val 8333"/>
            </a:avLst>
          </a:prstGeom>
          <a:solidFill>
            <a:srgbClr val="F0FDF4"/>
          </a:solidFill>
          <a:ln w="12700">
            <a:solidFill>
              <a:srgbClr val="BBF7D0"/>
            </a:solidFill>
            <a:prstDash val="solid"/>
          </a:ln>
        </p:spPr>
      </p:sp>
      <p:sp>
        <p:nvSpPr>
          <p:cNvPr id="46" name="Text 41"/>
          <p:cNvSpPr txBox="1"/>
          <p:nvPr/>
        </p:nvSpPr>
        <p:spPr>
          <a:xfrm>
            <a:off x="8613648" y="3072384"/>
            <a:ext cx="1353312" cy="731520"/>
          </a:xfrm>
          <a:prstGeom prst="rect">
            <a:avLst/>
          </a:prstGeom>
          <a:noFill/>
          <a:ln/>
        </p:spPr>
        <p:txBody>
          <a:bodyPr wrap="square" lIns="0" tIns="0" rIns="0" bIns="0" rtlCol="0" anchor="ctr"/>
          <a:lstStyle/>
          <a:p>
            <a:pPr indent="0" marL="0">
              <a:buNone/>
            </a:pPr>
            <a:r>
              <a:rPr lang="en-US" sz="850" b="1" dirty="0">
                <a:solidFill>
                  <a:srgbClr val="0F172A"/>
                </a:solidFill>
                <a:latin typeface="Roboto" pitchFamily="34" charset="0"/>
                <a:ea typeface="Roboto" pitchFamily="34" charset="-122"/>
                <a:cs typeface="Roboto" pitchFamily="34" charset="-120"/>
              </a:rPr>
              <a:t>14  Fraud Patterns</a:t>
            </a:r>
            <a:endParaRPr lang="en-US" sz="850" dirty="0"/>
          </a:p>
          <a:p>
            <a:pPr indent="0" marL="0">
              <a:buNone/>
            </a:pPr>
            <a:r>
              <a:rPr lang="en-US" sz="1300" b="1" dirty="0">
                <a:solidFill>
                  <a:srgbClr val="16A34A"/>
                </a:solidFill>
                <a:latin typeface="Roboto" pitchFamily="34" charset="0"/>
                <a:ea typeface="Roboto" pitchFamily="34" charset="-122"/>
                <a:cs typeface="Roboto" pitchFamily="34" charset="-120"/>
              </a:rPr>
              <a:t>F1 0.92</a:t>
            </a:r>
            <a:endParaRPr lang="en-US" sz="850" dirty="0"/>
          </a:p>
          <a:p>
            <a:pPr indent="0" marL="0">
              <a:buNone/>
            </a:pPr>
            <a:r>
              <a:rPr lang="en-US" sz="800" dirty="0">
                <a:solidFill>
                  <a:srgbClr val="64748B"/>
                </a:solidFill>
                <a:latin typeface="Roboto" pitchFamily="34" charset="0"/>
                <a:ea typeface="Roboto" pitchFamily="34" charset="-122"/>
                <a:cs typeface="Roboto" pitchFamily="34" charset="-120"/>
              </a:rPr>
              <a:t>target ≥ 0.85</a:t>
            </a:r>
            <a:endParaRPr lang="en-US" sz="850" dirty="0"/>
          </a:p>
        </p:txBody>
      </p:sp>
      <p:sp>
        <p:nvSpPr>
          <p:cNvPr id="47" name="Shape 42"/>
          <p:cNvSpPr/>
          <p:nvPr/>
        </p:nvSpPr>
        <p:spPr>
          <a:xfrm>
            <a:off x="10076688" y="3054096"/>
            <a:ext cx="1463040" cy="768096"/>
          </a:xfrm>
          <a:prstGeom prst="roundRect">
            <a:avLst>
              <a:gd name="adj" fmla="val 8333"/>
            </a:avLst>
          </a:prstGeom>
          <a:solidFill>
            <a:srgbClr val="F0FDF4"/>
          </a:solidFill>
          <a:ln w="12700">
            <a:solidFill>
              <a:srgbClr val="BBF7D0"/>
            </a:solidFill>
            <a:prstDash val="solid"/>
          </a:ln>
        </p:spPr>
      </p:sp>
      <p:sp>
        <p:nvSpPr>
          <p:cNvPr id="48" name="Text 43"/>
          <p:cNvSpPr txBox="1"/>
          <p:nvPr/>
        </p:nvSpPr>
        <p:spPr>
          <a:xfrm>
            <a:off x="10149840" y="3072384"/>
            <a:ext cx="1353312" cy="731520"/>
          </a:xfrm>
          <a:prstGeom prst="rect">
            <a:avLst/>
          </a:prstGeom>
          <a:noFill/>
          <a:ln/>
        </p:spPr>
        <p:txBody>
          <a:bodyPr wrap="square" lIns="0" tIns="0" rIns="0" bIns="0" rtlCol="0" anchor="ctr"/>
          <a:lstStyle/>
          <a:p>
            <a:pPr indent="0" marL="0">
              <a:buNone/>
            </a:pPr>
            <a:r>
              <a:rPr lang="en-US" sz="850" b="1" dirty="0">
                <a:solidFill>
                  <a:srgbClr val="0F172A"/>
                </a:solidFill>
                <a:latin typeface="Roboto" pitchFamily="34" charset="0"/>
                <a:ea typeface="Roboto" pitchFamily="34" charset="-122"/>
                <a:cs typeface="Roboto" pitchFamily="34" charset="-120"/>
              </a:rPr>
              <a:t>15  Fraud Triage</a:t>
            </a:r>
            <a:endParaRPr lang="en-US" sz="850" dirty="0"/>
          </a:p>
          <a:p>
            <a:pPr indent="0" marL="0">
              <a:buNone/>
            </a:pPr>
            <a:r>
              <a:rPr lang="en-US" sz="1300" b="1" dirty="0">
                <a:solidFill>
                  <a:srgbClr val="16A34A"/>
                </a:solidFill>
                <a:latin typeface="Roboto" pitchFamily="34" charset="0"/>
                <a:ea typeface="Roboto" pitchFamily="34" charset="-122"/>
                <a:cs typeface="Roboto" pitchFamily="34" charset="-120"/>
              </a:rPr>
              <a:t>100%</a:t>
            </a:r>
            <a:endParaRPr lang="en-US" sz="850" dirty="0"/>
          </a:p>
          <a:p>
            <a:pPr indent="0" marL="0">
              <a:buNone/>
            </a:pPr>
            <a:r>
              <a:rPr lang="en-US" sz="800" dirty="0">
                <a:solidFill>
                  <a:srgbClr val="64748B"/>
                </a:solidFill>
                <a:latin typeface="Roboto" pitchFamily="34" charset="0"/>
                <a:ea typeface="Roboto" pitchFamily="34" charset="-122"/>
                <a:cs typeface="Roboto" pitchFamily="34" charset="-120"/>
              </a:rPr>
              <a:t>target ≥ 80%</a:t>
            </a:r>
            <a:endParaRPr lang="en-US" sz="850" dirty="0"/>
          </a:p>
        </p:txBody>
      </p:sp>
      <p:sp>
        <p:nvSpPr>
          <p:cNvPr id="49" name="Shape 44"/>
          <p:cNvSpPr/>
          <p:nvPr/>
        </p:nvSpPr>
        <p:spPr>
          <a:xfrm>
            <a:off x="3931920" y="3895344"/>
            <a:ext cx="1463040" cy="768096"/>
          </a:xfrm>
          <a:prstGeom prst="roundRect">
            <a:avLst>
              <a:gd name="adj" fmla="val 8333"/>
            </a:avLst>
          </a:prstGeom>
          <a:solidFill>
            <a:srgbClr val="F0FDF4"/>
          </a:solidFill>
          <a:ln w="12700">
            <a:solidFill>
              <a:srgbClr val="BBF7D0"/>
            </a:solidFill>
            <a:prstDash val="solid"/>
          </a:ln>
        </p:spPr>
      </p:sp>
      <p:sp>
        <p:nvSpPr>
          <p:cNvPr id="50" name="Text 45"/>
          <p:cNvSpPr txBox="1"/>
          <p:nvPr/>
        </p:nvSpPr>
        <p:spPr>
          <a:xfrm>
            <a:off x="4005072" y="3913632"/>
            <a:ext cx="1353312" cy="731520"/>
          </a:xfrm>
          <a:prstGeom prst="rect">
            <a:avLst/>
          </a:prstGeom>
          <a:noFill/>
          <a:ln/>
        </p:spPr>
        <p:txBody>
          <a:bodyPr wrap="square" lIns="0" tIns="0" rIns="0" bIns="0" rtlCol="0" anchor="ctr"/>
          <a:lstStyle/>
          <a:p>
            <a:pPr indent="0" marL="0">
              <a:buNone/>
            </a:pPr>
            <a:r>
              <a:rPr lang="en-US" sz="850" b="1" dirty="0">
                <a:solidFill>
                  <a:srgbClr val="0F172A"/>
                </a:solidFill>
                <a:latin typeface="Roboto" pitchFamily="34" charset="0"/>
                <a:ea typeface="Roboto" pitchFamily="34" charset="-122"/>
                <a:cs typeface="Roboto" pitchFamily="34" charset="-120"/>
              </a:rPr>
              <a:t>16  KB Ingestion</a:t>
            </a:r>
            <a:endParaRPr lang="en-US" sz="850" dirty="0"/>
          </a:p>
          <a:p>
            <a:pPr indent="0" marL="0">
              <a:buNone/>
            </a:pPr>
            <a:r>
              <a:rPr lang="en-US" sz="1300" b="1" dirty="0">
                <a:solidFill>
                  <a:srgbClr val="16A34A"/>
                </a:solidFill>
                <a:latin typeface="Roboto" pitchFamily="34" charset="0"/>
                <a:ea typeface="Roboto" pitchFamily="34" charset="-122"/>
                <a:cs typeface="Roboto" pitchFamily="34" charset="-120"/>
              </a:rPr>
              <a:t>92.7%</a:t>
            </a:r>
            <a:endParaRPr lang="en-US" sz="850" dirty="0"/>
          </a:p>
          <a:p>
            <a:pPr indent="0" marL="0">
              <a:buNone/>
            </a:pPr>
            <a:r>
              <a:rPr lang="en-US" sz="800" dirty="0">
                <a:solidFill>
                  <a:srgbClr val="64748B"/>
                </a:solidFill>
                <a:latin typeface="Roboto" pitchFamily="34" charset="0"/>
                <a:ea typeface="Roboto" pitchFamily="34" charset="-122"/>
                <a:cs typeface="Roboto" pitchFamily="34" charset="-120"/>
              </a:rPr>
              <a:t>target ≥ 85%</a:t>
            </a:r>
            <a:endParaRPr lang="en-US" sz="850" dirty="0"/>
          </a:p>
        </p:txBody>
      </p:sp>
      <p:sp>
        <p:nvSpPr>
          <p:cNvPr id="51" name="Shape 46"/>
          <p:cNvSpPr/>
          <p:nvPr/>
        </p:nvSpPr>
        <p:spPr>
          <a:xfrm>
            <a:off x="5468112" y="3895344"/>
            <a:ext cx="1463040" cy="768096"/>
          </a:xfrm>
          <a:prstGeom prst="roundRect">
            <a:avLst>
              <a:gd name="adj" fmla="val 8333"/>
            </a:avLst>
          </a:prstGeom>
          <a:solidFill>
            <a:srgbClr val="F0FDF4"/>
          </a:solidFill>
          <a:ln w="12700">
            <a:solidFill>
              <a:srgbClr val="BBF7D0"/>
            </a:solidFill>
            <a:prstDash val="solid"/>
          </a:ln>
        </p:spPr>
      </p:sp>
      <p:sp>
        <p:nvSpPr>
          <p:cNvPr id="52" name="Text 47"/>
          <p:cNvSpPr txBox="1"/>
          <p:nvPr/>
        </p:nvSpPr>
        <p:spPr>
          <a:xfrm>
            <a:off x="5541264" y="3913632"/>
            <a:ext cx="1353312" cy="731520"/>
          </a:xfrm>
          <a:prstGeom prst="rect">
            <a:avLst/>
          </a:prstGeom>
          <a:noFill/>
          <a:ln/>
        </p:spPr>
        <p:txBody>
          <a:bodyPr wrap="square" lIns="0" tIns="0" rIns="0" bIns="0" rtlCol="0" anchor="ctr"/>
          <a:lstStyle/>
          <a:p>
            <a:pPr indent="0" marL="0">
              <a:buNone/>
            </a:pPr>
            <a:r>
              <a:rPr lang="en-US" sz="850" b="1" dirty="0">
                <a:solidFill>
                  <a:srgbClr val="0F172A"/>
                </a:solidFill>
                <a:latin typeface="Roboto" pitchFamily="34" charset="0"/>
                <a:ea typeface="Roboto" pitchFamily="34" charset="-122"/>
                <a:cs typeface="Roboto" pitchFamily="34" charset="-120"/>
              </a:rPr>
              <a:t>17  Rule Authoring</a:t>
            </a:r>
            <a:endParaRPr lang="en-US" sz="850" dirty="0"/>
          </a:p>
          <a:p>
            <a:pPr indent="0" marL="0">
              <a:buNone/>
            </a:pPr>
            <a:r>
              <a:rPr lang="en-US" sz="1300" b="1" dirty="0">
                <a:solidFill>
                  <a:srgbClr val="16A34A"/>
                </a:solidFill>
                <a:latin typeface="Roboto" pitchFamily="34" charset="0"/>
                <a:ea typeface="Roboto" pitchFamily="34" charset="-122"/>
                <a:cs typeface="Roboto" pitchFamily="34" charset="-120"/>
              </a:rPr>
              <a:t>83.7%</a:t>
            </a:r>
            <a:endParaRPr lang="en-US" sz="850" dirty="0"/>
          </a:p>
          <a:p>
            <a:pPr indent="0" marL="0">
              <a:buNone/>
            </a:pPr>
            <a:r>
              <a:rPr lang="en-US" sz="800" dirty="0">
                <a:solidFill>
                  <a:srgbClr val="64748B"/>
                </a:solidFill>
                <a:latin typeface="Roboto" pitchFamily="34" charset="0"/>
                <a:ea typeface="Roboto" pitchFamily="34" charset="-122"/>
                <a:cs typeface="Roboto" pitchFamily="34" charset="-120"/>
              </a:rPr>
              <a:t>target ≥ 70%</a:t>
            </a:r>
            <a:endParaRPr lang="en-US" sz="850" dirty="0"/>
          </a:p>
        </p:txBody>
      </p:sp>
      <p:sp>
        <p:nvSpPr>
          <p:cNvPr id="53" name="Shape 48"/>
          <p:cNvSpPr/>
          <p:nvPr/>
        </p:nvSpPr>
        <p:spPr>
          <a:xfrm>
            <a:off x="7004304" y="3895344"/>
            <a:ext cx="1463040" cy="768096"/>
          </a:xfrm>
          <a:prstGeom prst="roundRect">
            <a:avLst>
              <a:gd name="adj" fmla="val 8333"/>
            </a:avLst>
          </a:prstGeom>
          <a:solidFill>
            <a:srgbClr val="F0FDF4"/>
          </a:solidFill>
          <a:ln w="12700">
            <a:solidFill>
              <a:srgbClr val="BBF7D0"/>
            </a:solidFill>
            <a:prstDash val="solid"/>
          </a:ln>
        </p:spPr>
      </p:sp>
      <p:sp>
        <p:nvSpPr>
          <p:cNvPr id="54" name="Text 49"/>
          <p:cNvSpPr txBox="1"/>
          <p:nvPr/>
        </p:nvSpPr>
        <p:spPr>
          <a:xfrm>
            <a:off x="7077456" y="3913632"/>
            <a:ext cx="1353312" cy="731520"/>
          </a:xfrm>
          <a:prstGeom prst="rect">
            <a:avLst/>
          </a:prstGeom>
          <a:noFill/>
          <a:ln/>
        </p:spPr>
        <p:txBody>
          <a:bodyPr wrap="square" lIns="0" tIns="0" rIns="0" bIns="0" rtlCol="0" anchor="ctr"/>
          <a:lstStyle/>
          <a:p>
            <a:pPr indent="0" marL="0">
              <a:buNone/>
            </a:pPr>
            <a:r>
              <a:rPr lang="en-US" sz="850" b="1" dirty="0">
                <a:solidFill>
                  <a:srgbClr val="0F172A"/>
                </a:solidFill>
                <a:latin typeface="Roboto" pitchFamily="34" charset="0"/>
                <a:ea typeface="Roboto" pitchFamily="34" charset="-122"/>
                <a:cs typeface="Roboto" pitchFamily="34" charset="-120"/>
              </a:rPr>
              <a:t>18  Regulatory Q&amp;A</a:t>
            </a:r>
            <a:endParaRPr lang="en-US" sz="850" dirty="0"/>
          </a:p>
          <a:p>
            <a:pPr indent="0" marL="0">
              <a:buNone/>
            </a:pPr>
            <a:r>
              <a:rPr lang="en-US" sz="1300" b="1" dirty="0">
                <a:solidFill>
                  <a:srgbClr val="16A34A"/>
                </a:solidFill>
                <a:latin typeface="Roboto" pitchFamily="34" charset="0"/>
                <a:ea typeface="Roboto" pitchFamily="34" charset="-122"/>
                <a:cs typeface="Roboto" pitchFamily="34" charset="-120"/>
              </a:rPr>
              <a:t>79.4%</a:t>
            </a:r>
            <a:endParaRPr lang="en-US" sz="850" dirty="0"/>
          </a:p>
          <a:p>
            <a:pPr indent="0" marL="0">
              <a:buNone/>
            </a:pPr>
            <a:r>
              <a:rPr lang="en-US" sz="800" dirty="0">
                <a:solidFill>
                  <a:srgbClr val="64748B"/>
                </a:solidFill>
                <a:latin typeface="Roboto" pitchFamily="34" charset="0"/>
                <a:ea typeface="Roboto" pitchFamily="34" charset="-122"/>
                <a:cs typeface="Roboto" pitchFamily="34" charset="-120"/>
              </a:rPr>
              <a:t>target ≥ 70%</a:t>
            </a:r>
            <a:endParaRPr lang="en-US" sz="850" dirty="0"/>
          </a:p>
        </p:txBody>
      </p:sp>
      <p:sp>
        <p:nvSpPr>
          <p:cNvPr id="55" name="Shape 50"/>
          <p:cNvSpPr/>
          <p:nvPr/>
        </p:nvSpPr>
        <p:spPr>
          <a:xfrm>
            <a:off x="8540496" y="3895344"/>
            <a:ext cx="1463040" cy="768096"/>
          </a:xfrm>
          <a:prstGeom prst="roundRect">
            <a:avLst>
              <a:gd name="adj" fmla="val 8333"/>
            </a:avLst>
          </a:prstGeom>
          <a:solidFill>
            <a:srgbClr val="F0FDF4"/>
          </a:solidFill>
          <a:ln w="12700">
            <a:solidFill>
              <a:srgbClr val="BBF7D0"/>
            </a:solidFill>
            <a:prstDash val="solid"/>
          </a:ln>
        </p:spPr>
      </p:sp>
      <p:sp>
        <p:nvSpPr>
          <p:cNvPr id="56" name="Text 51"/>
          <p:cNvSpPr txBox="1"/>
          <p:nvPr/>
        </p:nvSpPr>
        <p:spPr>
          <a:xfrm>
            <a:off x="8613648" y="3913632"/>
            <a:ext cx="1353312" cy="731520"/>
          </a:xfrm>
          <a:prstGeom prst="rect">
            <a:avLst/>
          </a:prstGeom>
          <a:noFill/>
          <a:ln/>
        </p:spPr>
        <p:txBody>
          <a:bodyPr wrap="square" lIns="0" tIns="0" rIns="0" bIns="0" rtlCol="0" anchor="ctr"/>
          <a:lstStyle/>
          <a:p>
            <a:pPr indent="0" marL="0">
              <a:buNone/>
            </a:pPr>
            <a:r>
              <a:rPr lang="en-US" sz="850" b="1" dirty="0">
                <a:solidFill>
                  <a:srgbClr val="0F172A"/>
                </a:solidFill>
                <a:latin typeface="Roboto" pitchFamily="34" charset="0"/>
                <a:ea typeface="Roboto" pitchFamily="34" charset="-122"/>
                <a:cs typeface="Roboto" pitchFamily="34" charset="-120"/>
              </a:rPr>
              <a:t>19  Policy Check</a:t>
            </a:r>
            <a:endParaRPr lang="en-US" sz="850" dirty="0"/>
          </a:p>
          <a:p>
            <a:pPr indent="0" marL="0">
              <a:buNone/>
            </a:pPr>
            <a:r>
              <a:rPr lang="en-US" sz="1300" b="1" dirty="0">
                <a:solidFill>
                  <a:srgbClr val="16A34A"/>
                </a:solidFill>
                <a:latin typeface="Roboto" pitchFamily="34" charset="0"/>
                <a:ea typeface="Roboto" pitchFamily="34" charset="-122"/>
                <a:cs typeface="Roboto" pitchFamily="34" charset="-120"/>
              </a:rPr>
              <a:t>100%</a:t>
            </a:r>
            <a:endParaRPr lang="en-US" sz="850" dirty="0"/>
          </a:p>
          <a:p>
            <a:pPr indent="0" marL="0">
              <a:buNone/>
            </a:pPr>
            <a:r>
              <a:rPr lang="en-US" sz="800" dirty="0">
                <a:solidFill>
                  <a:srgbClr val="64748B"/>
                </a:solidFill>
                <a:latin typeface="Roboto" pitchFamily="34" charset="0"/>
                <a:ea typeface="Roboto" pitchFamily="34" charset="-122"/>
                <a:cs typeface="Roboto" pitchFamily="34" charset="-120"/>
              </a:rPr>
              <a:t>target 100%</a:t>
            </a:r>
            <a:endParaRPr lang="en-US" sz="850" dirty="0"/>
          </a:p>
        </p:txBody>
      </p:sp>
      <p:sp>
        <p:nvSpPr>
          <p:cNvPr id="57" name="Shape 52"/>
          <p:cNvSpPr/>
          <p:nvPr/>
        </p:nvSpPr>
        <p:spPr>
          <a:xfrm>
            <a:off x="10076688" y="3895344"/>
            <a:ext cx="1463040" cy="768096"/>
          </a:xfrm>
          <a:prstGeom prst="roundRect">
            <a:avLst>
              <a:gd name="adj" fmla="val 8333"/>
            </a:avLst>
          </a:prstGeom>
          <a:solidFill>
            <a:srgbClr val="F0FDF4"/>
          </a:solidFill>
          <a:ln w="12700">
            <a:solidFill>
              <a:srgbClr val="BBF7D0"/>
            </a:solidFill>
            <a:prstDash val="solid"/>
          </a:ln>
        </p:spPr>
      </p:sp>
      <p:sp>
        <p:nvSpPr>
          <p:cNvPr id="58" name="Text 53"/>
          <p:cNvSpPr txBox="1"/>
          <p:nvPr/>
        </p:nvSpPr>
        <p:spPr>
          <a:xfrm>
            <a:off x="10149840" y="3913632"/>
            <a:ext cx="1353312" cy="731520"/>
          </a:xfrm>
          <a:prstGeom prst="rect">
            <a:avLst/>
          </a:prstGeom>
          <a:noFill/>
          <a:ln/>
        </p:spPr>
        <p:txBody>
          <a:bodyPr wrap="square" lIns="0" tIns="0" rIns="0" bIns="0" rtlCol="0" anchor="ctr"/>
          <a:lstStyle/>
          <a:p>
            <a:pPr indent="0" marL="0">
              <a:buNone/>
            </a:pPr>
            <a:r>
              <a:rPr lang="en-US" sz="850" b="1" dirty="0">
                <a:solidFill>
                  <a:srgbClr val="0F172A"/>
                </a:solidFill>
                <a:latin typeface="Roboto" pitchFamily="34" charset="0"/>
                <a:ea typeface="Roboto" pitchFamily="34" charset="-122"/>
                <a:cs typeface="Roboto" pitchFamily="34" charset="-120"/>
              </a:rPr>
              <a:t>20  Income Analysis</a:t>
            </a:r>
            <a:endParaRPr lang="en-US" sz="850" dirty="0"/>
          </a:p>
          <a:p>
            <a:pPr indent="0" marL="0">
              <a:buNone/>
            </a:pPr>
            <a:r>
              <a:rPr lang="en-US" sz="1300" b="1" dirty="0">
                <a:solidFill>
                  <a:srgbClr val="16A34A"/>
                </a:solidFill>
                <a:latin typeface="Roboto" pitchFamily="34" charset="0"/>
                <a:ea typeface="Roboto" pitchFamily="34" charset="-122"/>
                <a:cs typeface="Roboto" pitchFamily="34" charset="-120"/>
              </a:rPr>
              <a:t>F1 1.00</a:t>
            </a:r>
            <a:endParaRPr lang="en-US" sz="850" dirty="0"/>
          </a:p>
          <a:p>
            <a:pPr indent="0" marL="0">
              <a:buNone/>
            </a:pPr>
            <a:r>
              <a:rPr lang="en-US" sz="800" dirty="0">
                <a:solidFill>
                  <a:srgbClr val="64748B"/>
                </a:solidFill>
                <a:latin typeface="Roboto" pitchFamily="34" charset="0"/>
                <a:ea typeface="Roboto" pitchFamily="34" charset="-122"/>
                <a:cs typeface="Roboto" pitchFamily="34" charset="-120"/>
              </a:rPr>
              <a:t>target ≥ 0.90</a:t>
            </a:r>
            <a:endParaRPr lang="en-US" sz="850" dirty="0"/>
          </a:p>
        </p:txBody>
      </p:sp>
      <p:sp>
        <p:nvSpPr>
          <p:cNvPr id="59" name="Shape 54"/>
          <p:cNvSpPr/>
          <p:nvPr/>
        </p:nvSpPr>
        <p:spPr>
          <a:xfrm>
            <a:off x="3931920" y="4736592"/>
            <a:ext cx="1463040" cy="768096"/>
          </a:xfrm>
          <a:prstGeom prst="roundRect">
            <a:avLst>
              <a:gd name="adj" fmla="val 8333"/>
            </a:avLst>
          </a:prstGeom>
          <a:solidFill>
            <a:srgbClr val="F0FDF4"/>
          </a:solidFill>
          <a:ln w="12700">
            <a:solidFill>
              <a:srgbClr val="BBF7D0"/>
            </a:solidFill>
            <a:prstDash val="solid"/>
          </a:ln>
        </p:spPr>
      </p:sp>
      <p:sp>
        <p:nvSpPr>
          <p:cNvPr id="60" name="Text 55"/>
          <p:cNvSpPr txBox="1"/>
          <p:nvPr/>
        </p:nvSpPr>
        <p:spPr>
          <a:xfrm>
            <a:off x="4005072" y="4754880"/>
            <a:ext cx="1353312" cy="731520"/>
          </a:xfrm>
          <a:prstGeom prst="rect">
            <a:avLst/>
          </a:prstGeom>
          <a:noFill/>
          <a:ln/>
        </p:spPr>
        <p:txBody>
          <a:bodyPr wrap="square" lIns="0" tIns="0" rIns="0" bIns="0" rtlCol="0" anchor="ctr"/>
          <a:lstStyle/>
          <a:p>
            <a:pPr indent="0" marL="0">
              <a:buNone/>
            </a:pPr>
            <a:r>
              <a:rPr lang="en-US" sz="850" b="1" dirty="0">
                <a:solidFill>
                  <a:srgbClr val="0F172A"/>
                </a:solidFill>
                <a:latin typeface="Roboto" pitchFamily="34" charset="0"/>
                <a:ea typeface="Roboto" pitchFamily="34" charset="-122"/>
                <a:cs typeface="Roboto" pitchFamily="34" charset="-120"/>
              </a:rPr>
              <a:t>21  Risk Scoring</a:t>
            </a:r>
            <a:endParaRPr lang="en-US" sz="850" dirty="0"/>
          </a:p>
          <a:p>
            <a:pPr indent="0" marL="0">
              <a:buNone/>
            </a:pPr>
            <a:r>
              <a:rPr lang="en-US" sz="1300" b="1" dirty="0">
                <a:solidFill>
                  <a:srgbClr val="16A34A"/>
                </a:solidFill>
                <a:latin typeface="Roboto" pitchFamily="34" charset="0"/>
                <a:ea typeface="Roboto" pitchFamily="34" charset="-122"/>
                <a:cs typeface="Roboto" pitchFamily="34" charset="-120"/>
              </a:rPr>
              <a:t>skill 0.83</a:t>
            </a:r>
            <a:endParaRPr lang="en-US" sz="850" dirty="0"/>
          </a:p>
          <a:p>
            <a:pPr indent="0" marL="0">
              <a:buNone/>
            </a:pPr>
            <a:r>
              <a:rPr lang="en-US" sz="800" dirty="0">
                <a:solidFill>
                  <a:srgbClr val="64748B"/>
                </a:solidFill>
                <a:latin typeface="Roboto" pitchFamily="34" charset="0"/>
                <a:ea typeface="Roboto" pitchFamily="34" charset="-122"/>
                <a:cs typeface="Roboto" pitchFamily="34" charset="-120"/>
              </a:rPr>
              <a:t>target ≥ 0.75</a:t>
            </a:r>
            <a:endParaRPr lang="en-US" sz="850" dirty="0"/>
          </a:p>
        </p:txBody>
      </p:sp>
      <p:sp>
        <p:nvSpPr>
          <p:cNvPr id="61" name="Shape 56"/>
          <p:cNvSpPr/>
          <p:nvPr/>
        </p:nvSpPr>
        <p:spPr>
          <a:xfrm>
            <a:off x="5468112" y="4736592"/>
            <a:ext cx="1463040" cy="768096"/>
          </a:xfrm>
          <a:prstGeom prst="roundRect">
            <a:avLst>
              <a:gd name="adj" fmla="val 8333"/>
            </a:avLst>
          </a:prstGeom>
          <a:solidFill>
            <a:srgbClr val="F0FDF4"/>
          </a:solidFill>
          <a:ln w="12700">
            <a:solidFill>
              <a:srgbClr val="BBF7D0"/>
            </a:solidFill>
            <a:prstDash val="solid"/>
          </a:ln>
        </p:spPr>
      </p:sp>
      <p:sp>
        <p:nvSpPr>
          <p:cNvPr id="62" name="Text 57"/>
          <p:cNvSpPr txBox="1"/>
          <p:nvPr/>
        </p:nvSpPr>
        <p:spPr>
          <a:xfrm>
            <a:off x="5541264" y="4754880"/>
            <a:ext cx="1353312" cy="731520"/>
          </a:xfrm>
          <a:prstGeom prst="rect">
            <a:avLst/>
          </a:prstGeom>
          <a:noFill/>
          <a:ln/>
        </p:spPr>
        <p:txBody>
          <a:bodyPr wrap="square" lIns="0" tIns="0" rIns="0" bIns="0" rtlCol="0" anchor="ctr"/>
          <a:lstStyle/>
          <a:p>
            <a:pPr indent="0" marL="0">
              <a:buNone/>
            </a:pPr>
            <a:r>
              <a:rPr lang="en-US" sz="850" b="1" dirty="0">
                <a:solidFill>
                  <a:srgbClr val="0F172A"/>
                </a:solidFill>
                <a:latin typeface="Roboto" pitchFamily="34" charset="0"/>
                <a:ea typeface="Roboto" pitchFamily="34" charset="-122"/>
                <a:cs typeface="Roboto" pitchFamily="34" charset="-120"/>
              </a:rPr>
              <a:t>22  Credit Memo</a:t>
            </a:r>
            <a:endParaRPr lang="en-US" sz="850" dirty="0"/>
          </a:p>
          <a:p>
            <a:pPr indent="0" marL="0">
              <a:buNone/>
            </a:pPr>
            <a:r>
              <a:rPr lang="en-US" sz="1300" b="1" dirty="0">
                <a:solidFill>
                  <a:srgbClr val="16A34A"/>
                </a:solidFill>
                <a:latin typeface="Roboto" pitchFamily="34" charset="0"/>
                <a:ea typeface="Roboto" pitchFamily="34" charset="-122"/>
                <a:cs typeface="Roboto" pitchFamily="34" charset="-120"/>
              </a:rPr>
              <a:t>100%</a:t>
            </a:r>
            <a:endParaRPr lang="en-US" sz="850" dirty="0"/>
          </a:p>
          <a:p>
            <a:pPr indent="0" marL="0">
              <a:buNone/>
            </a:pPr>
            <a:r>
              <a:rPr lang="en-US" sz="800" dirty="0">
                <a:solidFill>
                  <a:srgbClr val="64748B"/>
                </a:solidFill>
                <a:latin typeface="Roboto" pitchFamily="34" charset="0"/>
                <a:ea typeface="Roboto" pitchFamily="34" charset="-122"/>
                <a:cs typeface="Roboto" pitchFamily="34" charset="-120"/>
              </a:rPr>
              <a:t>target ≥ 95%</a:t>
            </a:r>
            <a:endParaRPr lang="en-US" sz="850" dirty="0"/>
          </a:p>
        </p:txBody>
      </p:sp>
      <p:sp>
        <p:nvSpPr>
          <p:cNvPr id="63" name="Shape 58"/>
          <p:cNvSpPr/>
          <p:nvPr/>
        </p:nvSpPr>
        <p:spPr>
          <a:xfrm>
            <a:off x="7004304" y="4736592"/>
            <a:ext cx="1463040" cy="768096"/>
          </a:xfrm>
          <a:prstGeom prst="roundRect">
            <a:avLst>
              <a:gd name="adj" fmla="val 8333"/>
            </a:avLst>
          </a:prstGeom>
          <a:solidFill>
            <a:srgbClr val="F0FDF4"/>
          </a:solidFill>
          <a:ln w="12700">
            <a:solidFill>
              <a:srgbClr val="BBF7D0"/>
            </a:solidFill>
            <a:prstDash val="solid"/>
          </a:ln>
        </p:spPr>
      </p:sp>
      <p:sp>
        <p:nvSpPr>
          <p:cNvPr id="64" name="Text 59"/>
          <p:cNvSpPr txBox="1"/>
          <p:nvPr/>
        </p:nvSpPr>
        <p:spPr>
          <a:xfrm>
            <a:off x="7077456" y="4754880"/>
            <a:ext cx="1353312" cy="731520"/>
          </a:xfrm>
          <a:prstGeom prst="rect">
            <a:avLst/>
          </a:prstGeom>
          <a:noFill/>
          <a:ln/>
        </p:spPr>
        <p:txBody>
          <a:bodyPr wrap="square" lIns="0" tIns="0" rIns="0" bIns="0" rtlCol="0" anchor="ctr"/>
          <a:lstStyle/>
          <a:p>
            <a:pPr indent="0" marL="0">
              <a:buNone/>
            </a:pPr>
            <a:r>
              <a:rPr lang="en-US" sz="850" b="1" dirty="0">
                <a:solidFill>
                  <a:srgbClr val="0F172A"/>
                </a:solidFill>
                <a:latin typeface="Roboto" pitchFamily="34" charset="0"/>
                <a:ea typeface="Roboto" pitchFamily="34" charset="-122"/>
                <a:cs typeface="Roboto" pitchFamily="34" charset="-120"/>
              </a:rPr>
              <a:t>23  UW Supervisor</a:t>
            </a:r>
            <a:endParaRPr lang="en-US" sz="850" dirty="0"/>
          </a:p>
          <a:p>
            <a:pPr indent="0" marL="0">
              <a:buNone/>
            </a:pPr>
            <a:r>
              <a:rPr lang="en-US" sz="1300" b="1" dirty="0">
                <a:solidFill>
                  <a:srgbClr val="16A34A"/>
                </a:solidFill>
                <a:latin typeface="Roboto" pitchFamily="34" charset="0"/>
                <a:ea typeface="Roboto" pitchFamily="34" charset="-122"/>
                <a:cs typeface="Roboto" pitchFamily="34" charset="-120"/>
              </a:rPr>
              <a:t>0.72×</a:t>
            </a:r>
            <a:endParaRPr lang="en-US" sz="850" dirty="0"/>
          </a:p>
          <a:p>
            <a:pPr indent="0" marL="0">
              <a:buNone/>
            </a:pPr>
            <a:r>
              <a:rPr lang="en-US" sz="800" dirty="0">
                <a:solidFill>
                  <a:srgbClr val="64748B"/>
                </a:solidFill>
                <a:latin typeface="Roboto" pitchFamily="34" charset="0"/>
                <a:ea typeface="Roboto" pitchFamily="34" charset="-122"/>
                <a:cs typeface="Roboto" pitchFamily="34" charset="-120"/>
              </a:rPr>
              <a:t>target ≤ 0.85×</a:t>
            </a:r>
            <a:endParaRPr lang="en-US" sz="850" dirty="0"/>
          </a:p>
        </p:txBody>
      </p:sp>
      <p:sp>
        <p:nvSpPr>
          <p:cNvPr id="65" name="Shape 60"/>
          <p:cNvSpPr/>
          <p:nvPr/>
        </p:nvSpPr>
        <p:spPr>
          <a:xfrm>
            <a:off x="8540496" y="4736592"/>
            <a:ext cx="1463040" cy="768096"/>
          </a:xfrm>
          <a:prstGeom prst="roundRect">
            <a:avLst>
              <a:gd name="adj" fmla="val 8333"/>
            </a:avLst>
          </a:prstGeom>
          <a:solidFill>
            <a:srgbClr val="F0FDF4"/>
          </a:solidFill>
          <a:ln w="12700">
            <a:solidFill>
              <a:srgbClr val="BBF7D0"/>
            </a:solidFill>
            <a:prstDash val="solid"/>
          </a:ln>
        </p:spPr>
      </p:sp>
      <p:sp>
        <p:nvSpPr>
          <p:cNvPr id="66" name="Text 61"/>
          <p:cNvSpPr txBox="1"/>
          <p:nvPr/>
        </p:nvSpPr>
        <p:spPr>
          <a:xfrm>
            <a:off x="8613648" y="4754880"/>
            <a:ext cx="1353312" cy="731520"/>
          </a:xfrm>
          <a:prstGeom prst="rect">
            <a:avLst/>
          </a:prstGeom>
          <a:noFill/>
          <a:ln/>
        </p:spPr>
        <p:txBody>
          <a:bodyPr wrap="square" lIns="0" tIns="0" rIns="0" bIns="0" rtlCol="0" anchor="ctr"/>
          <a:lstStyle/>
          <a:p>
            <a:pPr indent="0" marL="0">
              <a:buNone/>
            </a:pPr>
            <a:r>
              <a:rPr lang="en-US" sz="850" b="1" dirty="0">
                <a:solidFill>
                  <a:srgbClr val="0F172A"/>
                </a:solidFill>
                <a:latin typeface="Roboto" pitchFamily="34" charset="0"/>
                <a:ea typeface="Roboto" pitchFamily="34" charset="-122"/>
                <a:cs typeface="Roboto" pitchFamily="34" charset="-120"/>
              </a:rPr>
              <a:t>24  Offer Generation</a:t>
            </a:r>
            <a:endParaRPr lang="en-US" sz="850" dirty="0"/>
          </a:p>
          <a:p>
            <a:pPr indent="0" marL="0">
              <a:buNone/>
            </a:pPr>
            <a:r>
              <a:rPr lang="en-US" sz="1300" b="1" dirty="0">
                <a:solidFill>
                  <a:srgbClr val="16A34A"/>
                </a:solidFill>
                <a:latin typeface="Roboto" pitchFamily="34" charset="0"/>
                <a:ea typeface="Roboto" pitchFamily="34" charset="-122"/>
                <a:cs typeface="Roboto" pitchFamily="34" charset="-120"/>
              </a:rPr>
              <a:t>100%</a:t>
            </a:r>
            <a:endParaRPr lang="en-US" sz="850" dirty="0"/>
          </a:p>
          <a:p>
            <a:pPr indent="0" marL="0">
              <a:buNone/>
            </a:pPr>
            <a:r>
              <a:rPr lang="en-US" sz="800" dirty="0">
                <a:solidFill>
                  <a:srgbClr val="64748B"/>
                </a:solidFill>
                <a:latin typeface="Roboto" pitchFamily="34" charset="0"/>
                <a:ea typeface="Roboto" pitchFamily="34" charset="-122"/>
                <a:cs typeface="Roboto" pitchFamily="34" charset="-120"/>
              </a:rPr>
              <a:t>target 100%</a:t>
            </a:r>
            <a:endParaRPr lang="en-US" sz="850" dirty="0"/>
          </a:p>
        </p:txBody>
      </p:sp>
      <p:sp>
        <p:nvSpPr>
          <p:cNvPr id="67" name="Shape 62"/>
          <p:cNvSpPr/>
          <p:nvPr/>
        </p:nvSpPr>
        <p:spPr>
          <a:xfrm>
            <a:off x="10076688" y="4736592"/>
            <a:ext cx="1463040" cy="768096"/>
          </a:xfrm>
          <a:prstGeom prst="roundRect">
            <a:avLst>
              <a:gd name="adj" fmla="val 8333"/>
            </a:avLst>
          </a:prstGeom>
          <a:solidFill>
            <a:srgbClr val="F0FDF4"/>
          </a:solidFill>
          <a:ln w="12700">
            <a:solidFill>
              <a:srgbClr val="BBF7D0"/>
            </a:solidFill>
            <a:prstDash val="solid"/>
          </a:ln>
        </p:spPr>
      </p:sp>
      <p:sp>
        <p:nvSpPr>
          <p:cNvPr id="68" name="Text 63"/>
          <p:cNvSpPr txBox="1"/>
          <p:nvPr/>
        </p:nvSpPr>
        <p:spPr>
          <a:xfrm>
            <a:off x="10149840" y="4754880"/>
            <a:ext cx="1353312" cy="731520"/>
          </a:xfrm>
          <a:prstGeom prst="rect">
            <a:avLst/>
          </a:prstGeom>
          <a:noFill/>
          <a:ln/>
        </p:spPr>
        <p:txBody>
          <a:bodyPr wrap="square" lIns="0" tIns="0" rIns="0" bIns="0" rtlCol="0" anchor="ctr"/>
          <a:lstStyle/>
          <a:p>
            <a:pPr indent="0" marL="0">
              <a:buNone/>
            </a:pPr>
            <a:r>
              <a:rPr lang="en-US" sz="850" b="1" dirty="0">
                <a:solidFill>
                  <a:srgbClr val="0F172A"/>
                </a:solidFill>
                <a:latin typeface="Roboto" pitchFamily="34" charset="0"/>
                <a:ea typeface="Roboto" pitchFamily="34" charset="-122"/>
                <a:cs typeface="Roboto" pitchFamily="34" charset="-120"/>
              </a:rPr>
              <a:t>25  Workflow Router</a:t>
            </a:r>
            <a:endParaRPr lang="en-US" sz="850" dirty="0"/>
          </a:p>
          <a:p>
            <a:pPr indent="0" marL="0">
              <a:buNone/>
            </a:pPr>
            <a:r>
              <a:rPr lang="en-US" sz="1300" b="1" dirty="0">
                <a:solidFill>
                  <a:srgbClr val="16A34A"/>
                </a:solidFill>
                <a:latin typeface="Roboto" pitchFamily="34" charset="0"/>
                <a:ea typeface="Roboto" pitchFamily="34" charset="-122"/>
                <a:cs typeface="Roboto" pitchFamily="34" charset="-120"/>
              </a:rPr>
              <a:t>100%</a:t>
            </a:r>
            <a:endParaRPr lang="en-US" sz="850" dirty="0"/>
          </a:p>
          <a:p>
            <a:pPr indent="0" marL="0">
              <a:buNone/>
            </a:pPr>
            <a:r>
              <a:rPr lang="en-US" sz="800" dirty="0">
                <a:solidFill>
                  <a:srgbClr val="64748B"/>
                </a:solidFill>
                <a:latin typeface="Roboto" pitchFamily="34" charset="0"/>
                <a:ea typeface="Roboto" pitchFamily="34" charset="-122"/>
                <a:cs typeface="Roboto" pitchFamily="34" charset="-120"/>
              </a:rPr>
              <a:t>target 100%</a:t>
            </a:r>
            <a:endParaRPr lang="en-US" sz="850" dirty="0"/>
          </a:p>
        </p:txBody>
      </p:sp>
      <p:sp>
        <p:nvSpPr>
          <p:cNvPr id="69" name="Shape 64"/>
          <p:cNvSpPr/>
          <p:nvPr/>
        </p:nvSpPr>
        <p:spPr>
          <a:xfrm>
            <a:off x="3931920" y="5577840"/>
            <a:ext cx="1463040" cy="768096"/>
          </a:xfrm>
          <a:prstGeom prst="roundRect">
            <a:avLst>
              <a:gd name="adj" fmla="val 8333"/>
            </a:avLst>
          </a:prstGeom>
          <a:solidFill>
            <a:srgbClr val="F0FDF4"/>
          </a:solidFill>
          <a:ln w="12700">
            <a:solidFill>
              <a:srgbClr val="BBF7D0"/>
            </a:solidFill>
            <a:prstDash val="solid"/>
          </a:ln>
        </p:spPr>
      </p:sp>
      <p:sp>
        <p:nvSpPr>
          <p:cNvPr id="70" name="Text 65"/>
          <p:cNvSpPr txBox="1"/>
          <p:nvPr/>
        </p:nvSpPr>
        <p:spPr>
          <a:xfrm>
            <a:off x="4005072" y="5596128"/>
            <a:ext cx="1353312" cy="731520"/>
          </a:xfrm>
          <a:prstGeom prst="rect">
            <a:avLst/>
          </a:prstGeom>
          <a:noFill/>
          <a:ln/>
        </p:spPr>
        <p:txBody>
          <a:bodyPr wrap="square" lIns="0" tIns="0" rIns="0" bIns="0" rtlCol="0" anchor="ctr"/>
          <a:lstStyle/>
          <a:p>
            <a:pPr indent="0" marL="0">
              <a:buNone/>
            </a:pPr>
            <a:r>
              <a:rPr lang="en-US" sz="850" b="1" dirty="0">
                <a:solidFill>
                  <a:srgbClr val="0F172A"/>
                </a:solidFill>
                <a:latin typeface="Roboto" pitchFamily="34" charset="0"/>
                <a:ea typeface="Roboto" pitchFamily="34" charset="-122"/>
                <a:cs typeface="Roboto" pitchFamily="34" charset="-120"/>
              </a:rPr>
              <a:t>26  Notifier</a:t>
            </a:r>
            <a:endParaRPr lang="en-US" sz="850" dirty="0"/>
          </a:p>
          <a:p>
            <a:pPr indent="0" marL="0">
              <a:buNone/>
            </a:pPr>
            <a:r>
              <a:rPr lang="en-US" sz="1300" b="1" dirty="0">
                <a:solidFill>
                  <a:srgbClr val="16A34A"/>
                </a:solidFill>
                <a:latin typeface="Roboto" pitchFamily="34" charset="0"/>
                <a:ea typeface="Roboto" pitchFamily="34" charset="-122"/>
                <a:cs typeface="Roboto" pitchFamily="34" charset="-120"/>
              </a:rPr>
              <a:t>100%</a:t>
            </a:r>
            <a:endParaRPr lang="en-US" sz="850" dirty="0"/>
          </a:p>
          <a:p>
            <a:pPr indent="0" marL="0">
              <a:buNone/>
            </a:pPr>
            <a:r>
              <a:rPr lang="en-US" sz="800" dirty="0">
                <a:solidFill>
                  <a:srgbClr val="64748B"/>
                </a:solidFill>
                <a:latin typeface="Roboto" pitchFamily="34" charset="0"/>
                <a:ea typeface="Roboto" pitchFamily="34" charset="-122"/>
                <a:cs typeface="Roboto" pitchFamily="34" charset="-120"/>
              </a:rPr>
              <a:t>target 100%</a:t>
            </a:r>
            <a:endParaRPr lang="en-US" sz="850" dirty="0"/>
          </a:p>
        </p:txBody>
      </p:sp>
      <p:sp>
        <p:nvSpPr>
          <p:cNvPr id="71" name="Shape 66"/>
          <p:cNvSpPr/>
          <p:nvPr/>
        </p:nvSpPr>
        <p:spPr>
          <a:xfrm>
            <a:off x="5468112" y="5577840"/>
            <a:ext cx="1463040" cy="768096"/>
          </a:xfrm>
          <a:prstGeom prst="roundRect">
            <a:avLst>
              <a:gd name="adj" fmla="val 8333"/>
            </a:avLst>
          </a:prstGeom>
          <a:solidFill>
            <a:srgbClr val="F0FDF4"/>
          </a:solidFill>
          <a:ln w="12700">
            <a:solidFill>
              <a:srgbClr val="BBF7D0"/>
            </a:solidFill>
            <a:prstDash val="solid"/>
          </a:ln>
        </p:spPr>
      </p:sp>
      <p:sp>
        <p:nvSpPr>
          <p:cNvPr id="72" name="Text 67"/>
          <p:cNvSpPr txBox="1"/>
          <p:nvPr/>
        </p:nvSpPr>
        <p:spPr>
          <a:xfrm>
            <a:off x="5541264" y="5596128"/>
            <a:ext cx="1353312" cy="731520"/>
          </a:xfrm>
          <a:prstGeom prst="rect">
            <a:avLst/>
          </a:prstGeom>
          <a:noFill/>
          <a:ln/>
        </p:spPr>
        <p:txBody>
          <a:bodyPr wrap="square" lIns="0" tIns="0" rIns="0" bIns="0" rtlCol="0" anchor="ctr"/>
          <a:lstStyle/>
          <a:p>
            <a:pPr indent="0" marL="0">
              <a:buNone/>
            </a:pPr>
            <a:r>
              <a:rPr lang="en-US" sz="850" b="1" dirty="0">
                <a:solidFill>
                  <a:srgbClr val="0F172A"/>
                </a:solidFill>
                <a:latin typeface="Roboto" pitchFamily="34" charset="0"/>
                <a:ea typeface="Roboto" pitchFamily="34" charset="-122"/>
                <a:cs typeface="Roboto" pitchFamily="34" charset="-120"/>
              </a:rPr>
              <a:t>27  Audit / Storage</a:t>
            </a:r>
            <a:endParaRPr lang="en-US" sz="850" dirty="0"/>
          </a:p>
          <a:p>
            <a:pPr indent="0" marL="0">
              <a:buNone/>
            </a:pPr>
            <a:r>
              <a:rPr lang="en-US" sz="1300" b="1" dirty="0">
                <a:solidFill>
                  <a:srgbClr val="16A34A"/>
                </a:solidFill>
                <a:latin typeface="Roboto" pitchFamily="34" charset="0"/>
                <a:ea typeface="Roboto" pitchFamily="34" charset="-122"/>
                <a:cs typeface="Roboto" pitchFamily="34" charset="-120"/>
              </a:rPr>
              <a:t>100%</a:t>
            </a:r>
            <a:endParaRPr lang="en-US" sz="850" dirty="0"/>
          </a:p>
          <a:p>
            <a:pPr indent="0" marL="0">
              <a:buNone/>
            </a:pPr>
            <a:r>
              <a:rPr lang="en-US" sz="800" dirty="0">
                <a:solidFill>
                  <a:srgbClr val="64748B"/>
                </a:solidFill>
                <a:latin typeface="Roboto" pitchFamily="34" charset="0"/>
                <a:ea typeface="Roboto" pitchFamily="34" charset="-122"/>
                <a:cs typeface="Roboto" pitchFamily="34" charset="-120"/>
              </a:rPr>
              <a:t>target 100%</a:t>
            </a:r>
            <a:endParaRPr lang="en-US" sz="850" dirty="0"/>
          </a:p>
        </p:txBody>
      </p:sp>
      <p:sp>
        <p:nvSpPr>
          <p:cNvPr id="73" name="Shape 68"/>
          <p:cNvSpPr/>
          <p:nvPr/>
        </p:nvSpPr>
        <p:spPr>
          <a:xfrm>
            <a:off x="7004304" y="5577840"/>
            <a:ext cx="1463040" cy="768096"/>
          </a:xfrm>
          <a:prstGeom prst="roundRect">
            <a:avLst>
              <a:gd name="adj" fmla="val 8333"/>
            </a:avLst>
          </a:prstGeom>
          <a:solidFill>
            <a:srgbClr val="F0FDF4"/>
          </a:solidFill>
          <a:ln w="12700">
            <a:solidFill>
              <a:srgbClr val="BBF7D0"/>
            </a:solidFill>
            <a:prstDash val="solid"/>
          </a:ln>
        </p:spPr>
      </p:sp>
      <p:sp>
        <p:nvSpPr>
          <p:cNvPr id="74" name="Text 69"/>
          <p:cNvSpPr txBox="1"/>
          <p:nvPr/>
        </p:nvSpPr>
        <p:spPr>
          <a:xfrm>
            <a:off x="7077456" y="5596128"/>
            <a:ext cx="1353312" cy="731520"/>
          </a:xfrm>
          <a:prstGeom prst="rect">
            <a:avLst/>
          </a:prstGeom>
          <a:noFill/>
          <a:ln/>
        </p:spPr>
        <p:txBody>
          <a:bodyPr wrap="square" lIns="0" tIns="0" rIns="0" bIns="0" rtlCol="0" anchor="ctr"/>
          <a:lstStyle/>
          <a:p>
            <a:pPr indent="0" marL="0">
              <a:buNone/>
            </a:pPr>
            <a:r>
              <a:rPr lang="en-US" sz="850" b="1" dirty="0">
                <a:solidFill>
                  <a:srgbClr val="0F172A"/>
                </a:solidFill>
                <a:latin typeface="Roboto" pitchFamily="34" charset="0"/>
                <a:ea typeface="Roboto" pitchFamily="34" charset="-122"/>
                <a:cs typeface="Roboto" pitchFamily="34" charset="-120"/>
              </a:rPr>
              <a:t>28  Process Mining</a:t>
            </a:r>
            <a:endParaRPr lang="en-US" sz="850" dirty="0"/>
          </a:p>
          <a:p>
            <a:pPr indent="0" marL="0">
              <a:buNone/>
            </a:pPr>
            <a:r>
              <a:rPr lang="en-US" sz="1300" b="1" dirty="0">
                <a:solidFill>
                  <a:srgbClr val="16A34A"/>
                </a:solidFill>
                <a:latin typeface="Roboto" pitchFamily="34" charset="0"/>
                <a:ea typeface="Roboto" pitchFamily="34" charset="-122"/>
                <a:cs typeface="Roboto" pitchFamily="34" charset="-120"/>
              </a:rPr>
              <a:t>100%</a:t>
            </a:r>
            <a:endParaRPr lang="en-US" sz="850" dirty="0"/>
          </a:p>
          <a:p>
            <a:pPr indent="0" marL="0">
              <a:buNone/>
            </a:pPr>
            <a:r>
              <a:rPr lang="en-US" sz="800" dirty="0">
                <a:solidFill>
                  <a:srgbClr val="64748B"/>
                </a:solidFill>
                <a:latin typeface="Roboto" pitchFamily="34" charset="0"/>
                <a:ea typeface="Roboto" pitchFamily="34" charset="-122"/>
                <a:cs typeface="Roboto" pitchFamily="34" charset="-120"/>
              </a:rPr>
              <a:t>target 100%</a:t>
            </a:r>
            <a:endParaRPr lang="en-US" sz="850" dirty="0"/>
          </a:p>
        </p:txBody>
      </p:sp>
      <p:sp>
        <p:nvSpPr>
          <p:cNvPr id="75" name="Shape 70"/>
          <p:cNvSpPr/>
          <p:nvPr/>
        </p:nvSpPr>
        <p:spPr>
          <a:xfrm>
            <a:off x="8540496" y="5577840"/>
            <a:ext cx="1463040" cy="768096"/>
          </a:xfrm>
          <a:prstGeom prst="roundRect">
            <a:avLst>
              <a:gd name="adj" fmla="val 8333"/>
            </a:avLst>
          </a:prstGeom>
          <a:solidFill>
            <a:srgbClr val="F0FDF4"/>
          </a:solidFill>
          <a:ln w="12700">
            <a:solidFill>
              <a:srgbClr val="BBF7D0"/>
            </a:solidFill>
            <a:prstDash val="solid"/>
          </a:ln>
        </p:spPr>
      </p:sp>
      <p:sp>
        <p:nvSpPr>
          <p:cNvPr id="76" name="Text 71"/>
          <p:cNvSpPr txBox="1"/>
          <p:nvPr/>
        </p:nvSpPr>
        <p:spPr>
          <a:xfrm>
            <a:off x="8613648" y="5596128"/>
            <a:ext cx="1353312" cy="731520"/>
          </a:xfrm>
          <a:prstGeom prst="rect">
            <a:avLst/>
          </a:prstGeom>
          <a:noFill/>
          <a:ln/>
        </p:spPr>
        <p:txBody>
          <a:bodyPr wrap="square" lIns="0" tIns="0" rIns="0" bIns="0" rtlCol="0" anchor="ctr"/>
          <a:lstStyle/>
          <a:p>
            <a:pPr indent="0" marL="0">
              <a:buNone/>
            </a:pPr>
            <a:r>
              <a:rPr lang="en-US" sz="850" b="1" dirty="0">
                <a:solidFill>
                  <a:srgbClr val="0F172A"/>
                </a:solidFill>
                <a:latin typeface="Roboto" pitchFamily="34" charset="0"/>
                <a:ea typeface="Roboto" pitchFamily="34" charset="-122"/>
                <a:cs typeface="Roboto" pitchFamily="34" charset="-120"/>
              </a:rPr>
              <a:t>29  Liveness</a:t>
            </a:r>
            <a:endParaRPr lang="en-US" sz="850" dirty="0"/>
          </a:p>
          <a:p>
            <a:pPr indent="0" marL="0">
              <a:buNone/>
            </a:pPr>
            <a:r>
              <a:rPr lang="en-US" sz="1300" b="1" dirty="0">
                <a:solidFill>
                  <a:srgbClr val="16A34A"/>
                </a:solidFill>
                <a:latin typeface="Roboto" pitchFamily="34" charset="0"/>
                <a:ea typeface="Roboto" pitchFamily="34" charset="-122"/>
                <a:cs typeface="Roboto" pitchFamily="34" charset="-120"/>
              </a:rPr>
              <a:t>ACER 0.4%</a:t>
            </a:r>
            <a:endParaRPr lang="en-US" sz="850" dirty="0"/>
          </a:p>
          <a:p>
            <a:pPr indent="0" marL="0">
              <a:buNone/>
            </a:pPr>
            <a:r>
              <a:rPr lang="en-US" sz="800" dirty="0">
                <a:solidFill>
                  <a:srgbClr val="64748B"/>
                </a:solidFill>
                <a:latin typeface="Roboto" pitchFamily="34" charset="0"/>
                <a:ea typeface="Roboto" pitchFamily="34" charset="-122"/>
                <a:cs typeface="Roboto" pitchFamily="34" charset="-120"/>
              </a:rPr>
              <a:t>target ≤ 10%</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8229600" cy="256032"/>
          </a:xfrm>
          <a:prstGeom prst="rect">
            <a:avLst/>
          </a:prstGeom>
          <a:noFill/>
          <a:ln/>
        </p:spPr>
        <p:txBody>
          <a:bodyPr wrap="square" lIns="0" tIns="0" rIns="0" bIns="0" rtlCol="0" anchor="ctr"/>
          <a:lstStyle/>
          <a:p>
            <a:pPr indent="0" marL="0">
              <a:buNone/>
            </a:pPr>
            <a:r>
              <a:rPr lang="en-US" sz="1100" b="1" spc="200" kern="0" dirty="0">
                <a:solidFill>
                  <a:srgbClr val="4F46E5"/>
                </a:solidFill>
                <a:latin typeface="Roboto" pitchFamily="34" charset="0"/>
                <a:ea typeface="Roboto" pitchFamily="34" charset="-122"/>
                <a:cs typeface="Roboto" pitchFamily="34" charset="-120"/>
              </a:rPr>
              <a:t>EVALUATION</a:t>
            </a:r>
            <a:endParaRPr lang="en-US" sz="1100" dirty="0"/>
          </a:p>
        </p:txBody>
      </p:sp>
      <p:sp>
        <p:nvSpPr>
          <p:cNvPr id="3" name="Text 1"/>
          <p:cNvSpPr txBox="1"/>
          <p:nvPr/>
        </p:nvSpPr>
        <p:spPr>
          <a:xfrm>
            <a:off x="548640" y="585216"/>
            <a:ext cx="11094415" cy="566928"/>
          </a:xfrm>
          <a:prstGeom prst="rect">
            <a:avLst/>
          </a:prstGeom>
          <a:noFill/>
          <a:ln/>
        </p:spPr>
        <p:txBody>
          <a:bodyPr wrap="square" lIns="0" tIns="0" rIns="0" bIns="0" rtlCol="0" anchor="ctr"/>
          <a:lstStyle/>
          <a:p>
            <a:pPr indent="0" marL="0">
              <a:buNone/>
            </a:pPr>
            <a:r>
              <a:rPr lang="en-US" sz="2800" b="1" dirty="0">
                <a:solidFill>
                  <a:srgbClr val="0F172A"/>
                </a:solidFill>
                <a:latin typeface="Roboto" pitchFamily="34" charset="0"/>
                <a:ea typeface="Roboto" pitchFamily="34" charset="-122"/>
                <a:cs typeface="Roboto" pitchFamily="34" charset="-120"/>
              </a:rPr>
              <a:t>Real data found weaknesses — 13 agents were fixed</a:t>
            </a:r>
            <a:endParaRPr lang="en-US" sz="2800" dirty="0"/>
          </a:p>
        </p:txBody>
      </p:sp>
      <p:sp>
        <p:nvSpPr>
          <p:cNvPr id="4" name="Text 2"/>
          <p:cNvSpPr txBox="1"/>
          <p:nvPr/>
        </p:nvSpPr>
        <p:spPr>
          <a:xfrm>
            <a:off x="548640" y="1152144"/>
            <a:ext cx="11094415" cy="365760"/>
          </a:xfrm>
          <a:prstGeom prst="rect">
            <a:avLst/>
          </a:prstGeom>
          <a:noFill/>
          <a:ln/>
        </p:spPr>
        <p:txBody>
          <a:bodyPr wrap="square" lIns="0" tIns="0" rIns="0" bIns="0" rtlCol="0" anchor="ctr"/>
          <a:lstStyle/>
          <a:p>
            <a:pPr indent="0" marL="0">
              <a:buNone/>
            </a:pPr>
            <a:r>
              <a:rPr lang="en-US" sz="1400" dirty="0">
                <a:solidFill>
                  <a:srgbClr val="64748B"/>
                </a:solidFill>
                <a:latin typeface="Roboto" pitchFamily="34" charset="0"/>
                <a:ea typeface="Roboto" pitchFamily="34" charset="-122"/>
                <a:cs typeface="Roboto" pitchFamily="34" charset="-120"/>
              </a:rPr>
              <a:t>Each fix was developed on the development split only; the test split was scored once afterwards. First run → after the fix.</a:t>
            </a:r>
            <a:endParaRPr lang="en-US" sz="1400" dirty="0"/>
          </a:p>
        </p:txBody>
      </p:sp>
      <p:pic>
        <p:nvPicPr>
          <p:cNvPr id="5" name="Image 0" descr="C:\Users\shrey\AppData\Local\Temp\claude\D--novacinternship-finsight\ef4ecb45-e580-4bc0-9be4-060aa240a5b2\scratchpad\deck\img\logo_lockup.png">    </p:cNvPr>
          <p:cNvPicPr>
            <a:picLocks noChangeAspect="1"/>
          </p:cNvPicPr>
          <p:nvPr/>
        </p:nvPicPr>
        <p:blipFill>
          <a:blip r:embed="rId1"/>
          <a:stretch>
            <a:fillRect/>
          </a:stretch>
        </p:blipFill>
        <p:spPr>
          <a:xfrm>
            <a:off x="10360152" y="6464808"/>
            <a:ext cx="843991" cy="237744"/>
          </a:xfrm>
          <a:prstGeom prst="rect">
            <a:avLst/>
          </a:prstGeom>
        </p:spPr>
      </p:pic>
      <p:sp>
        <p:nvSpPr>
          <p:cNvPr id="6" name="Text 3"/>
          <p:cNvSpPr txBox="1"/>
          <p:nvPr/>
        </p:nvSpPr>
        <p:spPr>
          <a:xfrm>
            <a:off x="11277295" y="6473952"/>
            <a:ext cx="365760" cy="228600"/>
          </a:xfrm>
          <a:prstGeom prst="rect">
            <a:avLst/>
          </a:prstGeom>
          <a:noFill/>
          <a:ln/>
        </p:spPr>
        <p:txBody>
          <a:bodyPr wrap="square" lIns="0" tIns="0" rIns="0" bIns="0" rtlCol="0" anchor="ctr"/>
          <a:lstStyle/>
          <a:p>
            <a:pPr algn="r" indent="0" marL="0">
              <a:buNone/>
            </a:pPr>
            <a:r>
              <a:rPr lang="en-US" sz="900" dirty="0">
                <a:solidFill>
                  <a:srgbClr val="94A3B8"/>
                </a:solidFill>
                <a:latin typeface="Roboto" pitchFamily="34" charset="0"/>
                <a:ea typeface="Roboto" pitchFamily="34" charset="-122"/>
                <a:cs typeface="Roboto" pitchFamily="34" charset="-120"/>
              </a:rPr>
              <a:t>36</a:t>
            </a:r>
            <a:endParaRPr lang="en-US" sz="900" dirty="0"/>
          </a:p>
        </p:txBody>
      </p:sp>
      <p:graphicFrame>
        <p:nvGraphicFramePr>
          <p:cNvPr id="8" name="Chart 0" descr=""/>
          <p:cNvGraphicFramePr/>
          <p:nvPr/>
        </p:nvGraphicFramePr>
        <p:xfrm>
          <a:off x="502920" y="1645920"/>
          <a:ext cx="6492240" cy="4663440"/>
        </p:xfrm>
        <a:graphic xmlns:a="http://schemas.openxmlformats.org/drawingml/2006/main">
          <a:graphicData uri="http://schemas.openxmlformats.org/drawingml/2006/chart">
            <c:chart xmlns:c="http://schemas.openxmlformats.org/drawingml/2006/chart" r:id="rId2"/>
          </a:graphicData>
        </a:graphic>
      </p:graphicFrame>
      <p:sp>
        <p:nvSpPr>
          <p:cNvPr id="9" name="Text 4"/>
          <p:cNvSpPr txBox="1"/>
          <p:nvPr/>
        </p:nvSpPr>
        <p:spPr>
          <a:xfrm>
            <a:off x="6903720" y="1737360"/>
            <a:ext cx="3657600" cy="256032"/>
          </a:xfrm>
          <a:prstGeom prst="rect">
            <a:avLst/>
          </a:prstGeom>
          <a:noFill/>
          <a:ln/>
        </p:spPr>
        <p:txBody>
          <a:bodyPr wrap="square" lIns="0" tIns="0" rIns="0" bIns="0" rtlCol="0" anchor="ctr"/>
          <a:lstStyle/>
          <a:p>
            <a:pPr indent="0" marL="0">
              <a:buNone/>
            </a:pPr>
            <a:r>
              <a:rPr lang="en-US" sz="1050" b="1" spc="200" kern="0" dirty="0">
                <a:solidFill>
                  <a:srgbClr val="64748B"/>
                </a:solidFill>
                <a:latin typeface="Roboto" pitchFamily="34" charset="0"/>
                <a:ea typeface="Roboto" pitchFamily="34" charset="-122"/>
                <a:cs typeface="Roboto" pitchFamily="34" charset="-120"/>
              </a:rPr>
              <a:t>LOWER IS BETTER</a:t>
            </a:r>
            <a:endParaRPr lang="en-US" sz="1050" dirty="0"/>
          </a:p>
        </p:txBody>
      </p:sp>
      <p:sp>
        <p:nvSpPr>
          <p:cNvPr id="10" name="Shape 5"/>
          <p:cNvSpPr/>
          <p:nvPr/>
        </p:nvSpPr>
        <p:spPr>
          <a:xfrm>
            <a:off x="6903720" y="2057400"/>
            <a:ext cx="4739335" cy="621792"/>
          </a:xfrm>
          <a:prstGeom prst="roundRect">
            <a:avLst>
              <a:gd name="adj" fmla="val 11765"/>
            </a:avLst>
          </a:prstGeom>
          <a:solidFill>
            <a:srgbClr val="F8FAFC"/>
          </a:solidFill>
          <a:ln w="12700">
            <a:solidFill>
              <a:srgbClr val="E2E8F0"/>
            </a:solidFill>
            <a:prstDash val="solid"/>
          </a:ln>
        </p:spPr>
      </p:sp>
      <p:sp>
        <p:nvSpPr>
          <p:cNvPr id="11" name="Text 6"/>
          <p:cNvSpPr txBox="1"/>
          <p:nvPr/>
        </p:nvSpPr>
        <p:spPr>
          <a:xfrm>
            <a:off x="7040880" y="2057400"/>
            <a:ext cx="2956255" cy="621792"/>
          </a:xfrm>
          <a:prstGeom prst="rect">
            <a:avLst/>
          </a:prstGeom>
          <a:noFill/>
          <a:ln/>
        </p:spPr>
        <p:txBody>
          <a:bodyPr wrap="square" lIns="0" tIns="0" rIns="0" bIns="0" rtlCol="0" anchor="ctr"/>
          <a:lstStyle/>
          <a:p>
            <a:pPr indent="0" marL="0">
              <a:buNone/>
            </a:pPr>
            <a:r>
              <a:rPr lang="en-US" sz="1150" b="1" dirty="0">
                <a:solidFill>
                  <a:srgbClr val="0F172A"/>
                </a:solidFill>
                <a:latin typeface="Roboto" pitchFamily="34" charset="0"/>
                <a:ea typeface="Roboto" pitchFamily="34" charset="-122"/>
                <a:cs typeface="Roboto" pitchFamily="34" charset="-120"/>
              </a:rPr>
              <a:t>Dedupe</a:t>
            </a:r>
            <a:endParaRPr lang="en-US" sz="1150" dirty="0"/>
          </a:p>
          <a:p>
            <a:pPr indent="0" marL="0">
              <a:buNone/>
            </a:pPr>
            <a:r>
              <a:rPr lang="en-US" sz="950" dirty="0">
                <a:solidFill>
                  <a:srgbClr val="64748B"/>
                </a:solidFill>
                <a:latin typeface="Roboto" pitchFamily="34" charset="0"/>
                <a:ea typeface="Roboto" pitchFamily="34" charset="-122"/>
                <a:cs typeface="Roboto" pitchFamily="34" charset="-120"/>
              </a:rPr>
              <a:t>new applicants given a false 'same face' alert</a:t>
            </a:r>
            <a:endParaRPr lang="en-US" sz="1150" dirty="0"/>
          </a:p>
        </p:txBody>
      </p:sp>
      <p:sp>
        <p:nvSpPr>
          <p:cNvPr id="12" name="Text 7"/>
          <p:cNvSpPr txBox="1"/>
          <p:nvPr/>
        </p:nvSpPr>
        <p:spPr>
          <a:xfrm>
            <a:off x="9997135" y="2057400"/>
            <a:ext cx="1508760" cy="621792"/>
          </a:xfrm>
          <a:prstGeom prst="rect">
            <a:avLst/>
          </a:prstGeom>
          <a:noFill/>
          <a:ln/>
        </p:spPr>
        <p:txBody>
          <a:bodyPr wrap="square" lIns="0" tIns="0" rIns="0" bIns="0" rtlCol="0" anchor="ctr"/>
          <a:lstStyle/>
          <a:p>
            <a:pPr algn="r" indent="0" marL="0">
              <a:buNone/>
            </a:pPr>
            <a:r>
              <a:rPr lang="en-US" sz="1300" b="1" dirty="0">
                <a:solidFill>
                  <a:srgbClr val="16A34A"/>
                </a:solidFill>
                <a:latin typeface="Roboto" pitchFamily="34" charset="0"/>
                <a:ea typeface="Roboto" pitchFamily="34" charset="-122"/>
                <a:cs typeface="Roboto" pitchFamily="34" charset="-120"/>
              </a:rPr>
              <a:t>41.8% → 0.4%</a:t>
            </a:r>
            <a:endParaRPr lang="en-US" sz="1300" dirty="0"/>
          </a:p>
        </p:txBody>
      </p:sp>
      <p:sp>
        <p:nvSpPr>
          <p:cNvPr id="13" name="Shape 8"/>
          <p:cNvSpPr/>
          <p:nvPr/>
        </p:nvSpPr>
        <p:spPr>
          <a:xfrm>
            <a:off x="6903720" y="2770632"/>
            <a:ext cx="4739335" cy="621792"/>
          </a:xfrm>
          <a:prstGeom prst="roundRect">
            <a:avLst>
              <a:gd name="adj" fmla="val 11765"/>
            </a:avLst>
          </a:prstGeom>
          <a:solidFill>
            <a:srgbClr val="F8FAFC"/>
          </a:solidFill>
          <a:ln w="12700">
            <a:solidFill>
              <a:srgbClr val="E2E8F0"/>
            </a:solidFill>
            <a:prstDash val="solid"/>
          </a:ln>
        </p:spPr>
      </p:sp>
      <p:sp>
        <p:nvSpPr>
          <p:cNvPr id="14" name="Text 9"/>
          <p:cNvSpPr txBox="1"/>
          <p:nvPr/>
        </p:nvSpPr>
        <p:spPr>
          <a:xfrm>
            <a:off x="7040880" y="2770632"/>
            <a:ext cx="2956255" cy="621792"/>
          </a:xfrm>
          <a:prstGeom prst="rect">
            <a:avLst/>
          </a:prstGeom>
          <a:noFill/>
          <a:ln/>
        </p:spPr>
        <p:txBody>
          <a:bodyPr wrap="square" lIns="0" tIns="0" rIns="0" bIns="0" rtlCol="0" anchor="ctr"/>
          <a:lstStyle/>
          <a:p>
            <a:pPr indent="0" marL="0">
              <a:buNone/>
            </a:pPr>
            <a:r>
              <a:rPr lang="en-US" sz="1150" b="1" dirty="0">
                <a:solidFill>
                  <a:srgbClr val="0F172A"/>
                </a:solidFill>
                <a:latin typeface="Roboto" pitchFamily="34" charset="0"/>
                <a:ea typeface="Roboto" pitchFamily="34" charset="-122"/>
                <a:cs typeface="Roboto" pitchFamily="34" charset="-120"/>
              </a:rPr>
              <a:t>Tampering Forensics</a:t>
            </a:r>
            <a:endParaRPr lang="en-US" sz="1150" dirty="0"/>
          </a:p>
          <a:p>
            <a:pPr indent="0" marL="0">
              <a:buNone/>
            </a:pPr>
            <a:r>
              <a:rPr lang="en-US" sz="950" dirty="0">
                <a:solidFill>
                  <a:srgbClr val="64748B"/>
                </a:solidFill>
                <a:latin typeface="Roboto" pitchFamily="34" charset="0"/>
                <a:ea typeface="Roboto" pitchFamily="34" charset="-122"/>
                <a:cs typeface="Roboto" pitchFamily="34" charset="-120"/>
              </a:rPr>
              <a:t>genuine documents wrongly rated HIGH</a:t>
            </a:r>
            <a:endParaRPr lang="en-US" sz="1150" dirty="0"/>
          </a:p>
        </p:txBody>
      </p:sp>
      <p:sp>
        <p:nvSpPr>
          <p:cNvPr id="15" name="Text 10"/>
          <p:cNvSpPr txBox="1"/>
          <p:nvPr/>
        </p:nvSpPr>
        <p:spPr>
          <a:xfrm>
            <a:off x="9997135" y="2770632"/>
            <a:ext cx="1508760" cy="621792"/>
          </a:xfrm>
          <a:prstGeom prst="rect">
            <a:avLst/>
          </a:prstGeom>
          <a:noFill/>
          <a:ln/>
        </p:spPr>
        <p:txBody>
          <a:bodyPr wrap="square" lIns="0" tIns="0" rIns="0" bIns="0" rtlCol="0" anchor="ctr"/>
          <a:lstStyle/>
          <a:p>
            <a:pPr algn="r" indent="0" marL="0">
              <a:buNone/>
            </a:pPr>
            <a:r>
              <a:rPr lang="en-US" sz="1300" b="1" dirty="0">
                <a:solidFill>
                  <a:srgbClr val="16A34A"/>
                </a:solidFill>
                <a:latin typeface="Roboto" pitchFamily="34" charset="0"/>
                <a:ea typeface="Roboto" pitchFamily="34" charset="-122"/>
                <a:cs typeface="Roboto" pitchFamily="34" charset="-120"/>
              </a:rPr>
              <a:t>17.0% → 0.8%</a:t>
            </a:r>
            <a:endParaRPr lang="en-US" sz="1300" dirty="0"/>
          </a:p>
        </p:txBody>
      </p:sp>
      <p:sp>
        <p:nvSpPr>
          <p:cNvPr id="16" name="Shape 11"/>
          <p:cNvSpPr/>
          <p:nvPr/>
        </p:nvSpPr>
        <p:spPr>
          <a:xfrm>
            <a:off x="6903720" y="3483864"/>
            <a:ext cx="4739335" cy="621792"/>
          </a:xfrm>
          <a:prstGeom prst="roundRect">
            <a:avLst>
              <a:gd name="adj" fmla="val 11765"/>
            </a:avLst>
          </a:prstGeom>
          <a:solidFill>
            <a:srgbClr val="F8FAFC"/>
          </a:solidFill>
          <a:ln w="12700">
            <a:solidFill>
              <a:srgbClr val="E2E8F0"/>
            </a:solidFill>
            <a:prstDash val="solid"/>
          </a:ln>
        </p:spPr>
      </p:sp>
      <p:sp>
        <p:nvSpPr>
          <p:cNvPr id="17" name="Text 12"/>
          <p:cNvSpPr txBox="1"/>
          <p:nvPr/>
        </p:nvSpPr>
        <p:spPr>
          <a:xfrm>
            <a:off x="7040880" y="3483864"/>
            <a:ext cx="2956255" cy="621792"/>
          </a:xfrm>
          <a:prstGeom prst="rect">
            <a:avLst/>
          </a:prstGeom>
          <a:noFill/>
          <a:ln/>
        </p:spPr>
        <p:txBody>
          <a:bodyPr wrap="square" lIns="0" tIns="0" rIns="0" bIns="0" rtlCol="0" anchor="ctr"/>
          <a:lstStyle/>
          <a:p>
            <a:pPr indent="0" marL="0">
              <a:buNone/>
            </a:pPr>
            <a:r>
              <a:rPr lang="en-US" sz="1150" b="1" dirty="0">
                <a:solidFill>
                  <a:srgbClr val="0F172A"/>
                </a:solidFill>
                <a:latin typeface="Roboto" pitchFamily="34" charset="0"/>
                <a:ea typeface="Roboto" pitchFamily="34" charset="-122"/>
                <a:cs typeface="Roboto" pitchFamily="34" charset="-120"/>
              </a:rPr>
              <a:t>Document Identity</a:t>
            </a:r>
            <a:endParaRPr lang="en-US" sz="1150" dirty="0"/>
          </a:p>
          <a:p>
            <a:pPr indent="0" marL="0">
              <a:buNone/>
            </a:pPr>
            <a:r>
              <a:rPr lang="en-US" sz="950" dirty="0">
                <a:solidFill>
                  <a:srgbClr val="64748B"/>
                </a:solidFill>
                <a:latin typeface="Roboto" pitchFamily="34" charset="0"/>
                <a:ea typeface="Roboto" pitchFamily="34" charset="-122"/>
                <a:cs typeface="Roboto" pitchFamily="34" charset="-120"/>
              </a:rPr>
              <a:t>right documents refused</a:t>
            </a:r>
            <a:endParaRPr lang="en-US" sz="1150" dirty="0"/>
          </a:p>
        </p:txBody>
      </p:sp>
      <p:sp>
        <p:nvSpPr>
          <p:cNvPr id="18" name="Text 13"/>
          <p:cNvSpPr txBox="1"/>
          <p:nvPr/>
        </p:nvSpPr>
        <p:spPr>
          <a:xfrm>
            <a:off x="9997135" y="3483864"/>
            <a:ext cx="1508760" cy="621792"/>
          </a:xfrm>
          <a:prstGeom prst="rect">
            <a:avLst/>
          </a:prstGeom>
          <a:noFill/>
          <a:ln/>
        </p:spPr>
        <p:txBody>
          <a:bodyPr wrap="square" lIns="0" tIns="0" rIns="0" bIns="0" rtlCol="0" anchor="ctr"/>
          <a:lstStyle/>
          <a:p>
            <a:pPr algn="r" indent="0" marL="0">
              <a:buNone/>
            </a:pPr>
            <a:r>
              <a:rPr lang="en-US" sz="1300" b="1" dirty="0">
                <a:solidFill>
                  <a:srgbClr val="16A34A"/>
                </a:solidFill>
                <a:latin typeface="Roboto" pitchFamily="34" charset="0"/>
                <a:ea typeface="Roboto" pitchFamily="34" charset="-122"/>
                <a:cs typeface="Roboto" pitchFamily="34" charset="-120"/>
              </a:rPr>
              <a:t>11.6% → 1.6%</a:t>
            </a:r>
            <a:endParaRPr lang="en-US" sz="1300" dirty="0"/>
          </a:p>
        </p:txBody>
      </p:sp>
      <p:sp>
        <p:nvSpPr>
          <p:cNvPr id="19" name="Shape 14"/>
          <p:cNvSpPr/>
          <p:nvPr/>
        </p:nvSpPr>
        <p:spPr>
          <a:xfrm>
            <a:off x="6903720" y="4197096"/>
            <a:ext cx="4739335" cy="621792"/>
          </a:xfrm>
          <a:prstGeom prst="roundRect">
            <a:avLst>
              <a:gd name="adj" fmla="val 11765"/>
            </a:avLst>
          </a:prstGeom>
          <a:solidFill>
            <a:srgbClr val="F8FAFC"/>
          </a:solidFill>
          <a:ln w="12700">
            <a:solidFill>
              <a:srgbClr val="E2E8F0"/>
            </a:solidFill>
            <a:prstDash val="solid"/>
          </a:ln>
        </p:spPr>
      </p:sp>
      <p:sp>
        <p:nvSpPr>
          <p:cNvPr id="20" name="Text 15"/>
          <p:cNvSpPr txBox="1"/>
          <p:nvPr/>
        </p:nvSpPr>
        <p:spPr>
          <a:xfrm>
            <a:off x="7040880" y="4197096"/>
            <a:ext cx="2956255" cy="621792"/>
          </a:xfrm>
          <a:prstGeom prst="rect">
            <a:avLst/>
          </a:prstGeom>
          <a:noFill/>
          <a:ln/>
        </p:spPr>
        <p:txBody>
          <a:bodyPr wrap="square" lIns="0" tIns="0" rIns="0" bIns="0" rtlCol="0" anchor="ctr"/>
          <a:lstStyle/>
          <a:p>
            <a:pPr indent="0" marL="0">
              <a:buNone/>
            </a:pPr>
            <a:r>
              <a:rPr lang="en-US" sz="1150" b="1" dirty="0">
                <a:solidFill>
                  <a:srgbClr val="0F172A"/>
                </a:solidFill>
                <a:latin typeface="Roboto" pitchFamily="34" charset="0"/>
                <a:ea typeface="Roboto" pitchFamily="34" charset="-122"/>
                <a:cs typeface="Roboto" pitchFamily="34" charset="-120"/>
              </a:rPr>
              <a:t>Preprocessing</a:t>
            </a:r>
            <a:endParaRPr lang="en-US" sz="1150" dirty="0"/>
          </a:p>
          <a:p>
            <a:pPr indent="0" marL="0">
              <a:buNone/>
            </a:pPr>
            <a:r>
              <a:rPr lang="en-US" sz="950" dirty="0">
                <a:solidFill>
                  <a:srgbClr val="64748B"/>
                </a:solidFill>
                <a:latin typeface="Roboto" pitchFamily="34" charset="0"/>
                <a:ea typeface="Roboto" pitchFamily="34" charset="-122"/>
                <a:cs typeface="Roboto" pitchFamily="34" charset="-120"/>
              </a:rPr>
              <a:t>scans made harder to read by the cleanup</a:t>
            </a:r>
            <a:endParaRPr lang="en-US" sz="1150" dirty="0"/>
          </a:p>
        </p:txBody>
      </p:sp>
      <p:sp>
        <p:nvSpPr>
          <p:cNvPr id="21" name="Text 16"/>
          <p:cNvSpPr txBox="1"/>
          <p:nvPr/>
        </p:nvSpPr>
        <p:spPr>
          <a:xfrm>
            <a:off x="9997135" y="4197096"/>
            <a:ext cx="1508760" cy="621792"/>
          </a:xfrm>
          <a:prstGeom prst="rect">
            <a:avLst/>
          </a:prstGeom>
          <a:noFill/>
          <a:ln/>
        </p:spPr>
        <p:txBody>
          <a:bodyPr wrap="square" lIns="0" tIns="0" rIns="0" bIns="0" rtlCol="0" anchor="ctr"/>
          <a:lstStyle/>
          <a:p>
            <a:pPr algn="r" indent="0" marL="0">
              <a:buNone/>
            </a:pPr>
            <a:r>
              <a:rPr lang="en-US" sz="1300" b="1" dirty="0">
                <a:solidFill>
                  <a:srgbClr val="16A34A"/>
                </a:solidFill>
                <a:latin typeface="Roboto" pitchFamily="34" charset="0"/>
                <a:ea typeface="Roboto" pitchFamily="34" charset="-122"/>
                <a:cs typeface="Roboto" pitchFamily="34" charset="-120"/>
              </a:rPr>
              <a:t>30.7% → 6.0%</a:t>
            </a:r>
            <a:endParaRPr lang="en-US" sz="1300" dirty="0"/>
          </a:p>
        </p:txBody>
      </p:sp>
      <p:sp>
        <p:nvSpPr>
          <p:cNvPr id="22" name="Shape 17"/>
          <p:cNvSpPr/>
          <p:nvPr/>
        </p:nvSpPr>
        <p:spPr>
          <a:xfrm>
            <a:off x="6903720" y="4910328"/>
            <a:ext cx="4739335" cy="621792"/>
          </a:xfrm>
          <a:prstGeom prst="roundRect">
            <a:avLst>
              <a:gd name="adj" fmla="val 11765"/>
            </a:avLst>
          </a:prstGeom>
          <a:solidFill>
            <a:srgbClr val="F8FAFC"/>
          </a:solidFill>
          <a:ln w="12700">
            <a:solidFill>
              <a:srgbClr val="E2E8F0"/>
            </a:solidFill>
            <a:prstDash val="solid"/>
          </a:ln>
        </p:spPr>
      </p:sp>
      <p:sp>
        <p:nvSpPr>
          <p:cNvPr id="23" name="Text 18"/>
          <p:cNvSpPr txBox="1"/>
          <p:nvPr/>
        </p:nvSpPr>
        <p:spPr>
          <a:xfrm>
            <a:off x="7040880" y="4910328"/>
            <a:ext cx="2956255" cy="621792"/>
          </a:xfrm>
          <a:prstGeom prst="rect">
            <a:avLst/>
          </a:prstGeom>
          <a:noFill/>
          <a:ln/>
        </p:spPr>
        <p:txBody>
          <a:bodyPr wrap="square" lIns="0" tIns="0" rIns="0" bIns="0" rtlCol="0" anchor="ctr"/>
          <a:lstStyle/>
          <a:p>
            <a:pPr indent="0" marL="0">
              <a:buNone/>
            </a:pPr>
            <a:r>
              <a:rPr lang="en-US" sz="1150" b="1" dirty="0">
                <a:solidFill>
                  <a:srgbClr val="0F172A"/>
                </a:solidFill>
                <a:latin typeface="Roboto" pitchFamily="34" charset="0"/>
                <a:ea typeface="Roboto" pitchFamily="34" charset="-122"/>
                <a:cs typeface="Roboto" pitchFamily="34" charset="-120"/>
              </a:rPr>
              <a:t>Fraud Triage</a:t>
            </a:r>
            <a:endParaRPr lang="en-US" sz="1150" dirty="0"/>
          </a:p>
          <a:p>
            <a:pPr indent="0" marL="0">
              <a:buNone/>
            </a:pPr>
            <a:r>
              <a:rPr lang="en-US" sz="950" dirty="0">
                <a:solidFill>
                  <a:srgbClr val="64748B"/>
                </a:solidFill>
                <a:latin typeface="Roboto" pitchFamily="34" charset="0"/>
                <a:ea typeface="Roboto" pitchFamily="34" charset="-122"/>
                <a:cs typeface="Roboto" pitchFamily="34" charset="-120"/>
              </a:rPr>
              <a:t>false fraud rings proposed</a:t>
            </a:r>
            <a:endParaRPr lang="en-US" sz="1150" dirty="0"/>
          </a:p>
        </p:txBody>
      </p:sp>
      <p:sp>
        <p:nvSpPr>
          <p:cNvPr id="24" name="Text 19"/>
          <p:cNvSpPr txBox="1"/>
          <p:nvPr/>
        </p:nvSpPr>
        <p:spPr>
          <a:xfrm>
            <a:off x="9997135" y="4910328"/>
            <a:ext cx="1508760" cy="621792"/>
          </a:xfrm>
          <a:prstGeom prst="rect">
            <a:avLst/>
          </a:prstGeom>
          <a:noFill/>
          <a:ln/>
        </p:spPr>
        <p:txBody>
          <a:bodyPr wrap="square" lIns="0" tIns="0" rIns="0" bIns="0" rtlCol="0" anchor="ctr"/>
          <a:lstStyle/>
          <a:p>
            <a:pPr algn="r" indent="0" marL="0">
              <a:buNone/>
            </a:pPr>
            <a:r>
              <a:rPr lang="en-US" sz="1300" b="1" dirty="0">
                <a:solidFill>
                  <a:srgbClr val="16A34A"/>
                </a:solidFill>
                <a:latin typeface="Roboto" pitchFamily="34" charset="0"/>
                <a:ea typeface="Roboto" pitchFamily="34" charset="-122"/>
                <a:cs typeface="Roboto" pitchFamily="34" charset="-120"/>
              </a:rPr>
              <a:t>71 → 0</a:t>
            </a:r>
            <a:endParaRPr lang="en-US" sz="1300" dirty="0"/>
          </a:p>
        </p:txBody>
      </p:sp>
      <p:sp>
        <p:nvSpPr>
          <p:cNvPr id="25" name="Shape 20"/>
          <p:cNvSpPr/>
          <p:nvPr/>
        </p:nvSpPr>
        <p:spPr>
          <a:xfrm>
            <a:off x="6903720" y="5669280"/>
            <a:ext cx="4739335" cy="621792"/>
          </a:xfrm>
          <a:prstGeom prst="roundRect">
            <a:avLst>
              <a:gd name="adj" fmla="val 11765"/>
            </a:avLst>
          </a:prstGeom>
          <a:solidFill>
            <a:srgbClr val="EEF2FF"/>
          </a:solidFill>
          <a:ln w="12700">
            <a:solidFill>
              <a:srgbClr val="C7D2FE"/>
            </a:solidFill>
            <a:prstDash val="solid"/>
          </a:ln>
        </p:spPr>
      </p:sp>
      <p:sp>
        <p:nvSpPr>
          <p:cNvPr id="26" name="Text 21"/>
          <p:cNvSpPr txBox="1"/>
          <p:nvPr/>
        </p:nvSpPr>
        <p:spPr>
          <a:xfrm>
            <a:off x="7040880" y="5669280"/>
            <a:ext cx="4465015" cy="621792"/>
          </a:xfrm>
          <a:prstGeom prst="rect">
            <a:avLst/>
          </a:prstGeom>
          <a:noFill/>
          <a:ln/>
        </p:spPr>
        <p:txBody>
          <a:bodyPr wrap="square" lIns="0" tIns="0" rIns="0" bIns="0" rtlCol="0" anchor="ctr"/>
          <a:lstStyle/>
          <a:p>
            <a:pPr indent="0" marL="0">
              <a:buNone/>
            </a:pPr>
            <a:r>
              <a:rPr lang="en-US" sz="1050" b="1" dirty="0">
                <a:solidFill>
                  <a:srgbClr val="3730A3"/>
                </a:solidFill>
                <a:latin typeface="Roboto" pitchFamily="34" charset="0"/>
                <a:ea typeface="Roboto" pitchFamily="34" charset="-122"/>
                <a:cs typeface="Roboto" pitchFamily="34" charset="-120"/>
              </a:rPr>
              <a:t>Also fixed: </a:t>
            </a:r>
            <a:pPr indent="0" marL="0">
              <a:buNone/>
            </a:pPr>
            <a:r>
              <a:rPr lang="en-US" sz="1050" dirty="0">
                <a:solidFill>
                  <a:srgbClr val="334155"/>
                </a:solidFill>
                <a:latin typeface="Roboto" pitchFamily="34" charset="0"/>
                <a:ea typeface="Roboto" pitchFamily="34" charset="-122"/>
                <a:cs typeface="Roboto" pitchFamily="34" charset="-120"/>
              </a:rPr>
              <a:t>the Supervisor could never recommend 'approve' — loan-terms rules were checked before any offer existed.</a:t>
            </a:r>
            <a:endParaRPr lang="en-US" sz="10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8229600" cy="256032"/>
          </a:xfrm>
          <a:prstGeom prst="rect">
            <a:avLst/>
          </a:prstGeom>
          <a:noFill/>
          <a:ln/>
        </p:spPr>
        <p:txBody>
          <a:bodyPr wrap="square" lIns="0" tIns="0" rIns="0" bIns="0" rtlCol="0" anchor="ctr"/>
          <a:lstStyle/>
          <a:p>
            <a:pPr indent="0" marL="0">
              <a:buNone/>
            </a:pPr>
            <a:r>
              <a:rPr lang="en-US" sz="1100" b="1" spc="200" kern="0" dirty="0">
                <a:solidFill>
                  <a:srgbClr val="4F46E5"/>
                </a:solidFill>
                <a:latin typeface="Roboto" pitchFamily="34" charset="0"/>
                <a:ea typeface="Roboto" pitchFamily="34" charset="-122"/>
                <a:cs typeface="Roboto" pitchFamily="34" charset="-120"/>
              </a:rPr>
              <a:t>EVALUATION</a:t>
            </a:r>
            <a:endParaRPr lang="en-US" sz="1100" dirty="0"/>
          </a:p>
        </p:txBody>
      </p:sp>
      <p:sp>
        <p:nvSpPr>
          <p:cNvPr id="3" name="Text 1"/>
          <p:cNvSpPr txBox="1"/>
          <p:nvPr/>
        </p:nvSpPr>
        <p:spPr>
          <a:xfrm>
            <a:off x="548640" y="585216"/>
            <a:ext cx="11094415" cy="566928"/>
          </a:xfrm>
          <a:prstGeom prst="rect">
            <a:avLst/>
          </a:prstGeom>
          <a:noFill/>
          <a:ln/>
        </p:spPr>
        <p:txBody>
          <a:bodyPr wrap="square" lIns="0" tIns="0" rIns="0" bIns="0" rtlCol="0" anchor="ctr"/>
          <a:lstStyle/>
          <a:p>
            <a:pPr indent="0" marL="0">
              <a:buNone/>
            </a:pPr>
            <a:r>
              <a:rPr lang="en-US" sz="2800" b="1" dirty="0">
                <a:solidFill>
                  <a:srgbClr val="0F172A"/>
                </a:solidFill>
                <a:latin typeface="Roboto" pitchFamily="34" charset="0"/>
                <a:ea typeface="Roboto" pitchFamily="34" charset="-122"/>
                <a:cs typeface="Roboto" pitchFamily="34" charset="-120"/>
              </a:rPr>
              <a:t>Finding real forgeries: from 17% to 89%</a:t>
            </a:r>
            <a:endParaRPr lang="en-US" sz="2800" dirty="0"/>
          </a:p>
        </p:txBody>
      </p:sp>
      <p:sp>
        <p:nvSpPr>
          <p:cNvPr id="4" name="Text 2"/>
          <p:cNvSpPr txBox="1"/>
          <p:nvPr/>
        </p:nvSpPr>
        <p:spPr>
          <a:xfrm>
            <a:off x="548640" y="1152144"/>
            <a:ext cx="11094415" cy="365760"/>
          </a:xfrm>
          <a:prstGeom prst="rect">
            <a:avLst/>
          </a:prstGeom>
          <a:noFill/>
          <a:ln/>
        </p:spPr>
        <p:txBody>
          <a:bodyPr wrap="square" lIns="0" tIns="0" rIns="0" bIns="0" rtlCol="0" anchor="ctr"/>
          <a:lstStyle/>
          <a:p>
            <a:pPr indent="0" marL="0">
              <a:buNone/>
            </a:pPr>
            <a:r>
              <a:rPr lang="en-US" sz="1400" dirty="0">
                <a:solidFill>
                  <a:srgbClr val="64748B"/>
                </a:solidFill>
                <a:latin typeface="Roboto" pitchFamily="34" charset="0"/>
                <a:ea typeface="Roboto" pitchFamily="34" charset="-122"/>
                <a:cs typeface="Roboto" pitchFamily="34" charset="-120"/>
              </a:rPr>
              <a:t>The pixel signals were built on synthetic pages. Real forged documents exposed two problems, fixed one after the other.</a:t>
            </a:r>
            <a:endParaRPr lang="en-US" sz="1400" dirty="0"/>
          </a:p>
        </p:txBody>
      </p:sp>
      <p:pic>
        <p:nvPicPr>
          <p:cNvPr id="5" name="Image 0" descr="C:\Users\shrey\AppData\Local\Temp\claude\D--novacinternship-finsight\ef4ecb45-e580-4bc0-9be4-060aa240a5b2\scratchpad\deck\img\logo_lockup.png">    </p:cNvPr>
          <p:cNvPicPr>
            <a:picLocks noChangeAspect="1"/>
          </p:cNvPicPr>
          <p:nvPr/>
        </p:nvPicPr>
        <p:blipFill>
          <a:blip r:embed="rId1"/>
          <a:stretch>
            <a:fillRect/>
          </a:stretch>
        </p:blipFill>
        <p:spPr>
          <a:xfrm>
            <a:off x="10360152" y="6464808"/>
            <a:ext cx="843991" cy="237744"/>
          </a:xfrm>
          <a:prstGeom prst="rect">
            <a:avLst/>
          </a:prstGeom>
        </p:spPr>
      </p:pic>
      <p:sp>
        <p:nvSpPr>
          <p:cNvPr id="6" name="Text 3"/>
          <p:cNvSpPr txBox="1"/>
          <p:nvPr/>
        </p:nvSpPr>
        <p:spPr>
          <a:xfrm>
            <a:off x="11277295" y="6473952"/>
            <a:ext cx="365760" cy="228600"/>
          </a:xfrm>
          <a:prstGeom prst="rect">
            <a:avLst/>
          </a:prstGeom>
          <a:noFill/>
          <a:ln/>
        </p:spPr>
        <p:txBody>
          <a:bodyPr wrap="square" lIns="0" tIns="0" rIns="0" bIns="0" rtlCol="0" anchor="ctr"/>
          <a:lstStyle/>
          <a:p>
            <a:pPr algn="r" indent="0" marL="0">
              <a:buNone/>
            </a:pPr>
            <a:r>
              <a:rPr lang="en-US" sz="900" dirty="0">
                <a:solidFill>
                  <a:srgbClr val="94A3B8"/>
                </a:solidFill>
                <a:latin typeface="Roboto" pitchFamily="34" charset="0"/>
                <a:ea typeface="Roboto" pitchFamily="34" charset="-122"/>
                <a:cs typeface="Roboto" pitchFamily="34" charset="-120"/>
              </a:rPr>
              <a:t>37</a:t>
            </a:r>
            <a:endParaRPr lang="en-US" sz="900" dirty="0"/>
          </a:p>
        </p:txBody>
      </p:sp>
      <p:sp>
        <p:nvSpPr>
          <p:cNvPr id="8" name="Shape 4"/>
          <p:cNvSpPr/>
          <p:nvPr/>
        </p:nvSpPr>
        <p:spPr>
          <a:xfrm>
            <a:off x="548640" y="1783080"/>
            <a:ext cx="5394960" cy="1353312"/>
          </a:xfrm>
          <a:prstGeom prst="roundRect">
            <a:avLst>
              <a:gd name="adj" fmla="val 6757"/>
            </a:avLst>
          </a:prstGeom>
          <a:solidFill>
            <a:srgbClr val="F8FAFC"/>
          </a:solidFill>
          <a:ln w="12700">
            <a:solidFill>
              <a:srgbClr val="E2E8F0"/>
            </a:solidFill>
            <a:prstDash val="solid"/>
          </a:ln>
        </p:spPr>
      </p:sp>
      <p:sp>
        <p:nvSpPr>
          <p:cNvPr id="9" name="Shape 5"/>
          <p:cNvSpPr/>
          <p:nvPr/>
        </p:nvSpPr>
        <p:spPr>
          <a:xfrm>
            <a:off x="731520" y="1965960"/>
            <a:ext cx="365760" cy="365760"/>
          </a:xfrm>
          <a:prstGeom prst="roundRect">
            <a:avLst>
              <a:gd name="adj" fmla="val 50000"/>
            </a:avLst>
          </a:prstGeom>
          <a:solidFill>
            <a:srgbClr val="DC2626"/>
          </a:solidFill>
          <a:ln w="12700">
            <a:solidFill>
              <a:srgbClr val="DC2626"/>
            </a:solidFill>
            <a:prstDash val="solid"/>
          </a:ln>
        </p:spPr>
      </p:sp>
      <p:sp>
        <p:nvSpPr>
          <p:cNvPr id="10" name="Text 6"/>
          <p:cNvSpPr txBox="1"/>
          <p:nvPr/>
        </p:nvSpPr>
        <p:spPr>
          <a:xfrm>
            <a:off x="731520" y="196596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Roboto" pitchFamily="34" charset="0"/>
                <a:ea typeface="Roboto" pitchFamily="34" charset="-122"/>
                <a:cs typeface="Roboto" pitchFamily="34" charset="-120"/>
              </a:rPr>
              <a:t>1</a:t>
            </a:r>
            <a:endParaRPr lang="en-US" sz="1200" dirty="0"/>
          </a:p>
        </p:txBody>
      </p:sp>
      <p:sp>
        <p:nvSpPr>
          <p:cNvPr id="11" name="Text 7"/>
          <p:cNvSpPr txBox="1"/>
          <p:nvPr/>
        </p:nvSpPr>
        <p:spPr>
          <a:xfrm>
            <a:off x="1280160" y="1856232"/>
            <a:ext cx="4526280" cy="1207008"/>
          </a:xfrm>
          <a:prstGeom prst="rect">
            <a:avLst/>
          </a:prstGeom>
          <a:noFill/>
          <a:ln/>
        </p:spPr>
        <p:txBody>
          <a:bodyPr wrap="square" lIns="0" tIns="0" rIns="0" bIns="0" rtlCol="0" anchor="ctr"/>
          <a:lstStyle/>
          <a:p>
            <a:pPr indent="0" marL="0">
              <a:spcAft>
                <a:spcPts val="300"/>
              </a:spcAft>
              <a:buNone/>
            </a:pPr>
            <a:r>
              <a:rPr lang="en-US" sz="1300" b="1" dirty="0">
                <a:solidFill>
                  <a:srgbClr val="0F172A"/>
                </a:solidFill>
                <a:latin typeface="Roboto" pitchFamily="34" charset="0"/>
                <a:ea typeface="Roboto" pitchFamily="34" charset="-122"/>
                <a:cs typeface="Roboto" pitchFamily="34" charset="-120"/>
              </a:rPr>
              <a:t>As first configured</a:t>
            </a:r>
            <a:endParaRPr lang="en-US" sz="1300" dirty="0"/>
          </a:p>
          <a:p>
            <a:pPr indent="0" marL="0">
              <a:spcAft>
                <a:spcPts val="300"/>
              </a:spcAft>
              <a:buNone/>
            </a:pPr>
            <a:r>
              <a:rPr lang="en-US" sz="1200" b="1" dirty="0">
                <a:solidFill>
                  <a:srgbClr val="DC2626"/>
                </a:solidFill>
                <a:latin typeface="Roboto" pitchFamily="34" charset="0"/>
                <a:ea typeface="Roboto" pitchFamily="34" charset="-122"/>
                <a:cs typeface="Roboto" pitchFamily="34" charset="-120"/>
              </a:rPr>
              <a:t>84% of genuine documents flagged</a:t>
            </a:r>
            <a:endParaRPr lang="en-US" sz="1300" dirty="0"/>
          </a:p>
          <a:p>
            <a:pPr indent="0" marL="0">
              <a:spcAft>
                <a:spcPts val="300"/>
              </a:spcAft>
              <a:buNone/>
            </a:pPr>
            <a:r>
              <a:rPr lang="en-US" sz="1000" dirty="0">
                <a:solidFill>
                  <a:srgbClr val="64748B"/>
                </a:solidFill>
                <a:latin typeface="Roboto" pitchFamily="34" charset="0"/>
                <a:ea typeface="Roboto" pitchFamily="34" charset="-122"/>
                <a:cs typeface="Roboto" pitchFamily="34" charset="-120"/>
              </a:rPr>
              <a:t>Signals scaled on synthetic pages saturate on real scans; forged documents ranked below genuine ones (AUC 0.36).</a:t>
            </a:r>
            <a:endParaRPr lang="en-US" sz="1300" dirty="0"/>
          </a:p>
        </p:txBody>
      </p:sp>
      <p:sp>
        <p:nvSpPr>
          <p:cNvPr id="12" name="Shape 8"/>
          <p:cNvSpPr/>
          <p:nvPr/>
        </p:nvSpPr>
        <p:spPr>
          <a:xfrm>
            <a:off x="548640" y="3264408"/>
            <a:ext cx="5394960" cy="1353312"/>
          </a:xfrm>
          <a:prstGeom prst="roundRect">
            <a:avLst>
              <a:gd name="adj" fmla="val 6757"/>
            </a:avLst>
          </a:prstGeom>
          <a:solidFill>
            <a:srgbClr val="F8FAFC"/>
          </a:solidFill>
          <a:ln w="12700">
            <a:solidFill>
              <a:srgbClr val="E2E8F0"/>
            </a:solidFill>
            <a:prstDash val="solid"/>
          </a:ln>
        </p:spPr>
      </p:sp>
      <p:sp>
        <p:nvSpPr>
          <p:cNvPr id="13" name="Shape 9"/>
          <p:cNvSpPr/>
          <p:nvPr/>
        </p:nvSpPr>
        <p:spPr>
          <a:xfrm>
            <a:off x="731520" y="3447288"/>
            <a:ext cx="365760" cy="365760"/>
          </a:xfrm>
          <a:prstGeom prst="roundRect">
            <a:avLst>
              <a:gd name="adj" fmla="val 50000"/>
            </a:avLst>
          </a:prstGeom>
          <a:solidFill>
            <a:srgbClr val="D97706"/>
          </a:solidFill>
          <a:ln w="12700">
            <a:solidFill>
              <a:srgbClr val="D97706"/>
            </a:solidFill>
            <a:prstDash val="solid"/>
          </a:ln>
        </p:spPr>
      </p:sp>
      <p:sp>
        <p:nvSpPr>
          <p:cNvPr id="14" name="Text 10"/>
          <p:cNvSpPr txBox="1"/>
          <p:nvPr/>
        </p:nvSpPr>
        <p:spPr>
          <a:xfrm>
            <a:off x="731520" y="344728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Roboto" pitchFamily="34" charset="0"/>
                <a:ea typeface="Roboto" pitchFamily="34" charset="-122"/>
                <a:cs typeface="Roboto" pitchFamily="34" charset="-120"/>
              </a:rPr>
              <a:t>2</a:t>
            </a:r>
            <a:endParaRPr lang="en-US" sz="1200" dirty="0"/>
          </a:p>
        </p:txBody>
      </p:sp>
      <p:sp>
        <p:nvSpPr>
          <p:cNvPr id="15" name="Text 11"/>
          <p:cNvSpPr txBox="1"/>
          <p:nvPr/>
        </p:nvSpPr>
        <p:spPr>
          <a:xfrm>
            <a:off x="1280160" y="3337560"/>
            <a:ext cx="4526280" cy="1207008"/>
          </a:xfrm>
          <a:prstGeom prst="rect">
            <a:avLst/>
          </a:prstGeom>
          <a:noFill/>
          <a:ln/>
        </p:spPr>
        <p:txBody>
          <a:bodyPr wrap="square" lIns="0" tIns="0" rIns="0" bIns="0" rtlCol="0" anchor="ctr"/>
          <a:lstStyle/>
          <a:p>
            <a:pPr indent="0" marL="0">
              <a:spcAft>
                <a:spcPts val="300"/>
              </a:spcAft>
              <a:buNone/>
            </a:pPr>
            <a:r>
              <a:rPr lang="en-US" sz="1300" b="1" dirty="0">
                <a:solidFill>
                  <a:srgbClr val="0F172A"/>
                </a:solidFill>
                <a:latin typeface="Roboto" pitchFamily="34" charset="0"/>
                <a:ea typeface="Roboto" pitchFamily="34" charset="-122"/>
                <a:cs typeface="Roboto" pitchFamily="34" charset="-120"/>
              </a:rPr>
              <a:t>Calibrated on genuine documents</a:t>
            </a:r>
            <a:endParaRPr lang="en-US" sz="1300" dirty="0"/>
          </a:p>
          <a:p>
            <a:pPr indent="0" marL="0">
              <a:spcAft>
                <a:spcPts val="300"/>
              </a:spcAft>
              <a:buNone/>
            </a:pPr>
            <a:r>
              <a:rPr lang="en-US" sz="1200" b="1" dirty="0">
                <a:solidFill>
                  <a:srgbClr val="D97706"/>
                </a:solidFill>
                <a:latin typeface="Roboto" pitchFamily="34" charset="0"/>
                <a:ea typeface="Roboto" pitchFamily="34" charset="-122"/>
                <a:cs typeface="Roboto" pitchFamily="34" charset="-120"/>
              </a:rPr>
              <a:t>False alarms gone — but 17% of forgeries found</a:t>
            </a:r>
            <a:endParaRPr lang="en-US" sz="1300" dirty="0"/>
          </a:p>
          <a:p>
            <a:pPr indent="0" marL="0">
              <a:spcAft>
                <a:spcPts val="300"/>
              </a:spcAft>
              <a:buNone/>
            </a:pPr>
            <a:r>
              <a:rPr lang="en-US" sz="1000" dirty="0">
                <a:solidFill>
                  <a:srgbClr val="64748B"/>
                </a:solidFill>
                <a:latin typeface="Roboto" pitchFamily="34" charset="0"/>
                <a:ea typeface="Roboto" pitchFamily="34" charset="-122"/>
                <a:cs typeface="Roboto" pitchFamily="34" charset="-120"/>
              </a:rPr>
              <a:t>A pixel signal counts only above what 95% of genuine documents reach; ELA and noise need a second signal.</a:t>
            </a:r>
            <a:endParaRPr lang="en-US" sz="1300" dirty="0"/>
          </a:p>
        </p:txBody>
      </p:sp>
      <p:sp>
        <p:nvSpPr>
          <p:cNvPr id="16" name="Shape 12"/>
          <p:cNvSpPr/>
          <p:nvPr/>
        </p:nvSpPr>
        <p:spPr>
          <a:xfrm>
            <a:off x="548640" y="4745736"/>
            <a:ext cx="5394960" cy="1554480"/>
          </a:xfrm>
          <a:prstGeom prst="roundRect">
            <a:avLst>
              <a:gd name="adj" fmla="val 5882"/>
            </a:avLst>
          </a:prstGeom>
          <a:solidFill>
            <a:srgbClr val="F8FAFC"/>
          </a:solidFill>
          <a:ln w="12700">
            <a:solidFill>
              <a:srgbClr val="E2E8F0"/>
            </a:solidFill>
            <a:prstDash val="solid"/>
          </a:ln>
        </p:spPr>
      </p:sp>
      <p:sp>
        <p:nvSpPr>
          <p:cNvPr id="17" name="Shape 13"/>
          <p:cNvSpPr/>
          <p:nvPr/>
        </p:nvSpPr>
        <p:spPr>
          <a:xfrm>
            <a:off x="731520" y="4928616"/>
            <a:ext cx="365760" cy="365760"/>
          </a:xfrm>
          <a:prstGeom prst="roundRect">
            <a:avLst>
              <a:gd name="adj" fmla="val 50000"/>
            </a:avLst>
          </a:prstGeom>
          <a:solidFill>
            <a:srgbClr val="16A34A"/>
          </a:solidFill>
          <a:ln w="12700">
            <a:solidFill>
              <a:srgbClr val="16A34A"/>
            </a:solidFill>
            <a:prstDash val="solid"/>
          </a:ln>
        </p:spPr>
      </p:sp>
      <p:sp>
        <p:nvSpPr>
          <p:cNvPr id="18" name="Text 14"/>
          <p:cNvSpPr txBox="1"/>
          <p:nvPr/>
        </p:nvSpPr>
        <p:spPr>
          <a:xfrm>
            <a:off x="731520" y="4928616"/>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Roboto" pitchFamily="34" charset="0"/>
                <a:ea typeface="Roboto" pitchFamily="34" charset="-122"/>
                <a:cs typeface="Roboto" pitchFamily="34" charset="-120"/>
              </a:rPr>
              <a:t>3</a:t>
            </a:r>
            <a:endParaRPr lang="en-US" sz="1200" dirty="0"/>
          </a:p>
        </p:txBody>
      </p:sp>
      <p:sp>
        <p:nvSpPr>
          <p:cNvPr id="19" name="Text 15"/>
          <p:cNvSpPr txBox="1"/>
          <p:nvPr/>
        </p:nvSpPr>
        <p:spPr>
          <a:xfrm>
            <a:off x="1280160" y="4818888"/>
            <a:ext cx="4526280" cy="1408176"/>
          </a:xfrm>
          <a:prstGeom prst="rect">
            <a:avLst/>
          </a:prstGeom>
          <a:noFill/>
          <a:ln/>
        </p:spPr>
        <p:txBody>
          <a:bodyPr wrap="square" lIns="0" tIns="0" rIns="0" bIns="0" rtlCol="0" anchor="ctr"/>
          <a:lstStyle/>
          <a:p>
            <a:pPr indent="0" marL="0">
              <a:spcAft>
                <a:spcPts val="300"/>
              </a:spcAft>
              <a:buNone/>
            </a:pPr>
            <a:r>
              <a:rPr lang="en-US" sz="1300" b="1" dirty="0">
                <a:solidFill>
                  <a:srgbClr val="0F172A"/>
                </a:solidFill>
                <a:latin typeface="Roboto" pitchFamily="34" charset="0"/>
                <a:ea typeface="Roboto" pitchFamily="34" charset="-122"/>
                <a:cs typeface="Roboto" pitchFamily="34" charset="-120"/>
              </a:rPr>
              <a:t>A detector trained on real forgeries</a:t>
            </a:r>
            <a:endParaRPr lang="en-US" sz="1300" dirty="0"/>
          </a:p>
          <a:p>
            <a:pPr indent="0" marL="0">
              <a:spcAft>
                <a:spcPts val="300"/>
              </a:spcAft>
              <a:buNone/>
            </a:pPr>
            <a:r>
              <a:rPr lang="en-US" sz="1200" b="1" dirty="0">
                <a:solidFill>
                  <a:srgbClr val="16A34A"/>
                </a:solidFill>
                <a:latin typeface="Roboto" pitchFamily="34" charset="0"/>
                <a:ea typeface="Roboto" pitchFamily="34" charset="-122"/>
                <a:cs typeface="Roboto" pitchFamily="34" charset="-120"/>
              </a:rPr>
              <a:t>89% of forgeries found</a:t>
            </a:r>
            <a:endParaRPr lang="en-US" sz="1300" dirty="0"/>
          </a:p>
          <a:p>
            <a:pPr indent="0" marL="0">
              <a:spcAft>
                <a:spcPts val="300"/>
              </a:spcAft>
              <a:buNone/>
            </a:pPr>
            <a:r>
              <a:rPr lang="en-US" sz="1000" dirty="0">
                <a:solidFill>
                  <a:srgbClr val="64748B"/>
                </a:solidFill>
                <a:latin typeface="Roboto" pitchFamily="34" charset="0"/>
                <a:ea typeface="Roboto" pitchFamily="34" charset="-122"/>
                <a:cs typeface="Roboto" pitchFamily="34" charset="-120"/>
              </a:rPr>
              <a:t>Two small patch models per document family, each calibrated on documents it never saw. Evidence only when both agree; alone it gives MEDIUM, never HIGH. It names the region, so the locator can draw it.</a:t>
            </a:r>
            <a:endParaRPr lang="en-US" sz="1300" dirty="0"/>
          </a:p>
        </p:txBody>
      </p:sp>
      <p:graphicFrame>
        <p:nvGraphicFramePr>
          <p:cNvPr id="20" name="Chart 0" descr=""/>
          <p:cNvGraphicFramePr/>
          <p:nvPr/>
        </p:nvGraphicFramePr>
        <p:xfrm>
          <a:off x="6172200" y="1691640"/>
          <a:ext cx="5468112" cy="3200400"/>
        </p:xfrm>
        <a:graphic xmlns:a="http://schemas.openxmlformats.org/drawingml/2006/main">
          <a:graphicData uri="http://schemas.openxmlformats.org/drawingml/2006/chart">
            <c:chart xmlns:c="http://schemas.openxmlformats.org/drawingml/2006/chart" r:id="rId2"/>
          </a:graphicData>
        </a:graphic>
      </p:graphicFrame>
      <p:sp>
        <p:nvSpPr>
          <p:cNvPr id="21" name="Shape 16"/>
          <p:cNvSpPr/>
          <p:nvPr/>
        </p:nvSpPr>
        <p:spPr>
          <a:xfrm>
            <a:off x="6172200" y="4983480"/>
            <a:ext cx="1773936" cy="749808"/>
          </a:xfrm>
          <a:prstGeom prst="roundRect">
            <a:avLst>
              <a:gd name="adj" fmla="val 9756"/>
            </a:avLst>
          </a:prstGeom>
          <a:solidFill>
            <a:srgbClr val="F8FAFC"/>
          </a:solidFill>
          <a:ln w="12700">
            <a:solidFill>
              <a:srgbClr val="E2E8F0"/>
            </a:solidFill>
            <a:prstDash val="solid"/>
          </a:ln>
        </p:spPr>
      </p:sp>
      <p:sp>
        <p:nvSpPr>
          <p:cNvPr id="22" name="Text 17"/>
          <p:cNvSpPr txBox="1"/>
          <p:nvPr/>
        </p:nvSpPr>
        <p:spPr>
          <a:xfrm>
            <a:off x="6263640" y="4983480"/>
            <a:ext cx="713232" cy="749808"/>
          </a:xfrm>
          <a:prstGeom prst="rect">
            <a:avLst/>
          </a:prstGeom>
          <a:noFill/>
          <a:ln/>
        </p:spPr>
        <p:txBody>
          <a:bodyPr wrap="square" lIns="0" tIns="0" rIns="0" bIns="0" rtlCol="0" anchor="ctr"/>
          <a:lstStyle/>
          <a:p>
            <a:pPr indent="0" marL="0">
              <a:buNone/>
            </a:pPr>
            <a:r>
              <a:rPr lang="en-US" sz="1600" b="1" dirty="0">
                <a:solidFill>
                  <a:srgbClr val="4F46E5"/>
                </a:solidFill>
                <a:latin typeface="Roboto" pitchFamily="34" charset="0"/>
                <a:ea typeface="Roboto" pitchFamily="34" charset="-122"/>
                <a:cs typeface="Roboto" pitchFamily="34" charset="-120"/>
              </a:rPr>
              <a:t>54%</a:t>
            </a:r>
            <a:endParaRPr lang="en-US" sz="1600" dirty="0"/>
          </a:p>
        </p:txBody>
      </p:sp>
      <p:sp>
        <p:nvSpPr>
          <p:cNvPr id="23" name="Text 18"/>
          <p:cNvSpPr txBox="1"/>
          <p:nvPr/>
        </p:nvSpPr>
        <p:spPr>
          <a:xfrm>
            <a:off x="6958584" y="4983480"/>
            <a:ext cx="950976" cy="749808"/>
          </a:xfrm>
          <a:prstGeom prst="rect">
            <a:avLst/>
          </a:prstGeom>
          <a:noFill/>
          <a:ln/>
        </p:spPr>
        <p:txBody>
          <a:bodyPr wrap="square" lIns="0" tIns="0" rIns="0" bIns="0" rtlCol="0" anchor="ctr"/>
          <a:lstStyle/>
          <a:p>
            <a:pPr indent="0" marL="0">
              <a:buNone/>
            </a:pPr>
            <a:r>
              <a:rPr lang="en-US" sz="850" dirty="0">
                <a:solidFill>
                  <a:srgbClr val="64748B"/>
                </a:solidFill>
                <a:latin typeface="Roboto" pitchFamily="34" charset="0"/>
                <a:ea typeface="Roboto" pitchFamily="34" charset="-122"/>
                <a:cs typeface="Roboto" pitchFamily="34" charset="-120"/>
              </a:rPr>
              <a:t>of receipts edited by people (Paint, GIMP)</a:t>
            </a:r>
            <a:endParaRPr lang="en-US" sz="850" dirty="0"/>
          </a:p>
        </p:txBody>
      </p:sp>
      <p:sp>
        <p:nvSpPr>
          <p:cNvPr id="24" name="Shape 19"/>
          <p:cNvSpPr/>
          <p:nvPr/>
        </p:nvSpPr>
        <p:spPr>
          <a:xfrm>
            <a:off x="8019288" y="4983480"/>
            <a:ext cx="1773936" cy="749808"/>
          </a:xfrm>
          <a:prstGeom prst="roundRect">
            <a:avLst>
              <a:gd name="adj" fmla="val 9756"/>
            </a:avLst>
          </a:prstGeom>
          <a:solidFill>
            <a:srgbClr val="F8FAFC"/>
          </a:solidFill>
          <a:ln w="12700">
            <a:solidFill>
              <a:srgbClr val="E2E8F0"/>
            </a:solidFill>
            <a:prstDash val="solid"/>
          </a:ln>
        </p:spPr>
      </p:sp>
      <p:sp>
        <p:nvSpPr>
          <p:cNvPr id="25" name="Text 20"/>
          <p:cNvSpPr txBox="1"/>
          <p:nvPr/>
        </p:nvSpPr>
        <p:spPr>
          <a:xfrm>
            <a:off x="8110728" y="4983480"/>
            <a:ext cx="713232" cy="749808"/>
          </a:xfrm>
          <a:prstGeom prst="rect">
            <a:avLst/>
          </a:prstGeom>
          <a:noFill/>
          <a:ln/>
        </p:spPr>
        <p:txBody>
          <a:bodyPr wrap="square" lIns="0" tIns="0" rIns="0" bIns="0" rtlCol="0" anchor="ctr"/>
          <a:lstStyle/>
          <a:p>
            <a:pPr indent="0" marL="0">
              <a:buNone/>
            </a:pPr>
            <a:r>
              <a:rPr lang="en-US" sz="1600" b="1" dirty="0">
                <a:solidFill>
                  <a:srgbClr val="4F46E5"/>
                </a:solidFill>
                <a:latin typeface="Roboto" pitchFamily="34" charset="0"/>
                <a:ea typeface="Roboto" pitchFamily="34" charset="-122"/>
                <a:cs typeface="Roboto" pitchFamily="34" charset="-120"/>
              </a:rPr>
              <a:t>95%</a:t>
            </a:r>
            <a:endParaRPr lang="en-US" sz="1600" dirty="0"/>
          </a:p>
        </p:txBody>
      </p:sp>
      <p:sp>
        <p:nvSpPr>
          <p:cNvPr id="26" name="Text 21"/>
          <p:cNvSpPr txBox="1"/>
          <p:nvPr/>
        </p:nvSpPr>
        <p:spPr>
          <a:xfrm>
            <a:off x="8805672" y="4983480"/>
            <a:ext cx="950976" cy="749808"/>
          </a:xfrm>
          <a:prstGeom prst="rect">
            <a:avLst/>
          </a:prstGeom>
          <a:noFill/>
          <a:ln/>
        </p:spPr>
        <p:txBody>
          <a:bodyPr wrap="square" lIns="0" tIns="0" rIns="0" bIns="0" rtlCol="0" anchor="ctr"/>
          <a:lstStyle/>
          <a:p>
            <a:pPr indent="0" marL="0">
              <a:buNone/>
            </a:pPr>
            <a:r>
              <a:rPr lang="en-US" sz="850" dirty="0">
                <a:solidFill>
                  <a:srgbClr val="64748B"/>
                </a:solidFill>
                <a:latin typeface="Roboto" pitchFamily="34" charset="0"/>
                <a:ea typeface="Roboto" pitchFamily="34" charset="-122"/>
                <a:cs typeface="Roboto" pitchFamily="34" charset="-120"/>
              </a:rPr>
              <a:t>of ID images forged by script</a:t>
            </a:r>
            <a:endParaRPr lang="en-US" sz="850" dirty="0"/>
          </a:p>
        </p:txBody>
      </p:sp>
      <p:sp>
        <p:nvSpPr>
          <p:cNvPr id="27" name="Shape 22"/>
          <p:cNvSpPr/>
          <p:nvPr/>
        </p:nvSpPr>
        <p:spPr>
          <a:xfrm>
            <a:off x="9866376" y="4983480"/>
            <a:ext cx="1773936" cy="749808"/>
          </a:xfrm>
          <a:prstGeom prst="roundRect">
            <a:avLst>
              <a:gd name="adj" fmla="val 9756"/>
            </a:avLst>
          </a:prstGeom>
          <a:solidFill>
            <a:srgbClr val="F8FAFC"/>
          </a:solidFill>
          <a:ln w="12700">
            <a:solidFill>
              <a:srgbClr val="E2E8F0"/>
            </a:solidFill>
            <a:prstDash val="solid"/>
          </a:ln>
        </p:spPr>
      </p:sp>
      <p:sp>
        <p:nvSpPr>
          <p:cNvPr id="28" name="Text 23"/>
          <p:cNvSpPr txBox="1"/>
          <p:nvPr/>
        </p:nvSpPr>
        <p:spPr>
          <a:xfrm>
            <a:off x="9957816" y="4983480"/>
            <a:ext cx="713232" cy="749808"/>
          </a:xfrm>
          <a:prstGeom prst="rect">
            <a:avLst/>
          </a:prstGeom>
          <a:noFill/>
          <a:ln/>
        </p:spPr>
        <p:txBody>
          <a:bodyPr wrap="square" lIns="0" tIns="0" rIns="0" bIns="0" rtlCol="0" anchor="ctr"/>
          <a:lstStyle/>
          <a:p>
            <a:pPr indent="0" marL="0">
              <a:buNone/>
            </a:pPr>
            <a:r>
              <a:rPr lang="en-US" sz="1600" b="1" dirty="0">
                <a:solidFill>
                  <a:srgbClr val="4F46E5"/>
                </a:solidFill>
                <a:latin typeface="Roboto" pitchFamily="34" charset="0"/>
                <a:ea typeface="Roboto" pitchFamily="34" charset="-122"/>
                <a:cs typeface="Roboto" pitchFamily="34" charset="-120"/>
              </a:rPr>
              <a:t>0.5%</a:t>
            </a:r>
            <a:endParaRPr lang="en-US" sz="1600" dirty="0"/>
          </a:p>
        </p:txBody>
      </p:sp>
      <p:sp>
        <p:nvSpPr>
          <p:cNvPr id="29" name="Text 24"/>
          <p:cNvSpPr txBox="1"/>
          <p:nvPr/>
        </p:nvSpPr>
        <p:spPr>
          <a:xfrm>
            <a:off x="10652760" y="4983480"/>
            <a:ext cx="950976" cy="749808"/>
          </a:xfrm>
          <a:prstGeom prst="rect">
            <a:avLst/>
          </a:prstGeom>
          <a:noFill/>
          <a:ln/>
        </p:spPr>
        <p:txBody>
          <a:bodyPr wrap="square" lIns="0" tIns="0" rIns="0" bIns="0" rtlCol="0" anchor="ctr"/>
          <a:lstStyle/>
          <a:p>
            <a:pPr indent="0" marL="0">
              <a:buNone/>
            </a:pPr>
            <a:r>
              <a:rPr lang="en-US" sz="850" dirty="0">
                <a:solidFill>
                  <a:srgbClr val="64748B"/>
                </a:solidFill>
                <a:latin typeface="Roboto" pitchFamily="34" charset="0"/>
                <a:ea typeface="Roboto" pitchFamily="34" charset="-122"/>
                <a:cs typeface="Roboto" pitchFamily="34" charset="-120"/>
              </a:rPr>
              <a:t>of genuine ID phone photos flagged</a:t>
            </a:r>
            <a:endParaRPr lang="en-US" sz="850" dirty="0"/>
          </a:p>
        </p:txBody>
      </p:sp>
      <p:sp>
        <p:nvSpPr>
          <p:cNvPr id="30" name="Text 25"/>
          <p:cNvSpPr txBox="1"/>
          <p:nvPr/>
        </p:nvSpPr>
        <p:spPr>
          <a:xfrm>
            <a:off x="6172200" y="5815584"/>
            <a:ext cx="5468112" cy="457200"/>
          </a:xfrm>
          <a:prstGeom prst="rect">
            <a:avLst/>
          </a:prstGeom>
          <a:noFill/>
          <a:ln/>
        </p:spPr>
        <p:txBody>
          <a:bodyPr wrap="square" lIns="0" tIns="0" rIns="0" bIns="0" rtlCol="0" anchor="t"/>
          <a:lstStyle/>
          <a:p>
            <a:pPr indent="0" marL="0">
              <a:buNone/>
            </a:pPr>
            <a:r>
              <a:rPr lang="en-US" sz="1000" i="1" dirty="0">
                <a:solidFill>
                  <a:srgbClr val="334155"/>
                </a:solidFill>
                <a:latin typeface="Roboto" pitchFamily="34" charset="0"/>
                <a:ea typeface="Roboto" pitchFamily="34" charset="-122"/>
                <a:cs typeface="Roboto" pitchFamily="34" charset="-120"/>
              </a:rPr>
              <a:t>It has never seen a forged Indian document — none exists to test on — so its tier stays advice to a reviewer.</a:t>
            </a:r>
            <a:endParaRPr lang="en-US" sz="10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8229600" cy="256032"/>
          </a:xfrm>
          <a:prstGeom prst="rect">
            <a:avLst/>
          </a:prstGeom>
          <a:noFill/>
          <a:ln/>
        </p:spPr>
        <p:txBody>
          <a:bodyPr wrap="square" lIns="0" tIns="0" rIns="0" bIns="0" rtlCol="0" anchor="ctr"/>
          <a:lstStyle/>
          <a:p>
            <a:pPr indent="0" marL="0">
              <a:buNone/>
            </a:pPr>
            <a:r>
              <a:rPr lang="en-US" sz="1100" b="1" spc="200" kern="0" dirty="0">
                <a:solidFill>
                  <a:srgbClr val="4F46E5"/>
                </a:solidFill>
                <a:latin typeface="Roboto" pitchFamily="34" charset="0"/>
                <a:ea typeface="Roboto" pitchFamily="34" charset="-122"/>
                <a:cs typeface="Roboto" pitchFamily="34" charset="-120"/>
              </a:rPr>
              <a:t>EVALUATION</a:t>
            </a:r>
            <a:endParaRPr lang="en-US" sz="1100" dirty="0"/>
          </a:p>
        </p:txBody>
      </p:sp>
      <p:sp>
        <p:nvSpPr>
          <p:cNvPr id="3" name="Text 1"/>
          <p:cNvSpPr txBox="1"/>
          <p:nvPr/>
        </p:nvSpPr>
        <p:spPr>
          <a:xfrm>
            <a:off x="548640" y="585216"/>
            <a:ext cx="11094415" cy="566928"/>
          </a:xfrm>
          <a:prstGeom prst="rect">
            <a:avLst/>
          </a:prstGeom>
          <a:noFill/>
          <a:ln/>
        </p:spPr>
        <p:txBody>
          <a:bodyPr wrap="square" lIns="0" tIns="0" rIns="0" bIns="0" rtlCol="0" anchor="ctr"/>
          <a:lstStyle/>
          <a:p>
            <a:pPr indent="0" marL="0">
              <a:buNone/>
            </a:pPr>
            <a:r>
              <a:rPr lang="en-US" sz="2800" b="1" dirty="0">
                <a:solidFill>
                  <a:srgbClr val="0F172A"/>
                </a:solidFill>
                <a:latin typeface="Roboto" pitchFamily="34" charset="0"/>
                <a:ea typeface="Roboto" pitchFamily="34" charset="-122"/>
                <a:cs typeface="Roboto" pitchFamily="34" charset="-120"/>
              </a:rPr>
              <a:t>Build-time testing found — and fixed — 17 defects</a:t>
            </a:r>
            <a:endParaRPr lang="en-US" sz="2800" dirty="0"/>
          </a:p>
        </p:txBody>
      </p:sp>
      <p:sp>
        <p:nvSpPr>
          <p:cNvPr id="4" name="Text 2"/>
          <p:cNvSpPr txBox="1"/>
          <p:nvPr/>
        </p:nvSpPr>
        <p:spPr>
          <a:xfrm>
            <a:off x="548640" y="1152144"/>
            <a:ext cx="11094415" cy="365760"/>
          </a:xfrm>
          <a:prstGeom prst="rect">
            <a:avLst/>
          </a:prstGeom>
          <a:noFill/>
          <a:ln/>
        </p:spPr>
        <p:txBody>
          <a:bodyPr wrap="square" lIns="0" tIns="0" rIns="0" bIns="0" rtlCol="0" anchor="ctr"/>
          <a:lstStyle/>
          <a:p>
            <a:pPr indent="0" marL="0">
              <a:buNone/>
            </a:pPr>
            <a:r>
              <a:rPr lang="en-US" sz="1400" dirty="0">
                <a:solidFill>
                  <a:srgbClr val="64748B"/>
                </a:solidFill>
                <a:latin typeface="Roboto" pitchFamily="34" charset="0"/>
                <a:ea typeface="Roboto" pitchFamily="34" charset="-122"/>
                <a:cs typeface="Roboto" pitchFamily="34" charset="-120"/>
              </a:rPr>
              <a:t>Round 1. The eight that mattered most; each was caught by an agent's evaluation or the latency benchmark, not by users.</a:t>
            </a:r>
            <a:endParaRPr lang="en-US" sz="1400" dirty="0"/>
          </a:p>
        </p:txBody>
      </p:sp>
      <p:pic>
        <p:nvPicPr>
          <p:cNvPr id="5" name="Image 0" descr="C:\Users\shrey\AppData\Local\Temp\claude\D--novacinternship-finsight\ef4ecb45-e580-4bc0-9be4-060aa240a5b2\scratchpad\deck\img\logo_lockup.png">    </p:cNvPr>
          <p:cNvPicPr>
            <a:picLocks noChangeAspect="1"/>
          </p:cNvPicPr>
          <p:nvPr/>
        </p:nvPicPr>
        <p:blipFill>
          <a:blip r:embed="rId1"/>
          <a:stretch>
            <a:fillRect/>
          </a:stretch>
        </p:blipFill>
        <p:spPr>
          <a:xfrm>
            <a:off x="10360152" y="6464808"/>
            <a:ext cx="843991" cy="237744"/>
          </a:xfrm>
          <a:prstGeom prst="rect">
            <a:avLst/>
          </a:prstGeom>
        </p:spPr>
      </p:pic>
      <p:sp>
        <p:nvSpPr>
          <p:cNvPr id="6" name="Text 3"/>
          <p:cNvSpPr txBox="1"/>
          <p:nvPr/>
        </p:nvSpPr>
        <p:spPr>
          <a:xfrm>
            <a:off x="11277295" y="6473952"/>
            <a:ext cx="365760" cy="228600"/>
          </a:xfrm>
          <a:prstGeom prst="rect">
            <a:avLst/>
          </a:prstGeom>
          <a:noFill/>
          <a:ln/>
        </p:spPr>
        <p:txBody>
          <a:bodyPr wrap="square" lIns="0" tIns="0" rIns="0" bIns="0" rtlCol="0" anchor="ctr"/>
          <a:lstStyle/>
          <a:p>
            <a:pPr algn="r" indent="0" marL="0">
              <a:buNone/>
            </a:pPr>
            <a:r>
              <a:rPr lang="en-US" sz="900" dirty="0">
                <a:solidFill>
                  <a:srgbClr val="94A3B8"/>
                </a:solidFill>
                <a:latin typeface="Roboto" pitchFamily="34" charset="0"/>
                <a:ea typeface="Roboto" pitchFamily="34" charset="-122"/>
                <a:cs typeface="Roboto" pitchFamily="34" charset="-120"/>
              </a:rPr>
              <a:t>38</a:t>
            </a:r>
            <a:endParaRPr lang="en-US" sz="900" dirty="0"/>
          </a:p>
        </p:txBody>
      </p:sp>
      <p:sp>
        <p:nvSpPr>
          <p:cNvPr id="8" name="Shape 4"/>
          <p:cNvSpPr/>
          <p:nvPr/>
        </p:nvSpPr>
        <p:spPr>
          <a:xfrm>
            <a:off x="548640" y="1783080"/>
            <a:ext cx="2651760" cy="1993392"/>
          </a:xfrm>
          <a:prstGeom prst="roundRect">
            <a:avLst>
              <a:gd name="adj" fmla="val 4587"/>
            </a:avLst>
          </a:prstGeom>
          <a:solidFill>
            <a:srgbClr val="F8FAFC"/>
          </a:solidFill>
          <a:ln w="12700">
            <a:solidFill>
              <a:srgbClr val="E2E8F0"/>
            </a:solidFill>
            <a:prstDash val="solid"/>
          </a:ln>
        </p:spPr>
      </p:sp>
      <p:sp>
        <p:nvSpPr>
          <p:cNvPr id="9" name="Shape 5"/>
          <p:cNvSpPr/>
          <p:nvPr/>
        </p:nvSpPr>
        <p:spPr>
          <a:xfrm>
            <a:off x="685800" y="1920240"/>
            <a:ext cx="1143000" cy="292608"/>
          </a:xfrm>
          <a:prstGeom prst="roundRect">
            <a:avLst>
              <a:gd name="adj" fmla="val 50000"/>
            </a:avLst>
          </a:prstGeom>
          <a:solidFill>
            <a:srgbClr val="FEE2E2"/>
          </a:solidFill>
          <a:ln w="12700">
            <a:solidFill>
              <a:srgbClr val="FEE2E2"/>
            </a:solidFill>
            <a:prstDash val="solid"/>
          </a:ln>
        </p:spPr>
      </p:sp>
      <p:sp>
        <p:nvSpPr>
          <p:cNvPr id="10" name="Text 6"/>
          <p:cNvSpPr txBox="1"/>
          <p:nvPr/>
        </p:nvSpPr>
        <p:spPr>
          <a:xfrm>
            <a:off x="685800" y="1920240"/>
            <a:ext cx="1143000" cy="292608"/>
          </a:xfrm>
          <a:prstGeom prst="rect">
            <a:avLst/>
          </a:prstGeom>
          <a:noFill/>
          <a:ln/>
        </p:spPr>
        <p:txBody>
          <a:bodyPr wrap="square" lIns="0" tIns="0" rIns="0" bIns="0" rtlCol="0" anchor="ctr"/>
          <a:lstStyle/>
          <a:p>
            <a:pPr algn="ctr" indent="0" marL="0">
              <a:buNone/>
            </a:pPr>
            <a:r>
              <a:rPr lang="en-US" sz="950" b="1" dirty="0">
                <a:solidFill>
                  <a:srgbClr val="991B1B"/>
                </a:solidFill>
                <a:latin typeface="Roboto" pitchFamily="34" charset="0"/>
                <a:ea typeface="Roboto" pitchFamily="34" charset="-122"/>
                <a:cs typeface="Roboto" pitchFamily="34" charset="-120"/>
              </a:rPr>
              <a:t>PDF handling</a:t>
            </a:r>
            <a:endParaRPr lang="en-US" sz="950" dirty="0"/>
          </a:p>
        </p:txBody>
      </p:sp>
      <p:sp>
        <p:nvSpPr>
          <p:cNvPr id="11" name="Text 7"/>
          <p:cNvSpPr txBox="1"/>
          <p:nvPr/>
        </p:nvSpPr>
        <p:spPr>
          <a:xfrm>
            <a:off x="713232" y="2313432"/>
            <a:ext cx="2359152" cy="868680"/>
          </a:xfrm>
          <a:prstGeom prst="rect">
            <a:avLst/>
          </a:prstGeom>
          <a:noFill/>
          <a:ln/>
        </p:spPr>
        <p:txBody>
          <a:bodyPr wrap="square" lIns="0" tIns="0" rIns="0" bIns="0" rtlCol="0" anchor="t"/>
          <a:lstStyle/>
          <a:p>
            <a:pPr indent="0" marL="0">
              <a:buNone/>
            </a:pPr>
            <a:r>
              <a:rPr lang="en-US" sz="1050" dirty="0">
                <a:solidFill>
                  <a:srgbClr val="334155"/>
                </a:solidFill>
                <a:latin typeface="Roboto" pitchFamily="34" charset="0"/>
                <a:ea typeface="Roboto" pitchFamily="34" charset="-122"/>
                <a:cs typeface="Roboto" pitchFamily="34" charset="-120"/>
              </a:rPr>
              <a:t>Two threads inside PDFium at once crashed the whole server — with no error logged.</a:t>
            </a:r>
            <a:endParaRPr lang="en-US" sz="1050" dirty="0"/>
          </a:p>
        </p:txBody>
      </p:sp>
      <p:sp>
        <p:nvSpPr>
          <p:cNvPr id="12" name="Text 8"/>
          <p:cNvSpPr txBox="1"/>
          <p:nvPr/>
        </p:nvSpPr>
        <p:spPr>
          <a:xfrm>
            <a:off x="713232" y="3200400"/>
            <a:ext cx="2359152" cy="502920"/>
          </a:xfrm>
          <a:prstGeom prst="rect">
            <a:avLst/>
          </a:prstGeom>
          <a:noFill/>
          <a:ln/>
        </p:spPr>
        <p:txBody>
          <a:bodyPr wrap="square" lIns="0" tIns="0" rIns="0" bIns="0" rtlCol="0" anchor="t"/>
          <a:lstStyle/>
          <a:p>
            <a:pPr indent="0" marL="0">
              <a:buNone/>
            </a:pPr>
            <a:r>
              <a:rPr lang="en-US" sz="1050" b="1" dirty="0">
                <a:solidFill>
                  <a:srgbClr val="16A34A"/>
                </a:solidFill>
                <a:latin typeface="Roboto" pitchFamily="34" charset="0"/>
                <a:ea typeface="Roboto" pitchFamily="34" charset="-122"/>
                <a:cs typeface="Roboto" pitchFamily="34" charset="-120"/>
              </a:rPr>
              <a:t>Fix  </a:t>
            </a:r>
            <a:pPr indent="0" marL="0">
              <a:buNone/>
            </a:pPr>
            <a:r>
              <a:rPr lang="en-US" sz="1050" dirty="0">
                <a:solidFill>
                  <a:srgbClr val="0F172A"/>
                </a:solidFill>
                <a:latin typeface="Roboto" pitchFamily="34" charset="0"/>
                <a:ea typeface="Roboto" pitchFamily="34" charset="-122"/>
                <a:cs typeface="Roboto" pitchFamily="34" charset="-120"/>
              </a:rPr>
              <a:t>One process-wide PDFium lock.</a:t>
            </a:r>
            <a:endParaRPr lang="en-US" sz="1050" dirty="0"/>
          </a:p>
        </p:txBody>
      </p:sp>
      <p:sp>
        <p:nvSpPr>
          <p:cNvPr id="13" name="Shape 9"/>
          <p:cNvSpPr/>
          <p:nvPr/>
        </p:nvSpPr>
        <p:spPr>
          <a:xfrm>
            <a:off x="3355848" y="1783080"/>
            <a:ext cx="2651760" cy="1993392"/>
          </a:xfrm>
          <a:prstGeom prst="roundRect">
            <a:avLst>
              <a:gd name="adj" fmla="val 4587"/>
            </a:avLst>
          </a:prstGeom>
          <a:solidFill>
            <a:srgbClr val="F8FAFC"/>
          </a:solidFill>
          <a:ln w="12700">
            <a:solidFill>
              <a:srgbClr val="E2E8F0"/>
            </a:solidFill>
            <a:prstDash val="solid"/>
          </a:ln>
        </p:spPr>
      </p:sp>
      <p:sp>
        <p:nvSpPr>
          <p:cNvPr id="14" name="Shape 10"/>
          <p:cNvSpPr/>
          <p:nvPr/>
        </p:nvSpPr>
        <p:spPr>
          <a:xfrm>
            <a:off x="3493008" y="1920240"/>
            <a:ext cx="1074420" cy="292608"/>
          </a:xfrm>
          <a:prstGeom prst="roundRect">
            <a:avLst>
              <a:gd name="adj" fmla="val 50000"/>
            </a:avLst>
          </a:prstGeom>
          <a:solidFill>
            <a:srgbClr val="FEE2E2"/>
          </a:solidFill>
          <a:ln w="12700">
            <a:solidFill>
              <a:srgbClr val="FEE2E2"/>
            </a:solidFill>
            <a:prstDash val="solid"/>
          </a:ln>
        </p:spPr>
      </p:sp>
      <p:sp>
        <p:nvSpPr>
          <p:cNvPr id="15" name="Text 11"/>
          <p:cNvSpPr txBox="1"/>
          <p:nvPr/>
        </p:nvSpPr>
        <p:spPr>
          <a:xfrm>
            <a:off x="3493008" y="1920240"/>
            <a:ext cx="1074420" cy="292608"/>
          </a:xfrm>
          <a:prstGeom prst="rect">
            <a:avLst/>
          </a:prstGeom>
          <a:noFill/>
          <a:ln/>
        </p:spPr>
        <p:txBody>
          <a:bodyPr wrap="square" lIns="0" tIns="0" rIns="0" bIns="0" rtlCol="0" anchor="ctr"/>
          <a:lstStyle/>
          <a:p>
            <a:pPr algn="ctr" indent="0" marL="0">
              <a:buNone/>
            </a:pPr>
            <a:r>
              <a:rPr lang="en-US" sz="950" b="1" dirty="0">
                <a:solidFill>
                  <a:srgbClr val="991B1B"/>
                </a:solidFill>
                <a:latin typeface="Roboto" pitchFamily="34" charset="0"/>
                <a:ea typeface="Roboto" pitchFamily="34" charset="-122"/>
                <a:cs typeface="Roboto" pitchFamily="34" charset="-120"/>
              </a:rPr>
              <a:t>PII Masking</a:t>
            </a:r>
            <a:endParaRPr lang="en-US" sz="950" dirty="0"/>
          </a:p>
        </p:txBody>
      </p:sp>
      <p:sp>
        <p:nvSpPr>
          <p:cNvPr id="16" name="Text 12"/>
          <p:cNvSpPr txBox="1"/>
          <p:nvPr/>
        </p:nvSpPr>
        <p:spPr>
          <a:xfrm>
            <a:off x="3520440" y="2313432"/>
            <a:ext cx="2359152" cy="868680"/>
          </a:xfrm>
          <a:prstGeom prst="rect">
            <a:avLst/>
          </a:prstGeom>
          <a:noFill/>
          <a:ln/>
        </p:spPr>
        <p:txBody>
          <a:bodyPr wrap="square" lIns="0" tIns="0" rIns="0" bIns="0" rtlCol="0" anchor="t"/>
          <a:lstStyle/>
          <a:p>
            <a:pPr indent="0" marL="0">
              <a:buNone/>
            </a:pPr>
            <a:r>
              <a:rPr lang="en-US" sz="1050" dirty="0">
                <a:solidFill>
                  <a:srgbClr val="334155"/>
                </a:solidFill>
                <a:latin typeface="Roboto" pitchFamily="34" charset="0"/>
                <a:ea typeface="Roboto" pitchFamily="34" charset="-122"/>
                <a:cs typeface="Roboto" pitchFamily="34" charset="-120"/>
              </a:rPr>
              <a:t>Sideways cards split the wrong way; one real PAN photo leaked in full.</a:t>
            </a:r>
            <a:endParaRPr lang="en-US" sz="1050" dirty="0"/>
          </a:p>
        </p:txBody>
      </p:sp>
      <p:sp>
        <p:nvSpPr>
          <p:cNvPr id="17" name="Text 13"/>
          <p:cNvSpPr txBox="1"/>
          <p:nvPr/>
        </p:nvSpPr>
        <p:spPr>
          <a:xfrm>
            <a:off x="3520440" y="3200400"/>
            <a:ext cx="2359152" cy="502920"/>
          </a:xfrm>
          <a:prstGeom prst="rect">
            <a:avLst/>
          </a:prstGeom>
          <a:noFill/>
          <a:ln/>
        </p:spPr>
        <p:txBody>
          <a:bodyPr wrap="square" lIns="0" tIns="0" rIns="0" bIns="0" rtlCol="0" anchor="t"/>
          <a:lstStyle/>
          <a:p>
            <a:pPr indent="0" marL="0">
              <a:buNone/>
            </a:pPr>
            <a:r>
              <a:rPr lang="en-US" sz="1050" b="1" dirty="0">
                <a:solidFill>
                  <a:srgbClr val="16A34A"/>
                </a:solidFill>
                <a:latin typeface="Roboto" pitchFamily="34" charset="0"/>
                <a:ea typeface="Roboto" pitchFamily="34" charset="-122"/>
                <a:cs typeface="Roboto" pitchFamily="34" charset="-120"/>
              </a:rPr>
              <a:t>Fix  </a:t>
            </a:r>
            <a:pPr indent="0" marL="0">
              <a:buNone/>
            </a:pPr>
            <a:r>
              <a:rPr lang="en-US" sz="1050" dirty="0">
                <a:solidFill>
                  <a:srgbClr val="0F172A"/>
                </a:solidFill>
                <a:latin typeface="Roboto" pitchFamily="34" charset="0"/>
                <a:ea typeface="Roboto" pitchFamily="34" charset="-122"/>
                <a:cs typeface="Roboto" pitchFamily="34" charset="-120"/>
              </a:rPr>
              <a:t>Upright rotation first: 0 leaks.</a:t>
            </a:r>
            <a:endParaRPr lang="en-US" sz="1050" dirty="0"/>
          </a:p>
        </p:txBody>
      </p:sp>
      <p:sp>
        <p:nvSpPr>
          <p:cNvPr id="18" name="Shape 14"/>
          <p:cNvSpPr/>
          <p:nvPr/>
        </p:nvSpPr>
        <p:spPr>
          <a:xfrm>
            <a:off x="6163056" y="1783080"/>
            <a:ext cx="2651760" cy="1993392"/>
          </a:xfrm>
          <a:prstGeom prst="roundRect">
            <a:avLst>
              <a:gd name="adj" fmla="val 4587"/>
            </a:avLst>
          </a:prstGeom>
          <a:solidFill>
            <a:srgbClr val="F8FAFC"/>
          </a:solidFill>
          <a:ln w="12700">
            <a:solidFill>
              <a:srgbClr val="E2E8F0"/>
            </a:solidFill>
            <a:prstDash val="solid"/>
          </a:ln>
        </p:spPr>
      </p:sp>
      <p:sp>
        <p:nvSpPr>
          <p:cNvPr id="19" name="Shape 15"/>
          <p:cNvSpPr/>
          <p:nvPr/>
        </p:nvSpPr>
        <p:spPr>
          <a:xfrm>
            <a:off x="6300216" y="1920240"/>
            <a:ext cx="1485900" cy="292608"/>
          </a:xfrm>
          <a:prstGeom prst="roundRect">
            <a:avLst>
              <a:gd name="adj" fmla="val 50000"/>
            </a:avLst>
          </a:prstGeom>
          <a:solidFill>
            <a:srgbClr val="FEE2E2"/>
          </a:solidFill>
          <a:ln w="12700">
            <a:solidFill>
              <a:srgbClr val="FEE2E2"/>
            </a:solidFill>
            <a:prstDash val="solid"/>
          </a:ln>
        </p:spPr>
      </p:sp>
      <p:sp>
        <p:nvSpPr>
          <p:cNvPr id="20" name="Text 16"/>
          <p:cNvSpPr txBox="1"/>
          <p:nvPr/>
        </p:nvSpPr>
        <p:spPr>
          <a:xfrm>
            <a:off x="6300216" y="1920240"/>
            <a:ext cx="1485900" cy="292608"/>
          </a:xfrm>
          <a:prstGeom prst="rect">
            <a:avLst/>
          </a:prstGeom>
          <a:noFill/>
          <a:ln/>
        </p:spPr>
        <p:txBody>
          <a:bodyPr wrap="square" lIns="0" tIns="0" rIns="0" bIns="0" rtlCol="0" anchor="ctr"/>
          <a:lstStyle/>
          <a:p>
            <a:pPr algn="ctr" indent="0" marL="0">
              <a:buNone/>
            </a:pPr>
            <a:r>
              <a:rPr lang="en-US" sz="950" b="1" dirty="0">
                <a:solidFill>
                  <a:srgbClr val="991B1B"/>
                </a:solidFill>
                <a:latin typeface="Roboto" pitchFamily="34" charset="0"/>
                <a:ea typeface="Roboto" pitchFamily="34" charset="-122"/>
                <a:cs typeface="Roboto" pitchFamily="34" charset="-120"/>
              </a:rPr>
              <a:t>Document Identity</a:t>
            </a:r>
            <a:endParaRPr lang="en-US" sz="950" dirty="0"/>
          </a:p>
        </p:txBody>
      </p:sp>
      <p:sp>
        <p:nvSpPr>
          <p:cNvPr id="21" name="Text 17"/>
          <p:cNvSpPr txBox="1"/>
          <p:nvPr/>
        </p:nvSpPr>
        <p:spPr>
          <a:xfrm>
            <a:off x="6327648" y="2313432"/>
            <a:ext cx="2359152" cy="868680"/>
          </a:xfrm>
          <a:prstGeom prst="rect">
            <a:avLst/>
          </a:prstGeom>
          <a:noFill/>
          <a:ln/>
        </p:spPr>
        <p:txBody>
          <a:bodyPr wrap="square" lIns="0" tIns="0" rIns="0" bIns="0" rtlCol="0" anchor="t"/>
          <a:lstStyle/>
          <a:p>
            <a:pPr indent="0" marL="0">
              <a:buNone/>
            </a:pPr>
            <a:r>
              <a:rPr lang="en-US" sz="1050" dirty="0">
                <a:solidFill>
                  <a:srgbClr val="334155"/>
                </a:solidFill>
                <a:latin typeface="Roboto" pitchFamily="34" charset="0"/>
                <a:ea typeface="Roboto" pitchFamily="34" charset="-122"/>
                <a:cs typeface="Roboto" pitchFamily="34" charset="-120"/>
              </a:rPr>
              <a:t>A payslip showing a PAN passed as a PAN — 54% of wrong uploads caught.</a:t>
            </a:r>
            <a:endParaRPr lang="en-US" sz="1050" dirty="0"/>
          </a:p>
        </p:txBody>
      </p:sp>
      <p:sp>
        <p:nvSpPr>
          <p:cNvPr id="22" name="Text 18"/>
          <p:cNvSpPr txBox="1"/>
          <p:nvPr/>
        </p:nvSpPr>
        <p:spPr>
          <a:xfrm>
            <a:off x="6327648" y="3200400"/>
            <a:ext cx="2359152" cy="502920"/>
          </a:xfrm>
          <a:prstGeom prst="rect">
            <a:avLst/>
          </a:prstGeom>
          <a:noFill/>
          <a:ln/>
        </p:spPr>
        <p:txBody>
          <a:bodyPr wrap="square" lIns="0" tIns="0" rIns="0" bIns="0" rtlCol="0" anchor="t"/>
          <a:lstStyle/>
          <a:p>
            <a:pPr indent="0" marL="0">
              <a:buNone/>
            </a:pPr>
            <a:r>
              <a:rPr lang="en-US" sz="1050" b="1" dirty="0">
                <a:solidFill>
                  <a:srgbClr val="16A34A"/>
                </a:solidFill>
                <a:latin typeface="Roboto" pitchFamily="34" charset="0"/>
                <a:ea typeface="Roboto" pitchFamily="34" charset="-122"/>
                <a:cs typeface="Roboto" pitchFamily="34" charset="-120"/>
              </a:rPr>
              <a:t>Fix  </a:t>
            </a:r>
            <a:pPr indent="0" marL="0">
              <a:buNone/>
            </a:pPr>
            <a:r>
              <a:rPr lang="en-US" sz="1050" dirty="0">
                <a:solidFill>
                  <a:srgbClr val="0F172A"/>
                </a:solidFill>
                <a:latin typeface="Roboto" pitchFamily="34" charset="0"/>
                <a:ea typeface="Roboto" pitchFamily="34" charset="-122"/>
                <a:cs typeface="Roboto" pitchFamily="34" charset="-120"/>
              </a:rPr>
              <a:t>Also reads the page's own words: 100%.</a:t>
            </a:r>
            <a:endParaRPr lang="en-US" sz="1050" dirty="0"/>
          </a:p>
        </p:txBody>
      </p:sp>
      <p:sp>
        <p:nvSpPr>
          <p:cNvPr id="23" name="Shape 19"/>
          <p:cNvSpPr/>
          <p:nvPr/>
        </p:nvSpPr>
        <p:spPr>
          <a:xfrm>
            <a:off x="8970264" y="1783080"/>
            <a:ext cx="2651760" cy="1993392"/>
          </a:xfrm>
          <a:prstGeom prst="roundRect">
            <a:avLst>
              <a:gd name="adj" fmla="val 4587"/>
            </a:avLst>
          </a:prstGeom>
          <a:solidFill>
            <a:srgbClr val="F8FAFC"/>
          </a:solidFill>
          <a:ln w="12700">
            <a:solidFill>
              <a:srgbClr val="E2E8F0"/>
            </a:solidFill>
            <a:prstDash val="solid"/>
          </a:ln>
        </p:spPr>
      </p:sp>
      <p:sp>
        <p:nvSpPr>
          <p:cNvPr id="24" name="Shape 20"/>
          <p:cNvSpPr/>
          <p:nvPr/>
        </p:nvSpPr>
        <p:spPr>
          <a:xfrm>
            <a:off x="9107424" y="1920240"/>
            <a:ext cx="1074420" cy="292608"/>
          </a:xfrm>
          <a:prstGeom prst="roundRect">
            <a:avLst>
              <a:gd name="adj" fmla="val 50000"/>
            </a:avLst>
          </a:prstGeom>
          <a:solidFill>
            <a:srgbClr val="FEE2E2"/>
          </a:solidFill>
          <a:ln w="12700">
            <a:solidFill>
              <a:srgbClr val="FEE2E2"/>
            </a:solidFill>
            <a:prstDash val="solid"/>
          </a:ln>
        </p:spPr>
      </p:sp>
      <p:sp>
        <p:nvSpPr>
          <p:cNvPr id="25" name="Text 21"/>
          <p:cNvSpPr txBox="1"/>
          <p:nvPr/>
        </p:nvSpPr>
        <p:spPr>
          <a:xfrm>
            <a:off x="9107424" y="1920240"/>
            <a:ext cx="1074420" cy="292608"/>
          </a:xfrm>
          <a:prstGeom prst="rect">
            <a:avLst/>
          </a:prstGeom>
          <a:noFill/>
          <a:ln/>
        </p:spPr>
        <p:txBody>
          <a:bodyPr wrap="square" lIns="0" tIns="0" rIns="0" bIns="0" rtlCol="0" anchor="ctr"/>
          <a:lstStyle/>
          <a:p>
            <a:pPr algn="ctr" indent="0" marL="0">
              <a:buNone/>
            </a:pPr>
            <a:r>
              <a:rPr lang="en-US" sz="950" b="1" dirty="0">
                <a:solidFill>
                  <a:srgbClr val="991B1B"/>
                </a:solidFill>
                <a:latin typeface="Roboto" pitchFamily="34" charset="0"/>
                <a:ea typeface="Roboto" pitchFamily="34" charset="-122"/>
                <a:cs typeface="Roboto" pitchFamily="34" charset="-120"/>
              </a:rPr>
              <a:t>LLM gateway</a:t>
            </a:r>
            <a:endParaRPr lang="en-US" sz="950" dirty="0"/>
          </a:p>
        </p:txBody>
      </p:sp>
      <p:sp>
        <p:nvSpPr>
          <p:cNvPr id="26" name="Text 22"/>
          <p:cNvSpPr txBox="1"/>
          <p:nvPr/>
        </p:nvSpPr>
        <p:spPr>
          <a:xfrm>
            <a:off x="9134856" y="2313432"/>
            <a:ext cx="2359152" cy="868680"/>
          </a:xfrm>
          <a:prstGeom prst="rect">
            <a:avLst/>
          </a:prstGeom>
          <a:noFill/>
          <a:ln/>
        </p:spPr>
        <p:txBody>
          <a:bodyPr wrap="square" lIns="0" tIns="0" rIns="0" bIns="0" rtlCol="0" anchor="t"/>
          <a:lstStyle/>
          <a:p>
            <a:pPr indent="0" marL="0">
              <a:buNone/>
            </a:pPr>
            <a:r>
              <a:rPr lang="en-US" sz="1050" dirty="0">
                <a:solidFill>
                  <a:srgbClr val="334155"/>
                </a:solidFill>
                <a:latin typeface="Roboto" pitchFamily="34" charset="0"/>
                <a:ea typeface="Roboto" pitchFamily="34" charset="-122"/>
                <a:cs typeface="Roboto" pitchFamily="34" charset="-120"/>
              </a:rPr>
              <a:t>'localhost' tried IPv6 first on Windows: +2 s on every model call.</a:t>
            </a:r>
            <a:endParaRPr lang="en-US" sz="1050" dirty="0"/>
          </a:p>
        </p:txBody>
      </p:sp>
      <p:sp>
        <p:nvSpPr>
          <p:cNvPr id="27" name="Text 23"/>
          <p:cNvSpPr txBox="1"/>
          <p:nvPr/>
        </p:nvSpPr>
        <p:spPr>
          <a:xfrm>
            <a:off x="9134856" y="3200400"/>
            <a:ext cx="2359152" cy="502920"/>
          </a:xfrm>
          <a:prstGeom prst="rect">
            <a:avLst/>
          </a:prstGeom>
          <a:noFill/>
          <a:ln/>
        </p:spPr>
        <p:txBody>
          <a:bodyPr wrap="square" lIns="0" tIns="0" rIns="0" bIns="0" rtlCol="0" anchor="t"/>
          <a:lstStyle/>
          <a:p>
            <a:pPr indent="0" marL="0">
              <a:buNone/>
            </a:pPr>
            <a:r>
              <a:rPr lang="en-US" sz="1050" b="1" dirty="0">
                <a:solidFill>
                  <a:srgbClr val="16A34A"/>
                </a:solidFill>
                <a:latin typeface="Roboto" pitchFamily="34" charset="0"/>
                <a:ea typeface="Roboto" pitchFamily="34" charset="-122"/>
                <a:cs typeface="Roboto" pitchFamily="34" charset="-120"/>
              </a:rPr>
              <a:t>Fix  </a:t>
            </a:r>
            <a:pPr indent="0" marL="0">
              <a:buNone/>
            </a:pPr>
            <a:r>
              <a:rPr lang="en-US" sz="1050" dirty="0">
                <a:solidFill>
                  <a:srgbClr val="0F172A"/>
                </a:solidFill>
                <a:latin typeface="Roboto" pitchFamily="34" charset="0"/>
                <a:ea typeface="Roboto" pitchFamily="34" charset="-122"/>
                <a:cs typeface="Roboto" pitchFamily="34" charset="-120"/>
              </a:rPr>
              <a:t>127.0.0.1 and one pooled connection.</a:t>
            </a:r>
            <a:endParaRPr lang="en-US" sz="1050" dirty="0"/>
          </a:p>
        </p:txBody>
      </p:sp>
      <p:sp>
        <p:nvSpPr>
          <p:cNvPr id="28" name="Shape 24"/>
          <p:cNvSpPr/>
          <p:nvPr/>
        </p:nvSpPr>
        <p:spPr>
          <a:xfrm>
            <a:off x="548640" y="3931920"/>
            <a:ext cx="2651760" cy="1993392"/>
          </a:xfrm>
          <a:prstGeom prst="roundRect">
            <a:avLst>
              <a:gd name="adj" fmla="val 4587"/>
            </a:avLst>
          </a:prstGeom>
          <a:solidFill>
            <a:srgbClr val="F8FAFC"/>
          </a:solidFill>
          <a:ln w="12700">
            <a:solidFill>
              <a:srgbClr val="E2E8F0"/>
            </a:solidFill>
            <a:prstDash val="solid"/>
          </a:ln>
        </p:spPr>
      </p:sp>
      <p:sp>
        <p:nvSpPr>
          <p:cNvPr id="29" name="Shape 25"/>
          <p:cNvSpPr/>
          <p:nvPr/>
        </p:nvSpPr>
        <p:spPr>
          <a:xfrm>
            <a:off x="685800" y="4069080"/>
            <a:ext cx="1143000" cy="292608"/>
          </a:xfrm>
          <a:prstGeom prst="roundRect">
            <a:avLst>
              <a:gd name="adj" fmla="val 50000"/>
            </a:avLst>
          </a:prstGeom>
          <a:solidFill>
            <a:srgbClr val="FEE2E2"/>
          </a:solidFill>
          <a:ln w="12700">
            <a:solidFill>
              <a:srgbClr val="FEE2E2"/>
            </a:solidFill>
            <a:prstDash val="solid"/>
          </a:ln>
        </p:spPr>
      </p:sp>
      <p:sp>
        <p:nvSpPr>
          <p:cNvPr id="30" name="Text 26"/>
          <p:cNvSpPr txBox="1"/>
          <p:nvPr/>
        </p:nvSpPr>
        <p:spPr>
          <a:xfrm>
            <a:off x="685800" y="4069080"/>
            <a:ext cx="1143000" cy="292608"/>
          </a:xfrm>
          <a:prstGeom prst="rect">
            <a:avLst/>
          </a:prstGeom>
          <a:noFill/>
          <a:ln/>
        </p:spPr>
        <p:txBody>
          <a:bodyPr wrap="square" lIns="0" tIns="0" rIns="0" bIns="0" rtlCol="0" anchor="ctr"/>
          <a:lstStyle/>
          <a:p>
            <a:pPr algn="ctr" indent="0" marL="0">
              <a:buNone/>
            </a:pPr>
            <a:r>
              <a:rPr lang="en-US" sz="950" b="1" dirty="0">
                <a:solidFill>
                  <a:srgbClr val="991B1B"/>
                </a:solidFill>
                <a:latin typeface="Roboto" pitchFamily="34" charset="0"/>
                <a:ea typeface="Roboto" pitchFamily="34" charset="-122"/>
                <a:cs typeface="Roboto" pitchFamily="34" charset="-120"/>
              </a:rPr>
              <a:t>Risk Scoring</a:t>
            </a:r>
            <a:endParaRPr lang="en-US" sz="950" dirty="0"/>
          </a:p>
        </p:txBody>
      </p:sp>
      <p:sp>
        <p:nvSpPr>
          <p:cNvPr id="31" name="Text 27"/>
          <p:cNvSpPr txBox="1"/>
          <p:nvPr/>
        </p:nvSpPr>
        <p:spPr>
          <a:xfrm>
            <a:off x="713232" y="4462272"/>
            <a:ext cx="2359152" cy="868680"/>
          </a:xfrm>
          <a:prstGeom prst="rect">
            <a:avLst/>
          </a:prstGeom>
          <a:noFill/>
          <a:ln/>
        </p:spPr>
        <p:txBody>
          <a:bodyPr wrap="square" lIns="0" tIns="0" rIns="0" bIns="0" rtlCol="0" anchor="t"/>
          <a:lstStyle/>
          <a:p>
            <a:pPr indent="0" marL="0">
              <a:buNone/>
            </a:pPr>
            <a:r>
              <a:rPr lang="en-US" sz="1050" dirty="0">
                <a:solidFill>
                  <a:srgbClr val="334155"/>
                </a:solidFill>
                <a:latin typeface="Roboto" pitchFamily="34" charset="0"/>
                <a:ea typeface="Roboto" pitchFamily="34" charset="-122"/>
                <a:cs typeface="Roboto" pitchFamily="34" charset="-120"/>
              </a:rPr>
              <a:t>ML features built unlike training: held-out AUC 0.669.</a:t>
            </a:r>
            <a:endParaRPr lang="en-US" sz="1050" dirty="0"/>
          </a:p>
        </p:txBody>
      </p:sp>
      <p:sp>
        <p:nvSpPr>
          <p:cNvPr id="32" name="Text 28"/>
          <p:cNvSpPr txBox="1"/>
          <p:nvPr/>
        </p:nvSpPr>
        <p:spPr>
          <a:xfrm>
            <a:off x="713232" y="5349240"/>
            <a:ext cx="2359152" cy="502920"/>
          </a:xfrm>
          <a:prstGeom prst="rect">
            <a:avLst/>
          </a:prstGeom>
          <a:noFill/>
          <a:ln/>
        </p:spPr>
        <p:txBody>
          <a:bodyPr wrap="square" lIns="0" tIns="0" rIns="0" bIns="0" rtlCol="0" anchor="t"/>
          <a:lstStyle/>
          <a:p>
            <a:pPr indent="0" marL="0">
              <a:buNone/>
            </a:pPr>
            <a:r>
              <a:rPr lang="en-US" sz="1050" b="1" dirty="0">
                <a:solidFill>
                  <a:srgbClr val="16A34A"/>
                </a:solidFill>
                <a:latin typeface="Roboto" pitchFamily="34" charset="0"/>
                <a:ea typeface="Roboto" pitchFamily="34" charset="-122"/>
                <a:cs typeface="Roboto" pitchFamily="34" charset="-120"/>
              </a:rPr>
              <a:t>Fix  </a:t>
            </a:r>
            <a:pPr indent="0" marL="0">
              <a:buNone/>
            </a:pPr>
            <a:r>
              <a:rPr lang="en-US" sz="1050" dirty="0">
                <a:solidFill>
                  <a:srgbClr val="0F172A"/>
                </a:solidFill>
                <a:latin typeface="Roboto" pitchFamily="34" charset="0"/>
                <a:ea typeface="Roboto" pitchFamily="34" charset="-122"/>
                <a:cs typeface="Roboto" pitchFamily="34" charset="-120"/>
              </a:rPr>
              <a:t>Training feature builder reused: 0.771.</a:t>
            </a:r>
            <a:endParaRPr lang="en-US" sz="1050" dirty="0"/>
          </a:p>
        </p:txBody>
      </p:sp>
      <p:sp>
        <p:nvSpPr>
          <p:cNvPr id="33" name="Shape 29"/>
          <p:cNvSpPr/>
          <p:nvPr/>
        </p:nvSpPr>
        <p:spPr>
          <a:xfrm>
            <a:off x="3355848" y="3931920"/>
            <a:ext cx="2651760" cy="1993392"/>
          </a:xfrm>
          <a:prstGeom prst="roundRect">
            <a:avLst>
              <a:gd name="adj" fmla="val 4587"/>
            </a:avLst>
          </a:prstGeom>
          <a:solidFill>
            <a:srgbClr val="F8FAFC"/>
          </a:solidFill>
          <a:ln w="12700">
            <a:solidFill>
              <a:srgbClr val="E2E8F0"/>
            </a:solidFill>
            <a:prstDash val="solid"/>
          </a:ln>
        </p:spPr>
      </p:sp>
      <p:sp>
        <p:nvSpPr>
          <p:cNvPr id="34" name="Shape 30"/>
          <p:cNvSpPr/>
          <p:nvPr/>
        </p:nvSpPr>
        <p:spPr>
          <a:xfrm>
            <a:off x="3493008" y="4069080"/>
            <a:ext cx="1143000" cy="292608"/>
          </a:xfrm>
          <a:prstGeom prst="roundRect">
            <a:avLst>
              <a:gd name="adj" fmla="val 50000"/>
            </a:avLst>
          </a:prstGeom>
          <a:solidFill>
            <a:srgbClr val="FEE2E2"/>
          </a:solidFill>
          <a:ln w="12700">
            <a:solidFill>
              <a:srgbClr val="FEE2E2"/>
            </a:solidFill>
            <a:prstDash val="solid"/>
          </a:ln>
        </p:spPr>
      </p:sp>
      <p:sp>
        <p:nvSpPr>
          <p:cNvPr id="35" name="Text 31"/>
          <p:cNvSpPr txBox="1"/>
          <p:nvPr/>
        </p:nvSpPr>
        <p:spPr>
          <a:xfrm>
            <a:off x="3493008" y="4069080"/>
            <a:ext cx="1143000" cy="292608"/>
          </a:xfrm>
          <a:prstGeom prst="rect">
            <a:avLst/>
          </a:prstGeom>
          <a:noFill/>
          <a:ln/>
        </p:spPr>
        <p:txBody>
          <a:bodyPr wrap="square" lIns="0" tIns="0" rIns="0" bIns="0" rtlCol="0" anchor="ctr"/>
          <a:lstStyle/>
          <a:p>
            <a:pPr algn="ctr" indent="0" marL="0">
              <a:buNone/>
            </a:pPr>
            <a:r>
              <a:rPr lang="en-US" sz="950" b="1" dirty="0">
                <a:solidFill>
                  <a:srgbClr val="991B1B"/>
                </a:solidFill>
                <a:latin typeface="Roboto" pitchFamily="34" charset="0"/>
                <a:ea typeface="Roboto" pitchFamily="34" charset="-122"/>
                <a:cs typeface="Roboto" pitchFamily="34" charset="-120"/>
              </a:rPr>
              <a:t>Policy Check</a:t>
            </a:r>
            <a:endParaRPr lang="en-US" sz="950" dirty="0"/>
          </a:p>
        </p:txBody>
      </p:sp>
      <p:sp>
        <p:nvSpPr>
          <p:cNvPr id="36" name="Text 32"/>
          <p:cNvSpPr txBox="1"/>
          <p:nvPr/>
        </p:nvSpPr>
        <p:spPr>
          <a:xfrm>
            <a:off x="3520440" y="4462272"/>
            <a:ext cx="2359152" cy="868680"/>
          </a:xfrm>
          <a:prstGeom prst="rect">
            <a:avLst/>
          </a:prstGeom>
          <a:noFill/>
          <a:ln/>
        </p:spPr>
        <p:txBody>
          <a:bodyPr wrap="square" lIns="0" tIns="0" rIns="0" bIns="0" rtlCol="0" anchor="t"/>
          <a:lstStyle/>
          <a:p>
            <a:pPr indent="0" marL="0">
              <a:buNone/>
            </a:pPr>
            <a:r>
              <a:rPr lang="en-US" sz="1050" dirty="0">
                <a:solidFill>
                  <a:srgbClr val="334155"/>
                </a:solidFill>
                <a:latin typeface="Roboto" pitchFamily="34" charset="0"/>
                <a:ea typeface="Roboto" pitchFamily="34" charset="-122"/>
                <a:cs typeface="Roboto" pitchFamily="34" charset="-120"/>
              </a:rPr>
              <a:t>Face rule used another model's 0.62 scale: every genuine match failed.</a:t>
            </a:r>
            <a:endParaRPr lang="en-US" sz="1050" dirty="0"/>
          </a:p>
        </p:txBody>
      </p:sp>
      <p:sp>
        <p:nvSpPr>
          <p:cNvPr id="37" name="Text 33"/>
          <p:cNvSpPr txBox="1"/>
          <p:nvPr/>
        </p:nvSpPr>
        <p:spPr>
          <a:xfrm>
            <a:off x="3520440" y="5349240"/>
            <a:ext cx="2359152" cy="502920"/>
          </a:xfrm>
          <a:prstGeom prst="rect">
            <a:avLst/>
          </a:prstGeom>
          <a:noFill/>
          <a:ln/>
        </p:spPr>
        <p:txBody>
          <a:bodyPr wrap="square" lIns="0" tIns="0" rIns="0" bIns="0" rtlCol="0" anchor="t"/>
          <a:lstStyle/>
          <a:p>
            <a:pPr indent="0" marL="0">
              <a:buNone/>
            </a:pPr>
            <a:r>
              <a:rPr lang="en-US" sz="1050" b="1" dirty="0">
                <a:solidFill>
                  <a:srgbClr val="16A34A"/>
                </a:solidFill>
                <a:latin typeface="Roboto" pitchFamily="34" charset="0"/>
                <a:ea typeface="Roboto" pitchFamily="34" charset="-122"/>
                <a:cs typeface="Roboto" pitchFamily="34" charset="-120"/>
              </a:rPr>
              <a:t>Fix  </a:t>
            </a:r>
            <a:pPr indent="0" marL="0">
              <a:buNone/>
            </a:pPr>
            <a:r>
              <a:rPr lang="en-US" sz="1050" dirty="0">
                <a:solidFill>
                  <a:srgbClr val="0F172A"/>
                </a:solidFill>
                <a:latin typeface="Roboto" pitchFamily="34" charset="0"/>
                <a:ea typeface="Roboto" pitchFamily="34" charset="-122"/>
                <a:cs typeface="Roboto" pitchFamily="34" charset="-120"/>
              </a:rPr>
              <a:t>SFace threshold 0.363.</a:t>
            </a:r>
            <a:endParaRPr lang="en-US" sz="1050" dirty="0"/>
          </a:p>
        </p:txBody>
      </p:sp>
      <p:sp>
        <p:nvSpPr>
          <p:cNvPr id="38" name="Shape 34"/>
          <p:cNvSpPr/>
          <p:nvPr/>
        </p:nvSpPr>
        <p:spPr>
          <a:xfrm>
            <a:off x="6163056" y="3931920"/>
            <a:ext cx="2651760" cy="1993392"/>
          </a:xfrm>
          <a:prstGeom prst="roundRect">
            <a:avLst>
              <a:gd name="adj" fmla="val 4587"/>
            </a:avLst>
          </a:prstGeom>
          <a:solidFill>
            <a:srgbClr val="F8FAFC"/>
          </a:solidFill>
          <a:ln w="12700">
            <a:solidFill>
              <a:srgbClr val="E2E8F0"/>
            </a:solidFill>
            <a:prstDash val="solid"/>
          </a:ln>
        </p:spPr>
      </p:sp>
      <p:sp>
        <p:nvSpPr>
          <p:cNvPr id="39" name="Shape 35"/>
          <p:cNvSpPr/>
          <p:nvPr/>
        </p:nvSpPr>
        <p:spPr>
          <a:xfrm>
            <a:off x="6300216" y="4069080"/>
            <a:ext cx="1691640" cy="292608"/>
          </a:xfrm>
          <a:prstGeom prst="roundRect">
            <a:avLst>
              <a:gd name="adj" fmla="val 50000"/>
            </a:avLst>
          </a:prstGeom>
          <a:solidFill>
            <a:srgbClr val="FEE2E2"/>
          </a:solidFill>
          <a:ln w="12700">
            <a:solidFill>
              <a:srgbClr val="FEE2E2"/>
            </a:solidFill>
            <a:prstDash val="solid"/>
          </a:ln>
        </p:spPr>
      </p:sp>
      <p:sp>
        <p:nvSpPr>
          <p:cNvPr id="40" name="Text 36"/>
          <p:cNvSpPr txBox="1"/>
          <p:nvPr/>
        </p:nvSpPr>
        <p:spPr>
          <a:xfrm>
            <a:off x="6300216" y="4069080"/>
            <a:ext cx="1691640" cy="292608"/>
          </a:xfrm>
          <a:prstGeom prst="rect">
            <a:avLst/>
          </a:prstGeom>
          <a:noFill/>
          <a:ln/>
        </p:spPr>
        <p:txBody>
          <a:bodyPr wrap="square" lIns="0" tIns="0" rIns="0" bIns="0" rtlCol="0" anchor="ctr"/>
          <a:lstStyle/>
          <a:p>
            <a:pPr algn="ctr" indent="0" marL="0">
              <a:buNone/>
            </a:pPr>
            <a:r>
              <a:rPr lang="en-US" sz="950" b="1" dirty="0">
                <a:solidFill>
                  <a:srgbClr val="991B1B"/>
                </a:solidFill>
                <a:latin typeface="Roboto" pitchFamily="34" charset="0"/>
                <a:ea typeface="Roboto" pitchFamily="34" charset="-122"/>
                <a:cs typeface="Roboto" pitchFamily="34" charset="-120"/>
              </a:rPr>
              <a:t>Structured LLM calls</a:t>
            </a:r>
            <a:endParaRPr lang="en-US" sz="950" dirty="0"/>
          </a:p>
        </p:txBody>
      </p:sp>
      <p:sp>
        <p:nvSpPr>
          <p:cNvPr id="41" name="Text 37"/>
          <p:cNvSpPr txBox="1"/>
          <p:nvPr/>
        </p:nvSpPr>
        <p:spPr>
          <a:xfrm>
            <a:off x="6327648" y="4462272"/>
            <a:ext cx="2359152" cy="868680"/>
          </a:xfrm>
          <a:prstGeom prst="rect">
            <a:avLst/>
          </a:prstGeom>
          <a:noFill/>
          <a:ln/>
        </p:spPr>
        <p:txBody>
          <a:bodyPr wrap="square" lIns="0" tIns="0" rIns="0" bIns="0" rtlCol="0" anchor="t"/>
          <a:lstStyle/>
          <a:p>
            <a:pPr indent="0" marL="0">
              <a:buNone/>
            </a:pPr>
            <a:r>
              <a:rPr lang="en-US" sz="1050" dirty="0">
                <a:solidFill>
                  <a:srgbClr val="334155"/>
                </a:solidFill>
                <a:latin typeface="Roboto" pitchFamily="34" charset="0"/>
                <a:ea typeface="Roboto" pitchFamily="34" charset="-122"/>
                <a:cs typeface="Roboto" pitchFamily="34" charset="-120"/>
              </a:rPr>
              <a:t>The model echoed the schema: 92% of written Q&amp;A answers discarded.</a:t>
            </a:r>
            <a:endParaRPr lang="en-US" sz="1050" dirty="0"/>
          </a:p>
        </p:txBody>
      </p:sp>
      <p:sp>
        <p:nvSpPr>
          <p:cNvPr id="42" name="Text 38"/>
          <p:cNvSpPr txBox="1"/>
          <p:nvPr/>
        </p:nvSpPr>
        <p:spPr>
          <a:xfrm>
            <a:off x="6327648" y="5349240"/>
            <a:ext cx="2359152" cy="502920"/>
          </a:xfrm>
          <a:prstGeom prst="rect">
            <a:avLst/>
          </a:prstGeom>
          <a:noFill/>
          <a:ln/>
        </p:spPr>
        <p:txBody>
          <a:bodyPr wrap="square" lIns="0" tIns="0" rIns="0" bIns="0" rtlCol="0" anchor="t"/>
          <a:lstStyle/>
          <a:p>
            <a:pPr indent="0" marL="0">
              <a:buNone/>
            </a:pPr>
            <a:r>
              <a:rPr lang="en-US" sz="1050" b="1" dirty="0">
                <a:solidFill>
                  <a:srgbClr val="16A34A"/>
                </a:solidFill>
                <a:latin typeface="Roboto" pitchFamily="34" charset="0"/>
                <a:ea typeface="Roboto" pitchFamily="34" charset="-122"/>
                <a:cs typeface="Roboto" pitchFamily="34" charset="-120"/>
              </a:rPr>
              <a:t>Fix  </a:t>
            </a:r>
            <a:pPr indent="0" marL="0">
              <a:buNone/>
            </a:pPr>
            <a:r>
              <a:rPr lang="en-US" sz="1050" dirty="0">
                <a:solidFill>
                  <a:srgbClr val="0F172A"/>
                </a:solidFill>
                <a:latin typeface="Roboto" pitchFamily="34" charset="0"/>
                <a:ea typeface="Roboto" pitchFamily="34" charset="-122"/>
                <a:cs typeface="Roboto" pitchFamily="34" charset="-120"/>
              </a:rPr>
              <a:t>Schema-enforced JSON output.</a:t>
            </a:r>
            <a:endParaRPr lang="en-US" sz="1050" dirty="0"/>
          </a:p>
        </p:txBody>
      </p:sp>
      <p:sp>
        <p:nvSpPr>
          <p:cNvPr id="43" name="Shape 39"/>
          <p:cNvSpPr/>
          <p:nvPr/>
        </p:nvSpPr>
        <p:spPr>
          <a:xfrm>
            <a:off x="8970264" y="3931920"/>
            <a:ext cx="2651760" cy="1993392"/>
          </a:xfrm>
          <a:prstGeom prst="roundRect">
            <a:avLst>
              <a:gd name="adj" fmla="val 4587"/>
            </a:avLst>
          </a:prstGeom>
          <a:solidFill>
            <a:srgbClr val="F8FAFC"/>
          </a:solidFill>
          <a:ln w="12700">
            <a:solidFill>
              <a:srgbClr val="E2E8F0"/>
            </a:solidFill>
            <a:prstDash val="solid"/>
          </a:ln>
        </p:spPr>
      </p:sp>
      <p:sp>
        <p:nvSpPr>
          <p:cNvPr id="44" name="Shape 40"/>
          <p:cNvSpPr/>
          <p:nvPr/>
        </p:nvSpPr>
        <p:spPr>
          <a:xfrm>
            <a:off x="9107424" y="4069080"/>
            <a:ext cx="1828800" cy="292608"/>
          </a:xfrm>
          <a:prstGeom prst="roundRect">
            <a:avLst>
              <a:gd name="adj" fmla="val 50000"/>
            </a:avLst>
          </a:prstGeom>
          <a:solidFill>
            <a:srgbClr val="FEE2E2"/>
          </a:solidFill>
          <a:ln w="12700">
            <a:solidFill>
              <a:srgbClr val="FEE2E2"/>
            </a:solidFill>
            <a:prstDash val="solid"/>
          </a:ln>
        </p:spPr>
      </p:sp>
      <p:sp>
        <p:nvSpPr>
          <p:cNvPr id="45" name="Text 41"/>
          <p:cNvSpPr txBox="1"/>
          <p:nvPr/>
        </p:nvSpPr>
        <p:spPr>
          <a:xfrm>
            <a:off x="9107424" y="4069080"/>
            <a:ext cx="1828800" cy="292608"/>
          </a:xfrm>
          <a:prstGeom prst="rect">
            <a:avLst/>
          </a:prstGeom>
          <a:noFill/>
          <a:ln/>
        </p:spPr>
        <p:txBody>
          <a:bodyPr wrap="square" lIns="0" tIns="0" rIns="0" bIns="0" rtlCol="0" anchor="ctr"/>
          <a:lstStyle/>
          <a:p>
            <a:pPr algn="ctr" indent="0" marL="0">
              <a:buNone/>
            </a:pPr>
            <a:r>
              <a:rPr lang="en-US" sz="950" b="1" dirty="0">
                <a:solidFill>
                  <a:srgbClr val="991B1B"/>
                </a:solidFill>
                <a:latin typeface="Roboto" pitchFamily="34" charset="0"/>
                <a:ea typeface="Roboto" pitchFamily="34" charset="-122"/>
                <a:cs typeface="Roboto" pitchFamily="34" charset="-120"/>
              </a:rPr>
              <a:t>Cross-Doc Verification</a:t>
            </a:r>
            <a:endParaRPr lang="en-US" sz="950" dirty="0"/>
          </a:p>
        </p:txBody>
      </p:sp>
      <p:sp>
        <p:nvSpPr>
          <p:cNvPr id="46" name="Text 42"/>
          <p:cNvSpPr txBox="1"/>
          <p:nvPr/>
        </p:nvSpPr>
        <p:spPr>
          <a:xfrm>
            <a:off x="9134856" y="4462272"/>
            <a:ext cx="2359152" cy="868680"/>
          </a:xfrm>
          <a:prstGeom prst="rect">
            <a:avLst/>
          </a:prstGeom>
          <a:noFill/>
          <a:ln/>
        </p:spPr>
        <p:txBody>
          <a:bodyPr wrap="square" lIns="0" tIns="0" rIns="0" bIns="0" rtlCol="0" anchor="t"/>
          <a:lstStyle/>
          <a:p>
            <a:pPr indent="0" marL="0">
              <a:buNone/>
            </a:pPr>
            <a:r>
              <a:rPr lang="en-US" sz="1050" dirty="0">
                <a:solidFill>
                  <a:srgbClr val="334155"/>
                </a:solidFill>
                <a:latin typeface="Roboto" pitchFamily="34" charset="0"/>
                <a:ea typeface="Roboto" pitchFamily="34" charset="-122"/>
                <a:cs typeface="Roboto" pitchFamily="34" charset="-120"/>
              </a:rPr>
              <a:t>A shared surname alone counted as a name match — family members looked like one person.</a:t>
            </a:r>
            <a:endParaRPr lang="en-US" sz="1050" dirty="0"/>
          </a:p>
        </p:txBody>
      </p:sp>
      <p:sp>
        <p:nvSpPr>
          <p:cNvPr id="47" name="Text 43"/>
          <p:cNvSpPr txBox="1"/>
          <p:nvPr/>
        </p:nvSpPr>
        <p:spPr>
          <a:xfrm>
            <a:off x="9134856" y="5349240"/>
            <a:ext cx="2359152" cy="502920"/>
          </a:xfrm>
          <a:prstGeom prst="rect">
            <a:avLst/>
          </a:prstGeom>
          <a:noFill/>
          <a:ln/>
        </p:spPr>
        <p:txBody>
          <a:bodyPr wrap="square" lIns="0" tIns="0" rIns="0" bIns="0" rtlCol="0" anchor="t"/>
          <a:lstStyle/>
          <a:p>
            <a:pPr indent="0" marL="0">
              <a:buNone/>
            </a:pPr>
            <a:r>
              <a:rPr lang="en-US" sz="1050" b="1" dirty="0">
                <a:solidFill>
                  <a:srgbClr val="16A34A"/>
                </a:solidFill>
                <a:latin typeface="Roboto" pitchFamily="34" charset="0"/>
                <a:ea typeface="Roboto" pitchFamily="34" charset="-122"/>
                <a:cs typeface="Roboto" pitchFamily="34" charset="-120"/>
              </a:rPr>
              <a:t>Fix  </a:t>
            </a:r>
            <a:pPr indent="0" marL="0">
              <a:buNone/>
            </a:pPr>
            <a:r>
              <a:rPr lang="en-US" sz="1050" dirty="0">
                <a:solidFill>
                  <a:srgbClr val="0F172A"/>
                </a:solidFill>
                <a:latin typeface="Roboto" pitchFamily="34" charset="0"/>
                <a:ea typeface="Roboto" pitchFamily="34" charset="-122"/>
                <a:cs typeface="Roboto" pitchFamily="34" charset="-120"/>
              </a:rPr>
              <a:t>Fixed in the browser and Python logic.</a:t>
            </a:r>
            <a:endParaRPr lang="en-US" sz="1050" dirty="0"/>
          </a:p>
        </p:txBody>
      </p:sp>
      <p:sp>
        <p:nvSpPr>
          <p:cNvPr id="48" name="Text 44"/>
          <p:cNvSpPr txBox="1"/>
          <p:nvPr/>
        </p:nvSpPr>
        <p:spPr>
          <a:xfrm>
            <a:off x="548640" y="6089904"/>
            <a:ext cx="11094415" cy="347472"/>
          </a:xfrm>
          <a:prstGeom prst="rect">
            <a:avLst/>
          </a:prstGeom>
          <a:noFill/>
          <a:ln/>
        </p:spPr>
        <p:txBody>
          <a:bodyPr wrap="square" lIns="0" tIns="0" rIns="0" bIns="0" rtlCol="0" anchor="ctr"/>
          <a:lstStyle/>
          <a:p>
            <a:pPr indent="0" marL="0">
              <a:buNone/>
            </a:pPr>
            <a:r>
              <a:rPr lang="en-US" sz="950" i="1" dirty="0">
                <a:solidFill>
                  <a:srgbClr val="64748B"/>
                </a:solidFill>
                <a:latin typeface="Roboto" pitchFamily="34" charset="0"/>
                <a:ea typeface="Roboto" pitchFamily="34" charset="-122"/>
                <a:cs typeface="Roboto" pitchFamily="34" charset="-120"/>
              </a:rPr>
              <a:t>+ 9 more: card rules applied to full pages · images overflowing the model context · regulation titles ignored by grounding · unreadable photo rows treated as real · SQL inserts refused on tables with triggers · a parser error result · review statuses in the router · a stale Agent Activity tab · PDFs rasterised needlessly</a:t>
            </a:r>
            <a:endParaRPr lang="en-US" sz="9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8229600" cy="256032"/>
          </a:xfrm>
          <a:prstGeom prst="rect">
            <a:avLst/>
          </a:prstGeom>
          <a:noFill/>
          <a:ln/>
        </p:spPr>
        <p:txBody>
          <a:bodyPr wrap="square" lIns="0" tIns="0" rIns="0" bIns="0" rtlCol="0" anchor="ctr"/>
          <a:lstStyle/>
          <a:p>
            <a:pPr indent="0" marL="0">
              <a:buNone/>
            </a:pPr>
            <a:r>
              <a:rPr lang="en-US" sz="1100" b="1" spc="200" kern="0" dirty="0">
                <a:solidFill>
                  <a:srgbClr val="4F46E5"/>
                </a:solidFill>
                <a:latin typeface="Roboto" pitchFamily="34" charset="0"/>
                <a:ea typeface="Roboto" pitchFamily="34" charset="-122"/>
                <a:cs typeface="Roboto" pitchFamily="34" charset="-120"/>
              </a:rPr>
              <a:t>EVALUATION</a:t>
            </a:r>
            <a:endParaRPr lang="en-US" sz="1100" dirty="0"/>
          </a:p>
        </p:txBody>
      </p:sp>
      <p:sp>
        <p:nvSpPr>
          <p:cNvPr id="3" name="Text 1"/>
          <p:cNvSpPr txBox="1"/>
          <p:nvPr/>
        </p:nvSpPr>
        <p:spPr>
          <a:xfrm>
            <a:off x="548640" y="585216"/>
            <a:ext cx="11094415" cy="566928"/>
          </a:xfrm>
          <a:prstGeom prst="rect">
            <a:avLst/>
          </a:prstGeom>
          <a:noFill/>
          <a:ln/>
        </p:spPr>
        <p:txBody>
          <a:bodyPr wrap="square" lIns="0" tIns="0" rIns="0" bIns="0" rtlCol="0" anchor="ctr"/>
          <a:lstStyle/>
          <a:p>
            <a:pPr indent="0" marL="0">
              <a:buNone/>
            </a:pPr>
            <a:r>
              <a:rPr lang="en-US" sz="2800" b="1" dirty="0">
                <a:solidFill>
                  <a:srgbClr val="0F172A"/>
                </a:solidFill>
                <a:latin typeface="Roboto" pitchFamily="34" charset="0"/>
                <a:ea typeface="Roboto" pitchFamily="34" charset="-122"/>
                <a:cs typeface="Roboto" pitchFamily="34" charset="-120"/>
              </a:rPr>
              <a:t>Latency on one laptop</a:t>
            </a:r>
            <a:endParaRPr lang="en-US" sz="2800" dirty="0"/>
          </a:p>
        </p:txBody>
      </p:sp>
      <p:sp>
        <p:nvSpPr>
          <p:cNvPr id="4" name="Text 2"/>
          <p:cNvSpPr txBox="1"/>
          <p:nvPr/>
        </p:nvSpPr>
        <p:spPr>
          <a:xfrm>
            <a:off x="548640" y="1152144"/>
            <a:ext cx="11094415" cy="365760"/>
          </a:xfrm>
          <a:prstGeom prst="rect">
            <a:avLst/>
          </a:prstGeom>
          <a:noFill/>
          <a:ln/>
        </p:spPr>
        <p:txBody>
          <a:bodyPr wrap="square" lIns="0" tIns="0" rIns="0" bIns="0" rtlCol="0" anchor="ctr"/>
          <a:lstStyle/>
          <a:p>
            <a:pPr indent="0" marL="0">
              <a:buNone/>
            </a:pPr>
            <a:r>
              <a:rPr lang="en-US" sz="1400" dirty="0">
                <a:solidFill>
                  <a:srgbClr val="64748B"/>
                </a:solidFill>
                <a:latin typeface="Roboto" pitchFamily="34" charset="0"/>
                <a:ea typeface="Roboto" pitchFamily="34" charset="-122"/>
                <a:cs typeface="Roboto" pitchFamily="34" charset="-120"/>
              </a:rPr>
              <a:t>Median seconds per document on an idle machine, local model already loaded (RTX 4060, 8 GB).</a:t>
            </a:r>
            <a:endParaRPr lang="en-US" sz="1400" dirty="0"/>
          </a:p>
        </p:txBody>
      </p:sp>
      <p:pic>
        <p:nvPicPr>
          <p:cNvPr id="5" name="Image 0" descr="C:\Users\shrey\AppData\Local\Temp\claude\D--novacinternship-finsight\ef4ecb45-e580-4bc0-9be4-060aa240a5b2\scratchpad\deck\img\logo_lockup.png">    </p:cNvPr>
          <p:cNvPicPr>
            <a:picLocks noChangeAspect="1"/>
          </p:cNvPicPr>
          <p:nvPr/>
        </p:nvPicPr>
        <p:blipFill>
          <a:blip r:embed="rId1"/>
          <a:stretch>
            <a:fillRect/>
          </a:stretch>
        </p:blipFill>
        <p:spPr>
          <a:xfrm>
            <a:off x="10360152" y="6464808"/>
            <a:ext cx="843991" cy="237744"/>
          </a:xfrm>
          <a:prstGeom prst="rect">
            <a:avLst/>
          </a:prstGeom>
        </p:spPr>
      </p:pic>
      <p:sp>
        <p:nvSpPr>
          <p:cNvPr id="6" name="Text 3"/>
          <p:cNvSpPr txBox="1"/>
          <p:nvPr/>
        </p:nvSpPr>
        <p:spPr>
          <a:xfrm>
            <a:off x="11277295" y="6473952"/>
            <a:ext cx="365760" cy="228600"/>
          </a:xfrm>
          <a:prstGeom prst="rect">
            <a:avLst/>
          </a:prstGeom>
          <a:noFill/>
          <a:ln/>
        </p:spPr>
        <p:txBody>
          <a:bodyPr wrap="square" lIns="0" tIns="0" rIns="0" bIns="0" rtlCol="0" anchor="ctr"/>
          <a:lstStyle/>
          <a:p>
            <a:pPr algn="r" indent="0" marL="0">
              <a:buNone/>
            </a:pPr>
            <a:r>
              <a:rPr lang="en-US" sz="900" dirty="0">
                <a:solidFill>
                  <a:srgbClr val="94A3B8"/>
                </a:solidFill>
                <a:latin typeface="Roboto" pitchFamily="34" charset="0"/>
                <a:ea typeface="Roboto" pitchFamily="34" charset="-122"/>
                <a:cs typeface="Roboto" pitchFamily="34" charset="-120"/>
              </a:rPr>
              <a:t>39</a:t>
            </a:r>
            <a:endParaRPr lang="en-US" sz="900" dirty="0"/>
          </a:p>
        </p:txBody>
      </p:sp>
      <p:graphicFrame>
        <p:nvGraphicFramePr>
          <p:cNvPr id="8" name="Chart 0" descr=""/>
          <p:cNvGraphicFramePr/>
          <p:nvPr/>
        </p:nvGraphicFramePr>
        <p:xfrm>
          <a:off x="502920" y="1645920"/>
          <a:ext cx="6675120" cy="4663440"/>
        </p:xfrm>
        <a:graphic xmlns:a="http://schemas.openxmlformats.org/drawingml/2006/main">
          <a:graphicData uri="http://schemas.openxmlformats.org/drawingml/2006/chart">
            <c:chart xmlns:c="http://schemas.openxmlformats.org/drawingml/2006/chart" r:id="rId2"/>
          </a:graphicData>
        </a:graphic>
      </p:graphicFrame>
      <p:sp>
        <p:nvSpPr>
          <p:cNvPr id="9" name="Text 4"/>
          <p:cNvSpPr txBox="1"/>
          <p:nvPr/>
        </p:nvSpPr>
        <p:spPr>
          <a:xfrm>
            <a:off x="7086600" y="1737360"/>
            <a:ext cx="4556455" cy="256032"/>
          </a:xfrm>
          <a:prstGeom prst="rect">
            <a:avLst/>
          </a:prstGeom>
          <a:noFill/>
          <a:ln/>
        </p:spPr>
        <p:txBody>
          <a:bodyPr wrap="square" lIns="0" tIns="0" rIns="0" bIns="0" rtlCol="0" anchor="ctr"/>
          <a:lstStyle/>
          <a:p>
            <a:pPr indent="0" marL="0">
              <a:buNone/>
            </a:pPr>
            <a:r>
              <a:rPr lang="en-US" sz="1050" b="1" spc="200" kern="0" dirty="0">
                <a:solidFill>
                  <a:srgbClr val="64748B"/>
                </a:solidFill>
                <a:latin typeface="Roboto" pitchFamily="34" charset="0"/>
                <a:ea typeface="Roboto" pitchFamily="34" charset="-122"/>
                <a:cs typeface="Roboto" pitchFamily="34" charset="-120"/>
              </a:rPr>
              <a:t>THREE FIXES FOUND WHILE BENCHMARKING</a:t>
            </a:r>
            <a:endParaRPr lang="en-US" sz="1050" dirty="0"/>
          </a:p>
        </p:txBody>
      </p:sp>
      <p:sp>
        <p:nvSpPr>
          <p:cNvPr id="10" name="Shape 5"/>
          <p:cNvSpPr/>
          <p:nvPr/>
        </p:nvSpPr>
        <p:spPr>
          <a:xfrm>
            <a:off x="7086600" y="2057400"/>
            <a:ext cx="4556455" cy="877824"/>
          </a:xfrm>
          <a:prstGeom prst="roundRect">
            <a:avLst>
              <a:gd name="adj" fmla="val 10417"/>
            </a:avLst>
          </a:prstGeom>
          <a:solidFill>
            <a:srgbClr val="F8FAFC"/>
          </a:solidFill>
          <a:ln w="12700">
            <a:solidFill>
              <a:srgbClr val="E2E8F0"/>
            </a:solidFill>
            <a:prstDash val="solid"/>
          </a:ln>
        </p:spPr>
      </p:sp>
      <p:sp>
        <p:nvSpPr>
          <p:cNvPr id="11" name="Text 6"/>
          <p:cNvSpPr txBox="1"/>
          <p:nvPr/>
        </p:nvSpPr>
        <p:spPr>
          <a:xfrm>
            <a:off x="7269480" y="2057400"/>
            <a:ext cx="4190695" cy="877824"/>
          </a:xfrm>
          <a:prstGeom prst="rect">
            <a:avLst/>
          </a:prstGeom>
          <a:noFill/>
          <a:ln/>
        </p:spPr>
        <p:txBody>
          <a:bodyPr wrap="square" lIns="0" tIns="0" rIns="0" bIns="0" rtlCol="0" anchor="ctr"/>
          <a:lstStyle/>
          <a:p>
            <a:pPr indent="0" marL="0">
              <a:spcAft>
                <a:spcPts val="300"/>
              </a:spcAft>
              <a:buNone/>
            </a:pPr>
            <a:r>
              <a:rPr lang="en-US" sz="1250" b="1" dirty="0">
                <a:solidFill>
                  <a:srgbClr val="0F172A"/>
                </a:solidFill>
                <a:latin typeface="Roboto" pitchFamily="34" charset="0"/>
                <a:ea typeface="Roboto" pitchFamily="34" charset="-122"/>
                <a:cs typeface="Roboto" pitchFamily="34" charset="-120"/>
              </a:rPr>
              <a:t>2 s on every model call</a:t>
            </a:r>
            <a:endParaRPr lang="en-US" sz="1250" dirty="0"/>
          </a:p>
          <a:p>
            <a:pPr indent="0" marL="0">
              <a:spcAft>
                <a:spcPts val="300"/>
              </a:spcAft>
              <a:buNone/>
            </a:pPr>
            <a:r>
              <a:rPr lang="en-US" sz="1050" dirty="0">
                <a:solidFill>
                  <a:srgbClr val="64748B"/>
                </a:solidFill>
                <a:latin typeface="Roboto" pitchFamily="34" charset="0"/>
                <a:ea typeface="Roboto" pitchFamily="34" charset="-122"/>
                <a:cs typeface="Roboto" pitchFamily="34" charset="-120"/>
              </a:rPr>
              <a:t>Windows tried IPv6 for 'localhost' first — now 127.0.0.1, pooled.</a:t>
            </a:r>
            <a:endParaRPr lang="en-US" sz="1250" dirty="0"/>
          </a:p>
        </p:txBody>
      </p:sp>
      <p:sp>
        <p:nvSpPr>
          <p:cNvPr id="12" name="Shape 7"/>
          <p:cNvSpPr/>
          <p:nvPr/>
        </p:nvSpPr>
        <p:spPr>
          <a:xfrm>
            <a:off x="7086600" y="3044952"/>
            <a:ext cx="4556455" cy="877824"/>
          </a:xfrm>
          <a:prstGeom prst="roundRect">
            <a:avLst>
              <a:gd name="adj" fmla="val 10417"/>
            </a:avLst>
          </a:prstGeom>
          <a:solidFill>
            <a:srgbClr val="F8FAFC"/>
          </a:solidFill>
          <a:ln w="12700">
            <a:solidFill>
              <a:srgbClr val="E2E8F0"/>
            </a:solidFill>
            <a:prstDash val="solid"/>
          </a:ln>
        </p:spPr>
      </p:sp>
      <p:sp>
        <p:nvSpPr>
          <p:cNvPr id="13" name="Text 8"/>
          <p:cNvSpPr txBox="1"/>
          <p:nvPr/>
        </p:nvSpPr>
        <p:spPr>
          <a:xfrm>
            <a:off x="7269480" y="3044952"/>
            <a:ext cx="4190695" cy="877824"/>
          </a:xfrm>
          <a:prstGeom prst="rect">
            <a:avLst/>
          </a:prstGeom>
          <a:noFill/>
          <a:ln/>
        </p:spPr>
        <p:txBody>
          <a:bodyPr wrap="square" lIns="0" tIns="0" rIns="0" bIns="0" rtlCol="0" anchor="ctr"/>
          <a:lstStyle/>
          <a:p>
            <a:pPr indent="0" marL="0">
              <a:spcAft>
                <a:spcPts val="300"/>
              </a:spcAft>
              <a:buNone/>
            </a:pPr>
            <a:r>
              <a:rPr lang="en-US" sz="1250" b="1" dirty="0">
                <a:solidFill>
                  <a:srgbClr val="0F172A"/>
                </a:solidFill>
                <a:latin typeface="Roboto" pitchFamily="34" charset="0"/>
                <a:ea typeface="Roboto" pitchFamily="34" charset="-122"/>
                <a:cs typeface="Roboto" pitchFamily="34" charset="-120"/>
              </a:rPr>
              <a:t>ID photos 19% slower</a:t>
            </a:r>
            <a:endParaRPr lang="en-US" sz="1250" dirty="0"/>
          </a:p>
          <a:p>
            <a:pPr indent="0" marL="0">
              <a:spcAft>
                <a:spcPts val="300"/>
              </a:spcAft>
              <a:buNone/>
            </a:pPr>
            <a:r>
              <a:rPr lang="en-US" sz="1050" dirty="0">
                <a:solidFill>
                  <a:srgbClr val="64748B"/>
                </a:solidFill>
                <a:latin typeface="Roboto" pitchFamily="34" charset="0"/>
                <a:ea typeface="Roboto" pitchFamily="34" charset="-122"/>
                <a:cs typeface="Roboto" pitchFamily="34" charset="-120"/>
              </a:rPr>
              <a:t>A second OCR pass on ID cards — now reuses preprocessing's words.</a:t>
            </a:r>
            <a:endParaRPr lang="en-US" sz="1250" dirty="0"/>
          </a:p>
        </p:txBody>
      </p:sp>
      <p:sp>
        <p:nvSpPr>
          <p:cNvPr id="14" name="Shape 9"/>
          <p:cNvSpPr/>
          <p:nvPr/>
        </p:nvSpPr>
        <p:spPr>
          <a:xfrm>
            <a:off x="7086600" y="4032504"/>
            <a:ext cx="4556455" cy="877824"/>
          </a:xfrm>
          <a:prstGeom prst="roundRect">
            <a:avLst>
              <a:gd name="adj" fmla="val 10417"/>
            </a:avLst>
          </a:prstGeom>
          <a:solidFill>
            <a:srgbClr val="F8FAFC"/>
          </a:solidFill>
          <a:ln w="12700">
            <a:solidFill>
              <a:srgbClr val="E2E8F0"/>
            </a:solidFill>
            <a:prstDash val="solid"/>
          </a:ln>
        </p:spPr>
      </p:sp>
      <p:sp>
        <p:nvSpPr>
          <p:cNvPr id="15" name="Text 10"/>
          <p:cNvSpPr txBox="1"/>
          <p:nvPr/>
        </p:nvSpPr>
        <p:spPr>
          <a:xfrm>
            <a:off x="7269480" y="4032504"/>
            <a:ext cx="4190695" cy="877824"/>
          </a:xfrm>
          <a:prstGeom prst="rect">
            <a:avLst/>
          </a:prstGeom>
          <a:noFill/>
          <a:ln/>
        </p:spPr>
        <p:txBody>
          <a:bodyPr wrap="square" lIns="0" tIns="0" rIns="0" bIns="0" rtlCol="0" anchor="ctr"/>
          <a:lstStyle/>
          <a:p>
            <a:pPr indent="0" marL="0">
              <a:spcAft>
                <a:spcPts val="300"/>
              </a:spcAft>
              <a:buNone/>
            </a:pPr>
            <a:r>
              <a:rPr lang="en-US" sz="1250" b="1" dirty="0">
                <a:solidFill>
                  <a:srgbClr val="0F172A"/>
                </a:solidFill>
                <a:latin typeface="Roboto" pitchFamily="34" charset="0"/>
                <a:ea typeface="Roboto" pitchFamily="34" charset="-122"/>
                <a:cs typeface="Roboto" pitchFamily="34" charset="-120"/>
              </a:rPr>
              <a:t>Statement photos ~23 s</a:t>
            </a:r>
            <a:endParaRPr lang="en-US" sz="1250" dirty="0"/>
          </a:p>
          <a:p>
            <a:pPr indent="0" marL="0">
              <a:spcAft>
                <a:spcPts val="300"/>
              </a:spcAft>
              <a:buNone/>
            </a:pPr>
            <a:r>
              <a:rPr lang="en-US" sz="1050" dirty="0">
                <a:solidFill>
                  <a:srgbClr val="64748B"/>
                </a:solidFill>
                <a:latin typeface="Roboto" pitchFamily="34" charset="0"/>
                <a:ea typeface="Roboto" pitchFamily="34" charset="-122"/>
                <a:cs typeface="Roboto" pitchFamily="34" charset="-120"/>
              </a:rPr>
              <a:t>Their rows are now parsed in the background after the upload.</a:t>
            </a:r>
            <a:endParaRPr lang="en-US" sz="1250" dirty="0"/>
          </a:p>
        </p:txBody>
      </p:sp>
      <p:sp>
        <p:nvSpPr>
          <p:cNvPr id="16" name="Shape 11"/>
          <p:cNvSpPr/>
          <p:nvPr/>
        </p:nvSpPr>
        <p:spPr>
          <a:xfrm>
            <a:off x="7086600" y="5120640"/>
            <a:ext cx="4556455" cy="1143000"/>
          </a:xfrm>
          <a:prstGeom prst="roundRect">
            <a:avLst>
              <a:gd name="adj" fmla="val 8000"/>
            </a:avLst>
          </a:prstGeom>
          <a:solidFill>
            <a:srgbClr val="EEF2FF"/>
          </a:solidFill>
          <a:ln w="12700">
            <a:solidFill>
              <a:srgbClr val="C7D2FE"/>
            </a:solidFill>
            <a:prstDash val="solid"/>
          </a:ln>
        </p:spPr>
      </p:sp>
      <p:sp>
        <p:nvSpPr>
          <p:cNvPr id="17" name="Text 12"/>
          <p:cNvSpPr txBox="1"/>
          <p:nvPr/>
        </p:nvSpPr>
        <p:spPr>
          <a:xfrm>
            <a:off x="7269480" y="5120640"/>
            <a:ext cx="4190695" cy="1143000"/>
          </a:xfrm>
          <a:prstGeom prst="rect">
            <a:avLst/>
          </a:prstGeom>
          <a:noFill/>
          <a:ln/>
        </p:spPr>
        <p:txBody>
          <a:bodyPr wrap="square" lIns="0" tIns="0" rIns="0" bIns="0" rtlCol="0" anchor="ctr"/>
          <a:lstStyle/>
          <a:p>
            <a:pPr indent="0" marL="0">
              <a:buNone/>
            </a:pPr>
            <a:r>
              <a:rPr lang="en-US" sz="1200" b="1" dirty="0">
                <a:solidFill>
                  <a:srgbClr val="3730A3"/>
                </a:solidFill>
                <a:latin typeface="Roboto" pitchFamily="34" charset="0"/>
                <a:ea typeface="Roboto" pitchFamily="34" charset="-122"/>
                <a:cs typeface="Roboto" pitchFamily="34" charset="-120"/>
              </a:rPr>
              <a:t>Agents did not slow the app. </a:t>
            </a:r>
            <a:pPr indent="0" marL="0">
              <a:buNone/>
            </a:pPr>
            <a:r>
              <a:rPr lang="en-US" sz="1200" dirty="0">
                <a:solidFill>
                  <a:srgbClr val="334155"/>
                </a:solidFill>
                <a:latin typeface="Roboto" pitchFamily="34" charset="0"/>
                <a:ea typeface="Roboto" pitchFamily="34" charset="-122"/>
                <a:cs typeface="Roboto" pitchFamily="34" charset="-120"/>
              </a:rPr>
              <a:t>Against the pre-agent build the two model uploads got 9–11% faster; every other endpoint added at most 56 ms.</a:t>
            </a:r>
            <a:endParaRPr lang="en-US" sz="12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8229600" cy="256032"/>
          </a:xfrm>
          <a:prstGeom prst="rect">
            <a:avLst/>
          </a:prstGeom>
          <a:noFill/>
          <a:ln/>
        </p:spPr>
        <p:txBody>
          <a:bodyPr wrap="square" lIns="0" tIns="0" rIns="0" bIns="0" rtlCol="0" anchor="ctr"/>
          <a:lstStyle/>
          <a:p>
            <a:pPr indent="0" marL="0">
              <a:buNone/>
            </a:pPr>
            <a:r>
              <a:rPr lang="en-US" sz="1100" b="1" spc="200" kern="0" dirty="0">
                <a:solidFill>
                  <a:srgbClr val="4F46E5"/>
                </a:solidFill>
                <a:latin typeface="Roboto" pitchFamily="34" charset="0"/>
                <a:ea typeface="Roboto" pitchFamily="34" charset="-122"/>
                <a:cs typeface="Roboto" pitchFamily="34" charset="-120"/>
              </a:rPr>
              <a:t>EVALUATION</a:t>
            </a:r>
            <a:endParaRPr lang="en-US" sz="1100" dirty="0"/>
          </a:p>
        </p:txBody>
      </p:sp>
      <p:sp>
        <p:nvSpPr>
          <p:cNvPr id="3" name="Text 1"/>
          <p:cNvSpPr txBox="1"/>
          <p:nvPr/>
        </p:nvSpPr>
        <p:spPr>
          <a:xfrm>
            <a:off x="548640" y="585216"/>
            <a:ext cx="11094415" cy="566928"/>
          </a:xfrm>
          <a:prstGeom prst="rect">
            <a:avLst/>
          </a:prstGeom>
          <a:noFill/>
          <a:ln/>
        </p:spPr>
        <p:txBody>
          <a:bodyPr wrap="square" lIns="0" tIns="0" rIns="0" bIns="0" rtlCol="0" anchor="ctr"/>
          <a:lstStyle/>
          <a:p>
            <a:pPr indent="0" marL="0">
              <a:buNone/>
            </a:pPr>
            <a:r>
              <a:rPr lang="en-US" sz="2800" b="1" dirty="0">
                <a:solidFill>
                  <a:srgbClr val="0F172A"/>
                </a:solidFill>
                <a:latin typeface="Roboto" pitchFamily="34" charset="0"/>
                <a:ea typeface="Roboto" pitchFamily="34" charset="-122"/>
                <a:cs typeface="Roboto" pitchFamily="34" charset="-120"/>
              </a:rPr>
              <a:t>Known limits and open decisions</a:t>
            </a:r>
            <a:endParaRPr lang="en-US" sz="2800" dirty="0"/>
          </a:p>
        </p:txBody>
      </p:sp>
      <p:pic>
        <p:nvPicPr>
          <p:cNvPr id="4" name="Image 0" descr="C:\Users\shrey\AppData\Local\Temp\claude\D--novacinternship-finsight\ef4ecb45-e580-4bc0-9be4-060aa240a5b2\scratchpad\deck\img\logo_lockup.png">    </p:cNvPr>
          <p:cNvPicPr>
            <a:picLocks noChangeAspect="1"/>
          </p:cNvPicPr>
          <p:nvPr/>
        </p:nvPicPr>
        <p:blipFill>
          <a:blip r:embed="rId1"/>
          <a:stretch>
            <a:fillRect/>
          </a:stretch>
        </p:blipFill>
        <p:spPr>
          <a:xfrm>
            <a:off x="10360152" y="6464808"/>
            <a:ext cx="843991" cy="237744"/>
          </a:xfrm>
          <a:prstGeom prst="rect">
            <a:avLst/>
          </a:prstGeom>
        </p:spPr>
      </p:pic>
      <p:sp>
        <p:nvSpPr>
          <p:cNvPr id="5" name="Text 2"/>
          <p:cNvSpPr txBox="1"/>
          <p:nvPr/>
        </p:nvSpPr>
        <p:spPr>
          <a:xfrm>
            <a:off x="11277295" y="6473952"/>
            <a:ext cx="365760" cy="228600"/>
          </a:xfrm>
          <a:prstGeom prst="rect">
            <a:avLst/>
          </a:prstGeom>
          <a:noFill/>
          <a:ln/>
        </p:spPr>
        <p:txBody>
          <a:bodyPr wrap="square" lIns="0" tIns="0" rIns="0" bIns="0" rtlCol="0" anchor="ctr"/>
          <a:lstStyle/>
          <a:p>
            <a:pPr algn="r" indent="0" marL="0">
              <a:buNone/>
            </a:pPr>
            <a:r>
              <a:rPr lang="en-US" sz="900" dirty="0">
                <a:solidFill>
                  <a:srgbClr val="94A3B8"/>
                </a:solidFill>
                <a:latin typeface="Roboto" pitchFamily="34" charset="0"/>
                <a:ea typeface="Roboto" pitchFamily="34" charset="-122"/>
                <a:cs typeface="Roboto" pitchFamily="34" charset="-120"/>
              </a:rPr>
              <a:t>40</a:t>
            </a:r>
            <a:endParaRPr lang="en-US" sz="900" dirty="0"/>
          </a:p>
        </p:txBody>
      </p:sp>
      <p:sp>
        <p:nvSpPr>
          <p:cNvPr id="7" name="Text 3"/>
          <p:cNvSpPr txBox="1"/>
          <p:nvPr/>
        </p:nvSpPr>
        <p:spPr>
          <a:xfrm>
            <a:off x="731520" y="1371600"/>
            <a:ext cx="2743200" cy="274320"/>
          </a:xfrm>
          <a:prstGeom prst="rect">
            <a:avLst/>
          </a:prstGeom>
          <a:noFill/>
          <a:ln/>
        </p:spPr>
        <p:txBody>
          <a:bodyPr wrap="square" lIns="0" tIns="0" rIns="0" bIns="0" rtlCol="0" anchor="ctr"/>
          <a:lstStyle/>
          <a:p>
            <a:pPr indent="0" marL="0">
              <a:buNone/>
            </a:pPr>
            <a:r>
              <a:rPr lang="en-US" sz="1000" b="1" spc="200" kern="0" dirty="0">
                <a:solidFill>
                  <a:srgbClr val="64748B"/>
                </a:solidFill>
                <a:latin typeface="Roboto" pitchFamily="34" charset="0"/>
                <a:ea typeface="Roboto" pitchFamily="34" charset="-122"/>
                <a:cs typeface="Roboto" pitchFamily="34" charset="-120"/>
              </a:rPr>
              <a:t>LIMIT</a:t>
            </a:r>
            <a:endParaRPr lang="en-US" sz="1000" dirty="0"/>
          </a:p>
        </p:txBody>
      </p:sp>
      <p:sp>
        <p:nvSpPr>
          <p:cNvPr id="8" name="Text 4"/>
          <p:cNvSpPr txBox="1"/>
          <p:nvPr/>
        </p:nvSpPr>
        <p:spPr>
          <a:xfrm>
            <a:off x="5349240" y="1371600"/>
            <a:ext cx="2743200" cy="274320"/>
          </a:xfrm>
          <a:prstGeom prst="rect">
            <a:avLst/>
          </a:prstGeom>
          <a:noFill/>
          <a:ln/>
        </p:spPr>
        <p:txBody>
          <a:bodyPr wrap="square" lIns="0" tIns="0" rIns="0" bIns="0" rtlCol="0" anchor="ctr"/>
          <a:lstStyle/>
          <a:p>
            <a:pPr indent="0" marL="0">
              <a:buNone/>
            </a:pPr>
            <a:r>
              <a:rPr lang="en-US" sz="1000" b="1" spc="200" kern="0" dirty="0">
                <a:solidFill>
                  <a:srgbClr val="64748B"/>
                </a:solidFill>
                <a:latin typeface="Roboto" pitchFamily="34" charset="0"/>
                <a:ea typeface="Roboto" pitchFamily="34" charset="-122"/>
                <a:cs typeface="Roboto" pitchFamily="34" charset="-120"/>
              </a:rPr>
              <a:t>NEXT STEP</a:t>
            </a:r>
            <a:endParaRPr lang="en-US" sz="1000" dirty="0"/>
          </a:p>
        </p:txBody>
      </p:sp>
      <p:sp>
        <p:nvSpPr>
          <p:cNvPr id="9" name="Shape 5"/>
          <p:cNvSpPr/>
          <p:nvPr/>
        </p:nvSpPr>
        <p:spPr>
          <a:xfrm>
            <a:off x="548640" y="1691640"/>
            <a:ext cx="7589520" cy="676656"/>
          </a:xfrm>
          <a:prstGeom prst="roundRect">
            <a:avLst>
              <a:gd name="adj" fmla="val 10811"/>
            </a:avLst>
          </a:prstGeom>
          <a:solidFill>
            <a:srgbClr val="F8FAFC"/>
          </a:solidFill>
          <a:ln w="12700">
            <a:solidFill>
              <a:srgbClr val="E2E8F0"/>
            </a:solidFill>
            <a:prstDash val="solid"/>
          </a:ln>
        </p:spPr>
      </p:sp>
      <p:sp>
        <p:nvSpPr>
          <p:cNvPr id="10" name="Shape 6"/>
          <p:cNvSpPr/>
          <p:nvPr/>
        </p:nvSpPr>
        <p:spPr>
          <a:xfrm>
            <a:off x="713232" y="1965960"/>
            <a:ext cx="128016" cy="128016"/>
          </a:xfrm>
          <a:prstGeom prst="ellipse">
            <a:avLst/>
          </a:prstGeom>
          <a:solidFill>
            <a:srgbClr val="DC2626"/>
          </a:solidFill>
          <a:ln w="12700">
            <a:solidFill>
              <a:srgbClr val="DC2626"/>
            </a:solidFill>
            <a:prstDash val="solid"/>
          </a:ln>
        </p:spPr>
      </p:sp>
      <p:sp>
        <p:nvSpPr>
          <p:cNvPr id="11" name="Text 7"/>
          <p:cNvSpPr txBox="1"/>
          <p:nvPr/>
        </p:nvSpPr>
        <p:spPr>
          <a:xfrm>
            <a:off x="960120" y="1691640"/>
            <a:ext cx="4297680" cy="676656"/>
          </a:xfrm>
          <a:prstGeom prst="rect">
            <a:avLst/>
          </a:prstGeom>
          <a:noFill/>
          <a:ln/>
        </p:spPr>
        <p:txBody>
          <a:bodyPr wrap="square" lIns="0" tIns="0" rIns="0" bIns="0" rtlCol="0" anchor="ctr"/>
          <a:lstStyle/>
          <a:p>
            <a:pPr indent="0" marL="0">
              <a:buNone/>
            </a:pPr>
            <a:r>
              <a:rPr lang="en-US" sz="1150" b="1" dirty="0">
                <a:solidFill>
                  <a:srgbClr val="0F172A"/>
                </a:solidFill>
                <a:latin typeface="Roboto" pitchFamily="34" charset="0"/>
                <a:ea typeface="Roboto" pitchFamily="34" charset="-122"/>
                <a:cs typeface="Roboto" pitchFamily="34" charset="-120"/>
              </a:rPr>
              <a:t>Authenticity · Weak 11%</a:t>
            </a:r>
            <a:endParaRPr lang="en-US" sz="1150" dirty="0"/>
          </a:p>
          <a:p>
            <a:pPr indent="0" marL="0">
              <a:buNone/>
            </a:pPr>
            <a:r>
              <a:rPr lang="en-US" sz="950" dirty="0">
                <a:solidFill>
                  <a:srgbClr val="64748B"/>
                </a:solidFill>
                <a:latin typeface="Roboto" pitchFamily="34" charset="0"/>
                <a:ea typeface="Roboto" pitchFamily="34" charset="-122"/>
                <a:cs typeface="Roboto" pitchFamily="34" charset="-120"/>
              </a:rPr>
              <a:t>The local 7B vision model answers 'edited' for genuine and forged areas alike</a:t>
            </a:r>
            <a:endParaRPr lang="en-US" sz="1150" dirty="0"/>
          </a:p>
        </p:txBody>
      </p:sp>
      <p:sp>
        <p:nvSpPr>
          <p:cNvPr id="12" name="Text 8"/>
          <p:cNvSpPr txBox="1"/>
          <p:nvPr/>
        </p:nvSpPr>
        <p:spPr>
          <a:xfrm>
            <a:off x="5349240" y="1691640"/>
            <a:ext cx="2697480" cy="676656"/>
          </a:xfrm>
          <a:prstGeom prst="rect">
            <a:avLst/>
          </a:prstGeom>
          <a:noFill/>
          <a:ln/>
        </p:spPr>
        <p:txBody>
          <a:bodyPr wrap="square" lIns="0" tIns="0" rIns="0" bIns="0" rtlCol="0" anchor="ctr"/>
          <a:lstStyle/>
          <a:p>
            <a:pPr indent="0" marL="0">
              <a:buNone/>
            </a:pPr>
            <a:r>
              <a:rPr lang="en-US" sz="1050" dirty="0">
                <a:solidFill>
                  <a:srgbClr val="3730A3"/>
                </a:solidFill>
                <a:latin typeface="Roboto" pitchFamily="34" charset="0"/>
                <a:ea typeface="Roboto" pitchFamily="34" charset="-122"/>
                <a:cs typeface="Roboto" pitchFamily="34" charset="-120"/>
              </a:rPr>
              <a:t>Leave local edits to the patch detector</a:t>
            </a:r>
            <a:endParaRPr lang="en-US" sz="1050" dirty="0"/>
          </a:p>
        </p:txBody>
      </p:sp>
      <p:sp>
        <p:nvSpPr>
          <p:cNvPr id="13" name="Shape 9"/>
          <p:cNvSpPr/>
          <p:nvPr/>
        </p:nvSpPr>
        <p:spPr>
          <a:xfrm>
            <a:off x="548640" y="2459736"/>
            <a:ext cx="7589520" cy="676656"/>
          </a:xfrm>
          <a:prstGeom prst="roundRect">
            <a:avLst>
              <a:gd name="adj" fmla="val 10811"/>
            </a:avLst>
          </a:prstGeom>
          <a:solidFill>
            <a:srgbClr val="F8FAFC"/>
          </a:solidFill>
          <a:ln w="12700">
            <a:solidFill>
              <a:srgbClr val="E2E8F0"/>
            </a:solidFill>
            <a:prstDash val="solid"/>
          </a:ln>
        </p:spPr>
      </p:sp>
      <p:sp>
        <p:nvSpPr>
          <p:cNvPr id="14" name="Shape 10"/>
          <p:cNvSpPr/>
          <p:nvPr/>
        </p:nvSpPr>
        <p:spPr>
          <a:xfrm>
            <a:off x="713232" y="2734056"/>
            <a:ext cx="128016" cy="128016"/>
          </a:xfrm>
          <a:prstGeom prst="ellipse">
            <a:avLst/>
          </a:prstGeom>
          <a:solidFill>
            <a:srgbClr val="DC2626"/>
          </a:solidFill>
          <a:ln w="12700">
            <a:solidFill>
              <a:srgbClr val="DC2626"/>
            </a:solidFill>
            <a:prstDash val="solid"/>
          </a:ln>
        </p:spPr>
      </p:sp>
      <p:sp>
        <p:nvSpPr>
          <p:cNvPr id="15" name="Text 11"/>
          <p:cNvSpPr txBox="1"/>
          <p:nvPr/>
        </p:nvSpPr>
        <p:spPr>
          <a:xfrm>
            <a:off x="960120" y="2459736"/>
            <a:ext cx="4297680" cy="676656"/>
          </a:xfrm>
          <a:prstGeom prst="rect">
            <a:avLst/>
          </a:prstGeom>
          <a:noFill/>
          <a:ln/>
        </p:spPr>
        <p:txBody>
          <a:bodyPr wrap="square" lIns="0" tIns="0" rIns="0" bIns="0" rtlCol="0" anchor="ctr"/>
          <a:lstStyle/>
          <a:p>
            <a:pPr indent="0" marL="0">
              <a:buNone/>
            </a:pPr>
            <a:r>
              <a:rPr lang="en-US" sz="1150" b="1" dirty="0">
                <a:solidFill>
                  <a:srgbClr val="0F172A"/>
                </a:solidFill>
                <a:latin typeface="Roboto" pitchFamily="34" charset="0"/>
                <a:ea typeface="Roboto" pitchFamily="34" charset="-122"/>
                <a:cs typeface="Roboto" pitchFamily="34" charset="-120"/>
              </a:rPr>
              <a:t>Card outline · Weak 69%</a:t>
            </a:r>
            <a:endParaRPr lang="en-US" sz="1150" dirty="0"/>
          </a:p>
          <a:p>
            <a:pPr indent="0" marL="0">
              <a:buNone/>
            </a:pPr>
            <a:r>
              <a:rPr lang="en-US" sz="950" dirty="0">
                <a:solidFill>
                  <a:srgbClr val="64748B"/>
                </a:solidFill>
                <a:latin typeface="Roboto" pitchFamily="34" charset="0"/>
                <a:ea typeface="Roboto" pitchFamily="34" charset="-122"/>
                <a:cs typeface="Roboto" pitchFamily="34" charset="-120"/>
              </a:rPr>
              <a:t>A pale card on a pale surface, or a cluttered background, is missed</a:t>
            </a:r>
            <a:endParaRPr lang="en-US" sz="1150" dirty="0"/>
          </a:p>
        </p:txBody>
      </p:sp>
      <p:sp>
        <p:nvSpPr>
          <p:cNvPr id="16" name="Text 12"/>
          <p:cNvSpPr txBox="1"/>
          <p:nvPr/>
        </p:nvSpPr>
        <p:spPr>
          <a:xfrm>
            <a:off x="5349240" y="2459736"/>
            <a:ext cx="2697480" cy="676656"/>
          </a:xfrm>
          <a:prstGeom prst="rect">
            <a:avLst/>
          </a:prstGeom>
          <a:noFill/>
          <a:ln/>
        </p:spPr>
        <p:txBody>
          <a:bodyPr wrap="square" lIns="0" tIns="0" rIns="0" bIns="0" rtlCol="0" anchor="ctr"/>
          <a:lstStyle/>
          <a:p>
            <a:pPr indent="0" marL="0">
              <a:buNone/>
            </a:pPr>
            <a:r>
              <a:rPr lang="en-US" sz="1050" dirty="0">
                <a:solidFill>
                  <a:srgbClr val="3730A3"/>
                </a:solidFill>
                <a:latin typeface="Roboto" pitchFamily="34" charset="0"/>
                <a:ea typeface="Roboto" pitchFamily="34" charset="-122"/>
                <a:cs typeface="Roboto" pitchFamily="34" charset="-120"/>
              </a:rPr>
              <a:t>Ask for a plain dark background; train on real photos</a:t>
            </a:r>
            <a:endParaRPr lang="en-US" sz="1050" dirty="0"/>
          </a:p>
        </p:txBody>
      </p:sp>
      <p:sp>
        <p:nvSpPr>
          <p:cNvPr id="17" name="Shape 13"/>
          <p:cNvSpPr/>
          <p:nvPr/>
        </p:nvSpPr>
        <p:spPr>
          <a:xfrm>
            <a:off x="548640" y="3227832"/>
            <a:ext cx="7589520" cy="676656"/>
          </a:xfrm>
          <a:prstGeom prst="roundRect">
            <a:avLst>
              <a:gd name="adj" fmla="val 10811"/>
            </a:avLst>
          </a:prstGeom>
          <a:solidFill>
            <a:srgbClr val="F8FAFC"/>
          </a:solidFill>
          <a:ln w="12700">
            <a:solidFill>
              <a:srgbClr val="E2E8F0"/>
            </a:solidFill>
            <a:prstDash val="solid"/>
          </a:ln>
        </p:spPr>
      </p:sp>
      <p:sp>
        <p:nvSpPr>
          <p:cNvPr id="18" name="Shape 14"/>
          <p:cNvSpPr/>
          <p:nvPr/>
        </p:nvSpPr>
        <p:spPr>
          <a:xfrm>
            <a:off x="713232" y="3502152"/>
            <a:ext cx="128016" cy="128016"/>
          </a:xfrm>
          <a:prstGeom prst="ellipse">
            <a:avLst/>
          </a:prstGeom>
          <a:solidFill>
            <a:srgbClr val="D97706"/>
          </a:solidFill>
          <a:ln w="12700">
            <a:solidFill>
              <a:srgbClr val="D97706"/>
            </a:solidFill>
            <a:prstDash val="solid"/>
          </a:ln>
        </p:spPr>
      </p:sp>
      <p:sp>
        <p:nvSpPr>
          <p:cNvPr id="19" name="Text 15"/>
          <p:cNvSpPr txBox="1"/>
          <p:nvPr/>
        </p:nvSpPr>
        <p:spPr>
          <a:xfrm>
            <a:off x="960120" y="3227832"/>
            <a:ext cx="4297680" cy="676656"/>
          </a:xfrm>
          <a:prstGeom prst="rect">
            <a:avLst/>
          </a:prstGeom>
          <a:noFill/>
          <a:ln/>
        </p:spPr>
        <p:txBody>
          <a:bodyPr wrap="square" lIns="0" tIns="0" rIns="0" bIns="0" rtlCol="0" anchor="ctr"/>
          <a:lstStyle/>
          <a:p>
            <a:pPr indent="0" marL="0">
              <a:buNone/>
            </a:pPr>
            <a:r>
              <a:rPr lang="en-US" sz="1150" b="1" dirty="0">
                <a:solidFill>
                  <a:srgbClr val="0F172A"/>
                </a:solidFill>
                <a:latin typeface="Roboto" pitchFamily="34" charset="0"/>
                <a:ea typeface="Roboto" pitchFamily="34" charset="-122"/>
                <a:cs typeface="Roboto" pitchFamily="34" charset="-120"/>
              </a:rPr>
              <a:t>Tamper Locator · 74.6%</a:t>
            </a:r>
            <a:endParaRPr lang="en-US" sz="1150" dirty="0"/>
          </a:p>
          <a:p>
            <a:pPr indent="0" marL="0">
              <a:buNone/>
            </a:pPr>
            <a:r>
              <a:rPr lang="en-US" sz="950" dirty="0">
                <a:solidFill>
                  <a:srgbClr val="64748B"/>
                </a:solidFill>
                <a:latin typeface="Roboto" pitchFamily="34" charset="0"/>
                <a:ea typeface="Roboto" pitchFamily="34" charset="-122"/>
                <a:cs typeface="Roboto" pitchFamily="34" charset="-120"/>
              </a:rPr>
              <a:t>A document flagged for another reason (an editor tag) gets no box</a:t>
            </a:r>
            <a:endParaRPr lang="en-US" sz="1150" dirty="0"/>
          </a:p>
        </p:txBody>
      </p:sp>
      <p:sp>
        <p:nvSpPr>
          <p:cNvPr id="20" name="Text 16"/>
          <p:cNvSpPr txBox="1"/>
          <p:nvPr/>
        </p:nvSpPr>
        <p:spPr>
          <a:xfrm>
            <a:off x="5349240" y="3227832"/>
            <a:ext cx="2697480" cy="676656"/>
          </a:xfrm>
          <a:prstGeom prst="rect">
            <a:avLst/>
          </a:prstGeom>
          <a:noFill/>
          <a:ln/>
        </p:spPr>
        <p:txBody>
          <a:bodyPr wrap="square" lIns="0" tIns="0" rIns="0" bIns="0" rtlCol="0" anchor="ctr"/>
          <a:lstStyle/>
          <a:p>
            <a:pPr indent="0" marL="0">
              <a:buNone/>
            </a:pPr>
            <a:r>
              <a:rPr lang="en-US" sz="1050" dirty="0">
                <a:solidFill>
                  <a:srgbClr val="3730A3"/>
                </a:solidFill>
                <a:latin typeface="Roboto" pitchFamily="34" charset="0"/>
                <a:ea typeface="Roboto" pitchFamily="34" charset="-122"/>
                <a:cs typeface="Roboto" pitchFamily="34" charset="-120"/>
              </a:rPr>
              <a:t>Regions from more signals to reach 80%</a:t>
            </a:r>
            <a:endParaRPr lang="en-US" sz="1050" dirty="0"/>
          </a:p>
        </p:txBody>
      </p:sp>
      <p:sp>
        <p:nvSpPr>
          <p:cNvPr id="21" name="Shape 17"/>
          <p:cNvSpPr/>
          <p:nvPr/>
        </p:nvSpPr>
        <p:spPr>
          <a:xfrm>
            <a:off x="548640" y="3995928"/>
            <a:ext cx="7589520" cy="676656"/>
          </a:xfrm>
          <a:prstGeom prst="roundRect">
            <a:avLst>
              <a:gd name="adj" fmla="val 10811"/>
            </a:avLst>
          </a:prstGeom>
          <a:solidFill>
            <a:srgbClr val="F8FAFC"/>
          </a:solidFill>
          <a:ln w="12700">
            <a:solidFill>
              <a:srgbClr val="E2E8F0"/>
            </a:solidFill>
            <a:prstDash val="solid"/>
          </a:ln>
        </p:spPr>
      </p:sp>
      <p:sp>
        <p:nvSpPr>
          <p:cNvPr id="22" name="Shape 18"/>
          <p:cNvSpPr/>
          <p:nvPr/>
        </p:nvSpPr>
        <p:spPr>
          <a:xfrm>
            <a:off x="713232" y="4270248"/>
            <a:ext cx="128016" cy="128016"/>
          </a:xfrm>
          <a:prstGeom prst="ellipse">
            <a:avLst/>
          </a:prstGeom>
          <a:solidFill>
            <a:srgbClr val="D97706"/>
          </a:solidFill>
          <a:ln w="12700">
            <a:solidFill>
              <a:srgbClr val="D97706"/>
            </a:solidFill>
            <a:prstDash val="solid"/>
          </a:ln>
        </p:spPr>
      </p:sp>
      <p:sp>
        <p:nvSpPr>
          <p:cNvPr id="23" name="Text 19"/>
          <p:cNvSpPr txBox="1"/>
          <p:nvPr/>
        </p:nvSpPr>
        <p:spPr>
          <a:xfrm>
            <a:off x="960120" y="3995928"/>
            <a:ext cx="4297680" cy="676656"/>
          </a:xfrm>
          <a:prstGeom prst="rect">
            <a:avLst/>
          </a:prstGeom>
          <a:noFill/>
          <a:ln/>
        </p:spPr>
        <p:txBody>
          <a:bodyPr wrap="square" lIns="0" tIns="0" rIns="0" bIns="0" rtlCol="0" anchor="ctr"/>
          <a:lstStyle/>
          <a:p>
            <a:pPr indent="0" marL="0">
              <a:buNone/>
            </a:pPr>
            <a:r>
              <a:rPr lang="en-US" sz="1150" b="1" dirty="0">
                <a:solidFill>
                  <a:srgbClr val="0F172A"/>
                </a:solidFill>
                <a:latin typeface="Roboto" pitchFamily="34" charset="0"/>
                <a:ea typeface="Roboto" pitchFamily="34" charset="-122"/>
                <a:cs typeface="Roboto" pitchFamily="34" charset="-120"/>
              </a:rPr>
              <a:t>PII Masking · 98.4%</a:t>
            </a:r>
            <a:endParaRPr lang="en-US" sz="1150" dirty="0"/>
          </a:p>
          <a:p>
            <a:pPr indent="0" marL="0">
              <a:buNone/>
            </a:pPr>
            <a:r>
              <a:rPr lang="en-US" sz="950" dirty="0">
                <a:solidFill>
                  <a:srgbClr val="64748B"/>
                </a:solidFill>
                <a:latin typeface="Roboto" pitchFamily="34" charset="0"/>
                <a:ea typeface="Roboto" pitchFamily="34" charset="-122"/>
                <a:cs typeface="Roboto" pitchFamily="34" charset="-120"/>
              </a:rPr>
              <a:t>A card whose number can't be located is withheld (about 1 PAN in 11)</a:t>
            </a:r>
            <a:endParaRPr lang="en-US" sz="1150" dirty="0"/>
          </a:p>
        </p:txBody>
      </p:sp>
      <p:sp>
        <p:nvSpPr>
          <p:cNvPr id="24" name="Text 20"/>
          <p:cNvSpPr txBox="1"/>
          <p:nvPr/>
        </p:nvSpPr>
        <p:spPr>
          <a:xfrm>
            <a:off x="5349240" y="3995928"/>
            <a:ext cx="2697480" cy="676656"/>
          </a:xfrm>
          <a:prstGeom prst="rect">
            <a:avLst/>
          </a:prstGeom>
          <a:noFill/>
          <a:ln/>
        </p:spPr>
        <p:txBody>
          <a:bodyPr wrap="square" lIns="0" tIns="0" rIns="0" bIns="0" rtlCol="0" anchor="ctr"/>
          <a:lstStyle/>
          <a:p>
            <a:pPr indent="0" marL="0">
              <a:buNone/>
            </a:pPr>
            <a:r>
              <a:rPr lang="en-US" sz="1050" dirty="0">
                <a:solidFill>
                  <a:srgbClr val="3730A3"/>
                </a:solidFill>
                <a:latin typeface="Roboto" pitchFamily="34" charset="0"/>
                <a:ea typeface="Roboto" pitchFamily="34" charset="-122"/>
                <a:cs typeface="Roboto" pitchFamily="34" charset="-120"/>
              </a:rPr>
              <a:t>Redact those by hand; add a field detector</a:t>
            </a:r>
            <a:endParaRPr lang="en-US" sz="1050" dirty="0"/>
          </a:p>
        </p:txBody>
      </p:sp>
      <p:sp>
        <p:nvSpPr>
          <p:cNvPr id="25" name="Shape 21"/>
          <p:cNvSpPr/>
          <p:nvPr/>
        </p:nvSpPr>
        <p:spPr>
          <a:xfrm>
            <a:off x="548640" y="4764024"/>
            <a:ext cx="7589520" cy="676656"/>
          </a:xfrm>
          <a:prstGeom prst="roundRect">
            <a:avLst>
              <a:gd name="adj" fmla="val 10811"/>
            </a:avLst>
          </a:prstGeom>
          <a:solidFill>
            <a:srgbClr val="F8FAFC"/>
          </a:solidFill>
          <a:ln w="12700">
            <a:solidFill>
              <a:srgbClr val="E2E8F0"/>
            </a:solidFill>
            <a:prstDash val="solid"/>
          </a:ln>
        </p:spPr>
      </p:sp>
      <p:sp>
        <p:nvSpPr>
          <p:cNvPr id="26" name="Shape 22"/>
          <p:cNvSpPr/>
          <p:nvPr/>
        </p:nvSpPr>
        <p:spPr>
          <a:xfrm>
            <a:off x="713232" y="5038344"/>
            <a:ext cx="128016" cy="128016"/>
          </a:xfrm>
          <a:prstGeom prst="ellipse">
            <a:avLst/>
          </a:prstGeom>
          <a:solidFill>
            <a:srgbClr val="64748B"/>
          </a:solidFill>
          <a:ln w="12700">
            <a:solidFill>
              <a:srgbClr val="64748B"/>
            </a:solidFill>
            <a:prstDash val="solid"/>
          </a:ln>
        </p:spPr>
      </p:sp>
      <p:sp>
        <p:nvSpPr>
          <p:cNvPr id="27" name="Text 23"/>
          <p:cNvSpPr txBox="1"/>
          <p:nvPr/>
        </p:nvSpPr>
        <p:spPr>
          <a:xfrm>
            <a:off x="960120" y="4764024"/>
            <a:ext cx="4297680" cy="676656"/>
          </a:xfrm>
          <a:prstGeom prst="rect">
            <a:avLst/>
          </a:prstGeom>
          <a:noFill/>
          <a:ln/>
        </p:spPr>
        <p:txBody>
          <a:bodyPr wrap="square" lIns="0" tIns="0" rIns="0" bIns="0" rtlCol="0" anchor="ctr"/>
          <a:lstStyle/>
          <a:p>
            <a:pPr indent="0" marL="0">
              <a:buNone/>
            </a:pPr>
            <a:r>
              <a:rPr lang="en-US" sz="1150" b="1" dirty="0">
                <a:solidFill>
                  <a:srgbClr val="0F172A"/>
                </a:solidFill>
                <a:latin typeface="Roboto" pitchFamily="34" charset="0"/>
                <a:ea typeface="Roboto" pitchFamily="34" charset="-122"/>
                <a:cs typeface="Roboto" pitchFamily="34" charset="-120"/>
              </a:rPr>
              <a:t>No forged Indian documents</a:t>
            </a:r>
            <a:endParaRPr lang="en-US" sz="1150" dirty="0"/>
          </a:p>
          <a:p>
            <a:pPr indent="0" marL="0">
              <a:buNone/>
            </a:pPr>
            <a:r>
              <a:rPr lang="en-US" sz="950" dirty="0">
                <a:solidFill>
                  <a:srgbClr val="64748B"/>
                </a:solidFill>
                <a:latin typeface="Roboto" pitchFamily="34" charset="0"/>
                <a:ea typeface="Roboto" pitchFamily="34" charset="-122"/>
                <a:cs typeface="Roboto" pitchFamily="34" charset="-120"/>
              </a:rPr>
              <a:t>Tampering was tested on real receipts and European ID images</a:t>
            </a:r>
            <a:endParaRPr lang="en-US" sz="1150" dirty="0"/>
          </a:p>
        </p:txBody>
      </p:sp>
      <p:sp>
        <p:nvSpPr>
          <p:cNvPr id="28" name="Text 24"/>
          <p:cNvSpPr txBox="1"/>
          <p:nvPr/>
        </p:nvSpPr>
        <p:spPr>
          <a:xfrm>
            <a:off x="5349240" y="4764024"/>
            <a:ext cx="2697480" cy="676656"/>
          </a:xfrm>
          <a:prstGeom prst="rect">
            <a:avLst/>
          </a:prstGeom>
          <a:noFill/>
          <a:ln/>
        </p:spPr>
        <p:txBody>
          <a:bodyPr wrap="square" lIns="0" tIns="0" rIns="0" bIns="0" rtlCol="0" anchor="ctr"/>
          <a:lstStyle/>
          <a:p>
            <a:pPr indent="0" marL="0">
              <a:buNone/>
            </a:pPr>
            <a:r>
              <a:rPr lang="en-US" sz="1050" dirty="0">
                <a:solidFill>
                  <a:srgbClr val="3730A3"/>
                </a:solidFill>
                <a:latin typeface="Roboto" pitchFamily="34" charset="0"/>
                <a:ea typeface="Roboto" pitchFamily="34" charset="-122"/>
                <a:cs typeface="Roboto" pitchFamily="34" charset="-120"/>
              </a:rPr>
              <a:t>Collect officers' review verdicts as labels</a:t>
            </a:r>
            <a:endParaRPr lang="en-US" sz="1050" dirty="0"/>
          </a:p>
        </p:txBody>
      </p:sp>
      <p:sp>
        <p:nvSpPr>
          <p:cNvPr id="29" name="Shape 25"/>
          <p:cNvSpPr/>
          <p:nvPr/>
        </p:nvSpPr>
        <p:spPr>
          <a:xfrm>
            <a:off x="548640" y="5532120"/>
            <a:ext cx="7589520" cy="676656"/>
          </a:xfrm>
          <a:prstGeom prst="roundRect">
            <a:avLst>
              <a:gd name="adj" fmla="val 10811"/>
            </a:avLst>
          </a:prstGeom>
          <a:solidFill>
            <a:srgbClr val="F8FAFC"/>
          </a:solidFill>
          <a:ln w="12700">
            <a:solidFill>
              <a:srgbClr val="E2E8F0"/>
            </a:solidFill>
            <a:prstDash val="solid"/>
          </a:ln>
        </p:spPr>
      </p:sp>
      <p:sp>
        <p:nvSpPr>
          <p:cNvPr id="30" name="Shape 26"/>
          <p:cNvSpPr/>
          <p:nvPr/>
        </p:nvSpPr>
        <p:spPr>
          <a:xfrm>
            <a:off x="713232" y="5806440"/>
            <a:ext cx="128016" cy="128016"/>
          </a:xfrm>
          <a:prstGeom prst="ellipse">
            <a:avLst/>
          </a:prstGeom>
          <a:solidFill>
            <a:srgbClr val="64748B"/>
          </a:solidFill>
          <a:ln w="12700">
            <a:solidFill>
              <a:srgbClr val="64748B"/>
            </a:solidFill>
            <a:prstDash val="solid"/>
          </a:ln>
        </p:spPr>
      </p:sp>
      <p:sp>
        <p:nvSpPr>
          <p:cNvPr id="31" name="Text 27"/>
          <p:cNvSpPr txBox="1"/>
          <p:nvPr/>
        </p:nvSpPr>
        <p:spPr>
          <a:xfrm>
            <a:off x="960120" y="5532120"/>
            <a:ext cx="4297680" cy="676656"/>
          </a:xfrm>
          <a:prstGeom prst="rect">
            <a:avLst/>
          </a:prstGeom>
          <a:noFill/>
          <a:ln/>
        </p:spPr>
        <p:txBody>
          <a:bodyPr wrap="square" lIns="0" tIns="0" rIns="0" bIns="0" rtlCol="0" anchor="ctr"/>
          <a:lstStyle/>
          <a:p>
            <a:pPr indent="0" marL="0">
              <a:buNone/>
            </a:pPr>
            <a:r>
              <a:rPr lang="en-US" sz="1150" b="1" dirty="0">
                <a:solidFill>
                  <a:srgbClr val="0F172A"/>
                </a:solidFill>
                <a:latin typeface="Roboto" pitchFamily="34" charset="0"/>
                <a:ea typeface="Roboto" pitchFamily="34" charset="-122"/>
                <a:cs typeface="Roboto" pitchFamily="34" charset="-120"/>
              </a:rPr>
              <a:t>RBI circulars</a:t>
            </a:r>
            <a:endParaRPr lang="en-US" sz="1150" dirty="0"/>
          </a:p>
          <a:p>
            <a:pPr indent="0" marL="0">
              <a:buNone/>
            </a:pPr>
            <a:r>
              <a:rPr lang="en-US" sz="950" dirty="0">
                <a:solidFill>
                  <a:srgbClr val="64748B"/>
                </a:solidFill>
                <a:latin typeface="Roboto" pitchFamily="34" charset="0"/>
                <a:ea typeface="Roboto" pitchFamily="34" charset="-122"/>
                <a:cs typeface="Roboto" pitchFamily="34" charset="-120"/>
              </a:rPr>
              <a:t>Compliance was tested on 40 ADGM regulations; rbi.org.in blocks scripts</a:t>
            </a:r>
            <a:endParaRPr lang="en-US" sz="1150" dirty="0"/>
          </a:p>
        </p:txBody>
      </p:sp>
      <p:sp>
        <p:nvSpPr>
          <p:cNvPr id="32" name="Text 28"/>
          <p:cNvSpPr txBox="1"/>
          <p:nvPr/>
        </p:nvSpPr>
        <p:spPr>
          <a:xfrm>
            <a:off x="5349240" y="5532120"/>
            <a:ext cx="2697480" cy="676656"/>
          </a:xfrm>
          <a:prstGeom prst="rect">
            <a:avLst/>
          </a:prstGeom>
          <a:noFill/>
          <a:ln/>
        </p:spPr>
        <p:txBody>
          <a:bodyPr wrap="square" lIns="0" tIns="0" rIns="0" bIns="0" rtlCol="0" anchor="ctr"/>
          <a:lstStyle/>
          <a:p>
            <a:pPr indent="0" marL="0">
              <a:buNone/>
            </a:pPr>
            <a:r>
              <a:rPr lang="en-US" sz="1050" dirty="0">
                <a:solidFill>
                  <a:srgbClr val="3730A3"/>
                </a:solidFill>
                <a:latin typeface="Roboto" pitchFamily="34" charset="0"/>
                <a:ea typeface="Roboto" pitchFamily="34" charset="-122"/>
                <a:cs typeface="Roboto" pitchFamily="34" charset="-120"/>
              </a:rPr>
              <a:t>Download six circulars by hand, re-run</a:t>
            </a:r>
            <a:endParaRPr lang="en-US" sz="1050" dirty="0"/>
          </a:p>
        </p:txBody>
      </p:sp>
      <p:sp>
        <p:nvSpPr>
          <p:cNvPr id="33" name="Shape 29"/>
          <p:cNvSpPr/>
          <p:nvPr/>
        </p:nvSpPr>
        <p:spPr>
          <a:xfrm>
            <a:off x="8366760" y="1371600"/>
            <a:ext cx="3273552" cy="4937760"/>
          </a:xfrm>
          <a:prstGeom prst="roundRect">
            <a:avLst>
              <a:gd name="adj" fmla="val 3352"/>
            </a:avLst>
          </a:prstGeom>
          <a:solidFill>
            <a:srgbClr val="0F172A"/>
          </a:solidFill>
          <a:ln w="12700">
            <a:solidFill>
              <a:srgbClr val="0F172A"/>
            </a:solidFill>
            <a:prstDash val="solid"/>
          </a:ln>
        </p:spPr>
      </p:sp>
      <p:sp>
        <p:nvSpPr>
          <p:cNvPr id="34" name="Text 30"/>
          <p:cNvSpPr txBox="1"/>
          <p:nvPr/>
        </p:nvSpPr>
        <p:spPr>
          <a:xfrm>
            <a:off x="8595360" y="1554480"/>
            <a:ext cx="2743200" cy="274320"/>
          </a:xfrm>
          <a:prstGeom prst="rect">
            <a:avLst/>
          </a:prstGeom>
          <a:noFill/>
          <a:ln/>
        </p:spPr>
        <p:txBody>
          <a:bodyPr wrap="square" lIns="0" tIns="0" rIns="0" bIns="0" rtlCol="0" anchor="ctr"/>
          <a:lstStyle/>
          <a:p>
            <a:pPr indent="0" marL="0">
              <a:buNone/>
            </a:pPr>
            <a:r>
              <a:rPr lang="en-US" sz="1050" b="1" spc="200" kern="0" dirty="0">
                <a:solidFill>
                  <a:srgbClr val="A5B4FC"/>
                </a:solidFill>
                <a:latin typeface="Roboto" pitchFamily="34" charset="0"/>
                <a:ea typeface="Roboto" pitchFamily="34" charset="-122"/>
                <a:cs typeface="Roboto" pitchFamily="34" charset="-120"/>
              </a:rPr>
              <a:t>OPEN DECISIONS</a:t>
            </a:r>
            <a:endParaRPr lang="en-US" sz="1050" dirty="0"/>
          </a:p>
        </p:txBody>
      </p:sp>
      <p:sp>
        <p:nvSpPr>
          <p:cNvPr id="35" name="Shape 31"/>
          <p:cNvSpPr/>
          <p:nvPr/>
        </p:nvSpPr>
        <p:spPr>
          <a:xfrm>
            <a:off x="8595360" y="2048256"/>
            <a:ext cx="329184" cy="329184"/>
          </a:xfrm>
          <a:prstGeom prst="roundRect">
            <a:avLst>
              <a:gd name="adj" fmla="val 50000"/>
            </a:avLst>
          </a:prstGeom>
          <a:solidFill>
            <a:srgbClr val="4F46E5"/>
          </a:solidFill>
          <a:ln w="12700">
            <a:solidFill>
              <a:srgbClr val="4F46E5"/>
            </a:solidFill>
            <a:prstDash val="solid"/>
          </a:ln>
        </p:spPr>
      </p:sp>
      <p:sp>
        <p:nvSpPr>
          <p:cNvPr id="36" name="Text 32"/>
          <p:cNvSpPr txBox="1"/>
          <p:nvPr/>
        </p:nvSpPr>
        <p:spPr>
          <a:xfrm>
            <a:off x="8595360" y="204825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Roboto" pitchFamily="34" charset="0"/>
                <a:ea typeface="Roboto" pitchFamily="34" charset="-122"/>
                <a:cs typeface="Roboto" pitchFamily="34" charset="-120"/>
              </a:rPr>
              <a:t>1</a:t>
            </a:r>
            <a:endParaRPr lang="en-US" sz="1100" dirty="0"/>
          </a:p>
        </p:txBody>
      </p:sp>
      <p:sp>
        <p:nvSpPr>
          <p:cNvPr id="37" name="Text 33"/>
          <p:cNvSpPr txBox="1"/>
          <p:nvPr/>
        </p:nvSpPr>
        <p:spPr>
          <a:xfrm>
            <a:off x="9052560" y="2011680"/>
            <a:ext cx="2423160" cy="1325880"/>
          </a:xfrm>
          <a:prstGeom prst="rect">
            <a:avLst/>
          </a:prstGeom>
          <a:noFill/>
          <a:ln/>
        </p:spPr>
        <p:txBody>
          <a:bodyPr wrap="square" lIns="0" tIns="0" rIns="0" bIns="0" rtlCol="0" anchor="t"/>
          <a:lstStyle/>
          <a:p>
            <a:pPr indent="0" marL="0">
              <a:spcAft>
                <a:spcPts val="300"/>
              </a:spcAft>
              <a:buNone/>
            </a:pPr>
            <a:r>
              <a:rPr lang="en-US" sz="1300" b="1" dirty="0">
                <a:solidFill>
                  <a:srgbClr val="FFFFFF"/>
                </a:solidFill>
                <a:latin typeface="Roboto" pitchFamily="34" charset="0"/>
                <a:ea typeface="Roboto" pitchFamily="34" charset="-122"/>
                <a:cs typeface="Roboto" pitchFamily="34" charset="-120"/>
              </a:rPr>
              <a:t>What MEDIUM should mean</a:t>
            </a:r>
            <a:endParaRPr lang="en-US" sz="1300" dirty="0"/>
          </a:p>
          <a:p>
            <a:pPr indent="0" marL="0">
              <a:spcAft>
                <a:spcPts val="300"/>
              </a:spcAft>
              <a:buNone/>
            </a:pPr>
            <a:r>
              <a:rPr lang="en-US" sz="1000" dirty="0">
                <a:solidFill>
                  <a:srgbClr val="CBD5E1"/>
                </a:solidFill>
                <a:latin typeface="Roboto" pitchFamily="34" charset="0"/>
                <a:ea typeface="Roboto" pitchFamily="34" charset="-122"/>
                <a:cs typeface="Roboto" pitchFamily="34" charset="-120"/>
              </a:rPr>
              <a:t>About half of clean test cases get a MEDIUM fraud tier (24% with real scans): a genuine file with an editor tag is flagged.</a:t>
            </a:r>
            <a:endParaRPr lang="en-US" sz="1300" dirty="0"/>
          </a:p>
        </p:txBody>
      </p:sp>
      <p:sp>
        <p:nvSpPr>
          <p:cNvPr id="38" name="Shape 34"/>
          <p:cNvSpPr/>
          <p:nvPr/>
        </p:nvSpPr>
        <p:spPr>
          <a:xfrm>
            <a:off x="8595360" y="3465576"/>
            <a:ext cx="329184" cy="329184"/>
          </a:xfrm>
          <a:prstGeom prst="roundRect">
            <a:avLst>
              <a:gd name="adj" fmla="val 50000"/>
            </a:avLst>
          </a:prstGeom>
          <a:solidFill>
            <a:srgbClr val="4F46E5"/>
          </a:solidFill>
          <a:ln w="12700">
            <a:solidFill>
              <a:srgbClr val="4F46E5"/>
            </a:solidFill>
            <a:prstDash val="solid"/>
          </a:ln>
        </p:spPr>
      </p:sp>
      <p:sp>
        <p:nvSpPr>
          <p:cNvPr id="39" name="Text 35"/>
          <p:cNvSpPr txBox="1"/>
          <p:nvPr/>
        </p:nvSpPr>
        <p:spPr>
          <a:xfrm>
            <a:off x="8595360" y="346557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Roboto" pitchFamily="34" charset="0"/>
                <a:ea typeface="Roboto" pitchFamily="34" charset="-122"/>
                <a:cs typeface="Roboto" pitchFamily="34" charset="-120"/>
              </a:rPr>
              <a:t>2</a:t>
            </a:r>
            <a:endParaRPr lang="en-US" sz="1100" dirty="0"/>
          </a:p>
        </p:txBody>
      </p:sp>
      <p:sp>
        <p:nvSpPr>
          <p:cNvPr id="40" name="Text 36"/>
          <p:cNvSpPr txBox="1"/>
          <p:nvPr/>
        </p:nvSpPr>
        <p:spPr>
          <a:xfrm>
            <a:off x="9052560" y="3429000"/>
            <a:ext cx="2423160" cy="1325880"/>
          </a:xfrm>
          <a:prstGeom prst="rect">
            <a:avLst/>
          </a:prstGeom>
          <a:noFill/>
          <a:ln/>
        </p:spPr>
        <p:txBody>
          <a:bodyPr wrap="square" lIns="0" tIns="0" rIns="0" bIns="0" rtlCol="0" anchor="t"/>
          <a:lstStyle/>
          <a:p>
            <a:pPr indent="0" marL="0">
              <a:spcAft>
                <a:spcPts val="300"/>
              </a:spcAft>
              <a:buNone/>
            </a:pPr>
            <a:r>
              <a:rPr lang="en-US" sz="1300" b="1" dirty="0">
                <a:solidFill>
                  <a:srgbClr val="FFFFFF"/>
                </a:solidFill>
                <a:latin typeface="Roboto" pitchFamily="34" charset="0"/>
                <a:ea typeface="Roboto" pitchFamily="34" charset="-122"/>
                <a:cs typeface="Roboto" pitchFamily="34" charset="-120"/>
              </a:rPr>
              <a:t>Verify the PAN with the issuer</a:t>
            </a:r>
            <a:endParaRPr lang="en-US" sz="1300" dirty="0"/>
          </a:p>
          <a:p>
            <a:pPr indent="0" marL="0">
              <a:spcAft>
                <a:spcPts val="300"/>
              </a:spcAft>
              <a:buNone/>
            </a:pPr>
            <a:r>
              <a:rPr lang="en-US" sz="1000" dirty="0">
                <a:solidFill>
                  <a:srgbClr val="CBD5E1"/>
                </a:solidFill>
                <a:latin typeface="Roboto" pitchFamily="34" charset="0"/>
                <a:ea typeface="Roboto" pitchFamily="34" charset="-122"/>
                <a:cs typeface="Roboto" pitchFamily="34" charset="-120"/>
              </a:rPr>
              <a:t>83% of PAN numbers are read correctly, and a wrong read still looks like a valid PAN.</a:t>
            </a:r>
            <a:endParaRPr lang="en-US" sz="1300" dirty="0"/>
          </a:p>
        </p:txBody>
      </p:sp>
      <p:sp>
        <p:nvSpPr>
          <p:cNvPr id="41" name="Shape 37"/>
          <p:cNvSpPr/>
          <p:nvPr/>
        </p:nvSpPr>
        <p:spPr>
          <a:xfrm>
            <a:off x="8595360" y="4882896"/>
            <a:ext cx="329184" cy="329184"/>
          </a:xfrm>
          <a:prstGeom prst="roundRect">
            <a:avLst>
              <a:gd name="adj" fmla="val 50000"/>
            </a:avLst>
          </a:prstGeom>
          <a:solidFill>
            <a:srgbClr val="4F46E5"/>
          </a:solidFill>
          <a:ln w="12700">
            <a:solidFill>
              <a:srgbClr val="4F46E5"/>
            </a:solidFill>
            <a:prstDash val="solid"/>
          </a:ln>
        </p:spPr>
      </p:sp>
      <p:sp>
        <p:nvSpPr>
          <p:cNvPr id="42" name="Text 38"/>
          <p:cNvSpPr txBox="1"/>
          <p:nvPr/>
        </p:nvSpPr>
        <p:spPr>
          <a:xfrm>
            <a:off x="8595360" y="488289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Roboto" pitchFamily="34" charset="0"/>
                <a:ea typeface="Roboto" pitchFamily="34" charset="-122"/>
                <a:cs typeface="Roboto" pitchFamily="34" charset="-120"/>
              </a:rPr>
              <a:t>3</a:t>
            </a:r>
            <a:endParaRPr lang="en-US" sz="1100" dirty="0"/>
          </a:p>
        </p:txBody>
      </p:sp>
      <p:sp>
        <p:nvSpPr>
          <p:cNvPr id="43" name="Text 39"/>
          <p:cNvSpPr txBox="1"/>
          <p:nvPr/>
        </p:nvSpPr>
        <p:spPr>
          <a:xfrm>
            <a:off x="9052560" y="4846320"/>
            <a:ext cx="2423160" cy="1325880"/>
          </a:xfrm>
          <a:prstGeom prst="rect">
            <a:avLst/>
          </a:prstGeom>
          <a:noFill/>
          <a:ln/>
        </p:spPr>
        <p:txBody>
          <a:bodyPr wrap="square" lIns="0" tIns="0" rIns="0" bIns="0" rtlCol="0" anchor="t"/>
          <a:lstStyle/>
          <a:p>
            <a:pPr indent="0" marL="0">
              <a:spcAft>
                <a:spcPts val="300"/>
              </a:spcAft>
              <a:buNone/>
            </a:pPr>
            <a:r>
              <a:rPr lang="en-US" sz="1300" b="1" dirty="0">
                <a:solidFill>
                  <a:srgbClr val="FFFFFF"/>
                </a:solidFill>
                <a:latin typeface="Roboto" pitchFamily="34" charset="0"/>
                <a:ea typeface="Roboto" pitchFamily="34" charset="-122"/>
                <a:cs typeface="Roboto" pitchFamily="34" charset="-120"/>
              </a:rPr>
              <a:t>Watch the first live flags</a:t>
            </a:r>
            <a:endParaRPr lang="en-US" sz="1300" dirty="0"/>
          </a:p>
          <a:p>
            <a:pPr indent="0" marL="0">
              <a:spcAft>
                <a:spcPts val="300"/>
              </a:spcAft>
              <a:buNone/>
            </a:pPr>
            <a:r>
              <a:rPr lang="en-US" sz="1000" dirty="0">
                <a:solidFill>
                  <a:srgbClr val="CBD5E1"/>
                </a:solidFill>
                <a:latin typeface="Roboto" pitchFamily="34" charset="0"/>
                <a:ea typeface="Roboto" pitchFamily="34" charset="-122"/>
                <a:cs typeface="Roboto" pitchFamily="34" charset="-120"/>
              </a:rPr>
              <a:t>The detector's floors were measured on other kinds of documents than Indian ones.</a:t>
            </a:r>
            <a:endParaRPr lang="en-US" sz="13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8229600" cy="256032"/>
          </a:xfrm>
          <a:prstGeom prst="rect">
            <a:avLst/>
          </a:prstGeom>
          <a:noFill/>
          <a:ln/>
        </p:spPr>
        <p:txBody>
          <a:bodyPr wrap="square" lIns="0" tIns="0" rIns="0" bIns="0" rtlCol="0" anchor="ctr"/>
          <a:lstStyle/>
          <a:p>
            <a:pPr indent="0" marL="0">
              <a:buNone/>
            </a:pPr>
            <a:r>
              <a:rPr lang="en-US" sz="1100" b="1" spc="200" kern="0" dirty="0">
                <a:solidFill>
                  <a:srgbClr val="4F46E5"/>
                </a:solidFill>
                <a:latin typeface="Roboto" pitchFamily="34" charset="0"/>
                <a:ea typeface="Roboto" pitchFamily="34" charset="-122"/>
                <a:cs typeface="Roboto" pitchFamily="34" charset="-120"/>
              </a:rPr>
              <a:t>GETTING STARTED</a:t>
            </a:r>
            <a:endParaRPr lang="en-US" sz="1100" dirty="0"/>
          </a:p>
        </p:txBody>
      </p:sp>
      <p:sp>
        <p:nvSpPr>
          <p:cNvPr id="3" name="Text 1"/>
          <p:cNvSpPr txBox="1"/>
          <p:nvPr/>
        </p:nvSpPr>
        <p:spPr>
          <a:xfrm>
            <a:off x="548640" y="585216"/>
            <a:ext cx="11094415" cy="566928"/>
          </a:xfrm>
          <a:prstGeom prst="rect">
            <a:avLst/>
          </a:prstGeom>
          <a:noFill/>
          <a:ln/>
        </p:spPr>
        <p:txBody>
          <a:bodyPr wrap="square" lIns="0" tIns="0" rIns="0" bIns="0" rtlCol="0" anchor="ctr"/>
          <a:lstStyle/>
          <a:p>
            <a:pPr indent="0" marL="0">
              <a:buNone/>
            </a:pPr>
            <a:r>
              <a:rPr lang="en-US" sz="2800" b="1" dirty="0">
                <a:solidFill>
                  <a:srgbClr val="0F172A"/>
                </a:solidFill>
                <a:latin typeface="Roboto" pitchFamily="34" charset="0"/>
                <a:ea typeface="Roboto" pitchFamily="34" charset="-122"/>
                <a:cs typeface="Roboto" pitchFamily="34" charset="-120"/>
              </a:rPr>
              <a:t>Run it yourself</a:t>
            </a:r>
            <a:endParaRPr lang="en-US" sz="2800" dirty="0"/>
          </a:p>
        </p:txBody>
      </p:sp>
      <p:sp>
        <p:nvSpPr>
          <p:cNvPr id="4" name="Text 2"/>
          <p:cNvSpPr txBox="1"/>
          <p:nvPr/>
        </p:nvSpPr>
        <p:spPr>
          <a:xfrm>
            <a:off x="548640" y="1152144"/>
            <a:ext cx="11094415" cy="365760"/>
          </a:xfrm>
          <a:prstGeom prst="rect">
            <a:avLst/>
          </a:prstGeom>
          <a:noFill/>
          <a:ln/>
        </p:spPr>
        <p:txBody>
          <a:bodyPr wrap="square" lIns="0" tIns="0" rIns="0" bIns="0" rtlCol="0" anchor="ctr"/>
          <a:lstStyle/>
          <a:p>
            <a:pPr indent="0" marL="0">
              <a:buNone/>
            </a:pPr>
            <a:r>
              <a:rPr lang="en-US" sz="1400" dirty="0">
                <a:solidFill>
                  <a:srgbClr val="64748B"/>
                </a:solidFill>
                <a:latin typeface="Roboto" pitchFamily="34" charset="0"/>
                <a:ea typeface="Roboto" pitchFamily="34" charset="-122"/>
                <a:cs typeface="Roboto" pitchFamily="34" charset="-120"/>
              </a:rPr>
              <a:t>Five steps on one Windows machine. Ports: frontend 5173, API 8000, Ollama 11434.</a:t>
            </a:r>
            <a:endParaRPr lang="en-US" sz="1400" dirty="0"/>
          </a:p>
        </p:txBody>
      </p:sp>
      <p:pic>
        <p:nvPicPr>
          <p:cNvPr id="5" name="Image 0" descr="C:\Users\shrey\AppData\Local\Temp\claude\D--novacinternship-finsight\ef4ecb45-e580-4bc0-9be4-060aa240a5b2\scratchpad\deck\img\logo_lockup.png">    </p:cNvPr>
          <p:cNvPicPr>
            <a:picLocks noChangeAspect="1"/>
          </p:cNvPicPr>
          <p:nvPr/>
        </p:nvPicPr>
        <p:blipFill>
          <a:blip r:embed="rId1"/>
          <a:stretch>
            <a:fillRect/>
          </a:stretch>
        </p:blipFill>
        <p:spPr>
          <a:xfrm>
            <a:off x="10360152" y="6464808"/>
            <a:ext cx="843991" cy="237744"/>
          </a:xfrm>
          <a:prstGeom prst="rect">
            <a:avLst/>
          </a:prstGeom>
        </p:spPr>
      </p:pic>
      <p:sp>
        <p:nvSpPr>
          <p:cNvPr id="6" name="Text 3"/>
          <p:cNvSpPr txBox="1"/>
          <p:nvPr/>
        </p:nvSpPr>
        <p:spPr>
          <a:xfrm>
            <a:off x="11277295" y="6473952"/>
            <a:ext cx="365760" cy="228600"/>
          </a:xfrm>
          <a:prstGeom prst="rect">
            <a:avLst/>
          </a:prstGeom>
          <a:noFill/>
          <a:ln/>
        </p:spPr>
        <p:txBody>
          <a:bodyPr wrap="square" lIns="0" tIns="0" rIns="0" bIns="0" rtlCol="0" anchor="ctr"/>
          <a:lstStyle/>
          <a:p>
            <a:pPr algn="r" indent="0" marL="0">
              <a:buNone/>
            </a:pPr>
            <a:r>
              <a:rPr lang="en-US" sz="900" dirty="0">
                <a:solidFill>
                  <a:srgbClr val="94A3B8"/>
                </a:solidFill>
                <a:latin typeface="Roboto" pitchFamily="34" charset="0"/>
                <a:ea typeface="Roboto" pitchFamily="34" charset="-122"/>
                <a:cs typeface="Roboto" pitchFamily="34" charset="-120"/>
              </a:rPr>
              <a:t>41</a:t>
            </a:r>
            <a:endParaRPr lang="en-US" sz="900" dirty="0"/>
          </a:p>
        </p:txBody>
      </p:sp>
      <p:sp>
        <p:nvSpPr>
          <p:cNvPr id="8" name="Shape 4"/>
          <p:cNvSpPr/>
          <p:nvPr/>
        </p:nvSpPr>
        <p:spPr>
          <a:xfrm>
            <a:off x="548640" y="1783080"/>
            <a:ext cx="3611880" cy="1325880"/>
          </a:xfrm>
          <a:prstGeom prst="roundRect">
            <a:avLst>
              <a:gd name="adj" fmla="val 6897"/>
            </a:avLst>
          </a:prstGeom>
          <a:solidFill>
            <a:srgbClr val="0F172A"/>
          </a:solidFill>
          <a:ln w="12700">
            <a:solidFill>
              <a:srgbClr val="0F172A"/>
            </a:solidFill>
            <a:prstDash val="solid"/>
          </a:ln>
        </p:spPr>
      </p:sp>
      <p:sp>
        <p:nvSpPr>
          <p:cNvPr id="9" name="Text 5"/>
          <p:cNvSpPr txBox="1"/>
          <p:nvPr/>
        </p:nvSpPr>
        <p:spPr>
          <a:xfrm>
            <a:off x="731520" y="1892808"/>
            <a:ext cx="3246120" cy="292608"/>
          </a:xfrm>
          <a:prstGeom prst="rect">
            <a:avLst/>
          </a:prstGeom>
          <a:noFill/>
          <a:ln/>
        </p:spPr>
        <p:txBody>
          <a:bodyPr wrap="square" lIns="0" tIns="0" rIns="0" bIns="0" rtlCol="0" anchor="ctr"/>
          <a:lstStyle/>
          <a:p>
            <a:pPr indent="0" marL="0">
              <a:buNone/>
            </a:pPr>
            <a:r>
              <a:rPr lang="en-US" sz="1200" b="1" dirty="0">
                <a:solidFill>
                  <a:srgbClr val="A5B4FC"/>
                </a:solidFill>
                <a:latin typeface="Roboto" pitchFamily="34" charset="0"/>
                <a:ea typeface="Roboto" pitchFamily="34" charset="-122"/>
                <a:cs typeface="Roboto" pitchFamily="34" charset="-120"/>
              </a:rPr>
              <a:t>1  Database</a:t>
            </a:r>
            <a:endParaRPr lang="en-US" sz="1200" dirty="0"/>
          </a:p>
        </p:txBody>
      </p:sp>
      <p:sp>
        <p:nvSpPr>
          <p:cNvPr id="10" name="Text 6"/>
          <p:cNvSpPr txBox="1"/>
          <p:nvPr/>
        </p:nvSpPr>
        <p:spPr>
          <a:xfrm>
            <a:off x="731520" y="2240280"/>
            <a:ext cx="3291840" cy="777240"/>
          </a:xfrm>
          <a:prstGeom prst="rect">
            <a:avLst/>
          </a:prstGeom>
          <a:noFill/>
          <a:ln/>
        </p:spPr>
        <p:txBody>
          <a:bodyPr wrap="square" lIns="0" tIns="0" rIns="0" bIns="0" rtlCol="0" anchor="t"/>
          <a:lstStyle/>
          <a:p>
            <a:pPr indent="0" marL="0">
              <a:spcAft>
                <a:spcPts val="400"/>
              </a:spcAft>
              <a:buNone/>
            </a:pPr>
            <a:r>
              <a:rPr lang="en-US" sz="1050" dirty="0">
                <a:solidFill>
                  <a:srgbClr val="E2E8F0"/>
                </a:solidFill>
                <a:latin typeface="Consolas" pitchFamily="34" charset="0"/>
                <a:ea typeface="Consolas" pitchFamily="34" charset="-122"/>
                <a:cs typeface="Consolas" pitchFamily="34" charset="-120"/>
              </a:rPr>
              <a:t>run docs/mssql/*.sql</a:t>
            </a:r>
            <a:endParaRPr lang="en-US" sz="1050" dirty="0"/>
          </a:p>
          <a:p>
            <a:pPr indent="0" marL="0">
              <a:spcAft>
                <a:spcPts val="400"/>
              </a:spcAft>
              <a:buNone/>
            </a:pPr>
            <a:r>
              <a:rPr lang="en-US" sz="1050" dirty="0">
                <a:solidFill>
                  <a:srgbClr val="E2E8F0"/>
                </a:solidFill>
                <a:latin typeface="Consolas" pitchFamily="34" charset="0"/>
                <a:ea typeface="Consolas" pitchFamily="34" charset="-122"/>
                <a:cs typeface="Consolas" pitchFamily="34" charset="-120"/>
              </a:rPr>
              <a:t>on (localdb)\MSSQLLocalDB</a:t>
            </a:r>
            <a:endParaRPr lang="en-US" sz="1050" dirty="0"/>
          </a:p>
        </p:txBody>
      </p:sp>
      <p:sp>
        <p:nvSpPr>
          <p:cNvPr id="11" name="Shape 7"/>
          <p:cNvSpPr/>
          <p:nvPr/>
        </p:nvSpPr>
        <p:spPr>
          <a:xfrm>
            <a:off x="4297680" y="1783080"/>
            <a:ext cx="3611880" cy="1325880"/>
          </a:xfrm>
          <a:prstGeom prst="roundRect">
            <a:avLst>
              <a:gd name="adj" fmla="val 6897"/>
            </a:avLst>
          </a:prstGeom>
          <a:solidFill>
            <a:srgbClr val="0F172A"/>
          </a:solidFill>
          <a:ln w="12700">
            <a:solidFill>
              <a:srgbClr val="0F172A"/>
            </a:solidFill>
            <a:prstDash val="solid"/>
          </a:ln>
        </p:spPr>
      </p:sp>
      <p:sp>
        <p:nvSpPr>
          <p:cNvPr id="12" name="Text 8"/>
          <p:cNvSpPr txBox="1"/>
          <p:nvPr/>
        </p:nvSpPr>
        <p:spPr>
          <a:xfrm>
            <a:off x="4480560" y="1892808"/>
            <a:ext cx="3246120" cy="292608"/>
          </a:xfrm>
          <a:prstGeom prst="rect">
            <a:avLst/>
          </a:prstGeom>
          <a:noFill/>
          <a:ln/>
        </p:spPr>
        <p:txBody>
          <a:bodyPr wrap="square" lIns="0" tIns="0" rIns="0" bIns="0" rtlCol="0" anchor="ctr"/>
          <a:lstStyle/>
          <a:p>
            <a:pPr indent="0" marL="0">
              <a:buNone/>
            </a:pPr>
            <a:r>
              <a:rPr lang="en-US" sz="1200" b="1" dirty="0">
                <a:solidFill>
                  <a:srgbClr val="A5B4FC"/>
                </a:solidFill>
                <a:latin typeface="Roboto" pitchFamily="34" charset="0"/>
                <a:ea typeface="Roboto" pitchFamily="34" charset="-122"/>
                <a:cs typeface="Roboto" pitchFamily="34" charset="-120"/>
              </a:rPr>
              <a:t>2  Local model</a:t>
            </a:r>
            <a:endParaRPr lang="en-US" sz="1200" dirty="0"/>
          </a:p>
        </p:txBody>
      </p:sp>
      <p:sp>
        <p:nvSpPr>
          <p:cNvPr id="13" name="Text 9"/>
          <p:cNvSpPr txBox="1"/>
          <p:nvPr/>
        </p:nvSpPr>
        <p:spPr>
          <a:xfrm>
            <a:off x="4480560" y="2240280"/>
            <a:ext cx="3291840" cy="777240"/>
          </a:xfrm>
          <a:prstGeom prst="rect">
            <a:avLst/>
          </a:prstGeom>
          <a:noFill/>
          <a:ln/>
        </p:spPr>
        <p:txBody>
          <a:bodyPr wrap="square" lIns="0" tIns="0" rIns="0" bIns="0" rtlCol="0" anchor="t"/>
          <a:lstStyle/>
          <a:p>
            <a:pPr indent="0" marL="0">
              <a:spcAft>
                <a:spcPts val="400"/>
              </a:spcAft>
              <a:buNone/>
            </a:pPr>
            <a:r>
              <a:rPr lang="en-US" sz="1050" dirty="0">
                <a:solidFill>
                  <a:srgbClr val="E2E8F0"/>
                </a:solidFill>
                <a:latin typeface="Consolas" pitchFamily="34" charset="0"/>
                <a:ea typeface="Consolas" pitchFamily="34" charset="-122"/>
                <a:cs typeface="Consolas" pitchFamily="34" charset="-120"/>
              </a:rPr>
              <a:t>ollama pull qwen2.5vl:7b</a:t>
            </a:r>
            <a:endParaRPr lang="en-US" sz="1050" dirty="0"/>
          </a:p>
        </p:txBody>
      </p:sp>
      <p:sp>
        <p:nvSpPr>
          <p:cNvPr id="14" name="Shape 10"/>
          <p:cNvSpPr/>
          <p:nvPr/>
        </p:nvSpPr>
        <p:spPr>
          <a:xfrm>
            <a:off x="8046720" y="1783080"/>
            <a:ext cx="3593592" cy="2697480"/>
          </a:xfrm>
          <a:prstGeom prst="roundRect">
            <a:avLst>
              <a:gd name="adj" fmla="val 3390"/>
            </a:avLst>
          </a:prstGeom>
          <a:solidFill>
            <a:srgbClr val="0F172A"/>
          </a:solidFill>
          <a:ln w="12700">
            <a:solidFill>
              <a:srgbClr val="0F172A"/>
            </a:solidFill>
            <a:prstDash val="solid"/>
          </a:ln>
        </p:spPr>
      </p:sp>
      <p:sp>
        <p:nvSpPr>
          <p:cNvPr id="15" name="Text 11"/>
          <p:cNvSpPr txBox="1"/>
          <p:nvPr/>
        </p:nvSpPr>
        <p:spPr>
          <a:xfrm>
            <a:off x="8229600" y="1892808"/>
            <a:ext cx="3227832" cy="292608"/>
          </a:xfrm>
          <a:prstGeom prst="rect">
            <a:avLst/>
          </a:prstGeom>
          <a:noFill/>
          <a:ln/>
        </p:spPr>
        <p:txBody>
          <a:bodyPr wrap="square" lIns="0" tIns="0" rIns="0" bIns="0" rtlCol="0" anchor="ctr"/>
          <a:lstStyle/>
          <a:p>
            <a:pPr indent="0" marL="0">
              <a:buNone/>
            </a:pPr>
            <a:r>
              <a:rPr lang="en-US" sz="1200" b="1" dirty="0">
                <a:solidFill>
                  <a:srgbClr val="A5B4FC"/>
                </a:solidFill>
                <a:latin typeface="Roboto" pitchFamily="34" charset="0"/>
                <a:ea typeface="Roboto" pitchFamily="34" charset="-122"/>
                <a:cs typeface="Roboto" pitchFamily="34" charset="-120"/>
              </a:rPr>
              <a:t>3  API  :8000</a:t>
            </a:r>
            <a:endParaRPr lang="en-US" sz="1200" dirty="0"/>
          </a:p>
        </p:txBody>
      </p:sp>
      <p:sp>
        <p:nvSpPr>
          <p:cNvPr id="16" name="Text 12"/>
          <p:cNvSpPr txBox="1"/>
          <p:nvPr/>
        </p:nvSpPr>
        <p:spPr>
          <a:xfrm>
            <a:off x="8229600" y="2240280"/>
            <a:ext cx="3273552" cy="2148840"/>
          </a:xfrm>
          <a:prstGeom prst="rect">
            <a:avLst/>
          </a:prstGeom>
          <a:noFill/>
          <a:ln/>
        </p:spPr>
        <p:txBody>
          <a:bodyPr wrap="square" lIns="0" tIns="0" rIns="0" bIns="0" rtlCol="0" anchor="t"/>
          <a:lstStyle/>
          <a:p>
            <a:pPr indent="0" marL="0">
              <a:spcAft>
                <a:spcPts val="400"/>
              </a:spcAft>
              <a:buNone/>
            </a:pPr>
            <a:r>
              <a:rPr lang="en-US" sz="1050" dirty="0">
                <a:solidFill>
                  <a:srgbClr val="E2E8F0"/>
                </a:solidFill>
                <a:latin typeface="Consolas" pitchFamily="34" charset="0"/>
                <a:ea typeface="Consolas" pitchFamily="34" charset="-122"/>
                <a:cs typeface="Consolas" pitchFamily="34" charset="-120"/>
              </a:rPr>
              <a:t>cd api</a:t>
            </a:r>
            <a:endParaRPr lang="en-US" sz="1050" dirty="0"/>
          </a:p>
          <a:p>
            <a:pPr indent="0" marL="0">
              <a:spcAft>
                <a:spcPts val="400"/>
              </a:spcAft>
              <a:buNone/>
            </a:pPr>
            <a:r>
              <a:rPr lang="en-US" sz="1050" dirty="0">
                <a:solidFill>
                  <a:srgbClr val="E2E8F0"/>
                </a:solidFill>
                <a:latin typeface="Consolas" pitchFamily="34" charset="0"/>
                <a:ea typeface="Consolas" pitchFamily="34" charset="-122"/>
                <a:cs typeface="Consolas" pitchFamily="34" charset="-120"/>
              </a:rPr>
              <a:t>python -m venv .venv-agents</a:t>
            </a:r>
            <a:endParaRPr lang="en-US" sz="1050" dirty="0"/>
          </a:p>
          <a:p>
            <a:pPr indent="0" marL="0">
              <a:spcAft>
                <a:spcPts val="400"/>
              </a:spcAft>
              <a:buNone/>
            </a:pPr>
            <a:r>
              <a:rPr lang="en-US" sz="1050" dirty="0">
                <a:solidFill>
                  <a:srgbClr val="E2E8F0"/>
                </a:solidFill>
                <a:latin typeface="Consolas" pitchFamily="34" charset="0"/>
                <a:ea typeface="Consolas" pitchFamily="34" charset="-122"/>
                <a:cs typeface="Consolas" pitchFamily="34" charset="-120"/>
              </a:rPr>
              <a:t>.venv-agents\Scripts\pip install -r requirements-agents.txt</a:t>
            </a:r>
            <a:endParaRPr lang="en-US" sz="1050" dirty="0"/>
          </a:p>
          <a:p>
            <a:pPr indent="0" marL="0">
              <a:spcAft>
                <a:spcPts val="400"/>
              </a:spcAft>
              <a:buNone/>
            </a:pPr>
            <a:r>
              <a:rPr lang="en-US" sz="1050" dirty="0">
                <a:solidFill>
                  <a:srgbClr val="E2E8F0"/>
                </a:solidFill>
                <a:latin typeface="Consolas" pitchFamily="34" charset="0"/>
                <a:ea typeface="Consolas" pitchFamily="34" charset="-122"/>
                <a:cs typeface="Consolas" pitchFamily="34" charset="-120"/>
              </a:rPr>
              <a:t>run.bat</a:t>
            </a:r>
            <a:endParaRPr lang="en-US" sz="1050" dirty="0"/>
          </a:p>
        </p:txBody>
      </p:sp>
      <p:sp>
        <p:nvSpPr>
          <p:cNvPr id="17" name="Shape 13"/>
          <p:cNvSpPr/>
          <p:nvPr/>
        </p:nvSpPr>
        <p:spPr>
          <a:xfrm>
            <a:off x="548640" y="3246120"/>
            <a:ext cx="3611880" cy="1234440"/>
          </a:xfrm>
          <a:prstGeom prst="roundRect">
            <a:avLst>
              <a:gd name="adj" fmla="val 7407"/>
            </a:avLst>
          </a:prstGeom>
          <a:solidFill>
            <a:srgbClr val="0F172A"/>
          </a:solidFill>
          <a:ln w="12700">
            <a:solidFill>
              <a:srgbClr val="0F172A"/>
            </a:solidFill>
            <a:prstDash val="solid"/>
          </a:ln>
        </p:spPr>
      </p:sp>
      <p:sp>
        <p:nvSpPr>
          <p:cNvPr id="18" name="Text 14"/>
          <p:cNvSpPr txBox="1"/>
          <p:nvPr/>
        </p:nvSpPr>
        <p:spPr>
          <a:xfrm>
            <a:off x="731520" y="3355848"/>
            <a:ext cx="3246120" cy="292608"/>
          </a:xfrm>
          <a:prstGeom prst="rect">
            <a:avLst/>
          </a:prstGeom>
          <a:noFill/>
          <a:ln/>
        </p:spPr>
        <p:txBody>
          <a:bodyPr wrap="square" lIns="0" tIns="0" rIns="0" bIns="0" rtlCol="0" anchor="ctr"/>
          <a:lstStyle/>
          <a:p>
            <a:pPr indent="0" marL="0">
              <a:buNone/>
            </a:pPr>
            <a:r>
              <a:rPr lang="en-US" sz="1200" b="1" dirty="0">
                <a:solidFill>
                  <a:srgbClr val="A5B4FC"/>
                </a:solidFill>
                <a:latin typeface="Roboto" pitchFamily="34" charset="0"/>
                <a:ea typeface="Roboto" pitchFamily="34" charset="-122"/>
                <a:cs typeface="Roboto" pitchFamily="34" charset="-120"/>
              </a:rPr>
              <a:t>4  Frontend  :5173</a:t>
            </a:r>
            <a:endParaRPr lang="en-US" sz="1200" dirty="0"/>
          </a:p>
        </p:txBody>
      </p:sp>
      <p:sp>
        <p:nvSpPr>
          <p:cNvPr id="19" name="Text 15"/>
          <p:cNvSpPr txBox="1"/>
          <p:nvPr/>
        </p:nvSpPr>
        <p:spPr>
          <a:xfrm>
            <a:off x="731520" y="3703320"/>
            <a:ext cx="3291840" cy="685800"/>
          </a:xfrm>
          <a:prstGeom prst="rect">
            <a:avLst/>
          </a:prstGeom>
          <a:noFill/>
          <a:ln/>
        </p:spPr>
        <p:txBody>
          <a:bodyPr wrap="square" lIns="0" tIns="0" rIns="0" bIns="0" rtlCol="0" anchor="t"/>
          <a:lstStyle/>
          <a:p>
            <a:pPr indent="0" marL="0">
              <a:spcAft>
                <a:spcPts val="400"/>
              </a:spcAft>
              <a:buNone/>
            </a:pPr>
            <a:r>
              <a:rPr lang="en-US" sz="1050" dirty="0">
                <a:solidFill>
                  <a:srgbClr val="E2E8F0"/>
                </a:solidFill>
                <a:latin typeface="Consolas" pitchFamily="34" charset="0"/>
                <a:ea typeface="Consolas" pitchFamily="34" charset="-122"/>
                <a:cs typeface="Consolas" pitchFamily="34" charset="-120"/>
              </a:rPr>
              <a:t>npm install</a:t>
            </a:r>
            <a:endParaRPr lang="en-US" sz="1050" dirty="0"/>
          </a:p>
          <a:p>
            <a:pPr indent="0" marL="0">
              <a:spcAft>
                <a:spcPts val="400"/>
              </a:spcAft>
              <a:buNone/>
            </a:pPr>
            <a:r>
              <a:rPr lang="en-US" sz="1050" dirty="0">
                <a:solidFill>
                  <a:srgbClr val="E2E8F0"/>
                </a:solidFill>
                <a:latin typeface="Consolas" pitchFamily="34" charset="0"/>
                <a:ea typeface="Consolas" pitchFamily="34" charset="-122"/>
                <a:cs typeface="Consolas" pitchFamily="34" charset="-120"/>
              </a:rPr>
              <a:t>npm run dev</a:t>
            </a:r>
            <a:endParaRPr lang="en-US" sz="1050" dirty="0"/>
          </a:p>
        </p:txBody>
      </p:sp>
      <p:sp>
        <p:nvSpPr>
          <p:cNvPr id="20" name="Shape 16"/>
          <p:cNvSpPr/>
          <p:nvPr/>
        </p:nvSpPr>
        <p:spPr>
          <a:xfrm>
            <a:off x="4297680" y="3246120"/>
            <a:ext cx="3611880" cy="1234440"/>
          </a:xfrm>
          <a:prstGeom prst="roundRect">
            <a:avLst>
              <a:gd name="adj" fmla="val 7407"/>
            </a:avLst>
          </a:prstGeom>
          <a:solidFill>
            <a:srgbClr val="0F172A"/>
          </a:solidFill>
          <a:ln w="12700">
            <a:solidFill>
              <a:srgbClr val="0F172A"/>
            </a:solidFill>
            <a:prstDash val="solid"/>
          </a:ln>
        </p:spPr>
      </p:sp>
      <p:sp>
        <p:nvSpPr>
          <p:cNvPr id="21" name="Text 17"/>
          <p:cNvSpPr txBox="1"/>
          <p:nvPr/>
        </p:nvSpPr>
        <p:spPr>
          <a:xfrm>
            <a:off x="4480560" y="3355848"/>
            <a:ext cx="3246120" cy="292608"/>
          </a:xfrm>
          <a:prstGeom prst="rect">
            <a:avLst/>
          </a:prstGeom>
          <a:noFill/>
          <a:ln/>
        </p:spPr>
        <p:txBody>
          <a:bodyPr wrap="square" lIns="0" tIns="0" rIns="0" bIns="0" rtlCol="0" anchor="ctr"/>
          <a:lstStyle/>
          <a:p>
            <a:pPr indent="0" marL="0">
              <a:buNone/>
            </a:pPr>
            <a:r>
              <a:rPr lang="en-US" sz="1200" b="1" dirty="0">
                <a:solidFill>
                  <a:srgbClr val="A5B4FC"/>
                </a:solidFill>
                <a:latin typeface="Roboto" pitchFamily="34" charset="0"/>
                <a:ea typeface="Roboto" pitchFamily="34" charset="-122"/>
                <a:cs typeface="Roboto" pitchFamily="34" charset="-120"/>
              </a:rPr>
              <a:t>5  Tests &amp; evaluation</a:t>
            </a:r>
            <a:endParaRPr lang="en-US" sz="1200" dirty="0"/>
          </a:p>
        </p:txBody>
      </p:sp>
      <p:sp>
        <p:nvSpPr>
          <p:cNvPr id="22" name="Text 18"/>
          <p:cNvSpPr txBox="1"/>
          <p:nvPr/>
        </p:nvSpPr>
        <p:spPr>
          <a:xfrm>
            <a:off x="4480560" y="3703320"/>
            <a:ext cx="3291840" cy="685800"/>
          </a:xfrm>
          <a:prstGeom prst="rect">
            <a:avLst/>
          </a:prstGeom>
          <a:noFill/>
          <a:ln/>
        </p:spPr>
        <p:txBody>
          <a:bodyPr wrap="square" lIns="0" tIns="0" rIns="0" bIns="0" rtlCol="0" anchor="t"/>
          <a:lstStyle/>
          <a:p>
            <a:pPr indent="0" marL="0">
              <a:spcAft>
                <a:spcPts val="400"/>
              </a:spcAft>
              <a:buNone/>
            </a:pPr>
            <a:r>
              <a:rPr lang="en-US" sz="1050" dirty="0">
                <a:solidFill>
                  <a:srgbClr val="E2E8F0"/>
                </a:solidFill>
                <a:latin typeface="Consolas" pitchFamily="34" charset="0"/>
                <a:ea typeface="Consolas" pitchFamily="34" charset="-122"/>
                <a:cs typeface="Consolas" pitchFamily="34" charset="-120"/>
              </a:rPr>
              <a:t>pytest tests</a:t>
            </a:r>
            <a:endParaRPr lang="en-US" sz="1050" dirty="0"/>
          </a:p>
          <a:p>
            <a:pPr indent="0" marL="0">
              <a:spcAft>
                <a:spcPts val="400"/>
              </a:spcAft>
              <a:buNone/>
            </a:pPr>
            <a:r>
              <a:rPr lang="en-US" sz="1050" dirty="0">
                <a:solidFill>
                  <a:srgbClr val="E2E8F0"/>
                </a:solidFill>
                <a:latin typeface="Consolas" pitchFamily="34" charset="0"/>
                <a:ea typeface="Consolas" pitchFamily="34" charset="-122"/>
                <a:cs typeface="Consolas" pitchFamily="34" charset="-120"/>
              </a:rPr>
              <a:t>python -m eval.real.run_real --agent &lt;id&gt;</a:t>
            </a:r>
            <a:endParaRPr lang="en-US" sz="1050" dirty="0"/>
          </a:p>
          <a:p>
            <a:pPr indent="0" marL="0">
              <a:spcAft>
                <a:spcPts val="400"/>
              </a:spcAft>
              <a:buNone/>
            </a:pPr>
            <a:r>
              <a:rPr lang="en-US" sz="1050" dirty="0">
                <a:solidFill>
                  <a:srgbClr val="E2E8F0"/>
                </a:solidFill>
                <a:latin typeface="Consolas" pitchFamily="34" charset="0"/>
                <a:ea typeface="Consolas" pitchFamily="34" charset="-122"/>
                <a:cs typeface="Consolas" pitchFamily="34" charset="-120"/>
              </a:rPr>
              <a:t>python -m eval.real.report_real</a:t>
            </a:r>
            <a:endParaRPr lang="en-US" sz="1050" dirty="0"/>
          </a:p>
        </p:txBody>
      </p:sp>
      <p:sp>
        <p:nvSpPr>
          <p:cNvPr id="23" name="Text 19"/>
          <p:cNvSpPr txBox="1"/>
          <p:nvPr/>
        </p:nvSpPr>
        <p:spPr>
          <a:xfrm>
            <a:off x="548640" y="4709160"/>
            <a:ext cx="3657600" cy="256032"/>
          </a:xfrm>
          <a:prstGeom prst="rect">
            <a:avLst/>
          </a:prstGeom>
          <a:noFill/>
          <a:ln/>
        </p:spPr>
        <p:txBody>
          <a:bodyPr wrap="square" lIns="0" tIns="0" rIns="0" bIns="0" rtlCol="0" anchor="ctr"/>
          <a:lstStyle/>
          <a:p>
            <a:pPr indent="0" marL="0">
              <a:buNone/>
            </a:pPr>
            <a:r>
              <a:rPr lang="en-US" sz="1050" b="1" spc="200" kern="0" dirty="0">
                <a:solidFill>
                  <a:srgbClr val="64748B"/>
                </a:solidFill>
                <a:latin typeface="Roboto" pitchFamily="34" charset="0"/>
                <a:ea typeface="Roboto" pitchFamily="34" charset="-122"/>
                <a:cs typeface="Roboto" pitchFamily="34" charset="-120"/>
              </a:rPr>
              <a:t>WHERE THINGS LIVE</a:t>
            </a:r>
            <a:endParaRPr lang="en-US" sz="1050" dirty="0"/>
          </a:p>
        </p:txBody>
      </p:sp>
      <p:sp>
        <p:nvSpPr>
          <p:cNvPr id="24" name="Shape 20"/>
          <p:cNvSpPr/>
          <p:nvPr/>
        </p:nvSpPr>
        <p:spPr>
          <a:xfrm>
            <a:off x="548640" y="5029200"/>
            <a:ext cx="5468112" cy="530352"/>
          </a:xfrm>
          <a:prstGeom prst="roundRect">
            <a:avLst>
              <a:gd name="adj" fmla="val 13793"/>
            </a:avLst>
          </a:prstGeom>
          <a:solidFill>
            <a:srgbClr val="F8FAFC"/>
          </a:solidFill>
          <a:ln w="12700">
            <a:solidFill>
              <a:srgbClr val="E2E8F0"/>
            </a:solidFill>
            <a:prstDash val="solid"/>
          </a:ln>
        </p:spPr>
      </p:sp>
      <p:sp>
        <p:nvSpPr>
          <p:cNvPr id="25" name="Text 21"/>
          <p:cNvSpPr txBox="1"/>
          <p:nvPr/>
        </p:nvSpPr>
        <p:spPr>
          <a:xfrm>
            <a:off x="685800" y="5029200"/>
            <a:ext cx="5212080" cy="530352"/>
          </a:xfrm>
          <a:prstGeom prst="rect">
            <a:avLst/>
          </a:prstGeom>
          <a:noFill/>
          <a:ln/>
        </p:spPr>
        <p:txBody>
          <a:bodyPr wrap="square" lIns="0" tIns="0" rIns="0" bIns="0" rtlCol="0" anchor="ctr"/>
          <a:lstStyle/>
          <a:p>
            <a:pPr indent="0" marL="0">
              <a:buNone/>
            </a:pPr>
            <a:r>
              <a:rPr lang="en-US" sz="1050" b="1" dirty="0">
                <a:solidFill>
                  <a:srgbClr val="3730A3"/>
                </a:solidFill>
                <a:latin typeface="Consolas" pitchFamily="34" charset="0"/>
                <a:ea typeface="Consolas" pitchFamily="34" charset="-122"/>
                <a:cs typeface="Consolas" pitchFamily="34" charset="-120"/>
              </a:rPr>
              <a:t>api/app/agents/  </a:t>
            </a:r>
            <a:pPr indent="0" marL="0">
              <a:buNone/>
            </a:pPr>
            <a:r>
              <a:rPr lang="en-US" sz="1050" dirty="0">
                <a:solidFill>
                  <a:srgbClr val="64748B"/>
                </a:solidFill>
                <a:latin typeface="Roboto" pitchFamily="34" charset="0"/>
                <a:ea typeface="Roboto" pitchFamily="34" charset="-122"/>
                <a:cs typeface="Roboto" pitchFamily="34" charset="-120"/>
              </a:rPr>
              <a:t>registry, agent implementations, flows, tools, llm/gateway.py</a:t>
            </a:r>
            <a:endParaRPr lang="en-US" sz="1050" dirty="0"/>
          </a:p>
        </p:txBody>
      </p:sp>
      <p:sp>
        <p:nvSpPr>
          <p:cNvPr id="26" name="Shape 22"/>
          <p:cNvSpPr/>
          <p:nvPr/>
        </p:nvSpPr>
        <p:spPr>
          <a:xfrm>
            <a:off x="6172200" y="5029200"/>
            <a:ext cx="5468112" cy="530352"/>
          </a:xfrm>
          <a:prstGeom prst="roundRect">
            <a:avLst>
              <a:gd name="adj" fmla="val 13793"/>
            </a:avLst>
          </a:prstGeom>
          <a:solidFill>
            <a:srgbClr val="F8FAFC"/>
          </a:solidFill>
          <a:ln w="12700">
            <a:solidFill>
              <a:srgbClr val="E2E8F0"/>
            </a:solidFill>
            <a:prstDash val="solid"/>
          </a:ln>
        </p:spPr>
      </p:sp>
      <p:sp>
        <p:nvSpPr>
          <p:cNvPr id="27" name="Text 23"/>
          <p:cNvSpPr txBox="1"/>
          <p:nvPr/>
        </p:nvSpPr>
        <p:spPr>
          <a:xfrm>
            <a:off x="6309360" y="5029200"/>
            <a:ext cx="5212080" cy="530352"/>
          </a:xfrm>
          <a:prstGeom prst="rect">
            <a:avLst/>
          </a:prstGeom>
          <a:noFill/>
          <a:ln/>
        </p:spPr>
        <p:txBody>
          <a:bodyPr wrap="square" lIns="0" tIns="0" rIns="0" bIns="0" rtlCol="0" anchor="ctr"/>
          <a:lstStyle/>
          <a:p>
            <a:pPr indent="0" marL="0">
              <a:buNone/>
            </a:pPr>
            <a:r>
              <a:rPr lang="en-US" sz="1050" b="1" dirty="0">
                <a:solidFill>
                  <a:srgbClr val="3730A3"/>
                </a:solidFill>
                <a:latin typeface="Consolas" pitchFamily="34" charset="0"/>
                <a:ea typeface="Consolas" pitchFamily="34" charset="-122"/>
                <a:cs typeface="Consolas" pitchFamily="34" charset="-120"/>
              </a:rPr>
              <a:t>api/eval/real/  </a:t>
            </a:r>
            <a:pPr indent="0" marL="0">
              <a:buNone/>
            </a:pPr>
            <a:r>
              <a:rPr lang="en-US" sz="1050" dirty="0">
                <a:solidFill>
                  <a:srgbClr val="64748B"/>
                </a:solidFill>
                <a:latin typeface="Roboto" pitchFamily="34" charset="0"/>
                <a:ea typeface="Roboto" pitchFamily="34" charset="-122"/>
                <a:cs typeface="Roboto" pitchFamily="34" charset="-120"/>
              </a:rPr>
              <a:t>real-data harness · targets_real.yaml · results_real/</a:t>
            </a:r>
            <a:endParaRPr lang="en-US" sz="1050" dirty="0"/>
          </a:p>
        </p:txBody>
      </p:sp>
      <p:sp>
        <p:nvSpPr>
          <p:cNvPr id="28" name="Shape 24"/>
          <p:cNvSpPr/>
          <p:nvPr/>
        </p:nvSpPr>
        <p:spPr>
          <a:xfrm>
            <a:off x="548640" y="5650992"/>
            <a:ext cx="5468112" cy="530352"/>
          </a:xfrm>
          <a:prstGeom prst="roundRect">
            <a:avLst>
              <a:gd name="adj" fmla="val 13793"/>
            </a:avLst>
          </a:prstGeom>
          <a:solidFill>
            <a:srgbClr val="F8FAFC"/>
          </a:solidFill>
          <a:ln w="12700">
            <a:solidFill>
              <a:srgbClr val="E2E8F0"/>
            </a:solidFill>
            <a:prstDash val="solid"/>
          </a:ln>
        </p:spPr>
      </p:sp>
      <p:sp>
        <p:nvSpPr>
          <p:cNvPr id="29" name="Text 25"/>
          <p:cNvSpPr txBox="1"/>
          <p:nvPr/>
        </p:nvSpPr>
        <p:spPr>
          <a:xfrm>
            <a:off x="685800" y="5650992"/>
            <a:ext cx="5212080" cy="530352"/>
          </a:xfrm>
          <a:prstGeom prst="rect">
            <a:avLst/>
          </a:prstGeom>
          <a:noFill/>
          <a:ln/>
        </p:spPr>
        <p:txBody>
          <a:bodyPr wrap="square" lIns="0" tIns="0" rIns="0" bIns="0" rtlCol="0" anchor="ctr"/>
          <a:lstStyle/>
          <a:p>
            <a:pPr indent="0" marL="0">
              <a:buNone/>
            </a:pPr>
            <a:r>
              <a:rPr lang="en-US" sz="1050" b="1" dirty="0">
                <a:solidFill>
                  <a:srgbClr val="3730A3"/>
                </a:solidFill>
                <a:latin typeface="Consolas" pitchFamily="34" charset="0"/>
                <a:ea typeface="Consolas" pitchFamily="34" charset="-122"/>
                <a:cs typeface="Consolas" pitchFamily="34" charset="-120"/>
              </a:rPr>
              <a:t>docs/reports/08-…Real-Data-Evaluation.pdf  </a:t>
            </a:r>
            <a:pPr indent="0" marL="0">
              <a:buNone/>
            </a:pPr>
            <a:r>
              <a:rPr lang="en-US" sz="1050" dirty="0">
                <a:solidFill>
                  <a:srgbClr val="64748B"/>
                </a:solidFill>
                <a:latin typeface="Roboto" pitchFamily="34" charset="0"/>
                <a:ea typeface="Roboto" pitchFamily="34" charset="-122"/>
                <a:cs typeface="Roboto" pitchFamily="34" charset="-120"/>
              </a:rPr>
              <a:t>the full per-agent report</a:t>
            </a:r>
            <a:endParaRPr lang="en-US" sz="1050" dirty="0"/>
          </a:p>
        </p:txBody>
      </p:sp>
      <p:sp>
        <p:nvSpPr>
          <p:cNvPr id="30" name="Shape 26"/>
          <p:cNvSpPr/>
          <p:nvPr/>
        </p:nvSpPr>
        <p:spPr>
          <a:xfrm>
            <a:off x="6172200" y="5650992"/>
            <a:ext cx="5468112" cy="530352"/>
          </a:xfrm>
          <a:prstGeom prst="roundRect">
            <a:avLst>
              <a:gd name="adj" fmla="val 13793"/>
            </a:avLst>
          </a:prstGeom>
          <a:solidFill>
            <a:srgbClr val="F8FAFC"/>
          </a:solidFill>
          <a:ln w="12700">
            <a:solidFill>
              <a:srgbClr val="E2E8F0"/>
            </a:solidFill>
            <a:prstDash val="solid"/>
          </a:ln>
        </p:spPr>
      </p:sp>
      <p:sp>
        <p:nvSpPr>
          <p:cNvPr id="31" name="Text 27"/>
          <p:cNvSpPr txBox="1"/>
          <p:nvPr/>
        </p:nvSpPr>
        <p:spPr>
          <a:xfrm>
            <a:off x="6309360" y="5650992"/>
            <a:ext cx="5212080" cy="530352"/>
          </a:xfrm>
          <a:prstGeom prst="rect">
            <a:avLst/>
          </a:prstGeom>
          <a:noFill/>
          <a:ln/>
        </p:spPr>
        <p:txBody>
          <a:bodyPr wrap="square" lIns="0" tIns="0" rIns="0" bIns="0" rtlCol="0" anchor="ctr"/>
          <a:lstStyle/>
          <a:p>
            <a:pPr indent="0" marL="0">
              <a:buNone/>
            </a:pPr>
            <a:r>
              <a:rPr lang="en-US" sz="1050" b="1" dirty="0">
                <a:solidFill>
                  <a:srgbClr val="3730A3"/>
                </a:solidFill>
                <a:latin typeface="Consolas" pitchFamily="34" charset="0"/>
                <a:ea typeface="Consolas" pitchFamily="34" charset="-122"/>
                <a:cs typeface="Consolas" pitchFamily="34" charset="-120"/>
              </a:rPr>
              <a:t>github.com/ShreyasBile/FinSight  </a:t>
            </a:r>
            <a:pPr indent="0" marL="0">
              <a:buNone/>
            </a:pPr>
            <a:r>
              <a:rPr lang="en-US" sz="1050" dirty="0">
                <a:solidFill>
                  <a:srgbClr val="64748B"/>
                </a:solidFill>
                <a:latin typeface="Roboto" pitchFamily="34" charset="0"/>
                <a:ea typeface="Roboto" pitchFamily="34" charset="-122"/>
                <a:cs typeface="Roboto" pitchFamily="34" charset="-120"/>
              </a:rPr>
              <a:t>source, reports and this deck</a:t>
            </a:r>
            <a:endParaRPr lang="en-US" sz="10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0F172A"/>
        </a:solidFill>
      </p:bgPr>
    </p:bg>
    <p:spTree>
      <p:nvGrpSpPr>
        <p:cNvPr id="1" name=""/>
        <p:cNvGrpSpPr/>
        <p:nvPr/>
      </p:nvGrpSpPr>
      <p:grpSpPr>
        <a:xfrm>
          <a:off x="0" y="0"/>
          <a:ext cx="0" cy="0"/>
          <a:chOff x="0" y="0"/>
          <a:chExt cx="0" cy="0"/>
        </a:xfrm>
      </p:grpSpPr>
      <p:pic>
        <p:nvPicPr>
          <p:cNvPr id="2" name="Image 0" descr="C:\Users\shrey\AppData\Local\Temp\claude\D--novacinternship-finsight\ef4ecb45-e580-4bc0-9be4-060aa240a5b2\scratchpad\deck\img\logo_lockup_light.png">    </p:cNvPr>
          <p:cNvPicPr>
            <a:picLocks noChangeAspect="1"/>
          </p:cNvPicPr>
          <p:nvPr/>
        </p:nvPicPr>
        <p:blipFill>
          <a:blip r:embed="rId1"/>
          <a:stretch>
            <a:fillRect/>
          </a:stretch>
        </p:blipFill>
        <p:spPr>
          <a:xfrm>
            <a:off x="548640" y="822960"/>
            <a:ext cx="2402129" cy="676656"/>
          </a:xfrm>
          <a:prstGeom prst="rect">
            <a:avLst/>
          </a:prstGeom>
        </p:spPr>
      </p:pic>
      <p:sp>
        <p:nvSpPr>
          <p:cNvPr id="3" name="Text 0"/>
          <p:cNvSpPr txBox="1"/>
          <p:nvPr/>
        </p:nvSpPr>
        <p:spPr>
          <a:xfrm>
            <a:off x="548640" y="1645920"/>
            <a:ext cx="8229600" cy="1737360"/>
          </a:xfrm>
          <a:prstGeom prst="rect">
            <a:avLst/>
          </a:prstGeom>
          <a:noFill/>
          <a:ln/>
        </p:spPr>
        <p:txBody>
          <a:bodyPr wrap="square" lIns="0" tIns="0" rIns="0" bIns="0" rtlCol="0" anchor="t"/>
          <a:lstStyle/>
          <a:p>
            <a:pPr indent="0" marL="0">
              <a:buNone/>
            </a:pPr>
            <a:r>
              <a:rPr lang="en-US" sz="4400" b="1" dirty="0">
                <a:solidFill>
                  <a:srgbClr val="FFFFFF"/>
                </a:solidFill>
                <a:latin typeface="Roboto" pitchFamily="34" charset="0"/>
                <a:ea typeface="Roboto" pitchFamily="34" charset="-122"/>
                <a:cs typeface="Roboto" pitchFamily="34" charset="-120"/>
              </a:rPr>
              <a:t>Agents read, check and draft.</a:t>
            </a:r>
            <a:endParaRPr lang="en-US" sz="4400" dirty="0"/>
          </a:p>
          <a:p>
            <a:pPr indent="0" marL="0">
              <a:buNone/>
            </a:pPr>
            <a:r>
              <a:rPr lang="en-US" sz="4400" b="1" dirty="0">
                <a:solidFill>
                  <a:srgbClr val="FFFFFF"/>
                </a:solidFill>
                <a:latin typeface="Roboto" pitchFamily="34" charset="0"/>
                <a:ea typeface="Roboto" pitchFamily="34" charset="-122"/>
                <a:cs typeface="Roboto" pitchFamily="34" charset="-120"/>
              </a:rPr>
              <a:t>People decide.</a:t>
            </a:r>
            <a:endParaRPr lang="en-US" sz="4400" dirty="0"/>
          </a:p>
        </p:txBody>
      </p:sp>
      <p:sp>
        <p:nvSpPr>
          <p:cNvPr id="4" name="Shape 1"/>
          <p:cNvSpPr/>
          <p:nvPr/>
        </p:nvSpPr>
        <p:spPr>
          <a:xfrm>
            <a:off x="548640" y="3931920"/>
            <a:ext cx="2651760" cy="1234440"/>
          </a:xfrm>
          <a:prstGeom prst="roundRect">
            <a:avLst>
              <a:gd name="adj" fmla="val 8889"/>
            </a:avLst>
          </a:prstGeom>
          <a:solidFill>
            <a:srgbClr val="1E293B"/>
          </a:solidFill>
          <a:ln w="12700">
            <a:solidFill>
              <a:srgbClr val="334155"/>
            </a:solidFill>
            <a:prstDash val="solid"/>
          </a:ln>
        </p:spPr>
      </p:sp>
      <p:sp>
        <p:nvSpPr>
          <p:cNvPr id="5" name="Text 2"/>
          <p:cNvSpPr txBox="1"/>
          <p:nvPr/>
        </p:nvSpPr>
        <p:spPr>
          <a:xfrm>
            <a:off x="777240" y="4005072"/>
            <a:ext cx="2194560" cy="640080"/>
          </a:xfrm>
          <a:prstGeom prst="rect">
            <a:avLst/>
          </a:prstGeom>
          <a:noFill/>
          <a:ln/>
        </p:spPr>
        <p:txBody>
          <a:bodyPr wrap="square" lIns="0" tIns="0" rIns="0" bIns="0" rtlCol="0" anchor="ctr"/>
          <a:lstStyle/>
          <a:p>
            <a:pPr indent="0" marL="0">
              <a:buNone/>
            </a:pPr>
            <a:r>
              <a:rPr lang="en-US" sz="3200" b="1" dirty="0">
                <a:solidFill>
                  <a:srgbClr val="A5B4FC"/>
                </a:solidFill>
                <a:latin typeface="Roboto" pitchFamily="34" charset="0"/>
                <a:ea typeface="Roboto" pitchFamily="34" charset="-122"/>
                <a:cs typeface="Roboto" pitchFamily="34" charset="-120"/>
              </a:rPr>
              <a:t>29</a:t>
            </a:r>
            <a:endParaRPr lang="en-US" sz="3200" dirty="0"/>
          </a:p>
        </p:txBody>
      </p:sp>
      <p:sp>
        <p:nvSpPr>
          <p:cNvPr id="6" name="Text 3"/>
          <p:cNvSpPr txBox="1"/>
          <p:nvPr/>
        </p:nvSpPr>
        <p:spPr>
          <a:xfrm>
            <a:off x="777240" y="4617720"/>
            <a:ext cx="2286000" cy="457200"/>
          </a:xfrm>
          <a:prstGeom prst="rect">
            <a:avLst/>
          </a:prstGeom>
          <a:noFill/>
          <a:ln/>
        </p:spPr>
        <p:txBody>
          <a:bodyPr wrap="square" lIns="0" tIns="0" rIns="0" bIns="0" rtlCol="0" anchor="t"/>
          <a:lstStyle/>
          <a:p>
            <a:pPr indent="0" marL="0">
              <a:buNone/>
            </a:pPr>
            <a:r>
              <a:rPr lang="en-US" sz="1150" dirty="0">
                <a:solidFill>
                  <a:srgbClr val="CBD5E1"/>
                </a:solidFill>
                <a:latin typeface="Roboto" pitchFamily="34" charset="0"/>
                <a:ea typeface="Roboto" pitchFamily="34" charset="-122"/>
                <a:cs typeface="Roboto" pitchFamily="34" charset="-120"/>
              </a:rPr>
              <a:t>agents in 6 crews</a:t>
            </a:r>
            <a:endParaRPr lang="en-US" sz="1150" dirty="0"/>
          </a:p>
        </p:txBody>
      </p:sp>
      <p:sp>
        <p:nvSpPr>
          <p:cNvPr id="7" name="Shape 4"/>
          <p:cNvSpPr/>
          <p:nvPr/>
        </p:nvSpPr>
        <p:spPr>
          <a:xfrm>
            <a:off x="3355848" y="3931920"/>
            <a:ext cx="2651760" cy="1234440"/>
          </a:xfrm>
          <a:prstGeom prst="roundRect">
            <a:avLst>
              <a:gd name="adj" fmla="val 8889"/>
            </a:avLst>
          </a:prstGeom>
          <a:solidFill>
            <a:srgbClr val="1E293B"/>
          </a:solidFill>
          <a:ln w="12700">
            <a:solidFill>
              <a:srgbClr val="334155"/>
            </a:solidFill>
            <a:prstDash val="solid"/>
          </a:ln>
        </p:spPr>
      </p:sp>
      <p:sp>
        <p:nvSpPr>
          <p:cNvPr id="8" name="Text 5"/>
          <p:cNvSpPr txBox="1"/>
          <p:nvPr/>
        </p:nvSpPr>
        <p:spPr>
          <a:xfrm>
            <a:off x="3584448" y="4005072"/>
            <a:ext cx="2194560" cy="640080"/>
          </a:xfrm>
          <a:prstGeom prst="rect">
            <a:avLst/>
          </a:prstGeom>
          <a:noFill/>
          <a:ln/>
        </p:spPr>
        <p:txBody>
          <a:bodyPr wrap="square" lIns="0" tIns="0" rIns="0" bIns="0" rtlCol="0" anchor="ctr"/>
          <a:lstStyle/>
          <a:p>
            <a:pPr indent="0" marL="0">
              <a:buNone/>
            </a:pPr>
            <a:r>
              <a:rPr lang="en-US" sz="3200" b="1" dirty="0">
                <a:solidFill>
                  <a:srgbClr val="A5B4FC"/>
                </a:solidFill>
                <a:latin typeface="Roboto" pitchFamily="34" charset="0"/>
                <a:ea typeface="Roboto" pitchFamily="34" charset="-122"/>
                <a:cs typeface="Roboto" pitchFamily="34" charset="-120"/>
              </a:rPr>
              <a:t>25</a:t>
            </a:r>
            <a:endParaRPr lang="en-US" sz="3200" dirty="0"/>
          </a:p>
        </p:txBody>
      </p:sp>
      <p:sp>
        <p:nvSpPr>
          <p:cNvPr id="9" name="Text 6"/>
          <p:cNvSpPr txBox="1"/>
          <p:nvPr/>
        </p:nvSpPr>
        <p:spPr>
          <a:xfrm>
            <a:off x="3584448" y="4617720"/>
            <a:ext cx="2286000" cy="457200"/>
          </a:xfrm>
          <a:prstGeom prst="rect">
            <a:avLst/>
          </a:prstGeom>
          <a:noFill/>
          <a:ln/>
        </p:spPr>
        <p:txBody>
          <a:bodyPr wrap="square" lIns="0" tIns="0" rIns="0" bIns="0" rtlCol="0" anchor="t"/>
          <a:lstStyle/>
          <a:p>
            <a:pPr indent="0" marL="0">
              <a:buNone/>
            </a:pPr>
            <a:r>
              <a:rPr lang="en-US" sz="1150" dirty="0">
                <a:solidFill>
                  <a:srgbClr val="CBD5E1"/>
                </a:solidFill>
                <a:latin typeface="Roboto" pitchFamily="34" charset="0"/>
                <a:ea typeface="Roboto" pitchFamily="34" charset="-122"/>
                <a:cs typeface="Roboto" pitchFamily="34" charset="-120"/>
              </a:rPr>
              <a:t>meet their target on real data</a:t>
            </a:r>
            <a:endParaRPr lang="en-US" sz="1150" dirty="0"/>
          </a:p>
        </p:txBody>
      </p:sp>
      <p:sp>
        <p:nvSpPr>
          <p:cNvPr id="10" name="Shape 7"/>
          <p:cNvSpPr/>
          <p:nvPr/>
        </p:nvSpPr>
        <p:spPr>
          <a:xfrm>
            <a:off x="6163056" y="3931920"/>
            <a:ext cx="2651760" cy="1234440"/>
          </a:xfrm>
          <a:prstGeom prst="roundRect">
            <a:avLst>
              <a:gd name="adj" fmla="val 8889"/>
            </a:avLst>
          </a:prstGeom>
          <a:solidFill>
            <a:srgbClr val="1E293B"/>
          </a:solidFill>
          <a:ln w="12700">
            <a:solidFill>
              <a:srgbClr val="334155"/>
            </a:solidFill>
            <a:prstDash val="solid"/>
          </a:ln>
        </p:spPr>
      </p:sp>
      <p:sp>
        <p:nvSpPr>
          <p:cNvPr id="11" name="Text 8"/>
          <p:cNvSpPr txBox="1"/>
          <p:nvPr/>
        </p:nvSpPr>
        <p:spPr>
          <a:xfrm>
            <a:off x="6391656" y="4005072"/>
            <a:ext cx="2194560" cy="640080"/>
          </a:xfrm>
          <a:prstGeom prst="rect">
            <a:avLst/>
          </a:prstGeom>
          <a:noFill/>
          <a:ln/>
        </p:spPr>
        <p:txBody>
          <a:bodyPr wrap="square" lIns="0" tIns="0" rIns="0" bIns="0" rtlCol="0" anchor="ctr"/>
          <a:lstStyle/>
          <a:p>
            <a:pPr indent="0" marL="0">
              <a:buNone/>
            </a:pPr>
            <a:r>
              <a:rPr lang="en-US" sz="3200" b="1" dirty="0">
                <a:solidFill>
                  <a:srgbClr val="A5B4FC"/>
                </a:solidFill>
                <a:latin typeface="Roboto" pitchFamily="34" charset="0"/>
                <a:ea typeface="Roboto" pitchFamily="34" charset="-122"/>
                <a:cs typeface="Roboto" pitchFamily="34" charset="-120"/>
              </a:rPr>
              <a:t>13</a:t>
            </a:r>
            <a:endParaRPr lang="en-US" sz="3200" dirty="0"/>
          </a:p>
        </p:txBody>
      </p:sp>
      <p:sp>
        <p:nvSpPr>
          <p:cNvPr id="12" name="Text 9"/>
          <p:cNvSpPr txBox="1"/>
          <p:nvPr/>
        </p:nvSpPr>
        <p:spPr>
          <a:xfrm>
            <a:off x="6391656" y="4617720"/>
            <a:ext cx="2286000" cy="457200"/>
          </a:xfrm>
          <a:prstGeom prst="rect">
            <a:avLst/>
          </a:prstGeom>
          <a:noFill/>
          <a:ln/>
        </p:spPr>
        <p:txBody>
          <a:bodyPr wrap="square" lIns="0" tIns="0" rIns="0" bIns="0" rtlCol="0" anchor="t"/>
          <a:lstStyle/>
          <a:p>
            <a:pPr indent="0" marL="0">
              <a:buNone/>
            </a:pPr>
            <a:r>
              <a:rPr lang="en-US" sz="1150" dirty="0">
                <a:solidFill>
                  <a:srgbClr val="CBD5E1"/>
                </a:solidFill>
                <a:latin typeface="Roboto" pitchFamily="34" charset="0"/>
                <a:ea typeface="Roboto" pitchFamily="34" charset="-122"/>
                <a:cs typeface="Roboto" pitchFamily="34" charset="-120"/>
              </a:rPr>
              <a:t>agents improved by real-data testing</a:t>
            </a:r>
            <a:endParaRPr lang="en-US" sz="1150" dirty="0"/>
          </a:p>
        </p:txBody>
      </p:sp>
      <p:sp>
        <p:nvSpPr>
          <p:cNvPr id="13" name="Shape 10"/>
          <p:cNvSpPr/>
          <p:nvPr/>
        </p:nvSpPr>
        <p:spPr>
          <a:xfrm>
            <a:off x="8970264" y="3931920"/>
            <a:ext cx="2651760" cy="1234440"/>
          </a:xfrm>
          <a:prstGeom prst="roundRect">
            <a:avLst>
              <a:gd name="adj" fmla="val 8889"/>
            </a:avLst>
          </a:prstGeom>
          <a:solidFill>
            <a:srgbClr val="1E293B"/>
          </a:solidFill>
          <a:ln w="12700">
            <a:solidFill>
              <a:srgbClr val="334155"/>
            </a:solidFill>
            <a:prstDash val="solid"/>
          </a:ln>
        </p:spPr>
      </p:sp>
      <p:sp>
        <p:nvSpPr>
          <p:cNvPr id="14" name="Text 11"/>
          <p:cNvSpPr txBox="1"/>
          <p:nvPr/>
        </p:nvSpPr>
        <p:spPr>
          <a:xfrm>
            <a:off x="9198864" y="4005072"/>
            <a:ext cx="2194560" cy="640080"/>
          </a:xfrm>
          <a:prstGeom prst="rect">
            <a:avLst/>
          </a:prstGeom>
          <a:noFill/>
          <a:ln/>
        </p:spPr>
        <p:txBody>
          <a:bodyPr wrap="square" lIns="0" tIns="0" rIns="0" bIns="0" rtlCol="0" anchor="ctr"/>
          <a:lstStyle/>
          <a:p>
            <a:pPr indent="0" marL="0">
              <a:buNone/>
            </a:pPr>
            <a:r>
              <a:rPr lang="en-US" sz="3200" b="1" dirty="0">
                <a:solidFill>
                  <a:srgbClr val="A5B4FC"/>
                </a:solidFill>
                <a:latin typeface="Roboto" pitchFamily="34" charset="0"/>
                <a:ea typeface="Roboto" pitchFamily="34" charset="-122"/>
                <a:cs typeface="Roboto" pitchFamily="34" charset="-120"/>
              </a:rPr>
              <a:t>0</a:t>
            </a:r>
            <a:endParaRPr lang="en-US" sz="3200" dirty="0"/>
          </a:p>
        </p:txBody>
      </p:sp>
      <p:sp>
        <p:nvSpPr>
          <p:cNvPr id="15" name="Text 12"/>
          <p:cNvSpPr txBox="1"/>
          <p:nvPr/>
        </p:nvSpPr>
        <p:spPr>
          <a:xfrm>
            <a:off x="9198864" y="4617720"/>
            <a:ext cx="2286000" cy="457200"/>
          </a:xfrm>
          <a:prstGeom prst="rect">
            <a:avLst/>
          </a:prstGeom>
          <a:noFill/>
          <a:ln/>
        </p:spPr>
        <p:txBody>
          <a:bodyPr wrap="square" lIns="0" tIns="0" rIns="0" bIns="0" rtlCol="0" anchor="t"/>
          <a:lstStyle/>
          <a:p>
            <a:pPr indent="0" marL="0">
              <a:buNone/>
            </a:pPr>
            <a:r>
              <a:rPr lang="en-US" sz="1150" dirty="0">
                <a:solidFill>
                  <a:srgbClr val="CBD5E1"/>
                </a:solidFill>
                <a:latin typeface="Roboto" pitchFamily="34" charset="0"/>
                <a:ea typeface="Roboto" pitchFamily="34" charset="-122"/>
                <a:cs typeface="Roboto" pitchFamily="34" charset="-120"/>
              </a:rPr>
              <a:t>auto-rejections</a:t>
            </a:r>
            <a:endParaRPr lang="en-US" sz="1150" dirty="0"/>
          </a:p>
        </p:txBody>
      </p:sp>
      <p:sp>
        <p:nvSpPr>
          <p:cNvPr id="16" name="Text 13"/>
          <p:cNvSpPr txBox="1"/>
          <p:nvPr/>
        </p:nvSpPr>
        <p:spPr>
          <a:xfrm>
            <a:off x="548640" y="5577840"/>
            <a:ext cx="11094415" cy="365760"/>
          </a:xfrm>
          <a:prstGeom prst="rect">
            <a:avLst/>
          </a:prstGeom>
          <a:noFill/>
          <a:ln/>
        </p:spPr>
        <p:txBody>
          <a:bodyPr wrap="square" lIns="0" tIns="0" rIns="0" bIns="0" rtlCol="0" anchor="ctr"/>
          <a:lstStyle/>
          <a:p>
            <a:pPr indent="0" marL="0">
              <a:buNone/>
            </a:pPr>
            <a:r>
              <a:rPr lang="en-US" sz="1300" dirty="0">
                <a:solidFill>
                  <a:srgbClr val="94A3B8"/>
                </a:solidFill>
                <a:latin typeface="Roboto" pitchFamily="34" charset="0"/>
                <a:ea typeface="Roboto" pitchFamily="34" charset="-122"/>
                <a:cs typeface="Roboto" pitchFamily="34" charset="-120"/>
              </a:rPr>
              <a:t>Local model by default · every number grounded · every step traced · every decision human</a:t>
            </a:r>
            <a:endParaRPr lang="en-US" sz="1300" dirty="0"/>
          </a:p>
        </p:txBody>
      </p:sp>
      <p:sp>
        <p:nvSpPr>
          <p:cNvPr id="17" name="Text 14"/>
          <p:cNvSpPr txBox="1"/>
          <p:nvPr/>
        </p:nvSpPr>
        <p:spPr>
          <a:xfrm>
            <a:off x="548640" y="6035040"/>
            <a:ext cx="5486400" cy="320040"/>
          </a:xfrm>
          <a:prstGeom prst="rect">
            <a:avLst/>
          </a:prstGeom>
          <a:noFill/>
          <a:ln/>
        </p:spPr>
        <p:txBody>
          <a:bodyPr wrap="square" lIns="0" tIns="0" rIns="0" bIns="0" rtlCol="0" anchor="ctr"/>
          <a:lstStyle/>
          <a:p>
            <a:pPr indent="0" marL="0">
              <a:buNone/>
            </a:pPr>
            <a:r>
              <a:rPr lang="en-US" sz="1300" b="1" dirty="0">
                <a:solidFill>
                  <a:srgbClr val="FFFFFF"/>
                </a:solidFill>
                <a:latin typeface="Roboto" pitchFamily="34" charset="0"/>
                <a:ea typeface="Roboto" pitchFamily="34" charset="-122"/>
                <a:cs typeface="Roboto" pitchFamily="34" charset="-120"/>
              </a:rPr>
              <a:t>Thank you  ·  Questions?</a:t>
            </a:r>
            <a:endParaRPr lang="en-US" sz="1300" dirty="0"/>
          </a:p>
        </p:txBody>
      </p:sp>
      <p:sp>
        <p:nvSpPr>
          <p:cNvPr id="18" name="Text 15"/>
          <p:cNvSpPr txBox="1"/>
          <p:nvPr/>
        </p:nvSpPr>
        <p:spPr>
          <a:xfrm>
            <a:off x="7071055" y="6035040"/>
            <a:ext cx="4572000" cy="320040"/>
          </a:xfrm>
          <a:prstGeom prst="rect">
            <a:avLst/>
          </a:prstGeom>
          <a:noFill/>
          <a:ln/>
        </p:spPr>
        <p:txBody>
          <a:bodyPr wrap="square" lIns="0" tIns="0" rIns="0" bIns="0" rtlCol="0" anchor="ctr"/>
          <a:lstStyle/>
          <a:p>
            <a:pPr algn="r" indent="0" marL="0">
              <a:buNone/>
            </a:pPr>
            <a:r>
              <a:rPr lang="en-US" sz="1200" dirty="0">
                <a:solidFill>
                  <a:srgbClr val="A5B4FC"/>
                </a:solidFill>
                <a:latin typeface="Consolas" pitchFamily="34" charset="0"/>
                <a:ea typeface="Consolas" pitchFamily="34" charset="-122"/>
                <a:cs typeface="Consolas" pitchFamily="34" charset="-120"/>
              </a:rPr>
              <a:t>github.com/ShreyasBile/FinSight</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42</Slides>
  <Notes>42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42</vt:i4>
      </vt:variant>
    </vt:vector>
  </HeadingPairs>
  <TitlesOfParts>
    <vt:vector size="4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vector>
  </TitlesOfParts>
  <Company>FinSight AI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FinSight AI — Agentic Loan Underwriting (final presentation)</dc:title>
  <dc:subject>PptxGenJS Presentation</dc:subject>
  <dc:creator>Shreyas Bile</dc:creator>
  <cp:lastModifiedBy>Shreyas Bile</cp:lastModifiedBy>
  <cp:revision>1</cp:revision>
  <dcterms:created xsi:type="dcterms:W3CDTF">2026-10-03T21:21:02Z</dcterms:created>
  <dcterms:modified xsi:type="dcterms:W3CDTF">2026-10-03T21:21:02Z</dcterms:modified>
</cp:coreProperties>
</file>